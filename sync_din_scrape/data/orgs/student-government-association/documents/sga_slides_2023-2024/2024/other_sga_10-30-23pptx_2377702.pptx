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embeddedFontLst>
    <p:embeddedFont>
      <p:font typeface="Bodoni Moda" pitchFamily="2" charset="77"/>
      <p:regular r:id="rId48"/>
      <p:bold r:id="rId49"/>
      <p:italic r:id="rId50"/>
      <p:boldItalic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entury Schoolbook" panose="02040604050505020304" pitchFamily="18" charset="0"/>
      <p:regular r:id="rId56"/>
      <p:bold r:id="rId57"/>
      <p:italic r:id="rId58"/>
      <p:boldItalic r:id="rId59"/>
    </p:embeddedFont>
    <p:embeddedFont>
      <p:font typeface="Comic Sans MS" panose="030F0902030302020204" pitchFamily="66" charset="0"/>
      <p:regular r:id="rId60"/>
    </p:embeddedFont>
    <p:embeddedFont>
      <p:font typeface="EB Garamond" pitchFamily="2" charset="0"/>
      <p:regular r:id="rId61"/>
      <p:bold r:id="rId62"/>
      <p:italic r:id="rId63"/>
      <p:boldItalic r:id="rId64"/>
    </p:embeddedFont>
    <p:embeddedFont>
      <p:font typeface="Georgia" panose="02040502050405020303" pitchFamily="18" charset="0"/>
      <p:regular r:id="rId65"/>
      <p:bold r:id="rId66"/>
      <p:italic r:id="rId67"/>
      <p:boldItalic r:id="rId68"/>
    </p:embeddedFont>
    <p:embeddedFont>
      <p:font typeface="Libre Franklin" pitchFamily="2" charset="77"/>
      <p:regular r:id="rId69"/>
      <p:bold r:id="rId70"/>
      <p:italic r:id="rId71"/>
      <p:boldItalic r:id="rId72"/>
    </p:embeddedFont>
    <p:embeddedFont>
      <p:font typeface="Libre Franklin Medium" panose="020F0502020204030204" pitchFamily="34" charset="0"/>
      <p:regular r:id="rId73"/>
      <p:bold r:id="rId74"/>
      <p:italic r:id="rId75"/>
      <p:boldItalic r:id="rId76"/>
    </p:embeddedFont>
    <p:embeddedFont>
      <p:font typeface="Libre Franklin SemiBold" pitchFamily="2" charset="77"/>
      <p:regular r:id="rId77"/>
      <p:bold r:id="rId78"/>
      <p:italic r:id="rId79"/>
      <p:boldItalic r:id="rId80"/>
    </p:embeddedFont>
    <p:embeddedFont>
      <p:font typeface="Merriweather" pitchFamily="2" charset="77"/>
      <p:regular r:id="rId81"/>
      <p:bold r:id="rId82"/>
      <p:italic r:id="rId83"/>
      <p:boldItalic r:id="rId84"/>
    </p:embeddedFont>
    <p:embeddedFont>
      <p:font typeface="Roboto" panose="02000000000000000000" pitchFamily="2" charset="0"/>
      <p:regular r:id="rId85"/>
      <p:bold r:id="rId86"/>
      <p:italic r:id="rId87"/>
      <p:boldItalic r:id="rId8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gsCW3CqmAY40sDenFVD09zLBb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4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68" Type="http://schemas.openxmlformats.org/officeDocument/2006/relationships/font" Target="fonts/font21.fntdata"/><Relationship Id="rId84" Type="http://schemas.openxmlformats.org/officeDocument/2006/relationships/font" Target="fonts/font37.fntdata"/><Relationship Id="rId89" Type="http://customschemas.google.com/relationships/presentationmetadata" Target="meta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74" Type="http://schemas.openxmlformats.org/officeDocument/2006/relationships/font" Target="fonts/font27.fntdata"/><Relationship Id="rId79" Type="http://schemas.openxmlformats.org/officeDocument/2006/relationships/font" Target="fonts/font32.fntdata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64" Type="http://schemas.openxmlformats.org/officeDocument/2006/relationships/font" Target="fonts/font17.fntdata"/><Relationship Id="rId69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72" Type="http://schemas.openxmlformats.org/officeDocument/2006/relationships/font" Target="fonts/font25.fntdata"/><Relationship Id="rId80" Type="http://schemas.openxmlformats.org/officeDocument/2006/relationships/font" Target="fonts/font33.fntdata"/><Relationship Id="rId85" Type="http://schemas.openxmlformats.org/officeDocument/2006/relationships/font" Target="fonts/font38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70" Type="http://schemas.openxmlformats.org/officeDocument/2006/relationships/font" Target="fonts/font23.fntdata"/><Relationship Id="rId75" Type="http://schemas.openxmlformats.org/officeDocument/2006/relationships/font" Target="fonts/font28.fntdata"/><Relationship Id="rId83" Type="http://schemas.openxmlformats.org/officeDocument/2006/relationships/font" Target="fonts/font36.fntdata"/><Relationship Id="rId88" Type="http://schemas.openxmlformats.org/officeDocument/2006/relationships/font" Target="fonts/font41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73" Type="http://schemas.openxmlformats.org/officeDocument/2006/relationships/font" Target="fonts/font26.fntdata"/><Relationship Id="rId78" Type="http://schemas.openxmlformats.org/officeDocument/2006/relationships/font" Target="fonts/font31.fntdata"/><Relationship Id="rId81" Type="http://schemas.openxmlformats.org/officeDocument/2006/relationships/font" Target="fonts/font34.fntdata"/><Relationship Id="rId86" Type="http://schemas.openxmlformats.org/officeDocument/2006/relationships/font" Target="fonts/font3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6" Type="http://schemas.openxmlformats.org/officeDocument/2006/relationships/font" Target="fonts/font29.fntdata"/><Relationship Id="rId7" Type="http://schemas.openxmlformats.org/officeDocument/2006/relationships/slide" Target="slides/slide6.xml"/><Relationship Id="rId71" Type="http://schemas.openxmlformats.org/officeDocument/2006/relationships/font" Target="fonts/font24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9.fntdata"/><Relationship Id="rId87" Type="http://schemas.openxmlformats.org/officeDocument/2006/relationships/font" Target="fonts/font40.fntdata"/><Relationship Id="rId61" Type="http://schemas.openxmlformats.org/officeDocument/2006/relationships/font" Target="fonts/font14.fntdata"/><Relationship Id="rId82" Type="http://schemas.openxmlformats.org/officeDocument/2006/relationships/font" Target="fonts/font3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font" Target="fonts/font9.fntdata"/><Relationship Id="rId77" Type="http://schemas.openxmlformats.org/officeDocument/2006/relationships/font" Target="fonts/font3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94d2592a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94d2592a2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g294d2592a2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6c3647e48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16c3647e48c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16c3647e48c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6c3647e48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16c3647e48c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16c3647e48c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6c3647e48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16c3647e48c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16c3647e48c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6c3647e48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6c3647e48c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16c3647e48c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6c3647e48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6c3647e48c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16c3647e48c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6c3647e48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6c3647e48c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16c3647e48c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9f5cc7372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119f5cc7372_4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119f5cc7372_4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6c3647e4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6c3647e48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16c3647e48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fffc5f384c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fffc5f384c_2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gfffc5f384c_2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6c3647e48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16c3647e48c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g16c3647e48c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6c3647e48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6c3647e48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16c3647e48c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94e802fd0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94e802fd07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94e802fd07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2e01f2e5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152e01f2e5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152e01f2e5c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93e18b89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93e18b892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93e18b892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Section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2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  <a:defRPr sz="6000">
                <a:solidFill>
                  <a:srgbClr val="582C8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2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Purple">
  <p:cSld name="Title Slide-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0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 Medium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0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White">
  <p:cSld name="Title Slide-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2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2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4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1" name="Google Shape;31;p64"/>
          <p:cNvSpPr txBox="1">
            <a:spLocks noGrp="1"/>
          </p:cNvSpPr>
          <p:nvPr>
            <p:ph type="subTitle" idx="1"/>
          </p:nvPr>
        </p:nvSpPr>
        <p:spPr>
          <a:xfrm>
            <a:off x="2673667" y="27497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4"/>
          <p:cNvSpPr txBox="1">
            <a:spLocks noGrp="1"/>
          </p:cNvSpPr>
          <p:nvPr>
            <p:ph type="subTitle" idx="2"/>
          </p:nvPr>
        </p:nvSpPr>
        <p:spPr>
          <a:xfrm>
            <a:off x="2673667" y="22686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3" name="Google Shape;33;p64"/>
          <p:cNvSpPr txBox="1">
            <a:spLocks noGrp="1"/>
          </p:cNvSpPr>
          <p:nvPr>
            <p:ph type="subTitle" idx="3"/>
          </p:nvPr>
        </p:nvSpPr>
        <p:spPr>
          <a:xfrm>
            <a:off x="2673667" y="44636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4"/>
          <p:cNvSpPr txBox="1">
            <a:spLocks noGrp="1"/>
          </p:cNvSpPr>
          <p:nvPr>
            <p:ph type="subTitle" idx="4"/>
          </p:nvPr>
        </p:nvSpPr>
        <p:spPr>
          <a:xfrm>
            <a:off x="2673667" y="39825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subTitle" idx="5"/>
          </p:nvPr>
        </p:nvSpPr>
        <p:spPr>
          <a:xfrm>
            <a:off x="7864400" y="27497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subTitle" idx="6"/>
          </p:nvPr>
        </p:nvSpPr>
        <p:spPr>
          <a:xfrm>
            <a:off x="7864400" y="22686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7" name="Google Shape;37;p64"/>
          <p:cNvSpPr txBox="1">
            <a:spLocks noGrp="1"/>
          </p:cNvSpPr>
          <p:nvPr>
            <p:ph type="subTitle" idx="7"/>
          </p:nvPr>
        </p:nvSpPr>
        <p:spPr>
          <a:xfrm>
            <a:off x="7864400" y="44636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4"/>
          <p:cNvSpPr txBox="1">
            <a:spLocks noGrp="1"/>
          </p:cNvSpPr>
          <p:nvPr>
            <p:ph type="subTitle" idx="8"/>
          </p:nvPr>
        </p:nvSpPr>
        <p:spPr>
          <a:xfrm>
            <a:off x="7864400" y="39825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9" name="Google Shape;39;p64"/>
          <p:cNvSpPr txBox="1">
            <a:spLocks noGrp="1"/>
          </p:cNvSpPr>
          <p:nvPr>
            <p:ph type="title" idx="9"/>
          </p:nvPr>
        </p:nvSpPr>
        <p:spPr>
          <a:xfrm>
            <a:off x="1507000" y="2296636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0" name="Google Shape;40;p64"/>
          <p:cNvSpPr txBox="1">
            <a:spLocks noGrp="1"/>
          </p:cNvSpPr>
          <p:nvPr>
            <p:ph type="title" idx="13"/>
          </p:nvPr>
        </p:nvSpPr>
        <p:spPr>
          <a:xfrm>
            <a:off x="1507000" y="4025500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title" idx="14"/>
          </p:nvPr>
        </p:nvSpPr>
        <p:spPr>
          <a:xfrm>
            <a:off x="6697733" y="2296636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title" idx="15"/>
          </p:nvPr>
        </p:nvSpPr>
        <p:spPr>
          <a:xfrm>
            <a:off x="6697733" y="4025500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3" name="Google Shape;43;p64"/>
          <p:cNvSpPr/>
          <p:nvPr/>
        </p:nvSpPr>
        <p:spPr>
          <a:xfrm>
            <a:off x="414967" y="501133"/>
            <a:ext cx="1071900" cy="1071900"/>
          </a:xfrm>
          <a:prstGeom prst="star8">
            <a:avLst>
              <a:gd name="adj" fmla="val 2467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64"/>
          <p:cNvCxnSpPr>
            <a:stCxn id="43" idx="2"/>
          </p:cNvCxnSpPr>
          <p:nvPr/>
        </p:nvCxnSpPr>
        <p:spPr>
          <a:xfrm>
            <a:off x="950917" y="1573033"/>
            <a:ext cx="0" cy="5460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" name="Google Shape;45;p64"/>
          <p:cNvGrpSpPr/>
          <p:nvPr/>
        </p:nvGrpSpPr>
        <p:grpSpPr>
          <a:xfrm>
            <a:off x="1518662" y="5939602"/>
            <a:ext cx="9660958" cy="385590"/>
            <a:chOff x="1139025" y="4454813"/>
            <a:chExt cx="7245900" cy="289200"/>
          </a:xfrm>
        </p:grpSpPr>
        <p:cxnSp>
          <p:nvCxnSpPr>
            <p:cNvPr id="46" name="Google Shape;46;p64"/>
            <p:cNvCxnSpPr/>
            <p:nvPr/>
          </p:nvCxnSpPr>
          <p:spPr>
            <a:xfrm>
              <a:off x="1139025" y="4599425"/>
              <a:ext cx="7245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" name="Google Shape;47;p64"/>
            <p:cNvSpPr/>
            <p:nvPr/>
          </p:nvSpPr>
          <p:spPr>
            <a:xfrm rot="5400000">
              <a:off x="750777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4"/>
            <p:cNvSpPr/>
            <p:nvPr/>
          </p:nvSpPr>
          <p:spPr>
            <a:xfrm rot="5400000">
              <a:off x="7828050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64"/>
            <p:cNvSpPr/>
            <p:nvPr/>
          </p:nvSpPr>
          <p:spPr>
            <a:xfrm rot="5400000">
              <a:off x="814832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4"/>
            <p:cNvSpPr/>
            <p:nvPr/>
          </p:nvSpPr>
          <p:spPr>
            <a:xfrm rot="5400000">
              <a:off x="410712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4"/>
            <p:cNvSpPr/>
            <p:nvPr/>
          </p:nvSpPr>
          <p:spPr>
            <a:xfrm rot="5400000">
              <a:off x="4427400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4"/>
            <p:cNvSpPr/>
            <p:nvPr/>
          </p:nvSpPr>
          <p:spPr>
            <a:xfrm rot="5400000">
              <a:off x="474767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5"/>
          <p:cNvSpPr txBox="1">
            <a:spLocks noGrp="1"/>
          </p:cNvSpPr>
          <p:nvPr>
            <p:ph type="title"/>
          </p:nvPr>
        </p:nvSpPr>
        <p:spPr>
          <a:xfrm>
            <a:off x="3056600" y="3275967"/>
            <a:ext cx="6078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5" name="Google Shape;55;p65"/>
          <p:cNvSpPr txBox="1">
            <a:spLocks noGrp="1"/>
          </p:cNvSpPr>
          <p:nvPr>
            <p:ph type="subTitle" idx="1"/>
          </p:nvPr>
        </p:nvSpPr>
        <p:spPr>
          <a:xfrm>
            <a:off x="4144200" y="4410633"/>
            <a:ext cx="39036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56" name="Google Shape;56;p65"/>
          <p:cNvSpPr txBox="1">
            <a:spLocks noGrp="1"/>
          </p:cNvSpPr>
          <p:nvPr>
            <p:ph type="title" idx="2"/>
          </p:nvPr>
        </p:nvSpPr>
        <p:spPr>
          <a:xfrm>
            <a:off x="5355400" y="1481256"/>
            <a:ext cx="1481100" cy="148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grpSp>
        <p:nvGrpSpPr>
          <p:cNvPr id="57" name="Google Shape;57;p65"/>
          <p:cNvGrpSpPr/>
          <p:nvPr/>
        </p:nvGrpSpPr>
        <p:grpSpPr>
          <a:xfrm>
            <a:off x="761881" y="720799"/>
            <a:ext cx="3488379" cy="3310684"/>
            <a:chOff x="571425" y="540613"/>
            <a:chExt cx="2616350" cy="2483075"/>
          </a:xfrm>
        </p:grpSpPr>
        <p:sp>
          <p:nvSpPr>
            <p:cNvPr id="58" name="Google Shape;58;p65"/>
            <p:cNvSpPr/>
            <p:nvPr/>
          </p:nvSpPr>
          <p:spPr>
            <a:xfrm>
              <a:off x="717275" y="540613"/>
              <a:ext cx="2470500" cy="2483075"/>
            </a:xfrm>
            <a:custGeom>
              <a:avLst/>
              <a:gdLst/>
              <a:ahLst/>
              <a:cxnLst/>
              <a:rect l="l" t="t" r="r" b="b"/>
              <a:pathLst>
                <a:path w="98820" h="99323" extrusionOk="0">
                  <a:moveTo>
                    <a:pt x="0" y="99323"/>
                  </a:moveTo>
                  <a:lnTo>
                    <a:pt x="0" y="0"/>
                  </a:lnTo>
                  <a:lnTo>
                    <a:pt x="98820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9" name="Google Shape;59;p65"/>
            <p:cNvSpPr/>
            <p:nvPr/>
          </p:nvSpPr>
          <p:spPr>
            <a:xfrm>
              <a:off x="583350" y="2010475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5"/>
            <p:cNvSpPr/>
            <p:nvPr/>
          </p:nvSpPr>
          <p:spPr>
            <a:xfrm>
              <a:off x="583350" y="1690200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5"/>
            <p:cNvSpPr/>
            <p:nvPr/>
          </p:nvSpPr>
          <p:spPr>
            <a:xfrm>
              <a:off x="571425" y="1369925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65"/>
          <p:cNvGrpSpPr/>
          <p:nvPr/>
        </p:nvGrpSpPr>
        <p:grpSpPr>
          <a:xfrm>
            <a:off x="9969882" y="4635916"/>
            <a:ext cx="4444239" cy="4444174"/>
            <a:chOff x="-1157850" y="-1175191"/>
            <a:chExt cx="2325853" cy="2325818"/>
          </a:xfrm>
        </p:grpSpPr>
        <p:sp>
          <p:nvSpPr>
            <p:cNvPr id="63" name="Google Shape;63;p65"/>
            <p:cNvSpPr/>
            <p:nvPr/>
          </p:nvSpPr>
          <p:spPr>
            <a:xfrm>
              <a:off x="-1157850" y="-1175191"/>
              <a:ext cx="2325853" cy="2325818"/>
            </a:xfrm>
            <a:custGeom>
              <a:avLst/>
              <a:gdLst/>
              <a:ahLst/>
              <a:cxnLst/>
              <a:rect l="l" t="t" r="r" b="b"/>
              <a:pathLst>
                <a:path w="67819" h="67818" fill="none" extrusionOk="0">
                  <a:moveTo>
                    <a:pt x="55741" y="12077"/>
                  </a:moveTo>
                  <a:cubicBezTo>
                    <a:pt x="67818" y="24133"/>
                    <a:pt x="67818" y="43684"/>
                    <a:pt x="55741" y="55741"/>
                  </a:cubicBezTo>
                  <a:cubicBezTo>
                    <a:pt x="43685" y="67818"/>
                    <a:pt x="24134" y="67818"/>
                    <a:pt x="12078" y="55741"/>
                  </a:cubicBezTo>
                  <a:cubicBezTo>
                    <a:pt x="1" y="43684"/>
                    <a:pt x="1" y="24133"/>
                    <a:pt x="12078" y="12077"/>
                  </a:cubicBezTo>
                  <a:cubicBezTo>
                    <a:pt x="24134" y="0"/>
                    <a:pt x="43685" y="0"/>
                    <a:pt x="55741" y="1207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65"/>
            <p:cNvSpPr/>
            <p:nvPr/>
          </p:nvSpPr>
          <p:spPr>
            <a:xfrm>
              <a:off x="-969954" y="-987329"/>
              <a:ext cx="1950048" cy="1950082"/>
            </a:xfrm>
            <a:custGeom>
              <a:avLst/>
              <a:gdLst/>
              <a:ahLst/>
              <a:cxnLst/>
              <a:rect l="l" t="t" r="r" b="b"/>
              <a:pathLst>
                <a:path w="56861" h="56862" fill="none" extrusionOk="0">
                  <a:moveTo>
                    <a:pt x="46739" y="10122"/>
                  </a:moveTo>
                  <a:cubicBezTo>
                    <a:pt x="56861" y="20224"/>
                    <a:pt x="56861" y="36638"/>
                    <a:pt x="46739" y="46740"/>
                  </a:cubicBezTo>
                  <a:cubicBezTo>
                    <a:pt x="36638" y="56861"/>
                    <a:pt x="20223" y="56861"/>
                    <a:pt x="10122" y="46740"/>
                  </a:cubicBezTo>
                  <a:cubicBezTo>
                    <a:pt x="0" y="36638"/>
                    <a:pt x="0" y="20224"/>
                    <a:pt x="10122" y="10122"/>
                  </a:cubicBezTo>
                  <a:cubicBezTo>
                    <a:pt x="20223" y="1"/>
                    <a:pt x="36638" y="1"/>
                    <a:pt x="46739" y="10122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65"/>
            <p:cNvSpPr/>
            <p:nvPr/>
          </p:nvSpPr>
          <p:spPr>
            <a:xfrm>
              <a:off x="-782092" y="-799467"/>
              <a:ext cx="1574312" cy="1574312"/>
            </a:xfrm>
            <a:custGeom>
              <a:avLst/>
              <a:gdLst/>
              <a:ahLst/>
              <a:cxnLst/>
              <a:rect l="l" t="t" r="r" b="b"/>
              <a:pathLst>
                <a:path w="45905" h="45905" fill="none" extrusionOk="0">
                  <a:moveTo>
                    <a:pt x="37738" y="8167"/>
                  </a:moveTo>
                  <a:cubicBezTo>
                    <a:pt x="45905" y="16334"/>
                    <a:pt x="45905" y="29572"/>
                    <a:pt x="37738" y="37738"/>
                  </a:cubicBezTo>
                  <a:cubicBezTo>
                    <a:pt x="29571" y="45905"/>
                    <a:pt x="16334" y="45905"/>
                    <a:pt x="8167" y="37738"/>
                  </a:cubicBezTo>
                  <a:cubicBezTo>
                    <a:pt x="0" y="29572"/>
                    <a:pt x="0" y="16334"/>
                    <a:pt x="8167" y="8167"/>
                  </a:cubicBezTo>
                  <a:cubicBezTo>
                    <a:pt x="16334" y="1"/>
                    <a:pt x="29571" y="1"/>
                    <a:pt x="37738" y="81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5"/>
            <p:cNvSpPr/>
            <p:nvPr/>
          </p:nvSpPr>
          <p:spPr>
            <a:xfrm>
              <a:off x="-617962" y="-636023"/>
              <a:ext cx="1246760" cy="1247446"/>
            </a:xfrm>
            <a:custGeom>
              <a:avLst/>
              <a:gdLst/>
              <a:ahLst/>
              <a:cxnLst/>
              <a:rect l="l" t="t" r="r" b="b"/>
              <a:pathLst>
                <a:path w="36354" h="36374" fill="none" extrusionOk="0">
                  <a:moveTo>
                    <a:pt x="25926" y="4277"/>
                  </a:moveTo>
                  <a:cubicBezTo>
                    <a:pt x="33604" y="8554"/>
                    <a:pt x="36353" y="18248"/>
                    <a:pt x="32076" y="25926"/>
                  </a:cubicBezTo>
                  <a:cubicBezTo>
                    <a:pt x="27799" y="33624"/>
                    <a:pt x="18105" y="36373"/>
                    <a:pt x="10428" y="32097"/>
                  </a:cubicBezTo>
                  <a:cubicBezTo>
                    <a:pt x="2750" y="27799"/>
                    <a:pt x="0" y="18105"/>
                    <a:pt x="4277" y="10428"/>
                  </a:cubicBezTo>
                  <a:cubicBezTo>
                    <a:pt x="8554" y="2750"/>
                    <a:pt x="18248" y="0"/>
                    <a:pt x="25926" y="427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5"/>
            <p:cNvSpPr/>
            <p:nvPr/>
          </p:nvSpPr>
          <p:spPr>
            <a:xfrm>
              <a:off x="-423104" y="-440479"/>
              <a:ext cx="856312" cy="856312"/>
            </a:xfrm>
            <a:custGeom>
              <a:avLst/>
              <a:gdLst/>
              <a:ahLst/>
              <a:cxnLst/>
              <a:rect l="l" t="t" r="r" b="b"/>
              <a:pathLst>
                <a:path w="24969" h="24969" fill="none" extrusionOk="0">
                  <a:moveTo>
                    <a:pt x="17861" y="2974"/>
                  </a:moveTo>
                  <a:cubicBezTo>
                    <a:pt x="23115" y="5948"/>
                    <a:pt x="24969" y="12607"/>
                    <a:pt x="21995" y="17861"/>
                  </a:cubicBezTo>
                  <a:cubicBezTo>
                    <a:pt x="19042" y="23116"/>
                    <a:pt x="12362" y="24969"/>
                    <a:pt x="7108" y="21996"/>
                  </a:cubicBezTo>
                  <a:cubicBezTo>
                    <a:pt x="1854" y="19022"/>
                    <a:pt x="0" y="12363"/>
                    <a:pt x="2974" y="7108"/>
                  </a:cubicBezTo>
                  <a:cubicBezTo>
                    <a:pt x="5947" y="1854"/>
                    <a:pt x="12607" y="1"/>
                    <a:pt x="17861" y="297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65"/>
            <p:cNvSpPr/>
            <p:nvPr/>
          </p:nvSpPr>
          <p:spPr>
            <a:xfrm>
              <a:off x="-226155" y="-243530"/>
              <a:ext cx="463085" cy="462399"/>
            </a:xfrm>
            <a:custGeom>
              <a:avLst/>
              <a:gdLst/>
              <a:ahLst/>
              <a:cxnLst/>
              <a:rect l="l" t="t" r="r" b="b"/>
              <a:pathLst>
                <a:path w="13503" h="13483" fill="none" extrusionOk="0">
                  <a:moveTo>
                    <a:pt x="11609" y="3341"/>
                  </a:moveTo>
                  <a:cubicBezTo>
                    <a:pt x="13503" y="6029"/>
                    <a:pt x="12851" y="9736"/>
                    <a:pt x="10163" y="11609"/>
                  </a:cubicBezTo>
                  <a:cubicBezTo>
                    <a:pt x="7475" y="13483"/>
                    <a:pt x="3768" y="12831"/>
                    <a:pt x="1895" y="10143"/>
                  </a:cubicBezTo>
                  <a:cubicBezTo>
                    <a:pt x="0" y="7455"/>
                    <a:pt x="652" y="3769"/>
                    <a:pt x="3340" y="1875"/>
                  </a:cubicBezTo>
                  <a:cubicBezTo>
                    <a:pt x="6029" y="1"/>
                    <a:pt x="9735" y="653"/>
                    <a:pt x="11609" y="334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rgbClr val="582C83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vecampus.com/schools/FurmanUniversity/class-of-2024-senior-class-gif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524000" y="24936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</a:pPr>
            <a:r>
              <a:rPr lang="en-US"/>
              <a:t>Welcome to SGA!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762000" y="4973317"/>
            <a:ext cx="106680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lang="en-US"/>
              <a:t>October 30, 2023</a:t>
            </a:r>
            <a:endParaRPr/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913" y="165550"/>
            <a:ext cx="3618175" cy="36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Guest speaker(s): Susan Maddux, Vice President of Finance and Administration and Ron Thompson/Curtis Nash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Officer, class, &amp; at-large reports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Committee reports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Old business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New business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Open forum &amp; 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ctrTitle"/>
          </p:nvPr>
        </p:nvSpPr>
        <p:spPr>
          <a:xfrm>
            <a:off x="1524000" y="594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Guest Speaker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1885900" y="3106175"/>
            <a:ext cx="7662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US" sz="2590" b="1"/>
              <a:t>Susan Maddux</a:t>
            </a:r>
            <a:endParaRPr sz="2590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US" sz="2590"/>
              <a:t>Vice President for Finance and Administration</a:t>
            </a:r>
            <a:endParaRPr sz="259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endParaRPr sz="259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US" sz="2590" b="1"/>
              <a:t>Ron Thompson and Curtis Nash</a:t>
            </a:r>
            <a:endParaRPr sz="2590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US" sz="2590"/>
              <a:t>Housing &amp; Residence Life </a:t>
            </a:r>
            <a:endParaRPr sz="259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endParaRPr sz="259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US" sz="2590"/>
              <a:t> </a:t>
            </a:r>
            <a:endParaRPr sz="259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60"/>
              <a:buNone/>
            </a:pPr>
            <a:endParaRPr sz="1800"/>
          </a:p>
          <a:p>
            <a:pPr marL="0" lvl="0" indent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60"/>
              <a:buNone/>
            </a:pPr>
            <a:endParaRPr sz="15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ctrTitle"/>
          </p:nvPr>
        </p:nvSpPr>
        <p:spPr>
          <a:xfrm>
            <a:off x="1524000" y="2870694"/>
            <a:ext cx="9144000" cy="1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Exec Reports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4d2592a29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Dean Cassidy</a:t>
            </a:r>
            <a:endParaRPr/>
          </a:p>
        </p:txBody>
      </p:sp>
      <p:sp>
        <p:nvSpPr>
          <p:cNvPr id="102" name="Google Shape;102;g294d2592a29_0_0"/>
          <p:cNvSpPr txBox="1"/>
          <p:nvPr/>
        </p:nvSpPr>
        <p:spPr>
          <a:xfrm>
            <a:off x="838200" y="1646150"/>
            <a:ext cx="10515600" cy="3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Homecoming was a lot of fun! Congrats to Lydia on HAVOC!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Congrats to football, cross country and men’s and women’s golf! Tough losses for volleyball and men’s and women’s soccer - proud of them though. 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Response rate on Gallup survey is behind last year. Please complete!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Flu shot clinic on Tuesday, 12-3 p.m. – DH upstairs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Please be safe on Halloween!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74038" y="81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Meredith Ervin 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1413575" y="2201575"/>
            <a:ext cx="5014500" cy="1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Schoolbook"/>
              <a:buChar char="-"/>
            </a:pPr>
            <a:endParaRPr sz="2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0" name="Google Shape;110;p5"/>
          <p:cNvSpPr txBox="1"/>
          <p:nvPr/>
        </p:nvSpPr>
        <p:spPr>
          <a:xfrm rot="962127">
            <a:off x="9280771" y="1387252"/>
            <a:ext cx="2071084" cy="53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455050" y="2110225"/>
            <a:ext cx="11055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-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Please text me this week to update me on your projects and any concerns/issues you may need help with. 618-203-1676 I would love to call/meet with anyone who needs some help!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-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Working with exec to plan a fun night for council! Stay tuned. 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-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Super proud of everyone’s hard work this past week. 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-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P.S. (I got engaged ahhh &lt;3)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Yaseen Echekki- VeePee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838200" y="1457525"/>
            <a:ext cx="1051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924600" y="1900275"/>
            <a:ext cx="45438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Meeting with Jordan King tomorrow to talk about VP role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Clubs are going through financial onboarding (Thanks Andrew)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Potentially sending an email to ask about new furniture on G-field.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8549850" y="5625075"/>
            <a:ext cx="1308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Wench-seen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Andrew Cooter 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1043925" y="1812375"/>
            <a:ext cx="94824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Voting on Library outlet funding in OB 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Introducing First Responders NM request in NB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Trying to get a convo with Club Sports council folks to see if they’d allow club sports teams to receive some funding from the SGA pot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●"/>
            </a:pPr>
            <a:r>
              <a:rPr lang="en-US" sz="2700" b="1">
                <a:latin typeface="Century Schoolbook"/>
                <a:ea typeface="Century Schoolbook"/>
                <a:cs typeface="Century Schoolbook"/>
                <a:sym typeface="Century Schoolbook"/>
              </a:rPr>
              <a:t>Music Festival is still happening (would someone like to help me out with marketing???)</a:t>
            </a:r>
            <a:endParaRPr sz="27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entury Schoolbook"/>
              <a:buChar char="●"/>
            </a:pPr>
            <a:r>
              <a:rPr lang="en-US" sz="2700">
                <a:latin typeface="Century Schoolbook"/>
                <a:ea typeface="Century Schoolbook"/>
                <a:cs typeface="Century Schoolbook"/>
                <a:sym typeface="Century Schoolbook"/>
              </a:rPr>
              <a:t>s/o Tate, you’ve just been killing it overall lately</a:t>
            </a: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838200" y="2259375"/>
            <a:ext cx="847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Carly Gillis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3000800" y="1647900"/>
            <a:ext cx="922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1173500" y="1783250"/>
            <a:ext cx="15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406475" y="1783250"/>
            <a:ext cx="8121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38200" y="1868750"/>
            <a:ext cx="88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456025" y="1999525"/>
            <a:ext cx="8454000" cy="3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partnering with PHOKUs 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6c3647e48c_0_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Lydia McCarty </a:t>
            </a:r>
            <a:endParaRPr/>
          </a:p>
        </p:txBody>
      </p:sp>
      <p:sp>
        <p:nvSpPr>
          <p:cNvPr id="146" name="Google Shape;146;g16c3647e48c_0_56"/>
          <p:cNvSpPr txBox="1">
            <a:spLocks noGrp="1"/>
          </p:cNvSpPr>
          <p:nvPr>
            <p:ph type="body" idx="1"/>
          </p:nvPr>
        </p:nvSpPr>
        <p:spPr>
          <a:xfrm>
            <a:off x="-2" y="1839193"/>
            <a:ext cx="116799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6c3647e48c_0_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Tatyana Gonzalez </a:t>
            </a:r>
            <a:endParaRPr/>
          </a:p>
        </p:txBody>
      </p:sp>
      <p:sp>
        <p:nvSpPr>
          <p:cNvPr id="153" name="Google Shape;153;g16c3647e48c_0_62"/>
          <p:cNvSpPr txBox="1">
            <a:spLocks noGrp="1"/>
          </p:cNvSpPr>
          <p:nvPr>
            <p:ph type="body" idx="1"/>
          </p:nvPr>
        </p:nvSpPr>
        <p:spPr>
          <a:xfrm>
            <a:off x="126750" y="1832600"/>
            <a:ext cx="7956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4"/>
              <a:t>Mindfulness CLP Thursday 11/9: 5:30-6:30pm!</a:t>
            </a:r>
            <a:endParaRPr sz="2654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54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4"/>
              <a:t>also-</a:t>
            </a:r>
            <a:endParaRPr sz="2654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4"/>
              <a:t>A freshman reached out to be with desire to implement more relaxing &amp; de-stressing little activities/pops ins. I would like to maybe do a coloring pop-in or something alongside Palamind (mindfulness org). If anyone has any ideas or an org would like to help out with doing some of these throughout the year please let me know!</a:t>
            </a:r>
            <a:endParaRPr sz="2654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ctrTitle"/>
          </p:nvPr>
        </p:nvSpPr>
        <p:spPr>
          <a:xfrm>
            <a:off x="1524000" y="17185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Representative Reports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>
            <a:spLocks noGrp="1"/>
          </p:cNvSpPr>
          <p:nvPr>
            <p:ph type="title"/>
          </p:nvPr>
        </p:nvSpPr>
        <p:spPr>
          <a:xfrm>
            <a:off x="166250" y="109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Sydney Beraho 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4710650" y="3851575"/>
            <a:ext cx="2885400" cy="21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582C8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356700" y="1434975"/>
            <a:ext cx="569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Leah Manning </a:t>
            </a:r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body" idx="1"/>
          </p:nvPr>
        </p:nvSpPr>
        <p:spPr>
          <a:xfrm>
            <a:off x="838200" y="18080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42 donors (14% participation)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solidFill>
                  <a:schemeClr val="dk2"/>
                </a:solidFill>
              </a:rPr>
              <a:t>Let’s beat C.O. ‘23 (53%)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u="sng"/>
              <a:t>YOU choose where your gift goes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Click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/>
              <a:t>to give!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Have a fun and safe Halloween!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title"/>
          </p:nvPr>
        </p:nvSpPr>
        <p:spPr>
          <a:xfrm>
            <a:off x="202200" y="110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Alex Murray </a:t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244550" y="1314350"/>
            <a:ext cx="6823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519375" y="1430950"/>
            <a:ext cx="10758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>
            <a:spLocks noGrp="1"/>
          </p:cNvSpPr>
          <p:nvPr>
            <p:ph type="title"/>
          </p:nvPr>
        </p:nvSpPr>
        <p:spPr>
          <a:xfrm>
            <a:off x="459225" y="352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Kelsey Sumter 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459225" y="1786625"/>
            <a:ext cx="791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635675" y="1638100"/>
            <a:ext cx="3117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4034125" y="1386425"/>
            <a:ext cx="334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6c3647e48c_0_24"/>
          <p:cNvSpPr txBox="1">
            <a:spLocks noGrp="1"/>
          </p:cNvSpPr>
          <p:nvPr>
            <p:ph type="title"/>
          </p:nvPr>
        </p:nvSpPr>
        <p:spPr>
          <a:xfrm>
            <a:off x="838200" y="8498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1237"/>
              <a:buNone/>
            </a:pPr>
            <a:r>
              <a:rPr lang="en-US" sz="4850">
                <a:latin typeface="Arial"/>
                <a:ea typeface="Arial"/>
                <a:cs typeface="Arial"/>
                <a:sym typeface="Arial"/>
              </a:rPr>
              <a:t>Mary Boucher </a:t>
            </a:r>
            <a:endParaRPr sz="4850">
              <a:solidFill>
                <a:srgbClr val="582C8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45454"/>
              <a:buNone/>
            </a:pPr>
            <a:endParaRPr/>
          </a:p>
        </p:txBody>
      </p:sp>
      <p:sp>
        <p:nvSpPr>
          <p:cNvPr id="198" name="Google Shape;198;g16c3647e48c_0_24"/>
          <p:cNvSpPr txBox="1"/>
          <p:nvPr/>
        </p:nvSpPr>
        <p:spPr>
          <a:xfrm>
            <a:off x="838200" y="1876250"/>
            <a:ext cx="10383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entury Schoolbook"/>
                <a:ea typeface="Century Schoolbook"/>
                <a:cs typeface="Century Schoolbook"/>
                <a:sym typeface="Century Schoolbook"/>
              </a:rPr>
              <a:t>I decided I am going to make the used textbook facebook. Stay tuned….</a:t>
            </a: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entury Schoolbook"/>
                <a:ea typeface="Century Schoolbook"/>
                <a:cs typeface="Century Schoolbook"/>
                <a:sym typeface="Century Schoolbook"/>
              </a:rPr>
              <a:t>I need one person form each class who has facebook and wants to be on the used textbook committee. text me! (803)-900-1197</a:t>
            </a: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6c3647e48c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Adara Briceño</a:t>
            </a:r>
            <a:endParaRPr>
              <a:solidFill>
                <a:srgbClr val="582C83"/>
              </a:solidFill>
            </a:endParaRPr>
          </a:p>
        </p:txBody>
      </p:sp>
      <p:sp>
        <p:nvSpPr>
          <p:cNvPr id="205" name="Google Shape;205;g16c3647e48c_0_30"/>
          <p:cNvSpPr txBox="1"/>
          <p:nvPr/>
        </p:nvSpPr>
        <p:spPr>
          <a:xfrm>
            <a:off x="848625" y="1647900"/>
            <a:ext cx="726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6c3647e48c_0_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Deen Deovic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g16c3647e48c_0_36"/>
          <p:cNvSpPr txBox="1"/>
          <p:nvPr/>
        </p:nvSpPr>
        <p:spPr>
          <a:xfrm>
            <a:off x="580950" y="1459450"/>
            <a:ext cx="10202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EB Garamond"/>
                <a:ea typeface="EB Garamond"/>
                <a:cs typeface="EB Garamond"/>
                <a:sym typeface="EB Garamond"/>
              </a:rPr>
              <a:t>	</a:t>
            </a:r>
            <a:endParaRPr sz="25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6c3647e48c_0_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/>
              <a:t>Jennifer Woollery </a:t>
            </a:r>
            <a:endParaRPr>
              <a:solidFill>
                <a:srgbClr val="582C83"/>
              </a:solidFill>
            </a:endParaRPr>
          </a:p>
        </p:txBody>
      </p:sp>
      <p:sp>
        <p:nvSpPr>
          <p:cNvPr id="219" name="Google Shape;219;g16c3647e48c_0_42"/>
          <p:cNvSpPr txBox="1"/>
          <p:nvPr/>
        </p:nvSpPr>
        <p:spPr>
          <a:xfrm>
            <a:off x="872125" y="1519600"/>
            <a:ext cx="6131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20" name="Google Shape;220;g16c3647e48c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525" y="1341425"/>
            <a:ext cx="3706286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16c3647e48c_0_42"/>
          <p:cNvSpPr txBox="1"/>
          <p:nvPr/>
        </p:nvSpPr>
        <p:spPr>
          <a:xfrm>
            <a:off x="7003225" y="1642275"/>
            <a:ext cx="4720800" cy="2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we did it joe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9f5cc7372_4_7"/>
          <p:cNvSpPr txBox="1">
            <a:spLocks noGrp="1"/>
          </p:cNvSpPr>
          <p:nvPr>
            <p:ph type="title"/>
          </p:nvPr>
        </p:nvSpPr>
        <p:spPr>
          <a:xfrm>
            <a:off x="768025" y="378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Caroline Cousar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28" name="Google Shape;228;g119f5cc7372_4_7"/>
          <p:cNvSpPr txBox="1"/>
          <p:nvPr/>
        </p:nvSpPr>
        <p:spPr>
          <a:xfrm>
            <a:off x="838200" y="1598801"/>
            <a:ext cx="97536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Century Schoolbook"/>
              <a:buChar char="-"/>
            </a:pPr>
            <a:r>
              <a:rPr lang="en-US" sz="1900">
                <a:latin typeface="Century Schoolbook"/>
                <a:ea typeface="Century Schoolbook"/>
                <a:cs typeface="Century Schoolbook"/>
                <a:sym typeface="Century Schoolbook"/>
              </a:rPr>
              <a:t>Planning to meet with Allison Diaz early next week to propose ideas for more whiteboards in the lib!</a:t>
            </a:r>
            <a:endParaRPr sz="19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entury Schoolbook"/>
                <a:ea typeface="Century Schoolbook"/>
                <a:cs typeface="Century Schoolbook"/>
                <a:sym typeface="Century Schoolbook"/>
              </a:rPr>
              <a:t>I hope everyone had a great Homecoming!!</a:t>
            </a:r>
            <a:endParaRPr sz="19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>
            <a:spLocks noGrp="1"/>
          </p:cNvSpPr>
          <p:nvPr>
            <p:ph type="title"/>
          </p:nvPr>
        </p:nvSpPr>
        <p:spPr>
          <a:xfrm>
            <a:off x="230525" y="8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Tate Denham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4943250" y="1273825"/>
            <a:ext cx="430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F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11725" y="983950"/>
            <a:ext cx="4997700" cy="26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Condoms </a:t>
            </a: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phase 1 is all done ! Kosak has been made proud. Next steps? We look at results…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Thx to Jenny 4 her help! 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Met w Rick Shosky (Director of </a:t>
            </a: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facilities</a:t>
            </a: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) ab some oncoming projects… results?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Kim Keefa &amp; I and in kahoots ab SGA Strengths </a:t>
            </a: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(StrengthsGA)</a:t>
            </a:r>
            <a:endParaRPr sz="17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Quick strengths poll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Paddock Trivia</a:t>
            </a: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 /</a:t>
            </a: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 Furman Fridays</a:t>
            </a: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 are next…. 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lets chat if u wanna get involved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I really appreciate everyone who helped w </a:t>
            </a: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HOCO</a:t>
            </a:r>
            <a: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  <a:t>! Y’all ended up showing up which was nice! </a:t>
            </a:r>
            <a:endParaRPr sz="17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2836525" y="5622850"/>
            <a:ext cx="3683100" cy="15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entury Schoolbook"/>
                <a:ea typeface="Century Schoolbook"/>
                <a:cs typeface="Century Schoolbook"/>
                <a:sym typeface="Century Schoolbook"/>
              </a:rPr>
              <a:t>ALSO ! PMA &amp; SAI ROCK &amp; WE LOVE THEM!</a:t>
            </a:r>
            <a:endParaRPr sz="17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Kobby Frempong </a:t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1143000" y="1714500"/>
            <a:ext cx="4884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Mariam Nguyen 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826625" y="1515500"/>
            <a:ext cx="3689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7590113" y="474625"/>
            <a:ext cx="383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688850" y="1500200"/>
            <a:ext cx="639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1706350" y="2564950"/>
            <a:ext cx="32172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Nothing to report!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6c3647e48c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Libby Adams </a:t>
            </a:r>
            <a:endParaRPr/>
          </a:p>
        </p:txBody>
      </p:sp>
      <p:sp>
        <p:nvSpPr>
          <p:cNvPr id="261" name="Google Shape;261;g16c3647e48c_0_0"/>
          <p:cNvSpPr txBox="1">
            <a:spLocks noGrp="1"/>
          </p:cNvSpPr>
          <p:nvPr>
            <p:ph type="body" idx="1"/>
          </p:nvPr>
        </p:nvSpPr>
        <p:spPr>
          <a:xfrm>
            <a:off x="648300" y="1487650"/>
            <a:ext cx="7212000" cy="46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ffc5f384c_2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Caroline Orr</a:t>
            </a:r>
            <a:endParaRPr/>
          </a:p>
        </p:txBody>
      </p:sp>
      <p:sp>
        <p:nvSpPr>
          <p:cNvPr id="268" name="Google Shape;268;gfffc5f384c_20_0"/>
          <p:cNvSpPr txBox="1"/>
          <p:nvPr/>
        </p:nvSpPr>
        <p:spPr>
          <a:xfrm>
            <a:off x="838200" y="1824475"/>
            <a:ext cx="529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6c3647e48c_0_68"/>
          <p:cNvSpPr txBox="1">
            <a:spLocks noGrp="1"/>
          </p:cNvSpPr>
          <p:nvPr>
            <p:ph type="title"/>
          </p:nvPr>
        </p:nvSpPr>
        <p:spPr>
          <a:xfrm>
            <a:off x="555800" y="2041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Danyal Sharif</a:t>
            </a:r>
            <a:endParaRPr/>
          </a:p>
        </p:txBody>
      </p:sp>
      <p:sp>
        <p:nvSpPr>
          <p:cNvPr id="275" name="Google Shape;275;g16c3647e48c_0_68"/>
          <p:cNvSpPr txBox="1"/>
          <p:nvPr/>
        </p:nvSpPr>
        <p:spPr>
          <a:xfrm>
            <a:off x="532875" y="1494400"/>
            <a:ext cx="10912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6c3647e48c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Curtis Wilson </a:t>
            </a:r>
            <a:endParaRPr/>
          </a:p>
        </p:txBody>
      </p:sp>
      <p:sp>
        <p:nvSpPr>
          <p:cNvPr id="282" name="Google Shape;282;g16c3647e48c_0_6"/>
          <p:cNvSpPr txBox="1"/>
          <p:nvPr/>
        </p:nvSpPr>
        <p:spPr>
          <a:xfrm>
            <a:off x="703775" y="1690505"/>
            <a:ext cx="1136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674EA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g16c3647e48c_0_6"/>
          <p:cNvSpPr txBox="1"/>
          <p:nvPr/>
        </p:nvSpPr>
        <p:spPr>
          <a:xfrm>
            <a:off x="0" y="2723092"/>
            <a:ext cx="121920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No Updates from me!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>
            <a:spLocks noGrp="1"/>
          </p:cNvSpPr>
          <p:nvPr>
            <p:ph type="ctrTitle"/>
          </p:nvPr>
        </p:nvSpPr>
        <p:spPr>
          <a:xfrm>
            <a:off x="1589700" y="15871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At- Large Reports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FUSAB         -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Grayson Taylor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6" name="Google Shape;29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652" y="126927"/>
            <a:ext cx="3841851" cy="16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 txBox="1"/>
          <p:nvPr/>
        </p:nvSpPr>
        <p:spPr>
          <a:xfrm>
            <a:off x="549525" y="2044200"/>
            <a:ext cx="3841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714700" y="1794325"/>
            <a:ext cx="10978800" cy="4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 Schoolbook"/>
                <a:ea typeface="Century Schoolbook"/>
                <a:cs typeface="Century Schoolbook"/>
                <a:sym typeface="Century Schoolbook"/>
              </a:rPr>
              <a:t>THANK U ALL FOR SUCH HIGH ENGAGEMENT WITH BIGGGGG FUSAB WEEK </a:t>
            </a: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 Schoolbook"/>
                <a:ea typeface="Century Schoolbook"/>
                <a:cs typeface="Century Schoolbook"/>
                <a:sym typeface="Century Schoolbook"/>
              </a:rPr>
              <a:t>FALL MARKET IS THIS SUNDAY!!!!!!!!! 10am-noon behind the LIBBBB, free coffee, live music flowers, epicness</a:t>
            </a: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 Schoolbook"/>
                <a:ea typeface="Century Schoolbook"/>
                <a:cs typeface="Century Schoolbook"/>
                <a:sym typeface="Century Schoolbook"/>
              </a:rPr>
              <a:t>why commute downtown when you can wake up at the market you know?? </a:t>
            </a: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entury Schoolbook"/>
                <a:ea typeface="Century Schoolbook"/>
                <a:cs typeface="Century Schoolbook"/>
                <a:sym typeface="Century Schoolbook"/>
              </a:rPr>
              <a:t>also if anyone ever wants to cospo with FUSAB LET A GIRL KNOWWW</a:t>
            </a: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RLC- Jeff McLane 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474600" y="1771850"/>
            <a:ext cx="5365800" cy="4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>
            <a:spLocks noGrp="1"/>
          </p:cNvSpPr>
          <p:nvPr>
            <p:ph type="title"/>
          </p:nvPr>
        </p:nvSpPr>
        <p:spPr>
          <a:xfrm>
            <a:off x="838200" y="8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Religious Council - Katie Jobe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347075" y="1332725"/>
            <a:ext cx="71358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2424"/>
                </a:solidFill>
                <a:highlight>
                  <a:srgbClr val="FFFFFF"/>
                </a:highlight>
                <a:latin typeface="Libre Franklin SemiBold"/>
                <a:ea typeface="Libre Franklin SemiBold"/>
                <a:cs typeface="Libre Franklin SemiBold"/>
                <a:sym typeface="Libre Franklin SemiBold"/>
              </a:rPr>
              <a:t>\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ibre Franklin SemiBold"/>
              <a:ea typeface="Libre Franklin SemiBold"/>
              <a:cs typeface="Libre Franklin SemiBold"/>
              <a:sym typeface="Libre Franklin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/>
          <p:nvPr/>
        </p:nvSpPr>
        <p:spPr>
          <a:xfrm>
            <a:off x="137450" y="2777500"/>
            <a:ext cx="10200300" cy="99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rgbClr val="582C83"/>
            </a:solidFill>
            <a:prstDash val="solid"/>
            <a:round/>
            <a:headEnd type="none" w="sm" len="sm"/>
            <a:tailEnd type="none" w="sm" len="sm"/>
          </a:ln>
          <a:effectLst>
            <a:outerShdw blurRad="257175" dist="171450" dir="3120000" algn="bl" rotWithShape="0">
              <a:srgbClr val="000000">
                <a:alpha val="3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9" name="Google Shape;319;p31"/>
          <p:cNvSpPr txBox="1">
            <a:spLocks noGrp="1"/>
          </p:cNvSpPr>
          <p:nvPr>
            <p:ph type="title"/>
          </p:nvPr>
        </p:nvSpPr>
        <p:spPr>
          <a:xfrm>
            <a:off x="838200" y="212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Campus Rec - Eva Brooks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812800" y="1591725"/>
            <a:ext cx="1051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21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2100"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1810600" y="5614925"/>
            <a:ext cx="291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6597125" y="5614925"/>
            <a:ext cx="401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3379614" y="5045213"/>
            <a:ext cx="31413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100">
              <a:solidFill>
                <a:srgbClr val="4C4D4C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7246975" y="2799025"/>
            <a:ext cx="429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51C75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9355489" y="2099800"/>
            <a:ext cx="31413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2900" b="0" i="0" u="none" strike="noStrike" cap="none">
                <a:solidFill>
                  <a:srgbClr val="4C4D4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@FurmanCRW</a:t>
            </a:r>
            <a:endParaRPr sz="2900" b="0" i="0" u="none" strike="noStrike" cap="none">
              <a:solidFill>
                <a:srgbClr val="4C4D4C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26" name="Google Shape;32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174" y="288925"/>
            <a:ext cx="1734651" cy="173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 txBox="1"/>
          <p:nvPr/>
        </p:nvSpPr>
        <p:spPr>
          <a:xfrm>
            <a:off x="207250" y="1614625"/>
            <a:ext cx="11726700" cy="4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 b="1" u="sng">
                <a:latin typeface="Merriweather"/>
                <a:ea typeface="Merriweather"/>
                <a:cs typeface="Merriweather"/>
                <a:sym typeface="Merriweather"/>
              </a:rPr>
              <a:t>IM's:</a:t>
            </a:r>
            <a:r>
              <a:rPr lang="en-US" sz="3500" b="1">
                <a:latin typeface="Merriweather"/>
                <a:ea typeface="Merriweather"/>
                <a:cs typeface="Merriweather"/>
                <a:sym typeface="Merriweather"/>
              </a:rPr>
              <a:t>  Table tennis (this weekend)</a:t>
            </a: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 b="1">
                <a:latin typeface="Merriweather"/>
                <a:ea typeface="Merriweather"/>
                <a:cs typeface="Merriweather"/>
                <a:sym typeface="Merriweather"/>
              </a:rPr>
              <a:t>*hiring IM officials - apply through IG bio*</a:t>
            </a: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 b="1" u="sng">
                <a:latin typeface="Merriweather"/>
                <a:ea typeface="Merriweather"/>
                <a:cs typeface="Merriweather"/>
                <a:sym typeface="Merriweather"/>
              </a:rPr>
              <a:t>Clubs:</a:t>
            </a:r>
            <a:r>
              <a:rPr lang="en-US" sz="3500" b="1">
                <a:latin typeface="Merriweather"/>
                <a:ea typeface="Merriweather"/>
                <a:cs typeface="Merriweather"/>
                <a:sym typeface="Merriweather"/>
              </a:rPr>
              <a:t> Rugby @ Elon (11/04)</a:t>
            </a: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500" b="1">
                <a:latin typeface="Merriweather"/>
                <a:ea typeface="Merriweather"/>
                <a:cs typeface="Merriweather"/>
                <a:sym typeface="Merriweather"/>
              </a:rPr>
              <a:t>			 Tennis @ Rome, GA (next weekend)</a:t>
            </a: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94e802fd07_0_2"/>
          <p:cNvSpPr txBox="1"/>
          <p:nvPr/>
        </p:nvSpPr>
        <p:spPr>
          <a:xfrm>
            <a:off x="8410800" y="487075"/>
            <a:ext cx="3511200" cy="49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 b="1">
                <a:latin typeface="Merriweather"/>
                <a:ea typeface="Merriweather"/>
                <a:cs typeface="Merriweather"/>
                <a:sym typeface="Merriweather"/>
              </a:rPr>
              <a:t>Pool back open!!!!</a:t>
            </a: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 b="1" u="sng">
                <a:latin typeface="Merriweather"/>
                <a:ea typeface="Merriweather"/>
                <a:cs typeface="Merriweather"/>
                <a:sym typeface="Merriweather"/>
              </a:rPr>
              <a:t>TYPO</a:t>
            </a:r>
            <a:endParaRPr sz="3500" b="1" u="sng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500" b="1">
                <a:latin typeface="Merriweather"/>
                <a:ea typeface="Merriweather"/>
                <a:cs typeface="Merriweather"/>
                <a:sym typeface="Merriweather"/>
              </a:rPr>
              <a:t>Thurs Barre class starts    @ 12:15</a:t>
            </a:r>
            <a:endParaRPr sz="3500" b="1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>
            <a:spLocks noGrp="1"/>
          </p:cNvSpPr>
          <p:nvPr>
            <p:ph type="title"/>
          </p:nvPr>
        </p:nvSpPr>
        <p:spPr>
          <a:xfrm>
            <a:off x="1781100" y="0"/>
            <a:ext cx="8419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-Abijah Leamon </a:t>
            </a:r>
            <a:endParaRPr sz="4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10243875" y="1233600"/>
            <a:ext cx="24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41" name="Google Shape;341;p32" descr="Furman Student Diversity Council - SDC | Faceboo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875" y="64875"/>
            <a:ext cx="1225500" cy="11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1016950" y="1601400"/>
            <a:ext cx="928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853225" y="1400575"/>
            <a:ext cx="10576800" cy="4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●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SDC Event, partnered with SLBC, FUGE, and Purple Diamonds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○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Pumpkin Patch Party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○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October 30th, 2023 from 6-8 PM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○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Trone Atrium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○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Making care packages for Miracle Hill Ministries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●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Upcoming Events for SDC Organizations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○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SLBC - Let the Ghoul Times Roll Skate Night (October 31st) </a:t>
            </a:r>
            <a:endParaRPr sz="23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entury Schoolbook"/>
              <a:buChar char="○"/>
            </a:pPr>
            <a:r>
              <a:rPr lang="en-US" sz="2300">
                <a:latin typeface="Century Schoolbook"/>
                <a:ea typeface="Century Schoolbook"/>
                <a:cs typeface="Century Schoolbook"/>
                <a:sym typeface="Century Schoolbook"/>
              </a:rPr>
              <a:t>FUISA - International Fashion Show (November 10th) </a:t>
            </a:r>
            <a:endParaRPr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Panhel: Katherine Murphy</a:t>
            </a:r>
            <a:endParaRPr/>
          </a:p>
        </p:txBody>
      </p:sp>
      <p:sp>
        <p:nvSpPr>
          <p:cNvPr id="350" name="Google Shape;350;p34"/>
          <p:cNvSpPr txBox="1"/>
          <p:nvPr/>
        </p:nvSpPr>
        <p:spPr>
          <a:xfrm>
            <a:off x="988025" y="1511075"/>
            <a:ext cx="385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1224650" y="1905000"/>
            <a:ext cx="6626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entury Schoolbook"/>
              <a:buChar char="●"/>
            </a:pPr>
            <a:r>
              <a:rPr lang="en-US" sz="2100">
                <a:latin typeface="Century Schoolbook"/>
                <a:ea typeface="Century Schoolbook"/>
                <a:cs typeface="Century Schoolbook"/>
                <a:sym typeface="Century Schoolbook"/>
              </a:rPr>
              <a:t>DHOP is November 2nd from 7-9:30 pm in Watkins</a:t>
            </a: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2912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50800" marR="508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192925" y="315700"/>
            <a:ext cx="56037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-US"/>
              <a:t>ROTC- Luke Stewart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52e01f2e5c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FUOC- Adrian Gonzalez</a:t>
            </a:r>
            <a:endParaRPr/>
          </a:p>
        </p:txBody>
      </p:sp>
      <p:sp>
        <p:nvSpPr>
          <p:cNvPr id="365" name="Google Shape;365;g152e01f2e5c_0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93e18b8928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Paladin - Colin Brake </a:t>
            </a:r>
            <a:endParaRPr/>
          </a:p>
        </p:txBody>
      </p:sp>
      <p:sp>
        <p:nvSpPr>
          <p:cNvPr id="372" name="Google Shape;372;g293e18b8928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93e18b8928_0_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 txBox="1">
            <a:spLocks noGrp="1"/>
          </p:cNvSpPr>
          <p:nvPr>
            <p:ph type="ctrTitle"/>
          </p:nvPr>
        </p:nvSpPr>
        <p:spPr>
          <a:xfrm>
            <a:off x="1524000" y="1258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Committee Reports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Finance</a:t>
            </a:r>
            <a:endParaRPr/>
          </a:p>
        </p:txBody>
      </p:sp>
      <p:sp>
        <p:nvSpPr>
          <p:cNvPr id="386" name="Google Shape;386;p39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PR</a:t>
            </a:r>
            <a:endParaRPr/>
          </a:p>
        </p:txBody>
      </p:sp>
      <p:sp>
        <p:nvSpPr>
          <p:cNvPr id="393" name="Google Shape;393;p42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New Business</a:t>
            </a:r>
            <a:endParaRPr/>
          </a:p>
        </p:txBody>
      </p:sp>
      <p:sp>
        <p:nvSpPr>
          <p:cNvPr id="400" name="Google Shape;400;p47"/>
          <p:cNvSpPr txBox="1"/>
          <p:nvPr/>
        </p:nvSpPr>
        <p:spPr>
          <a:xfrm>
            <a:off x="3081450" y="3299000"/>
            <a:ext cx="6029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entury Schoolbook"/>
                <a:ea typeface="Century Schoolbook"/>
                <a:cs typeface="Century Schoolbook"/>
                <a:sym typeface="Century Schoolbook"/>
              </a:rPr>
              <a:t>First Responders!</a:t>
            </a:r>
            <a:endParaRPr sz="2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Old Business</a:t>
            </a:r>
            <a:endParaRPr/>
          </a:p>
        </p:txBody>
      </p:sp>
      <p:sp>
        <p:nvSpPr>
          <p:cNvPr id="407" name="Google Shape;407;p46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Outlets!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>
            <a:spLocks noGrp="1"/>
          </p:cNvSpPr>
          <p:nvPr>
            <p:ph type="ctrTitle"/>
          </p:nvPr>
        </p:nvSpPr>
        <p:spPr>
          <a:xfrm>
            <a:off x="1410175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Open Forum</a:t>
            </a:r>
            <a:endParaRPr/>
          </a:p>
        </p:txBody>
      </p:sp>
      <p:sp>
        <p:nvSpPr>
          <p:cNvPr id="414" name="Google Shape;414;p48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All the fun stuff: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announcements, discussions, and more!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dded Diamonds">
  <a:themeElements>
    <a:clrScheme name="Furman">
      <a:dk1>
        <a:srgbClr val="43296D"/>
      </a:dk1>
      <a:lt1>
        <a:srgbClr val="FFFFFF"/>
      </a:lt1>
      <a:dk2>
        <a:srgbClr val="43296D"/>
      </a:dk2>
      <a:lt2>
        <a:srgbClr val="FFFFFF"/>
      </a:lt2>
      <a:accent1>
        <a:srgbClr val="9ED5E0"/>
      </a:accent1>
      <a:accent2>
        <a:srgbClr val="4C4D4C"/>
      </a:accent2>
      <a:accent3>
        <a:srgbClr val="FFFEFE"/>
      </a:accent3>
      <a:accent4>
        <a:srgbClr val="FFFEFE"/>
      </a:accent4>
      <a:accent5>
        <a:srgbClr val="FFFEFE"/>
      </a:accent5>
      <a:accent6>
        <a:srgbClr val="FFFEFE"/>
      </a:accent6>
      <a:hlink>
        <a:srgbClr val="FFFEFE"/>
      </a:hlink>
      <a:folHlink>
        <a:srgbClr val="FFFE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</Words>
  <Application>Microsoft Macintosh PowerPoint</Application>
  <PresentationFormat>Widescreen</PresentationFormat>
  <Paragraphs>204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Merriweather</vt:lpstr>
      <vt:lpstr>Roboto</vt:lpstr>
      <vt:lpstr>Bodoni Moda</vt:lpstr>
      <vt:lpstr>Comic Sans MS</vt:lpstr>
      <vt:lpstr>Calibri</vt:lpstr>
      <vt:lpstr>Century Schoolbook</vt:lpstr>
      <vt:lpstr>Arial</vt:lpstr>
      <vt:lpstr>EB Garamond</vt:lpstr>
      <vt:lpstr>Libre Franklin Medium</vt:lpstr>
      <vt:lpstr>Georgia</vt:lpstr>
      <vt:lpstr>Libre Franklin</vt:lpstr>
      <vt:lpstr>Libre Franklin SemiBold</vt:lpstr>
      <vt:lpstr>Embedded Diamonds</vt:lpstr>
      <vt:lpstr>Welcome to SGA!</vt:lpstr>
      <vt:lpstr>Agenda</vt:lpstr>
      <vt:lpstr>Guest Speaker </vt:lpstr>
      <vt:lpstr>Exec Reports</vt:lpstr>
      <vt:lpstr>Dean Cassidy</vt:lpstr>
      <vt:lpstr>  Meredith Ervin </vt:lpstr>
      <vt:lpstr>Yaseen Echekki- VeePee</vt:lpstr>
      <vt:lpstr>Andrew Cooter </vt:lpstr>
      <vt:lpstr>Carly Gillis</vt:lpstr>
      <vt:lpstr>Lydia McCarty </vt:lpstr>
      <vt:lpstr>Tatyana Gonzalez </vt:lpstr>
      <vt:lpstr>Representative Reports</vt:lpstr>
      <vt:lpstr>Sydney Beraho </vt:lpstr>
      <vt:lpstr>Leah Manning </vt:lpstr>
      <vt:lpstr>Alex Murray </vt:lpstr>
      <vt:lpstr>Kelsey Sumter </vt:lpstr>
      <vt:lpstr>Mary Boucher   </vt:lpstr>
      <vt:lpstr>Adara Briceño</vt:lpstr>
      <vt:lpstr>Deen Deovic</vt:lpstr>
      <vt:lpstr>Jennifer Woollery </vt:lpstr>
      <vt:lpstr>Caroline Cousar  </vt:lpstr>
      <vt:lpstr>Tate Denham </vt:lpstr>
      <vt:lpstr>Kobby Frempong </vt:lpstr>
      <vt:lpstr>Mariam Nguyen </vt:lpstr>
      <vt:lpstr>Libby Adams </vt:lpstr>
      <vt:lpstr>Caroline Orr</vt:lpstr>
      <vt:lpstr>Danyal Sharif</vt:lpstr>
      <vt:lpstr>Curtis Wilson </vt:lpstr>
      <vt:lpstr>At- Large Reports</vt:lpstr>
      <vt:lpstr>FUSAB         - Grayson Taylor </vt:lpstr>
      <vt:lpstr>RLC- Jeff McLane </vt:lpstr>
      <vt:lpstr>Religious Council - Katie Jobe</vt:lpstr>
      <vt:lpstr>Campus Rec - Eva Brooks</vt:lpstr>
      <vt:lpstr>PowerPoint Presentation</vt:lpstr>
      <vt:lpstr>-Abijah Leamon </vt:lpstr>
      <vt:lpstr>Panhel: Katherine Murphy</vt:lpstr>
      <vt:lpstr>ROTC- Luke Stewart </vt:lpstr>
      <vt:lpstr>FUOC- Adrian Gonzalez</vt:lpstr>
      <vt:lpstr>Paladin - Colin Brake </vt:lpstr>
      <vt:lpstr>Committee Reports</vt:lpstr>
      <vt:lpstr>Finance</vt:lpstr>
      <vt:lpstr>PR</vt:lpstr>
      <vt:lpstr>New Business</vt:lpstr>
      <vt:lpstr>Old Business</vt:lpstr>
      <vt:lpstr>Open Forum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SGA!</dc:title>
  <dc:creator>Kaylee Welgraven</dc:creator>
  <cp:lastModifiedBy>Carly Gillis2-Student</cp:lastModifiedBy>
  <cp:revision>1</cp:revision>
  <dcterms:created xsi:type="dcterms:W3CDTF">2017-10-16T12:38:22Z</dcterms:created>
  <dcterms:modified xsi:type="dcterms:W3CDTF">2024-09-23T13:44:47Z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0x01010064D2884E5B56A24E8EB547943B5579B3</vt:lpwstr>
  </property>
</Properties>
</file>