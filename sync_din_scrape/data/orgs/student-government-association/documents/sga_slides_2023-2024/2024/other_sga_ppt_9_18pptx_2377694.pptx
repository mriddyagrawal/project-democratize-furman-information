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embeddedFontLst>
    <p:embeddedFont>
      <p:font typeface="Bodoni Moda" pitchFamily="2" charset="77"/>
      <p:regular r:id="rId45"/>
      <p:bold r:id="rId46"/>
      <p:italic r:id="rId47"/>
      <p:boldItalic r:id="rId48"/>
    </p:embeddedFont>
    <p:embeddedFont>
      <p:font typeface="Calibri" panose="020F0502020204030204" pitchFamily="34" charset="0"/>
      <p:regular r:id="rId49"/>
      <p:bold r:id="rId50"/>
      <p:italic r:id="rId51"/>
      <p:boldItalic r:id="rId52"/>
    </p:embeddedFont>
    <p:embeddedFont>
      <p:font typeface="Century Schoolbook" panose="02040604050505020304" pitchFamily="18" charset="0"/>
      <p:regular r:id="rId53"/>
      <p:bold r:id="rId54"/>
      <p:italic r:id="rId55"/>
      <p:boldItalic r:id="rId56"/>
    </p:embeddedFont>
    <p:embeddedFont>
      <p:font typeface="Comic Sans MS" panose="030F0902030302020204" pitchFamily="66" charset="0"/>
      <p:regular r:id="rId57"/>
    </p:embeddedFont>
    <p:embeddedFont>
      <p:font typeface="Libre Franklin" pitchFamily="2" charset="77"/>
      <p:regular r:id="rId58"/>
      <p:bold r:id="rId59"/>
      <p:italic r:id="rId60"/>
      <p:boldItalic r:id="rId61"/>
    </p:embeddedFont>
    <p:embeddedFont>
      <p:font typeface="Libre Franklin Medium" panose="020F0502020204030204" pitchFamily="34" charset="0"/>
      <p:regular r:id="rId62"/>
      <p:bold r:id="rId63"/>
      <p:italic r:id="rId64"/>
      <p:boldItalic r:id="rId65"/>
    </p:embeddedFont>
    <p:embeddedFont>
      <p:font typeface="Lobster" pitchFamily="2" charset="77"/>
      <p:regular r:id="rId66"/>
    </p:embeddedFont>
    <p:embeddedFont>
      <p:font typeface="Roboto" panose="02000000000000000000" pitchFamily="2"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1" roundtripDataSignature="AMtx7miMUOxfE29q45/kZp1QxhixhX7z1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6"/>
  </p:normalViewPr>
  <p:slideViewPr>
    <p:cSldViewPr snapToGrid="0">
      <p:cViewPr varScale="1">
        <p:scale>
          <a:sx n="105" d="100"/>
          <a:sy n="105" d="100"/>
        </p:scale>
        <p:origin x="8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font" Target="fonts/font2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font" Target="fonts/font22.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openxmlformats.org/officeDocument/2006/relationships/font" Target="fonts/font25.fntdata"/><Relationship Id="rId8" Type="http://schemas.openxmlformats.org/officeDocument/2006/relationships/slide" Target="slides/slide7.xml"/><Relationship Id="rId51" Type="http://schemas.openxmlformats.org/officeDocument/2006/relationships/font" Target="fonts/font7.fntdata"/><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font" Target="fonts/font2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font" Target="fonts/font18.fntdata"/><Relationship Id="rId70" Type="http://schemas.openxmlformats.org/officeDocument/2006/relationships/font" Target="fonts/font26.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font" Target="fonts/font21.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6.xml"/><Relationship Id="rId7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 name="Google Shape;7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 name="Google Shape;79;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52e01f2e5c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g152e01f2e5c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g152e01f2e5c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8da97dc4b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8da97dc4bb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g28da97dc4bb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8da97dc4bb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8da97dc4bb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g28da97dc4bb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8da97dc4bb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8da97dc4bb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g28da97dc4bb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8da97dc4bb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8da97dc4bb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g28da97dc4bb_0_1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8da97dc4bb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28da97dc4bb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g28da97dc4bb_0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8da97dc4bb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8da97dc4bb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g28da97dc4bb_0_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19f5cc7372_4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119f5cc7372_4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119f5cc7372_4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7" name="Google Shape;287;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52e01f2e5c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g152e01f2e5c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g152e01f2e5c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8da97dc4bb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8da97dc4bb_0_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g28da97dc4bb_0_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8da97dc4bb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28da97dc4bb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g28da97dc4bb_0_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1" name="Google Shape;361;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p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8" name="Google Shape;388;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New Section Slide" type="title">
  <p:cSld name="TITLE">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5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82C83"/>
              </a:buClr>
              <a:buSzPts val="6000"/>
              <a:buFont typeface="Libre Franklin Medium"/>
              <a:buNone/>
              <a:defRPr sz="6000">
                <a:solidFill>
                  <a:srgbClr val="582C8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5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accent2"/>
              </a:buClr>
              <a:buSzPts val="2400"/>
              <a:buNone/>
              <a:defRPr sz="2400">
                <a:solidFill>
                  <a:schemeClr val="accent2"/>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5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82C8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Purple">
  <p:cSld name="Title Slide-Purple">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60"/>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Libre Franklin Medium"/>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0"/>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6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82C8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1"/>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1"/>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White">
  <p:cSld name="Title Slide-White">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6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82C83"/>
              </a:buClr>
              <a:buSzPts val="6000"/>
              <a:buFont typeface="Libre Franklin Medium"/>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solidFill>
                  <a:schemeClr val="dk1"/>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9"/>
        <p:cNvGrpSpPr/>
        <p:nvPr/>
      </p:nvGrpSpPr>
      <p:grpSpPr>
        <a:xfrm>
          <a:off x="0" y="0"/>
          <a:ext cx="0" cy="0"/>
          <a:chOff x="0" y="0"/>
          <a:chExt cx="0" cy="0"/>
        </a:xfrm>
      </p:grpSpPr>
      <p:sp>
        <p:nvSpPr>
          <p:cNvPr id="30" name="Google Shape;30;p64"/>
          <p:cNvSpPr txBox="1">
            <a:spLocks noGrp="1"/>
          </p:cNvSpPr>
          <p:nvPr>
            <p:ph type="title"/>
          </p:nvPr>
        </p:nvSpPr>
        <p:spPr>
          <a:xfrm>
            <a:off x="950967" y="719367"/>
            <a:ext cx="10290000" cy="6375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4400"/>
              <a:buFont typeface="Bodoni Moda"/>
              <a:buNone/>
              <a:defRPr>
                <a:latin typeface="Bodoni Moda"/>
                <a:ea typeface="Bodoni Moda"/>
                <a:cs typeface="Bodoni Moda"/>
                <a:sym typeface="Bodoni Moda"/>
              </a:defRPr>
            </a:lvl1pPr>
            <a:lvl2pPr lvl="1" algn="l">
              <a:lnSpc>
                <a:spcPct val="100000"/>
              </a:lnSpc>
              <a:spcBef>
                <a:spcPts val="0"/>
              </a:spcBef>
              <a:spcAft>
                <a:spcPts val="0"/>
              </a:spcAft>
              <a:buSzPts val="1400"/>
              <a:buFont typeface="Bodoni Moda"/>
              <a:buNone/>
              <a:defRPr>
                <a:latin typeface="Bodoni Moda"/>
                <a:ea typeface="Bodoni Moda"/>
                <a:cs typeface="Bodoni Moda"/>
                <a:sym typeface="Bodoni Moda"/>
              </a:defRPr>
            </a:lvl2pPr>
            <a:lvl3pPr lvl="2" algn="l">
              <a:lnSpc>
                <a:spcPct val="100000"/>
              </a:lnSpc>
              <a:spcBef>
                <a:spcPts val="0"/>
              </a:spcBef>
              <a:spcAft>
                <a:spcPts val="0"/>
              </a:spcAft>
              <a:buSzPts val="1400"/>
              <a:buFont typeface="Bodoni Moda"/>
              <a:buNone/>
              <a:defRPr>
                <a:latin typeface="Bodoni Moda"/>
                <a:ea typeface="Bodoni Moda"/>
                <a:cs typeface="Bodoni Moda"/>
                <a:sym typeface="Bodoni Moda"/>
              </a:defRPr>
            </a:lvl3pPr>
            <a:lvl4pPr lvl="3" algn="l">
              <a:lnSpc>
                <a:spcPct val="100000"/>
              </a:lnSpc>
              <a:spcBef>
                <a:spcPts val="0"/>
              </a:spcBef>
              <a:spcAft>
                <a:spcPts val="0"/>
              </a:spcAft>
              <a:buSzPts val="1400"/>
              <a:buFont typeface="Bodoni Moda"/>
              <a:buNone/>
              <a:defRPr>
                <a:latin typeface="Bodoni Moda"/>
                <a:ea typeface="Bodoni Moda"/>
                <a:cs typeface="Bodoni Moda"/>
                <a:sym typeface="Bodoni Moda"/>
              </a:defRPr>
            </a:lvl4pPr>
            <a:lvl5pPr lvl="4" algn="l">
              <a:lnSpc>
                <a:spcPct val="100000"/>
              </a:lnSpc>
              <a:spcBef>
                <a:spcPts val="0"/>
              </a:spcBef>
              <a:spcAft>
                <a:spcPts val="0"/>
              </a:spcAft>
              <a:buSzPts val="1400"/>
              <a:buFont typeface="Bodoni Moda"/>
              <a:buNone/>
              <a:defRPr>
                <a:latin typeface="Bodoni Moda"/>
                <a:ea typeface="Bodoni Moda"/>
                <a:cs typeface="Bodoni Moda"/>
                <a:sym typeface="Bodoni Moda"/>
              </a:defRPr>
            </a:lvl5pPr>
            <a:lvl6pPr lvl="5" algn="l">
              <a:lnSpc>
                <a:spcPct val="100000"/>
              </a:lnSpc>
              <a:spcBef>
                <a:spcPts val="0"/>
              </a:spcBef>
              <a:spcAft>
                <a:spcPts val="0"/>
              </a:spcAft>
              <a:buSzPts val="1400"/>
              <a:buFont typeface="Bodoni Moda"/>
              <a:buNone/>
              <a:defRPr>
                <a:latin typeface="Bodoni Moda"/>
                <a:ea typeface="Bodoni Moda"/>
                <a:cs typeface="Bodoni Moda"/>
                <a:sym typeface="Bodoni Moda"/>
              </a:defRPr>
            </a:lvl6pPr>
            <a:lvl7pPr lvl="6" algn="l">
              <a:lnSpc>
                <a:spcPct val="100000"/>
              </a:lnSpc>
              <a:spcBef>
                <a:spcPts val="0"/>
              </a:spcBef>
              <a:spcAft>
                <a:spcPts val="0"/>
              </a:spcAft>
              <a:buSzPts val="1400"/>
              <a:buFont typeface="Bodoni Moda"/>
              <a:buNone/>
              <a:defRPr>
                <a:latin typeface="Bodoni Moda"/>
                <a:ea typeface="Bodoni Moda"/>
                <a:cs typeface="Bodoni Moda"/>
                <a:sym typeface="Bodoni Moda"/>
              </a:defRPr>
            </a:lvl7pPr>
            <a:lvl8pPr lvl="7" algn="l">
              <a:lnSpc>
                <a:spcPct val="100000"/>
              </a:lnSpc>
              <a:spcBef>
                <a:spcPts val="0"/>
              </a:spcBef>
              <a:spcAft>
                <a:spcPts val="0"/>
              </a:spcAft>
              <a:buSzPts val="1400"/>
              <a:buFont typeface="Bodoni Moda"/>
              <a:buNone/>
              <a:defRPr>
                <a:latin typeface="Bodoni Moda"/>
                <a:ea typeface="Bodoni Moda"/>
                <a:cs typeface="Bodoni Moda"/>
                <a:sym typeface="Bodoni Moda"/>
              </a:defRPr>
            </a:lvl8pPr>
            <a:lvl9pPr lvl="8" algn="l">
              <a:lnSpc>
                <a:spcPct val="100000"/>
              </a:lnSpc>
              <a:spcBef>
                <a:spcPts val="0"/>
              </a:spcBef>
              <a:spcAft>
                <a:spcPts val="0"/>
              </a:spcAft>
              <a:buSzPts val="1400"/>
              <a:buFont typeface="Bodoni Moda"/>
              <a:buNone/>
              <a:defRPr>
                <a:latin typeface="Bodoni Moda"/>
                <a:ea typeface="Bodoni Moda"/>
                <a:cs typeface="Bodoni Moda"/>
                <a:sym typeface="Bodoni Moda"/>
              </a:defRPr>
            </a:lvl9pPr>
          </a:lstStyle>
          <a:p>
            <a:endParaRPr/>
          </a:p>
        </p:txBody>
      </p:sp>
      <p:sp>
        <p:nvSpPr>
          <p:cNvPr id="31" name="Google Shape;31;p64"/>
          <p:cNvSpPr txBox="1">
            <a:spLocks noGrp="1"/>
          </p:cNvSpPr>
          <p:nvPr>
            <p:ph type="subTitle" idx="1"/>
          </p:nvPr>
        </p:nvSpPr>
        <p:spPr>
          <a:xfrm>
            <a:off x="2673667" y="27497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2" name="Google Shape;32;p64"/>
          <p:cNvSpPr txBox="1">
            <a:spLocks noGrp="1"/>
          </p:cNvSpPr>
          <p:nvPr>
            <p:ph type="subTitle" idx="2"/>
          </p:nvPr>
        </p:nvSpPr>
        <p:spPr>
          <a:xfrm>
            <a:off x="2673667" y="22686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3" name="Google Shape;33;p64"/>
          <p:cNvSpPr txBox="1">
            <a:spLocks noGrp="1"/>
          </p:cNvSpPr>
          <p:nvPr>
            <p:ph type="subTitle" idx="3"/>
          </p:nvPr>
        </p:nvSpPr>
        <p:spPr>
          <a:xfrm>
            <a:off x="2673667" y="44636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4" name="Google Shape;34;p64"/>
          <p:cNvSpPr txBox="1">
            <a:spLocks noGrp="1"/>
          </p:cNvSpPr>
          <p:nvPr>
            <p:ph type="subTitle" idx="4"/>
          </p:nvPr>
        </p:nvSpPr>
        <p:spPr>
          <a:xfrm>
            <a:off x="2673667" y="39825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5" name="Google Shape;35;p64"/>
          <p:cNvSpPr txBox="1">
            <a:spLocks noGrp="1"/>
          </p:cNvSpPr>
          <p:nvPr>
            <p:ph type="subTitle" idx="5"/>
          </p:nvPr>
        </p:nvSpPr>
        <p:spPr>
          <a:xfrm>
            <a:off x="7864400" y="27497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6" name="Google Shape;36;p64"/>
          <p:cNvSpPr txBox="1">
            <a:spLocks noGrp="1"/>
          </p:cNvSpPr>
          <p:nvPr>
            <p:ph type="subTitle" idx="6"/>
          </p:nvPr>
        </p:nvSpPr>
        <p:spPr>
          <a:xfrm>
            <a:off x="7864400" y="22686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7" name="Google Shape;37;p64"/>
          <p:cNvSpPr txBox="1">
            <a:spLocks noGrp="1"/>
          </p:cNvSpPr>
          <p:nvPr>
            <p:ph type="subTitle" idx="7"/>
          </p:nvPr>
        </p:nvSpPr>
        <p:spPr>
          <a:xfrm>
            <a:off x="7864400" y="44636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8" name="Google Shape;38;p64"/>
          <p:cNvSpPr txBox="1">
            <a:spLocks noGrp="1"/>
          </p:cNvSpPr>
          <p:nvPr>
            <p:ph type="subTitle" idx="8"/>
          </p:nvPr>
        </p:nvSpPr>
        <p:spPr>
          <a:xfrm>
            <a:off x="7864400" y="39825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9" name="Google Shape;39;p64"/>
          <p:cNvSpPr txBox="1">
            <a:spLocks noGrp="1"/>
          </p:cNvSpPr>
          <p:nvPr>
            <p:ph type="title" idx="9"/>
          </p:nvPr>
        </p:nvSpPr>
        <p:spPr>
          <a:xfrm>
            <a:off x="1507000"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0" name="Google Shape;40;p64"/>
          <p:cNvSpPr txBox="1">
            <a:spLocks noGrp="1"/>
          </p:cNvSpPr>
          <p:nvPr>
            <p:ph type="title" idx="13"/>
          </p:nvPr>
        </p:nvSpPr>
        <p:spPr>
          <a:xfrm>
            <a:off x="1507000"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1" name="Google Shape;41;p64"/>
          <p:cNvSpPr txBox="1">
            <a:spLocks noGrp="1"/>
          </p:cNvSpPr>
          <p:nvPr>
            <p:ph type="title" idx="14"/>
          </p:nvPr>
        </p:nvSpPr>
        <p:spPr>
          <a:xfrm>
            <a:off x="6697733"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2" name="Google Shape;42;p64"/>
          <p:cNvSpPr txBox="1">
            <a:spLocks noGrp="1"/>
          </p:cNvSpPr>
          <p:nvPr>
            <p:ph type="title" idx="15"/>
          </p:nvPr>
        </p:nvSpPr>
        <p:spPr>
          <a:xfrm>
            <a:off x="6697733"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3" name="Google Shape;43;p64"/>
          <p:cNvSpPr/>
          <p:nvPr/>
        </p:nvSpPr>
        <p:spPr>
          <a:xfrm>
            <a:off x="414967" y="501133"/>
            <a:ext cx="1071900" cy="1071900"/>
          </a:xfrm>
          <a:prstGeom prst="star8">
            <a:avLst>
              <a:gd name="adj" fmla="val 24675"/>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4" name="Google Shape;44;p64"/>
          <p:cNvCxnSpPr>
            <a:stCxn id="43" idx="2"/>
          </p:cNvCxnSpPr>
          <p:nvPr/>
        </p:nvCxnSpPr>
        <p:spPr>
          <a:xfrm>
            <a:off x="950917" y="1573033"/>
            <a:ext cx="0" cy="5460300"/>
          </a:xfrm>
          <a:prstGeom prst="straightConnector1">
            <a:avLst/>
          </a:prstGeom>
          <a:noFill/>
          <a:ln w="19050" cap="flat" cmpd="sng">
            <a:solidFill>
              <a:schemeClr val="accent1"/>
            </a:solidFill>
            <a:prstDash val="solid"/>
            <a:round/>
            <a:headEnd type="none" w="sm" len="sm"/>
            <a:tailEnd type="none" w="sm" len="sm"/>
          </a:ln>
        </p:spPr>
      </p:cxnSp>
      <p:grpSp>
        <p:nvGrpSpPr>
          <p:cNvPr id="45" name="Google Shape;45;p64"/>
          <p:cNvGrpSpPr/>
          <p:nvPr/>
        </p:nvGrpSpPr>
        <p:grpSpPr>
          <a:xfrm>
            <a:off x="1518662" y="5939602"/>
            <a:ext cx="9660958" cy="385590"/>
            <a:chOff x="1139025" y="4454813"/>
            <a:chExt cx="7245900" cy="289200"/>
          </a:xfrm>
        </p:grpSpPr>
        <p:cxnSp>
          <p:nvCxnSpPr>
            <p:cNvPr id="46" name="Google Shape;46;p64"/>
            <p:cNvCxnSpPr/>
            <p:nvPr/>
          </p:nvCxnSpPr>
          <p:spPr>
            <a:xfrm>
              <a:off x="1139025" y="4599425"/>
              <a:ext cx="7245900" cy="0"/>
            </a:xfrm>
            <a:prstGeom prst="straightConnector1">
              <a:avLst/>
            </a:prstGeom>
            <a:noFill/>
            <a:ln w="19050" cap="flat" cmpd="sng">
              <a:solidFill>
                <a:schemeClr val="accent1"/>
              </a:solidFill>
              <a:prstDash val="solid"/>
              <a:round/>
              <a:headEnd type="none" w="sm" len="sm"/>
              <a:tailEnd type="none" w="sm" len="sm"/>
            </a:ln>
          </p:spPr>
        </p:cxnSp>
        <p:sp>
          <p:nvSpPr>
            <p:cNvPr id="47" name="Google Shape;47;p64"/>
            <p:cNvSpPr/>
            <p:nvPr/>
          </p:nvSpPr>
          <p:spPr>
            <a:xfrm rot="5400000">
              <a:off x="75077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64"/>
            <p:cNvSpPr/>
            <p:nvPr/>
          </p:nvSpPr>
          <p:spPr>
            <a:xfrm rot="5400000">
              <a:off x="782805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64"/>
            <p:cNvSpPr/>
            <p:nvPr/>
          </p:nvSpPr>
          <p:spPr>
            <a:xfrm rot="5400000">
              <a:off x="81483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64"/>
            <p:cNvSpPr/>
            <p:nvPr/>
          </p:nvSpPr>
          <p:spPr>
            <a:xfrm rot="5400000">
              <a:off x="41071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64"/>
            <p:cNvSpPr/>
            <p:nvPr/>
          </p:nvSpPr>
          <p:spPr>
            <a:xfrm rot="5400000">
              <a:off x="442740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64"/>
            <p:cNvSpPr/>
            <p:nvPr/>
          </p:nvSpPr>
          <p:spPr>
            <a:xfrm rot="5400000">
              <a:off x="47476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54" name="Google Shape;54;p65"/>
          <p:cNvSpPr txBox="1">
            <a:spLocks noGrp="1"/>
          </p:cNvSpPr>
          <p:nvPr>
            <p:ph type="title"/>
          </p:nvPr>
        </p:nvSpPr>
        <p:spPr>
          <a:xfrm>
            <a:off x="3056600" y="3275967"/>
            <a:ext cx="6078900" cy="908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a:endParaRPr/>
          </a:p>
        </p:txBody>
      </p:sp>
      <p:sp>
        <p:nvSpPr>
          <p:cNvPr id="55" name="Google Shape;55;p65"/>
          <p:cNvSpPr txBox="1">
            <a:spLocks noGrp="1"/>
          </p:cNvSpPr>
          <p:nvPr>
            <p:ph type="subTitle" idx="1"/>
          </p:nvPr>
        </p:nvSpPr>
        <p:spPr>
          <a:xfrm>
            <a:off x="4144200" y="4410633"/>
            <a:ext cx="3903600" cy="9273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300"/>
              <a:buNone/>
              <a:defRPr sz="2300"/>
            </a:lvl1pPr>
            <a:lvl2pPr lvl="1" algn="ctr">
              <a:lnSpc>
                <a:spcPct val="100000"/>
              </a:lnSpc>
              <a:spcBef>
                <a:spcPts val="500"/>
              </a:spcBef>
              <a:spcAft>
                <a:spcPts val="0"/>
              </a:spcAft>
              <a:buSzPts val="2300"/>
              <a:buNone/>
              <a:defRPr sz="2300"/>
            </a:lvl2pPr>
            <a:lvl3pPr lvl="2" algn="ctr">
              <a:lnSpc>
                <a:spcPct val="100000"/>
              </a:lnSpc>
              <a:spcBef>
                <a:spcPts val="500"/>
              </a:spcBef>
              <a:spcAft>
                <a:spcPts val="0"/>
              </a:spcAft>
              <a:buSzPts val="2300"/>
              <a:buNone/>
              <a:defRPr sz="2300"/>
            </a:lvl3pPr>
            <a:lvl4pPr lvl="3" algn="ctr">
              <a:lnSpc>
                <a:spcPct val="100000"/>
              </a:lnSpc>
              <a:spcBef>
                <a:spcPts val="500"/>
              </a:spcBef>
              <a:spcAft>
                <a:spcPts val="0"/>
              </a:spcAft>
              <a:buSzPts val="2300"/>
              <a:buNone/>
              <a:defRPr sz="2300"/>
            </a:lvl4pPr>
            <a:lvl5pPr lvl="4" algn="ctr">
              <a:lnSpc>
                <a:spcPct val="100000"/>
              </a:lnSpc>
              <a:spcBef>
                <a:spcPts val="500"/>
              </a:spcBef>
              <a:spcAft>
                <a:spcPts val="0"/>
              </a:spcAft>
              <a:buSzPts val="2300"/>
              <a:buNone/>
              <a:defRPr sz="2300"/>
            </a:lvl5pPr>
            <a:lvl6pPr lvl="5" algn="ctr">
              <a:lnSpc>
                <a:spcPct val="100000"/>
              </a:lnSpc>
              <a:spcBef>
                <a:spcPts val="500"/>
              </a:spcBef>
              <a:spcAft>
                <a:spcPts val="0"/>
              </a:spcAft>
              <a:buSzPts val="2300"/>
              <a:buNone/>
              <a:defRPr sz="2300"/>
            </a:lvl6pPr>
            <a:lvl7pPr lvl="6" algn="ctr">
              <a:lnSpc>
                <a:spcPct val="100000"/>
              </a:lnSpc>
              <a:spcBef>
                <a:spcPts val="500"/>
              </a:spcBef>
              <a:spcAft>
                <a:spcPts val="0"/>
              </a:spcAft>
              <a:buSzPts val="2300"/>
              <a:buNone/>
              <a:defRPr sz="2300"/>
            </a:lvl7pPr>
            <a:lvl8pPr lvl="7" algn="ctr">
              <a:lnSpc>
                <a:spcPct val="100000"/>
              </a:lnSpc>
              <a:spcBef>
                <a:spcPts val="500"/>
              </a:spcBef>
              <a:spcAft>
                <a:spcPts val="0"/>
              </a:spcAft>
              <a:buSzPts val="2300"/>
              <a:buNone/>
              <a:defRPr sz="2300"/>
            </a:lvl8pPr>
            <a:lvl9pPr lvl="8" algn="ctr">
              <a:lnSpc>
                <a:spcPct val="100000"/>
              </a:lnSpc>
              <a:spcBef>
                <a:spcPts val="500"/>
              </a:spcBef>
              <a:spcAft>
                <a:spcPts val="0"/>
              </a:spcAft>
              <a:buSzPts val="2300"/>
              <a:buNone/>
              <a:defRPr sz="2300"/>
            </a:lvl9pPr>
          </a:lstStyle>
          <a:p>
            <a:endParaRPr/>
          </a:p>
        </p:txBody>
      </p:sp>
      <p:sp>
        <p:nvSpPr>
          <p:cNvPr id="56" name="Google Shape;56;p65"/>
          <p:cNvSpPr txBox="1">
            <a:spLocks noGrp="1"/>
          </p:cNvSpPr>
          <p:nvPr>
            <p:ph type="title" idx="2"/>
          </p:nvPr>
        </p:nvSpPr>
        <p:spPr>
          <a:xfrm>
            <a:off x="5355400" y="1481256"/>
            <a:ext cx="1481100" cy="14820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a:endParaRPr/>
          </a:p>
        </p:txBody>
      </p:sp>
      <p:grpSp>
        <p:nvGrpSpPr>
          <p:cNvPr id="57" name="Google Shape;57;p65"/>
          <p:cNvGrpSpPr/>
          <p:nvPr/>
        </p:nvGrpSpPr>
        <p:grpSpPr>
          <a:xfrm>
            <a:off x="761881" y="720799"/>
            <a:ext cx="3488379" cy="3310684"/>
            <a:chOff x="571425" y="540613"/>
            <a:chExt cx="2616350" cy="2483075"/>
          </a:xfrm>
        </p:grpSpPr>
        <p:sp>
          <p:nvSpPr>
            <p:cNvPr id="58" name="Google Shape;58;p65"/>
            <p:cNvSpPr/>
            <p:nvPr/>
          </p:nvSpPr>
          <p:spPr>
            <a:xfrm>
              <a:off x="717275" y="540613"/>
              <a:ext cx="2470500" cy="2483075"/>
            </a:xfrm>
            <a:custGeom>
              <a:avLst/>
              <a:gdLst/>
              <a:ahLst/>
              <a:cxnLst/>
              <a:rect l="l" t="t" r="r" b="b"/>
              <a:pathLst>
                <a:path w="98820" h="99323" extrusionOk="0">
                  <a:moveTo>
                    <a:pt x="0" y="99323"/>
                  </a:moveTo>
                  <a:lnTo>
                    <a:pt x="0" y="0"/>
                  </a:lnTo>
                  <a:lnTo>
                    <a:pt x="98820" y="0"/>
                  </a:lnTo>
                </a:path>
              </a:pathLst>
            </a:custGeom>
            <a:noFill/>
            <a:ln w="19050" cap="flat" cmpd="sng">
              <a:solidFill>
                <a:schemeClr val="accent1"/>
              </a:solidFill>
              <a:prstDash val="solid"/>
              <a:round/>
              <a:headEnd type="none" w="sm" len="sm"/>
              <a:tailEnd type="none" w="sm" len="sm"/>
            </a:ln>
          </p:spPr>
        </p:sp>
        <p:sp>
          <p:nvSpPr>
            <p:cNvPr id="59" name="Google Shape;59;p65"/>
            <p:cNvSpPr/>
            <p:nvPr/>
          </p:nvSpPr>
          <p:spPr>
            <a:xfrm>
              <a:off x="583350" y="201047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65"/>
            <p:cNvSpPr/>
            <p:nvPr/>
          </p:nvSpPr>
          <p:spPr>
            <a:xfrm>
              <a:off x="583350" y="1690200"/>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65"/>
            <p:cNvSpPr/>
            <p:nvPr/>
          </p:nvSpPr>
          <p:spPr>
            <a:xfrm>
              <a:off x="571425" y="136992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 name="Google Shape;62;p65"/>
          <p:cNvGrpSpPr/>
          <p:nvPr/>
        </p:nvGrpSpPr>
        <p:grpSpPr>
          <a:xfrm>
            <a:off x="9969882" y="4635916"/>
            <a:ext cx="4444239" cy="4444174"/>
            <a:chOff x="-1157850" y="-1175191"/>
            <a:chExt cx="2325853" cy="2325818"/>
          </a:xfrm>
        </p:grpSpPr>
        <p:sp>
          <p:nvSpPr>
            <p:cNvPr id="63" name="Google Shape;63;p65"/>
            <p:cNvSpPr/>
            <p:nvPr/>
          </p:nvSpPr>
          <p:spPr>
            <a:xfrm>
              <a:off x="-1157850" y="-1175191"/>
              <a:ext cx="2325853" cy="2325818"/>
            </a:xfrm>
            <a:custGeom>
              <a:avLst/>
              <a:gdLst/>
              <a:ahLst/>
              <a:cxnLst/>
              <a:rect l="l" t="t" r="r" b="b"/>
              <a:pathLst>
                <a:path w="67819" h="67818" fill="none" extrusionOk="0">
                  <a:moveTo>
                    <a:pt x="55741" y="12077"/>
                  </a:moveTo>
                  <a:cubicBezTo>
                    <a:pt x="67818" y="24133"/>
                    <a:pt x="67818" y="43684"/>
                    <a:pt x="55741" y="55741"/>
                  </a:cubicBezTo>
                  <a:cubicBezTo>
                    <a:pt x="43685" y="67818"/>
                    <a:pt x="24134" y="67818"/>
                    <a:pt x="12078" y="55741"/>
                  </a:cubicBezTo>
                  <a:cubicBezTo>
                    <a:pt x="1" y="43684"/>
                    <a:pt x="1" y="24133"/>
                    <a:pt x="12078" y="12077"/>
                  </a:cubicBezTo>
                  <a:cubicBezTo>
                    <a:pt x="24134" y="0"/>
                    <a:pt x="43685" y="0"/>
                    <a:pt x="55741" y="120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65"/>
            <p:cNvSpPr/>
            <p:nvPr/>
          </p:nvSpPr>
          <p:spPr>
            <a:xfrm>
              <a:off x="-969954" y="-987329"/>
              <a:ext cx="1950048" cy="1950082"/>
            </a:xfrm>
            <a:custGeom>
              <a:avLst/>
              <a:gdLst/>
              <a:ahLst/>
              <a:cxnLst/>
              <a:rect l="l" t="t" r="r" b="b"/>
              <a:pathLst>
                <a:path w="56861" h="56862" fill="none" extrusionOk="0">
                  <a:moveTo>
                    <a:pt x="46739" y="10122"/>
                  </a:moveTo>
                  <a:cubicBezTo>
                    <a:pt x="56861" y="20224"/>
                    <a:pt x="56861" y="36638"/>
                    <a:pt x="46739" y="46740"/>
                  </a:cubicBezTo>
                  <a:cubicBezTo>
                    <a:pt x="36638" y="56861"/>
                    <a:pt x="20223" y="56861"/>
                    <a:pt x="10122" y="46740"/>
                  </a:cubicBezTo>
                  <a:cubicBezTo>
                    <a:pt x="0" y="36638"/>
                    <a:pt x="0" y="20224"/>
                    <a:pt x="10122" y="10122"/>
                  </a:cubicBezTo>
                  <a:cubicBezTo>
                    <a:pt x="20223" y="1"/>
                    <a:pt x="36638" y="1"/>
                    <a:pt x="46739" y="10122"/>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65"/>
            <p:cNvSpPr/>
            <p:nvPr/>
          </p:nvSpPr>
          <p:spPr>
            <a:xfrm>
              <a:off x="-782092" y="-799467"/>
              <a:ext cx="1574312" cy="1574312"/>
            </a:xfrm>
            <a:custGeom>
              <a:avLst/>
              <a:gdLst/>
              <a:ahLst/>
              <a:cxnLst/>
              <a:rect l="l" t="t" r="r" b="b"/>
              <a:pathLst>
                <a:path w="45905" h="45905" fill="none" extrusionOk="0">
                  <a:moveTo>
                    <a:pt x="37738" y="8167"/>
                  </a:moveTo>
                  <a:cubicBezTo>
                    <a:pt x="45905" y="16334"/>
                    <a:pt x="45905" y="29572"/>
                    <a:pt x="37738" y="37738"/>
                  </a:cubicBezTo>
                  <a:cubicBezTo>
                    <a:pt x="29571" y="45905"/>
                    <a:pt x="16334" y="45905"/>
                    <a:pt x="8167" y="37738"/>
                  </a:cubicBezTo>
                  <a:cubicBezTo>
                    <a:pt x="0" y="29572"/>
                    <a:pt x="0" y="16334"/>
                    <a:pt x="8167" y="8167"/>
                  </a:cubicBezTo>
                  <a:cubicBezTo>
                    <a:pt x="16334" y="1"/>
                    <a:pt x="29571" y="1"/>
                    <a:pt x="37738" y="816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65"/>
            <p:cNvSpPr/>
            <p:nvPr/>
          </p:nvSpPr>
          <p:spPr>
            <a:xfrm>
              <a:off x="-617962" y="-636023"/>
              <a:ext cx="1246760" cy="1247446"/>
            </a:xfrm>
            <a:custGeom>
              <a:avLst/>
              <a:gdLst/>
              <a:ahLst/>
              <a:cxnLst/>
              <a:rect l="l" t="t" r="r" b="b"/>
              <a:pathLst>
                <a:path w="36354" h="36374" fill="none" extrusionOk="0">
                  <a:moveTo>
                    <a:pt x="25926" y="4277"/>
                  </a:moveTo>
                  <a:cubicBezTo>
                    <a:pt x="33604" y="8554"/>
                    <a:pt x="36353" y="18248"/>
                    <a:pt x="32076" y="25926"/>
                  </a:cubicBezTo>
                  <a:cubicBezTo>
                    <a:pt x="27799" y="33624"/>
                    <a:pt x="18105" y="36373"/>
                    <a:pt x="10428" y="32097"/>
                  </a:cubicBezTo>
                  <a:cubicBezTo>
                    <a:pt x="2750" y="27799"/>
                    <a:pt x="0" y="18105"/>
                    <a:pt x="4277" y="10428"/>
                  </a:cubicBezTo>
                  <a:cubicBezTo>
                    <a:pt x="8554" y="2750"/>
                    <a:pt x="18248" y="0"/>
                    <a:pt x="25926" y="42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65"/>
            <p:cNvSpPr/>
            <p:nvPr/>
          </p:nvSpPr>
          <p:spPr>
            <a:xfrm>
              <a:off x="-423104" y="-440479"/>
              <a:ext cx="856312" cy="856312"/>
            </a:xfrm>
            <a:custGeom>
              <a:avLst/>
              <a:gdLst/>
              <a:ahLst/>
              <a:cxnLst/>
              <a:rect l="l" t="t" r="r" b="b"/>
              <a:pathLst>
                <a:path w="24969" h="24969" fill="none" extrusionOk="0">
                  <a:moveTo>
                    <a:pt x="17861" y="2974"/>
                  </a:moveTo>
                  <a:cubicBezTo>
                    <a:pt x="23115" y="5948"/>
                    <a:pt x="24969" y="12607"/>
                    <a:pt x="21995" y="17861"/>
                  </a:cubicBezTo>
                  <a:cubicBezTo>
                    <a:pt x="19042" y="23116"/>
                    <a:pt x="12362" y="24969"/>
                    <a:pt x="7108" y="21996"/>
                  </a:cubicBezTo>
                  <a:cubicBezTo>
                    <a:pt x="1854" y="19022"/>
                    <a:pt x="0" y="12363"/>
                    <a:pt x="2974" y="7108"/>
                  </a:cubicBezTo>
                  <a:cubicBezTo>
                    <a:pt x="5947" y="1854"/>
                    <a:pt x="12607" y="1"/>
                    <a:pt x="17861" y="2974"/>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65"/>
            <p:cNvSpPr/>
            <p:nvPr/>
          </p:nvSpPr>
          <p:spPr>
            <a:xfrm>
              <a:off x="-226155" y="-243530"/>
              <a:ext cx="463085" cy="462399"/>
            </a:xfrm>
            <a:custGeom>
              <a:avLst/>
              <a:gdLst/>
              <a:ahLst/>
              <a:cxnLst/>
              <a:rect l="l" t="t" r="r" b="b"/>
              <a:pathLst>
                <a:path w="13503" h="13483" fill="none" extrusionOk="0">
                  <a:moveTo>
                    <a:pt x="11609" y="3341"/>
                  </a:moveTo>
                  <a:cubicBezTo>
                    <a:pt x="13503" y="6029"/>
                    <a:pt x="12851" y="9736"/>
                    <a:pt x="10163" y="11609"/>
                  </a:cubicBezTo>
                  <a:cubicBezTo>
                    <a:pt x="7475" y="13483"/>
                    <a:pt x="3768" y="12831"/>
                    <a:pt x="1895" y="10143"/>
                  </a:cubicBezTo>
                  <a:cubicBezTo>
                    <a:pt x="0" y="7455"/>
                    <a:pt x="652" y="3769"/>
                    <a:pt x="3340" y="1875"/>
                  </a:cubicBezTo>
                  <a:cubicBezTo>
                    <a:pt x="6029" y="1"/>
                    <a:pt x="9735" y="653"/>
                    <a:pt x="11609" y="3341"/>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582C83"/>
              </a:buClr>
              <a:buSzPts val="4400"/>
              <a:buFont typeface="Libre Franklin Medium"/>
              <a:buNone/>
              <a:defRPr sz="4400" b="0" i="0" u="none" strike="noStrike" cap="none">
                <a:solidFill>
                  <a:srgbClr val="582C83"/>
                </a:solidFill>
                <a:latin typeface="Libre Franklin Medium"/>
                <a:ea typeface="Libre Franklin Medium"/>
                <a:cs typeface="Libre Franklin Medium"/>
                <a:sym typeface="Libre Franklin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Arial"/>
              <a:buChar char="•"/>
              <a:defRPr sz="2800" b="0" i="0" u="none" strike="noStrike" cap="none">
                <a:solidFill>
                  <a:schemeClr val="accent2"/>
                </a:solidFill>
                <a:latin typeface="Century Schoolbook"/>
                <a:ea typeface="Century Schoolbook"/>
                <a:cs typeface="Century Schoolbook"/>
                <a:sym typeface="Century Schoolbook"/>
              </a:defRPr>
            </a:lvl1pPr>
            <a:lvl2pPr marL="914400" marR="0" lvl="1" indent="-381000" algn="l" rtl="0">
              <a:lnSpc>
                <a:spcPct val="90000"/>
              </a:lnSpc>
              <a:spcBef>
                <a:spcPts val="500"/>
              </a:spcBef>
              <a:spcAft>
                <a:spcPts val="0"/>
              </a:spcAft>
              <a:buClr>
                <a:schemeClr val="accent2"/>
              </a:buClr>
              <a:buSzPts val="2400"/>
              <a:buFont typeface="Arial"/>
              <a:buChar char="•"/>
              <a:defRPr sz="2400" b="0" i="0" u="none" strike="noStrike" cap="none">
                <a:solidFill>
                  <a:schemeClr val="accent2"/>
                </a:solidFill>
                <a:latin typeface="Century Schoolbook"/>
                <a:ea typeface="Century Schoolbook"/>
                <a:cs typeface="Century Schoolbook"/>
                <a:sym typeface="Century Schoolbook"/>
              </a:defRPr>
            </a:lvl2pPr>
            <a:lvl3pPr marL="1371600" marR="0" lvl="2" indent="-355600" algn="l" rtl="0">
              <a:lnSpc>
                <a:spcPct val="90000"/>
              </a:lnSpc>
              <a:spcBef>
                <a:spcPts val="500"/>
              </a:spcBef>
              <a:spcAft>
                <a:spcPts val="0"/>
              </a:spcAft>
              <a:buClr>
                <a:schemeClr val="accent2"/>
              </a:buClr>
              <a:buSzPts val="2000"/>
              <a:buFont typeface="Arial"/>
              <a:buChar char="•"/>
              <a:defRPr sz="2000" b="0" i="0" u="none" strike="noStrike" cap="none">
                <a:solidFill>
                  <a:schemeClr val="accent2"/>
                </a:solidFill>
                <a:latin typeface="Century Schoolbook"/>
                <a:ea typeface="Century Schoolbook"/>
                <a:cs typeface="Century Schoolbook"/>
                <a:sym typeface="Century Schoolbook"/>
              </a:defRPr>
            </a:lvl3pPr>
            <a:lvl4pPr marL="1828800" marR="0" lvl="3"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4pPr>
            <a:lvl5pPr marL="2286000" marR="0" lvl="4"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hercampus.com/school/furman/destigmatizing-feminine-hygiene-one-step-at-a-time-fighting-for-the-tiny-trash-can/"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docs.google.com/document/d/1vdtb9DYrGalgsodEIJbWZHX735dcRunl_uuzDWkQrMI/edit?usp=sharing"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
          <p:cNvSpPr txBox="1">
            <a:spLocks noGrp="1"/>
          </p:cNvSpPr>
          <p:nvPr>
            <p:ph type="ctrTitle"/>
          </p:nvPr>
        </p:nvSpPr>
        <p:spPr>
          <a:xfrm>
            <a:off x="1524000" y="24936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582C83"/>
              </a:buClr>
              <a:buSzPts val="6000"/>
              <a:buFont typeface="Libre Franklin Medium"/>
              <a:buNone/>
            </a:pPr>
            <a:r>
              <a:rPr lang="en-US"/>
              <a:t>Welcome to SGA!</a:t>
            </a:r>
            <a:endParaRPr/>
          </a:p>
        </p:txBody>
      </p:sp>
      <p:sp>
        <p:nvSpPr>
          <p:cNvPr id="74" name="Google Shape;74;p1"/>
          <p:cNvSpPr txBox="1">
            <a:spLocks noGrp="1"/>
          </p:cNvSpPr>
          <p:nvPr>
            <p:ph type="subTitle" idx="1"/>
          </p:nvPr>
        </p:nvSpPr>
        <p:spPr>
          <a:xfrm>
            <a:off x="762000" y="4973317"/>
            <a:ext cx="10668000" cy="570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2"/>
              </a:buClr>
              <a:buSzPts val="2400"/>
              <a:buNone/>
            </a:pPr>
            <a:r>
              <a:rPr lang="en-US"/>
              <a:t>September 18, 2022 </a:t>
            </a:r>
            <a:endParaRPr/>
          </a:p>
        </p:txBody>
      </p:sp>
      <p:pic>
        <p:nvPicPr>
          <p:cNvPr id="75" name="Google Shape;75;p1"/>
          <p:cNvPicPr preferRelativeResize="0"/>
          <p:nvPr/>
        </p:nvPicPr>
        <p:blipFill rotWithShape="1">
          <a:blip r:embed="rId3">
            <a:alphaModFix/>
          </a:blip>
          <a:srcRect/>
          <a:stretch/>
        </p:blipFill>
        <p:spPr>
          <a:xfrm>
            <a:off x="4286913" y="165550"/>
            <a:ext cx="3618175" cy="3618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Agenda</a:t>
            </a:r>
            <a:endParaRPr/>
          </a:p>
        </p:txBody>
      </p:sp>
      <p:sp>
        <p:nvSpPr>
          <p:cNvPr id="82" name="Google Shape;82;p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1000"/>
              </a:spcBef>
              <a:spcAft>
                <a:spcPts val="0"/>
              </a:spcAft>
              <a:buSzPct val="75630"/>
              <a:buNone/>
            </a:pPr>
            <a:r>
              <a:rPr lang="en-US"/>
              <a:t>Guest speaker(s): Melissa Nichols </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Officer, class, &amp; at-large reports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Committee reports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Old business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New business</a:t>
            </a:r>
            <a:endParaRPr b="1"/>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Open forum &amp; 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3"/>
          <p:cNvSpPr txBox="1">
            <a:spLocks noGrp="1"/>
          </p:cNvSpPr>
          <p:nvPr>
            <p:ph type="ctrTitle"/>
          </p:nvPr>
        </p:nvSpPr>
        <p:spPr>
          <a:xfrm>
            <a:off x="1524000" y="10454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Guest Speakers</a:t>
            </a:r>
            <a:endParaRPr/>
          </a:p>
        </p:txBody>
      </p:sp>
      <p:sp>
        <p:nvSpPr>
          <p:cNvPr id="89" name="Google Shape;89;p3"/>
          <p:cNvSpPr txBox="1">
            <a:spLocks noGrp="1"/>
          </p:cNvSpPr>
          <p:nvPr>
            <p:ph type="subTitle" idx="1"/>
          </p:nvPr>
        </p:nvSpPr>
        <p:spPr>
          <a:xfrm>
            <a:off x="1524000" y="3433138"/>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Melissa Nichols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4"/>
          <p:cNvSpPr txBox="1">
            <a:spLocks noGrp="1"/>
          </p:cNvSpPr>
          <p:nvPr>
            <p:ph type="ctrTitle"/>
          </p:nvPr>
        </p:nvSpPr>
        <p:spPr>
          <a:xfrm>
            <a:off x="1524000" y="2539344"/>
            <a:ext cx="9144000" cy="1116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Exec Reports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g152e01f2e5c_0_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Dean Cassidy </a:t>
            </a:r>
            <a:endParaRPr/>
          </a:p>
        </p:txBody>
      </p:sp>
      <p:sp>
        <p:nvSpPr>
          <p:cNvPr id="102" name="Google Shape;102;g152e01f2e5c_0_1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SzPts val="1800"/>
              <a:buChar char="-"/>
            </a:pPr>
            <a:endParaRPr/>
          </a:p>
          <a:p>
            <a:pPr marL="0" lvl="0" indent="0" algn="l" rtl="0">
              <a:lnSpc>
                <a:spcPct val="90000"/>
              </a:lnSpc>
              <a:spcBef>
                <a:spcPts val="1000"/>
              </a:spcBef>
              <a:spcAft>
                <a:spcPts val="0"/>
              </a:spcAft>
              <a:buSzPts val="18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74038" y="811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   Meredith Ervin </a:t>
            </a:r>
            <a:endParaRPr/>
          </a:p>
        </p:txBody>
      </p:sp>
      <p:sp>
        <p:nvSpPr>
          <p:cNvPr id="109" name="Google Shape;109;p5"/>
          <p:cNvSpPr txBox="1"/>
          <p:nvPr/>
        </p:nvSpPr>
        <p:spPr>
          <a:xfrm>
            <a:off x="838200" y="1412550"/>
            <a:ext cx="10515600" cy="4513800"/>
          </a:xfrm>
          <a:prstGeom prst="rect">
            <a:avLst/>
          </a:prstGeom>
          <a:noFill/>
          <a:ln>
            <a:noFill/>
          </a:ln>
        </p:spPr>
        <p:txBody>
          <a:bodyPr spcFirstLastPara="1" wrap="square" lIns="91425" tIns="91425" rIns="91425" bIns="91425" anchor="t" anchorCtr="0">
            <a:spAutoFit/>
          </a:bodyPr>
          <a:lstStyle/>
          <a:p>
            <a:pPr marL="457200" lvl="0" indent="-425450" algn="l" rtl="0">
              <a:spcBef>
                <a:spcPts val="0"/>
              </a:spcBef>
              <a:spcAft>
                <a:spcPts val="0"/>
              </a:spcAft>
              <a:buSzPts val="3100"/>
              <a:buFont typeface="Century Schoolbook"/>
              <a:buChar char="-"/>
            </a:pPr>
            <a:r>
              <a:rPr lang="en-US" sz="3100">
                <a:latin typeface="Century Schoolbook"/>
                <a:ea typeface="Century Schoolbook"/>
                <a:cs typeface="Century Schoolbook"/>
                <a:sym typeface="Century Schoolbook"/>
              </a:rPr>
              <a:t>FRESHMEN ELECTIONS!!!!!!!  We have 14 candidates running which is an amazing number! Make sure we are encouraging a positive campaign atmosphere!</a:t>
            </a:r>
            <a:endParaRPr sz="3100">
              <a:latin typeface="Century Schoolbook"/>
              <a:ea typeface="Century Schoolbook"/>
              <a:cs typeface="Century Schoolbook"/>
              <a:sym typeface="Century Schoolbook"/>
            </a:endParaRPr>
          </a:p>
          <a:p>
            <a:pPr marL="457200" lvl="0" indent="-425450" algn="l" rtl="0">
              <a:spcBef>
                <a:spcPts val="0"/>
              </a:spcBef>
              <a:spcAft>
                <a:spcPts val="0"/>
              </a:spcAft>
              <a:buSzPts val="3100"/>
              <a:buFont typeface="Century Schoolbook"/>
              <a:buChar char="-"/>
            </a:pPr>
            <a:r>
              <a:rPr lang="en-US" sz="3100">
                <a:latin typeface="Century Schoolbook"/>
                <a:ea typeface="Century Schoolbook"/>
                <a:cs typeface="Century Schoolbook"/>
                <a:sym typeface="Century Schoolbook"/>
              </a:rPr>
              <a:t> Filmed a few videos for Furman donors last week  and will be doing a “day in the life” tik tok for Furman! </a:t>
            </a:r>
            <a:endParaRPr sz="3100">
              <a:latin typeface="Century Schoolbook"/>
              <a:ea typeface="Century Schoolbook"/>
              <a:cs typeface="Century Schoolbook"/>
              <a:sym typeface="Century Schoolbook"/>
            </a:endParaRPr>
          </a:p>
          <a:p>
            <a:pPr marL="457200" lvl="0" indent="-425450" algn="l" rtl="0">
              <a:spcBef>
                <a:spcPts val="0"/>
              </a:spcBef>
              <a:spcAft>
                <a:spcPts val="0"/>
              </a:spcAft>
              <a:buSzPts val="3100"/>
              <a:buFont typeface="Century Schoolbook"/>
              <a:buChar char="-"/>
            </a:pPr>
            <a:r>
              <a:rPr lang="en-US" sz="3100">
                <a:latin typeface="Century Schoolbook"/>
                <a:ea typeface="Century Schoolbook"/>
                <a:cs typeface="Century Schoolbook"/>
                <a:sym typeface="Century Schoolbook"/>
              </a:rPr>
              <a:t>Finalizing retreat details. Once I hear back from a few people I will send out finalized schedule :)</a:t>
            </a:r>
            <a:endParaRPr sz="3100">
              <a:latin typeface="Century Schoolbook"/>
              <a:ea typeface="Century Schoolbook"/>
              <a:cs typeface="Century Schoolbook"/>
              <a:sym typeface="Century Schoolboo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sz="3000"/>
              <a:t>Yaseen Echekki </a:t>
            </a:r>
            <a:endParaRPr sz="3000"/>
          </a:p>
        </p:txBody>
      </p:sp>
      <p:sp>
        <p:nvSpPr>
          <p:cNvPr id="116" name="Google Shape;116;p6"/>
          <p:cNvSpPr txBox="1"/>
          <p:nvPr/>
        </p:nvSpPr>
        <p:spPr>
          <a:xfrm>
            <a:off x="838200" y="1690825"/>
            <a:ext cx="7839000" cy="431100"/>
          </a:xfrm>
          <a:prstGeom prst="rect">
            <a:avLst/>
          </a:prstGeom>
          <a:noFill/>
          <a:ln>
            <a:noFill/>
          </a:ln>
        </p:spPr>
        <p:txBody>
          <a:bodyPr spcFirstLastPara="1" wrap="square" lIns="91425" tIns="91425" rIns="91425" bIns="91425" anchor="t" anchorCtr="0">
            <a:spAutoFit/>
          </a:bodyPr>
          <a:lstStyle/>
          <a:p>
            <a:pPr marL="0" lvl="0" indent="0" algn="l" rtl="0">
              <a:lnSpc>
                <a:spcPct val="200000"/>
              </a:lnSpc>
              <a:spcBef>
                <a:spcPts val="0"/>
              </a:spcBef>
              <a:spcAft>
                <a:spcPts val="0"/>
              </a:spcAft>
              <a:buNone/>
            </a:pPr>
            <a:endParaRPr sz="1600"/>
          </a:p>
        </p:txBody>
      </p:sp>
      <p:sp>
        <p:nvSpPr>
          <p:cNvPr id="117" name="Google Shape;117;p6"/>
          <p:cNvSpPr txBox="1"/>
          <p:nvPr/>
        </p:nvSpPr>
        <p:spPr>
          <a:xfrm>
            <a:off x="4157750" y="545425"/>
            <a:ext cx="274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118" name="Google Shape;118;p6"/>
          <p:cNvSpPr txBox="1"/>
          <p:nvPr/>
        </p:nvSpPr>
        <p:spPr>
          <a:xfrm>
            <a:off x="8462350" y="4745250"/>
            <a:ext cx="375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a:spLocks noGrp="1"/>
          </p:cNvSpPr>
          <p:nvPr>
            <p:ph type="title"/>
          </p:nvPr>
        </p:nvSpPr>
        <p:spPr>
          <a:xfrm>
            <a:off x="838200" y="365125"/>
            <a:ext cx="44583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Andrew Cooter </a:t>
            </a:r>
            <a:endParaRPr/>
          </a:p>
        </p:txBody>
      </p:sp>
      <p:sp>
        <p:nvSpPr>
          <p:cNvPr id="125" name="Google Shape;125;p7"/>
          <p:cNvSpPr txBox="1"/>
          <p:nvPr/>
        </p:nvSpPr>
        <p:spPr>
          <a:xfrm>
            <a:off x="838200" y="1357500"/>
            <a:ext cx="10285800" cy="37866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Font typeface="Century Schoolbook"/>
              <a:buChar char="●"/>
            </a:pPr>
            <a:r>
              <a:rPr lang="en-US" sz="1800">
                <a:latin typeface="Century Schoolbook"/>
                <a:ea typeface="Century Schoolbook"/>
                <a:cs typeface="Century Schoolbook"/>
                <a:sym typeface="Century Schoolbook"/>
              </a:rPr>
              <a:t>SGA’s allocation from the Student Government fee is expected to be coming in early this week! Once we know how much money we have from the fee, I’ll propose the organization budgets (in New Business), and we’ll vote to approve them the following week (in Old Business). In the meantime, if you or someone you know would like to know the budget for your organization, let me know and I can provide the </a:t>
            </a:r>
            <a:r>
              <a:rPr lang="en-US" sz="1800" u="sng">
                <a:latin typeface="Century Schoolbook"/>
                <a:ea typeface="Century Schoolbook"/>
                <a:cs typeface="Century Schoolbook"/>
                <a:sym typeface="Century Schoolbook"/>
              </a:rPr>
              <a:t>projected</a:t>
            </a:r>
            <a:r>
              <a:rPr lang="en-US" sz="1800">
                <a:latin typeface="Century Schoolbook"/>
                <a:ea typeface="Century Schoolbook"/>
                <a:cs typeface="Century Schoolbook"/>
                <a:sym typeface="Century Schoolbook"/>
              </a:rPr>
              <a:t> budget that they will have for the year.</a:t>
            </a:r>
            <a:endParaRPr sz="1800">
              <a:latin typeface="Century Schoolbook"/>
              <a:ea typeface="Century Schoolbook"/>
              <a:cs typeface="Century Schoolbook"/>
              <a:sym typeface="Century Schoolbook"/>
            </a:endParaRPr>
          </a:p>
          <a:p>
            <a:pPr marL="914400" lvl="1" indent="-342900" algn="l" rtl="0">
              <a:spcBef>
                <a:spcPts val="0"/>
              </a:spcBef>
              <a:spcAft>
                <a:spcPts val="0"/>
              </a:spcAft>
              <a:buSzPts val="1800"/>
              <a:buFont typeface="Century Schoolbook"/>
              <a:buChar char="○"/>
            </a:pPr>
            <a:r>
              <a:rPr lang="en-US" sz="1800">
                <a:latin typeface="Century Schoolbook"/>
                <a:ea typeface="Century Schoolbook"/>
                <a:cs typeface="Century Schoolbook"/>
                <a:sym typeface="Century Schoolbook"/>
              </a:rPr>
              <a:t>Come to my office hours (Tues/Thurs 9:30-11am) if you’d like more info!</a:t>
            </a:r>
            <a:endParaRPr sz="1800">
              <a:latin typeface="Century Schoolbook"/>
              <a:ea typeface="Century Schoolbook"/>
              <a:cs typeface="Century Schoolbook"/>
              <a:sym typeface="Century Schoolbook"/>
            </a:endParaRPr>
          </a:p>
          <a:p>
            <a:pPr marL="457200" lvl="0" indent="-342900" algn="l" rtl="0">
              <a:spcBef>
                <a:spcPts val="0"/>
              </a:spcBef>
              <a:spcAft>
                <a:spcPts val="0"/>
              </a:spcAft>
              <a:buSzPts val="1800"/>
              <a:buFont typeface="Century Schoolbook"/>
              <a:buChar char="●"/>
            </a:pPr>
            <a:r>
              <a:rPr lang="en-US" sz="1800">
                <a:latin typeface="Century Schoolbook"/>
                <a:ea typeface="Century Schoolbook"/>
                <a:cs typeface="Century Schoolbook"/>
                <a:sym typeface="Century Schoolbook"/>
              </a:rPr>
              <a:t>Meeting with Dr. Cassidy &amp; Chief Milby on Thursday to discuss increasing FUPO presence in Trone Student Center</a:t>
            </a:r>
            <a:endParaRPr sz="1800">
              <a:latin typeface="Century Schoolbook"/>
              <a:ea typeface="Century Schoolbook"/>
              <a:cs typeface="Century Schoolbook"/>
              <a:sym typeface="Century Schoolbook"/>
            </a:endParaRPr>
          </a:p>
          <a:p>
            <a:pPr marL="457200" lvl="0" indent="-342900" algn="l" rtl="0">
              <a:spcBef>
                <a:spcPts val="0"/>
              </a:spcBef>
              <a:spcAft>
                <a:spcPts val="0"/>
              </a:spcAft>
              <a:buSzPts val="1800"/>
              <a:buFont typeface="Century Schoolbook"/>
              <a:buChar char="●"/>
            </a:pPr>
            <a:r>
              <a:rPr lang="en-US" sz="1800">
                <a:latin typeface="Century Schoolbook"/>
                <a:ea typeface="Century Schoolbook"/>
                <a:cs typeface="Century Schoolbook"/>
                <a:sym typeface="Century Schoolbook"/>
              </a:rPr>
              <a:t>This is you if you join the finance committee </a:t>
            </a:r>
            <a:endParaRPr sz="1800">
              <a:latin typeface="Century Schoolbook"/>
              <a:ea typeface="Century Schoolbook"/>
              <a:cs typeface="Century Schoolbook"/>
              <a:sym typeface="Century Schoolbook"/>
            </a:endParaRPr>
          </a:p>
          <a:p>
            <a:pPr marL="914400" lvl="1" indent="-342900" algn="l" rtl="0">
              <a:spcBef>
                <a:spcPts val="0"/>
              </a:spcBef>
              <a:spcAft>
                <a:spcPts val="0"/>
              </a:spcAft>
              <a:buSzPts val="1800"/>
              <a:buFont typeface="Century Schoolbook"/>
              <a:buChar char="○"/>
            </a:pPr>
            <a:r>
              <a:rPr lang="en-US" sz="1800">
                <a:latin typeface="Century Schoolbook"/>
                <a:ea typeface="Century Schoolbook"/>
                <a:cs typeface="Century Schoolbook"/>
                <a:sym typeface="Century Schoolbook"/>
              </a:rPr>
              <a:t>for legal reasons, this is a joke</a:t>
            </a:r>
            <a:endParaRPr sz="1800">
              <a:latin typeface="Century Schoolbook"/>
              <a:ea typeface="Century Schoolbook"/>
              <a:cs typeface="Century Schoolbook"/>
              <a:sym typeface="Century Schoolbook"/>
            </a:endParaRPr>
          </a:p>
          <a:p>
            <a:pPr marL="914400" lvl="1" indent="-342900" algn="l" rtl="0">
              <a:spcBef>
                <a:spcPts val="0"/>
              </a:spcBef>
              <a:spcAft>
                <a:spcPts val="0"/>
              </a:spcAft>
              <a:buSzPts val="1800"/>
              <a:buFont typeface="Century Schoolbook"/>
              <a:buChar char="○"/>
            </a:pPr>
            <a:r>
              <a:rPr lang="en-US" sz="1800">
                <a:latin typeface="Century Schoolbook"/>
                <a:ea typeface="Century Schoolbook"/>
                <a:cs typeface="Century Schoolbook"/>
                <a:sym typeface="Century Schoolbook"/>
              </a:rPr>
              <a:t>(864)423-3288 is my number; text me if</a:t>
            </a:r>
            <a:endParaRPr sz="1800">
              <a:latin typeface="Century Schoolbook"/>
              <a:ea typeface="Century Schoolbook"/>
              <a:cs typeface="Century Schoolbook"/>
              <a:sym typeface="Century Schoolbook"/>
            </a:endParaRPr>
          </a:p>
          <a:p>
            <a:pPr marL="914400" lvl="0" indent="0" algn="l" rtl="0">
              <a:spcBef>
                <a:spcPts val="0"/>
              </a:spcBef>
              <a:spcAft>
                <a:spcPts val="0"/>
              </a:spcAft>
              <a:buNone/>
            </a:pPr>
            <a:r>
              <a:rPr lang="en-US" sz="1800">
                <a:latin typeface="Century Schoolbook"/>
                <a:ea typeface="Century Schoolbook"/>
                <a:cs typeface="Century Schoolbook"/>
                <a:sym typeface="Century Schoolbook"/>
              </a:rPr>
              <a:t>you’d like to join!</a:t>
            </a:r>
            <a:endParaRPr sz="1800">
              <a:latin typeface="Century Schoolbook"/>
              <a:ea typeface="Century Schoolbook"/>
              <a:cs typeface="Century Schoolbook"/>
              <a:sym typeface="Century Schoolbook"/>
            </a:endParaRPr>
          </a:p>
        </p:txBody>
      </p:sp>
      <p:cxnSp>
        <p:nvCxnSpPr>
          <p:cNvPr id="126" name="Google Shape;126;p7"/>
          <p:cNvCxnSpPr/>
          <p:nvPr/>
        </p:nvCxnSpPr>
        <p:spPr>
          <a:xfrm>
            <a:off x="6190375" y="4143550"/>
            <a:ext cx="1601400" cy="637800"/>
          </a:xfrm>
          <a:prstGeom prst="straightConnector1">
            <a:avLst/>
          </a:prstGeom>
          <a:noFill/>
          <a:ln w="76200" cap="flat" cmpd="sng">
            <a:solidFill>
              <a:schemeClr val="dk2"/>
            </a:solidFill>
            <a:prstDash val="solid"/>
            <a:round/>
            <a:headEnd type="none" w="med" len="med"/>
            <a:tailEnd type="triangle" w="med" len="med"/>
          </a:ln>
        </p:spPr>
      </p:cxnSp>
      <p:sp>
        <p:nvSpPr>
          <p:cNvPr id="128" name="Google Shape;128;p7"/>
          <p:cNvSpPr txBox="1"/>
          <p:nvPr/>
        </p:nvSpPr>
        <p:spPr>
          <a:xfrm>
            <a:off x="80475" y="4967025"/>
            <a:ext cx="214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entury Schoolbook"/>
                <a:ea typeface="Century Schoolbook"/>
                <a:cs typeface="Century Schoolbook"/>
                <a:sym typeface="Century Schoolbook"/>
              </a:rPr>
              <a:t>Chanson de la semaine:</a:t>
            </a:r>
            <a:endParaRPr>
              <a:latin typeface="Century Schoolbook"/>
              <a:ea typeface="Century Schoolbook"/>
              <a:cs typeface="Century Schoolbook"/>
              <a:sym typeface="Century Schoolbook"/>
            </a:endParaRPr>
          </a:p>
        </p:txBody>
      </p:sp>
      <p:sp>
        <p:nvSpPr>
          <p:cNvPr id="130" name="Google Shape;130;p7"/>
          <p:cNvSpPr txBox="1"/>
          <p:nvPr/>
        </p:nvSpPr>
        <p:spPr>
          <a:xfrm>
            <a:off x="8339075" y="708350"/>
            <a:ext cx="387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131" name="Google Shape;131;p7"/>
          <p:cNvSpPr txBox="1"/>
          <p:nvPr/>
        </p:nvSpPr>
        <p:spPr>
          <a:xfrm>
            <a:off x="6841900" y="499050"/>
            <a:ext cx="5376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entury Schoolbook"/>
                <a:ea typeface="Century Schoolbook"/>
                <a:cs typeface="Century Schoolbook"/>
                <a:sym typeface="Century Schoolbook"/>
              </a:rPr>
              <a:t>“It may not work out how you think it will, or how you hope it does. But it </a:t>
            </a:r>
            <a:r>
              <a:rPr lang="en-US" b="1">
                <a:latin typeface="Century Schoolbook"/>
                <a:ea typeface="Century Schoolbook"/>
                <a:cs typeface="Century Schoolbook"/>
                <a:sym typeface="Century Schoolbook"/>
              </a:rPr>
              <a:t>will</a:t>
            </a:r>
            <a:r>
              <a:rPr lang="en-US">
                <a:latin typeface="Century Schoolbook"/>
                <a:ea typeface="Century Schoolbook"/>
                <a:cs typeface="Century Schoolbook"/>
                <a:sym typeface="Century Schoolbook"/>
              </a:rPr>
              <a:t> all work out.” -Ted Lasso</a:t>
            </a:r>
            <a:endParaRPr>
              <a:latin typeface="Century Schoolbook"/>
              <a:ea typeface="Century Schoolbook"/>
              <a:cs typeface="Century Schoolbook"/>
              <a:sym typeface="Century Schoolboo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Carly Gillis </a:t>
            </a:r>
            <a:endParaRPr/>
          </a:p>
        </p:txBody>
      </p:sp>
      <p:sp>
        <p:nvSpPr>
          <p:cNvPr id="138" name="Google Shape;138;p8"/>
          <p:cNvSpPr txBox="1"/>
          <p:nvPr/>
        </p:nvSpPr>
        <p:spPr>
          <a:xfrm>
            <a:off x="1167075" y="1648325"/>
            <a:ext cx="794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139" name="Google Shape;139;p8"/>
          <p:cNvSpPr txBox="1"/>
          <p:nvPr/>
        </p:nvSpPr>
        <p:spPr>
          <a:xfrm>
            <a:off x="364061" y="1290244"/>
            <a:ext cx="10515600" cy="492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latin typeface="Century Schoolbook"/>
                <a:ea typeface="Century Schoolbook"/>
                <a:cs typeface="Century Schoolbook"/>
                <a:sym typeface="Century Schoolbook"/>
              </a:rPr>
              <a:t>ARK takeover on the Instagram this Thursday </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sending out email to club leaders again (just forwarding OG 8/21 email)</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freshman election tiktok will be posted on either late Monday/Tuesday, have had lots of fun helping out with elections </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Office hours are from 2-3:30 on Tuesday and common hour Friday 🤭</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PR COMMITTEE ‼️ want at least 2-3 people text at (864)-590-4898 if you’re interested and like social media  </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at large reps: let me know how I can promote your events! :) </a:t>
            </a:r>
            <a:endParaRPr sz="1800">
              <a:latin typeface="Century Schoolbook"/>
              <a:ea typeface="Century Schoolbook"/>
              <a:cs typeface="Century Schoolbook"/>
              <a:sym typeface="Century Schoolbook"/>
            </a:endParaRPr>
          </a:p>
          <a:p>
            <a:pPr marL="0" lvl="0" indent="0" algn="l" rtl="0">
              <a:spcBef>
                <a:spcPts val="0"/>
              </a:spcBef>
              <a:spcAft>
                <a:spcPts val="0"/>
              </a:spcAft>
              <a:buNone/>
            </a:pP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personal news: was invited to the NEDA gala in NYC and will be judging the PMA talent show on 10/7 @ 8pm. ED prevention plan will pick up in October with basic outline complete as of now. Presenting research on 9/29 as well :) </a:t>
            </a:r>
            <a:endParaRPr sz="1800">
              <a:latin typeface="Century Schoolbook"/>
              <a:ea typeface="Century Schoolbook"/>
              <a:cs typeface="Century Schoolbook"/>
              <a:sym typeface="Century Schoolbook"/>
            </a:endParaRPr>
          </a:p>
          <a:p>
            <a:pPr marL="0" lvl="0" indent="0" algn="l" rtl="0">
              <a:spcBef>
                <a:spcPts val="0"/>
              </a:spcBef>
              <a:spcAft>
                <a:spcPts val="0"/>
              </a:spcAft>
              <a:buNone/>
            </a:pP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Also if you’re inducted into any honor societies, go to any special events, etc.  send me details so we can highlight you on our socials! Reps support Reps 🫶🫶🫶 I’ll be at the Sigma Tau Delta induction and the Cookies and Conversation already so meet me for pics if you’re at these events! </a:t>
            </a:r>
            <a:endParaRPr sz="1800">
              <a:latin typeface="Century Schoolbook"/>
              <a:ea typeface="Century Schoolbook"/>
              <a:cs typeface="Century Schoolbook"/>
              <a:sym typeface="Century Schoolbook"/>
            </a:endParaRPr>
          </a:p>
          <a:p>
            <a:pPr marL="0" lvl="0" indent="0" algn="l" rtl="0">
              <a:spcBef>
                <a:spcPts val="0"/>
              </a:spcBef>
              <a:spcAft>
                <a:spcPts val="0"/>
              </a:spcAft>
              <a:buNone/>
            </a:pPr>
            <a:endParaRPr sz="1800">
              <a:latin typeface="Century Schoolbook"/>
              <a:ea typeface="Century Schoolbook"/>
              <a:cs typeface="Century Schoolbook"/>
              <a:sym typeface="Century Schoolbook"/>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28da97dc4bb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Tatyana Gonzalez </a:t>
            </a:r>
            <a:endParaRPr/>
          </a:p>
        </p:txBody>
      </p:sp>
      <p:sp>
        <p:nvSpPr>
          <p:cNvPr id="146" name="Google Shape;146;g28da97dc4bb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28da97dc4bb_0_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Lydia McCarty </a:t>
            </a:r>
            <a:endParaRPr/>
          </a:p>
        </p:txBody>
      </p:sp>
      <p:sp>
        <p:nvSpPr>
          <p:cNvPr id="153" name="Google Shape;153;g28da97dc4bb_0_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txBox="1">
            <a:spLocks noGrp="1"/>
          </p:cNvSpPr>
          <p:nvPr>
            <p:ph type="ctrTitle"/>
          </p:nvPr>
        </p:nvSpPr>
        <p:spPr>
          <a:xfrm>
            <a:off x="1524000" y="171851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Representative Reports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latin typeface="Comic Sans MS"/>
                <a:ea typeface="Comic Sans MS"/>
                <a:cs typeface="Comic Sans MS"/>
                <a:sym typeface="Comic Sans MS"/>
              </a:rPr>
              <a:t>Sydney Beraho </a:t>
            </a:r>
            <a:endParaRPr>
              <a:latin typeface="Comic Sans MS"/>
              <a:ea typeface="Comic Sans MS"/>
              <a:cs typeface="Comic Sans MS"/>
              <a:sym typeface="Comic Sans MS"/>
            </a:endParaRPr>
          </a:p>
        </p:txBody>
      </p:sp>
      <p:sp>
        <p:nvSpPr>
          <p:cNvPr id="166" name="Google Shape;166;p12"/>
          <p:cNvSpPr txBox="1"/>
          <p:nvPr/>
        </p:nvSpPr>
        <p:spPr>
          <a:xfrm>
            <a:off x="838200" y="1510725"/>
            <a:ext cx="4699500" cy="465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rgbClr val="3D85C6"/>
                </a:solidFill>
                <a:latin typeface="Comic Sans MS"/>
                <a:ea typeface="Comic Sans MS"/>
                <a:cs typeface="Comic Sans MS"/>
                <a:sym typeface="Comic Sans MS"/>
              </a:rPr>
              <a:t> </a:t>
            </a: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p:txBody>
      </p:sp>
      <p:sp>
        <p:nvSpPr>
          <p:cNvPr id="167" name="Google Shape;167;p12"/>
          <p:cNvSpPr txBox="1"/>
          <p:nvPr/>
        </p:nvSpPr>
        <p:spPr>
          <a:xfrm>
            <a:off x="5985175" y="1898075"/>
            <a:ext cx="6068400" cy="378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2400">
              <a:solidFill>
                <a:srgbClr val="3D85C6"/>
              </a:solidFill>
              <a:latin typeface="Comic Sans MS"/>
              <a:ea typeface="Comic Sans MS"/>
              <a:cs typeface="Comic Sans MS"/>
              <a:sym typeface="Comic Sans MS"/>
            </a:endParaRPr>
          </a:p>
          <a:p>
            <a:pPr marL="0" lvl="0" indent="0" algn="l" rtl="0">
              <a:spcBef>
                <a:spcPts val="0"/>
              </a:spcBef>
              <a:spcAft>
                <a:spcPts val="0"/>
              </a:spcAft>
              <a:buNone/>
            </a:pPr>
            <a:endParaRPr sz="1600">
              <a:solidFill>
                <a:srgbClr val="3D85C6"/>
              </a:solidFill>
              <a:latin typeface="Comic Sans MS"/>
              <a:ea typeface="Comic Sans MS"/>
              <a:cs typeface="Comic Sans MS"/>
              <a:sym typeface="Comic Sans M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Alex Murray </a:t>
            </a:r>
            <a:endParaRPr/>
          </a:p>
        </p:txBody>
      </p:sp>
      <p:sp>
        <p:nvSpPr>
          <p:cNvPr id="174" name="Google Shape;174;p14"/>
          <p:cNvSpPr txBox="1"/>
          <p:nvPr/>
        </p:nvSpPr>
        <p:spPr>
          <a:xfrm>
            <a:off x="482625" y="1448025"/>
            <a:ext cx="1133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175" name="Google Shape;175;p14"/>
          <p:cNvSpPr txBox="1">
            <a:spLocks noGrp="1"/>
          </p:cNvSpPr>
          <p:nvPr>
            <p:ph type="body" idx="1"/>
          </p:nvPr>
        </p:nvSpPr>
        <p:spPr>
          <a:xfrm>
            <a:off x="838200" y="1825625"/>
            <a:ext cx="5181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1"/>
          <p:cNvSpPr txBox="1">
            <a:spLocks noGrp="1"/>
          </p:cNvSpPr>
          <p:nvPr>
            <p:ph type="title"/>
          </p:nvPr>
        </p:nvSpPr>
        <p:spPr>
          <a:xfrm>
            <a:off x="551175" y="4075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a:t>Kelsey Sumter </a:t>
            </a:r>
            <a:endParaRPr/>
          </a:p>
        </p:txBody>
      </p:sp>
      <p:sp>
        <p:nvSpPr>
          <p:cNvPr id="182" name="Google Shape;182;p11"/>
          <p:cNvSpPr txBox="1"/>
          <p:nvPr/>
        </p:nvSpPr>
        <p:spPr>
          <a:xfrm>
            <a:off x="477375" y="1634650"/>
            <a:ext cx="10663200" cy="449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latin typeface="Century Schoolbook"/>
                <a:ea typeface="Century Schoolbook"/>
                <a:cs typeface="Century Schoolbook"/>
                <a:sym typeface="Century Schoolbook"/>
              </a:rPr>
              <a:t>Friday’s video shoot was a success</a:t>
            </a:r>
            <a:endParaRPr sz="2800">
              <a:latin typeface="Century Schoolbook"/>
              <a:ea typeface="Century Schoolbook"/>
              <a:cs typeface="Century Schoolbook"/>
              <a:sym typeface="Century Schoolbook"/>
            </a:endParaRPr>
          </a:p>
          <a:p>
            <a:pPr marL="0" lvl="0" indent="0" algn="l" rtl="0">
              <a:spcBef>
                <a:spcPts val="0"/>
              </a:spcBef>
              <a:spcAft>
                <a:spcPts val="0"/>
              </a:spcAft>
              <a:buNone/>
            </a:pPr>
            <a:endParaRPr sz="2800">
              <a:latin typeface="Century Schoolbook"/>
              <a:ea typeface="Century Schoolbook"/>
              <a:cs typeface="Century Schoolbook"/>
              <a:sym typeface="Century Schoolbook"/>
            </a:endParaRPr>
          </a:p>
          <a:p>
            <a:pPr marL="0" lvl="0" indent="0" algn="l" rtl="0">
              <a:spcBef>
                <a:spcPts val="0"/>
              </a:spcBef>
              <a:spcAft>
                <a:spcPts val="0"/>
              </a:spcAft>
              <a:buNone/>
            </a:pPr>
            <a:r>
              <a:rPr lang="en-US" sz="2800">
                <a:latin typeface="Century Schoolbook"/>
                <a:ea typeface="Century Schoolbook"/>
                <a:cs typeface="Century Schoolbook"/>
                <a:sym typeface="Century Schoolbook"/>
              </a:rPr>
              <a:t>Still looking for senior volunteers to help with class gift stuff</a:t>
            </a:r>
            <a:endParaRPr sz="2800">
              <a:latin typeface="Century Schoolbook"/>
              <a:ea typeface="Century Schoolbook"/>
              <a:cs typeface="Century Schoolbook"/>
              <a:sym typeface="Century Schoolbook"/>
            </a:endParaRPr>
          </a:p>
          <a:p>
            <a:pPr marL="0" lvl="0" indent="0" algn="l" rtl="0">
              <a:spcBef>
                <a:spcPts val="0"/>
              </a:spcBef>
              <a:spcAft>
                <a:spcPts val="0"/>
              </a:spcAft>
              <a:buNone/>
            </a:pPr>
            <a:endParaRPr sz="2800">
              <a:latin typeface="Century Schoolbook"/>
              <a:ea typeface="Century Schoolbook"/>
              <a:cs typeface="Century Schoolbook"/>
              <a:sym typeface="Century Schoolbook"/>
            </a:endParaRPr>
          </a:p>
          <a:p>
            <a:pPr marL="0" lvl="0" indent="0" algn="l" rtl="0">
              <a:spcBef>
                <a:spcPts val="0"/>
              </a:spcBef>
              <a:spcAft>
                <a:spcPts val="0"/>
              </a:spcAft>
              <a:buNone/>
            </a:pPr>
            <a:r>
              <a:rPr lang="en-US" sz="2800">
                <a:latin typeface="Century Schoolbook"/>
                <a:ea typeface="Century Schoolbook"/>
                <a:cs typeface="Century Schoolbook"/>
                <a:sym typeface="Century Schoolbook"/>
              </a:rPr>
              <a:t>Voter registration drive on Tuesday: 10am-2pm </a:t>
            </a:r>
            <a:endParaRPr sz="2800">
              <a:latin typeface="Century Schoolbook"/>
              <a:ea typeface="Century Schoolbook"/>
              <a:cs typeface="Century Schoolbook"/>
              <a:sym typeface="Century Schoolbook"/>
            </a:endParaRPr>
          </a:p>
          <a:p>
            <a:pPr marL="0" lvl="0" indent="0" algn="l" rtl="0">
              <a:spcBef>
                <a:spcPts val="0"/>
              </a:spcBef>
              <a:spcAft>
                <a:spcPts val="0"/>
              </a:spcAft>
              <a:buNone/>
            </a:pPr>
            <a:endParaRPr sz="2800">
              <a:latin typeface="Century Schoolbook"/>
              <a:ea typeface="Century Schoolbook"/>
              <a:cs typeface="Century Schoolbook"/>
              <a:sym typeface="Century Schoolbook"/>
            </a:endParaRPr>
          </a:p>
          <a:p>
            <a:pPr marL="0" lvl="0" indent="0" algn="l" rtl="0">
              <a:spcBef>
                <a:spcPts val="0"/>
              </a:spcBef>
              <a:spcAft>
                <a:spcPts val="0"/>
              </a:spcAft>
              <a:buNone/>
            </a:pPr>
            <a:r>
              <a:rPr lang="en-US" sz="2800">
                <a:latin typeface="Century Schoolbook"/>
                <a:ea typeface="Century Schoolbook"/>
                <a:cs typeface="Century Schoolbook"/>
                <a:sym typeface="Century Schoolbook"/>
              </a:rPr>
              <a:t>Football game vs Mercer @ home Saturday 9/23, come watch the Purple Diamonds perform → Kickoff 2pm </a:t>
            </a:r>
            <a:endParaRPr sz="2800">
              <a:latin typeface="Century Schoolbook"/>
              <a:ea typeface="Century Schoolbook"/>
              <a:cs typeface="Century Schoolbook"/>
              <a:sym typeface="Century Schoolbook"/>
            </a:endParaRPr>
          </a:p>
          <a:p>
            <a:pPr marL="0" lvl="0" indent="0" algn="l" rtl="0">
              <a:spcBef>
                <a:spcPts val="0"/>
              </a:spcBef>
              <a:spcAft>
                <a:spcPts val="0"/>
              </a:spcAft>
              <a:buNone/>
            </a:pPr>
            <a:endParaRPr sz="2800">
              <a:latin typeface="Century Schoolbook"/>
              <a:ea typeface="Century Schoolbook"/>
              <a:cs typeface="Century Schoolbook"/>
              <a:sym typeface="Century Schoolbook"/>
            </a:endParaRPr>
          </a:p>
          <a:p>
            <a:pPr marL="0" lvl="0" indent="0" algn="l" rtl="0">
              <a:spcBef>
                <a:spcPts val="0"/>
              </a:spcBef>
              <a:spcAft>
                <a:spcPts val="0"/>
              </a:spcAft>
              <a:buNone/>
            </a:pPr>
            <a:endParaRPr sz="2800">
              <a:latin typeface="Century Schoolbook"/>
              <a:ea typeface="Century Schoolbook"/>
              <a:cs typeface="Century Schoolbook"/>
              <a:sym typeface="Century Schoolboo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fade">
                                      <p:cBhvr>
                                        <p:cTn id="7" dur="10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3"/>
          <p:cNvSpPr txBox="1">
            <a:spLocks noGrp="1"/>
          </p:cNvSpPr>
          <p:nvPr>
            <p:ph type="title"/>
          </p:nvPr>
        </p:nvSpPr>
        <p:spPr>
          <a:xfrm>
            <a:off x="427900" y="3760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Leah Manning </a:t>
            </a:r>
            <a:endParaRPr/>
          </a:p>
        </p:txBody>
      </p:sp>
      <p:sp>
        <p:nvSpPr>
          <p:cNvPr id="189" name="Google Shape;189;p13"/>
          <p:cNvSpPr txBox="1"/>
          <p:nvPr/>
        </p:nvSpPr>
        <p:spPr>
          <a:xfrm>
            <a:off x="838200" y="1760350"/>
            <a:ext cx="46794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000"/>
              </a:spcAft>
              <a:buNone/>
            </a:pPr>
            <a:r>
              <a:rPr lang="en-US" sz="2400">
                <a:latin typeface="Century Schoolbook"/>
                <a:ea typeface="Century Schoolbook"/>
                <a:cs typeface="Century Schoolbook"/>
                <a:sym typeface="Century Schoolbook"/>
              </a:rPr>
              <a:t>Senior Class Gift video filmed on Friday – Thank you to everyone who showed up and participated! :)</a:t>
            </a:r>
            <a:endParaRPr sz="2400">
              <a:latin typeface="Century Schoolbook"/>
              <a:ea typeface="Century Schoolbook"/>
              <a:cs typeface="Century Schoolbook"/>
              <a:sym typeface="Century Schoolbook"/>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28da97dc4bb_0_1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Mary Boucher </a:t>
            </a:r>
            <a:endParaRPr/>
          </a:p>
        </p:txBody>
      </p:sp>
      <p:sp>
        <p:nvSpPr>
          <p:cNvPr id="197" name="Google Shape;197;g28da97dc4bb_0_1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8da97dc4bb_0_1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Deen Deovic </a:t>
            </a:r>
            <a:endParaRPr/>
          </a:p>
        </p:txBody>
      </p:sp>
      <p:sp>
        <p:nvSpPr>
          <p:cNvPr id="204" name="Google Shape;204;g28da97dc4bb_0_1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28da97dc4bb_0_2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Adara Briceno </a:t>
            </a:r>
            <a:endParaRPr/>
          </a:p>
        </p:txBody>
      </p:sp>
      <p:sp>
        <p:nvSpPr>
          <p:cNvPr id="211" name="Google Shape;211;g28da97dc4bb_0_2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Nothing to add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28da97dc4bb_0_3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Jennifer Woollery</a:t>
            </a:r>
            <a:endParaRPr/>
          </a:p>
        </p:txBody>
      </p:sp>
      <p:sp>
        <p:nvSpPr>
          <p:cNvPr id="218" name="Google Shape;218;g28da97dc4bb_0_3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119f5cc7372_4_7"/>
          <p:cNvSpPr txBox="1">
            <a:spLocks noGrp="1"/>
          </p:cNvSpPr>
          <p:nvPr>
            <p:ph type="title"/>
          </p:nvPr>
        </p:nvSpPr>
        <p:spPr>
          <a:xfrm>
            <a:off x="921250" y="2731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Tate Denham </a:t>
            </a:r>
            <a:endParaRPr/>
          </a:p>
        </p:txBody>
      </p:sp>
      <p:sp>
        <p:nvSpPr>
          <p:cNvPr id="225" name="Google Shape;225;g119f5cc7372_4_7"/>
          <p:cNvSpPr txBox="1"/>
          <p:nvPr/>
        </p:nvSpPr>
        <p:spPr>
          <a:xfrm>
            <a:off x="545800" y="1661100"/>
            <a:ext cx="2408400" cy="2706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2200">
                <a:solidFill>
                  <a:schemeClr val="accent2"/>
                </a:solidFill>
                <a:latin typeface="Libre Franklin Medium"/>
                <a:ea typeface="Libre Franklin Medium"/>
                <a:cs typeface="Libre Franklin Medium"/>
                <a:sym typeface="Libre Franklin Medium"/>
              </a:rPr>
              <a:t>UPDATES!</a:t>
            </a:r>
            <a:endParaRPr sz="2200">
              <a:solidFill>
                <a:schemeClr val="accent2"/>
              </a:solidFill>
              <a:latin typeface="Libre Franklin Medium"/>
              <a:ea typeface="Libre Franklin Medium"/>
              <a:cs typeface="Libre Franklin Medium"/>
              <a:sym typeface="Libre Franklin Medium"/>
            </a:endParaRPr>
          </a:p>
          <a:p>
            <a:pPr marL="457200" lvl="0" indent="-355600" algn="l" rtl="0">
              <a:lnSpc>
                <a:spcPct val="90000"/>
              </a:lnSpc>
              <a:spcBef>
                <a:spcPts val="0"/>
              </a:spcBef>
              <a:spcAft>
                <a:spcPts val="0"/>
              </a:spcAft>
              <a:buClr>
                <a:schemeClr val="accent2"/>
              </a:buClr>
              <a:buSzPts val="2000"/>
              <a:buFont typeface="Libre Franklin Medium"/>
              <a:buChar char="-"/>
            </a:pPr>
            <a:r>
              <a:rPr lang="en-US" sz="2000">
                <a:solidFill>
                  <a:schemeClr val="accent2"/>
                </a:solidFill>
                <a:latin typeface="Libre Franklin Medium"/>
                <a:ea typeface="Libre Franklin Medium"/>
                <a:cs typeface="Libre Franklin Medium"/>
                <a:sym typeface="Libre Franklin Medium"/>
              </a:rPr>
              <a:t>We working on them condoms !</a:t>
            </a:r>
            <a:endParaRPr sz="2000">
              <a:solidFill>
                <a:schemeClr val="accent2"/>
              </a:solidFill>
              <a:latin typeface="Libre Franklin Medium"/>
              <a:ea typeface="Libre Franklin Medium"/>
              <a:cs typeface="Libre Franklin Medium"/>
              <a:sym typeface="Libre Franklin Medium"/>
            </a:endParaRPr>
          </a:p>
          <a:p>
            <a:pPr marL="457200" lvl="0" indent="0" algn="l" rtl="0">
              <a:lnSpc>
                <a:spcPct val="90000"/>
              </a:lnSpc>
              <a:spcBef>
                <a:spcPts val="0"/>
              </a:spcBef>
              <a:spcAft>
                <a:spcPts val="0"/>
              </a:spcAft>
              <a:buNone/>
            </a:pPr>
            <a:endParaRPr sz="2000">
              <a:solidFill>
                <a:schemeClr val="accent2"/>
              </a:solidFill>
              <a:latin typeface="Libre Franklin Medium"/>
              <a:ea typeface="Libre Franklin Medium"/>
              <a:cs typeface="Libre Franklin Medium"/>
              <a:sym typeface="Libre Franklin Medium"/>
            </a:endParaRPr>
          </a:p>
          <a:p>
            <a:pPr marL="457200" lvl="0" indent="-355600" algn="l" rtl="0">
              <a:lnSpc>
                <a:spcPct val="90000"/>
              </a:lnSpc>
              <a:spcBef>
                <a:spcPts val="0"/>
              </a:spcBef>
              <a:spcAft>
                <a:spcPts val="0"/>
              </a:spcAft>
              <a:buClr>
                <a:schemeClr val="accent2"/>
              </a:buClr>
              <a:buSzPts val="2000"/>
              <a:buFont typeface="Libre Franklin Medium"/>
              <a:buChar char="-"/>
            </a:pPr>
            <a:r>
              <a:rPr lang="en-US" sz="2000">
                <a:solidFill>
                  <a:schemeClr val="accent2"/>
                </a:solidFill>
                <a:latin typeface="Libre Franklin Medium"/>
                <a:ea typeface="Libre Franklin Medium"/>
                <a:cs typeface="Libre Franklin Medium"/>
                <a:sym typeface="Libre Franklin Medium"/>
              </a:rPr>
              <a:t>Swingset is in COMMS</a:t>
            </a:r>
            <a:endParaRPr sz="2000">
              <a:solidFill>
                <a:schemeClr val="accent2"/>
              </a:solidFill>
              <a:latin typeface="Libre Franklin Medium"/>
              <a:ea typeface="Libre Franklin Medium"/>
              <a:cs typeface="Libre Franklin Medium"/>
              <a:sym typeface="Libre Franklin Medium"/>
            </a:endParaRPr>
          </a:p>
          <a:p>
            <a:pPr marL="457200" lvl="0" indent="0" algn="l" rtl="0">
              <a:lnSpc>
                <a:spcPct val="90000"/>
              </a:lnSpc>
              <a:spcBef>
                <a:spcPts val="0"/>
              </a:spcBef>
              <a:spcAft>
                <a:spcPts val="0"/>
              </a:spcAft>
              <a:buNone/>
            </a:pPr>
            <a:endParaRPr sz="2000">
              <a:solidFill>
                <a:schemeClr val="accent2"/>
              </a:solidFill>
              <a:latin typeface="Libre Franklin Medium"/>
              <a:ea typeface="Libre Franklin Medium"/>
              <a:cs typeface="Libre Franklin Medium"/>
              <a:sym typeface="Libre Franklin Medium"/>
            </a:endParaRPr>
          </a:p>
          <a:p>
            <a:pPr marL="457200" lvl="0" indent="-355600" algn="l" rtl="0">
              <a:lnSpc>
                <a:spcPct val="90000"/>
              </a:lnSpc>
              <a:spcBef>
                <a:spcPts val="0"/>
              </a:spcBef>
              <a:spcAft>
                <a:spcPts val="0"/>
              </a:spcAft>
              <a:buClr>
                <a:schemeClr val="accent2"/>
              </a:buClr>
              <a:buSzPts val="2000"/>
              <a:buFont typeface="Libre Franklin Medium"/>
              <a:buChar char="-"/>
            </a:pPr>
            <a:endParaRPr sz="2000">
              <a:solidFill>
                <a:schemeClr val="accent2"/>
              </a:solidFill>
              <a:latin typeface="Libre Franklin Medium"/>
              <a:ea typeface="Libre Franklin Medium"/>
              <a:cs typeface="Libre Franklin Medium"/>
              <a:sym typeface="Libre Franklin Medium"/>
            </a:endParaRPr>
          </a:p>
        </p:txBody>
      </p:sp>
      <p:sp>
        <p:nvSpPr>
          <p:cNvPr id="226" name="Google Shape;226;g119f5cc7372_4_7"/>
          <p:cNvSpPr txBox="1"/>
          <p:nvPr/>
        </p:nvSpPr>
        <p:spPr>
          <a:xfrm>
            <a:off x="1748425" y="1675575"/>
            <a:ext cx="1143000" cy="194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a:latin typeface="Century Schoolbook"/>
              <a:ea typeface="Century Schoolbook"/>
              <a:cs typeface="Century Schoolbook"/>
              <a:sym typeface="Century Schoolbook"/>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Mariam Nguyen </a:t>
            </a:r>
            <a:endParaRPr/>
          </a:p>
        </p:txBody>
      </p:sp>
      <p:sp>
        <p:nvSpPr>
          <p:cNvPr id="233" name="Google Shape;233;p15"/>
          <p:cNvSpPr txBox="1"/>
          <p:nvPr/>
        </p:nvSpPr>
        <p:spPr>
          <a:xfrm>
            <a:off x="724225" y="1745725"/>
            <a:ext cx="4959900" cy="2770500"/>
          </a:xfrm>
          <a:prstGeom prst="rect">
            <a:avLst/>
          </a:prstGeom>
          <a:noFill/>
          <a:ln>
            <a:noFill/>
          </a:ln>
        </p:spPr>
        <p:txBody>
          <a:bodyPr spcFirstLastPara="1" wrap="square" lIns="91425" tIns="91425" rIns="91425" bIns="91425" anchor="t" anchorCtr="0">
            <a:spAutoFit/>
          </a:bodyPr>
          <a:lstStyle/>
          <a:p>
            <a:pPr marL="457200" lvl="0" indent="-406400" algn="l" rtl="0">
              <a:spcBef>
                <a:spcPts val="0"/>
              </a:spcBef>
              <a:spcAft>
                <a:spcPts val="0"/>
              </a:spcAft>
              <a:buSzPts val="2800"/>
              <a:buFont typeface="Century Schoolbook"/>
              <a:buChar char="-"/>
            </a:pPr>
            <a:r>
              <a:rPr lang="en-US" sz="2800">
                <a:latin typeface="Century Schoolbook"/>
                <a:ea typeface="Century Schoolbook"/>
                <a:cs typeface="Century Schoolbook"/>
                <a:sym typeface="Century Schoolbook"/>
              </a:rPr>
              <a:t>Meeting with Tony McGuirt this week to discuss soft serve in DH and vegan ice cream coolers!</a:t>
            </a:r>
            <a:endParaRPr sz="2800">
              <a:latin typeface="Century Schoolbook"/>
              <a:ea typeface="Century Schoolbook"/>
              <a:cs typeface="Century Schoolbook"/>
              <a:sym typeface="Century Schoolbook"/>
            </a:endParaRPr>
          </a:p>
          <a:p>
            <a:pPr marL="457200" lvl="0" indent="0" algn="l" rtl="0">
              <a:spcBef>
                <a:spcPts val="0"/>
              </a:spcBef>
              <a:spcAft>
                <a:spcPts val="0"/>
              </a:spcAft>
              <a:buNone/>
            </a:pPr>
            <a:endParaRPr sz="2800">
              <a:latin typeface="Century Schoolbook"/>
              <a:ea typeface="Century Schoolbook"/>
              <a:cs typeface="Century Schoolbook"/>
              <a:sym typeface="Century Schoolbook"/>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6"/>
          <p:cNvSpPr txBox="1">
            <a:spLocks noGrp="1"/>
          </p:cNvSpPr>
          <p:nvPr>
            <p:ph type="title"/>
          </p:nvPr>
        </p:nvSpPr>
        <p:spPr>
          <a:xfrm>
            <a:off x="204725" y="0"/>
            <a:ext cx="5147100" cy="906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Caroline Cousar </a:t>
            </a:r>
            <a:endParaRPr/>
          </a:p>
        </p:txBody>
      </p:sp>
      <p:sp>
        <p:nvSpPr>
          <p:cNvPr id="240" name="Google Shape;240;p16"/>
          <p:cNvSpPr txBox="1"/>
          <p:nvPr/>
        </p:nvSpPr>
        <p:spPr>
          <a:xfrm>
            <a:off x="565250" y="1507275"/>
            <a:ext cx="39054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900"/>
          </a:p>
        </p:txBody>
      </p:sp>
      <p:sp>
        <p:nvSpPr>
          <p:cNvPr id="241" name="Google Shape;241;p16"/>
          <p:cNvSpPr txBox="1"/>
          <p:nvPr/>
        </p:nvSpPr>
        <p:spPr>
          <a:xfrm>
            <a:off x="102350" y="731100"/>
            <a:ext cx="12089700" cy="5249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0"/>
              </a:spcBef>
              <a:spcAft>
                <a:spcPts val="0"/>
              </a:spcAft>
              <a:buNone/>
            </a:pPr>
            <a:r>
              <a:rPr lang="en-US" sz="1650" b="1">
                <a:solidFill>
                  <a:srgbClr val="EA99C2"/>
                </a:solidFill>
                <a:latin typeface="Century Schoolbook"/>
                <a:ea typeface="Century Schoolbook"/>
                <a:cs typeface="Century Schoolbook"/>
                <a:sym typeface="Century Schoolbook"/>
              </a:rPr>
              <a:t>I hope everyone had a wonderful weekend!!!</a:t>
            </a:r>
            <a:endParaRPr sz="1650" b="1">
              <a:solidFill>
                <a:srgbClr val="EA99C2"/>
              </a:solidFill>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r>
              <a:rPr lang="en-US" sz="1847" b="1">
                <a:latin typeface="Century Schoolbook"/>
                <a:ea typeface="Century Schoolbook"/>
                <a:cs typeface="Century Schoolbook"/>
                <a:sym typeface="Century Schoolbook"/>
              </a:rPr>
              <a:t>                                                    Ideas/goals for the semester in the works:</a:t>
            </a:r>
            <a:endParaRPr sz="1847" b="1">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r>
              <a:rPr lang="en-US" sz="2000" b="1">
                <a:latin typeface="Century Schoolbook"/>
                <a:ea typeface="Century Schoolbook"/>
                <a:cs typeface="Century Schoolbook"/>
                <a:sym typeface="Century Schoolbook"/>
              </a:rPr>
              <a:t>–</a:t>
            </a:r>
            <a:r>
              <a:rPr lang="en-US" sz="2400" b="1">
                <a:latin typeface="Century Schoolbook"/>
                <a:ea typeface="Century Schoolbook"/>
                <a:cs typeface="Century Schoolbook"/>
                <a:sym typeface="Century Schoolbook"/>
              </a:rPr>
              <a:t> </a:t>
            </a:r>
            <a:r>
              <a:rPr lang="en-US" sz="1750" b="1">
                <a:solidFill>
                  <a:srgbClr val="6D9EEB"/>
                </a:solidFill>
                <a:latin typeface="Century Schoolbook"/>
                <a:ea typeface="Century Schoolbook"/>
                <a:cs typeface="Century Schoolbook"/>
                <a:sym typeface="Century Schoolbook"/>
              </a:rPr>
              <a:t>Small trash cans in dorm restroom stalls for feminine hygiene product disposal.</a:t>
            </a:r>
            <a:endParaRPr sz="1750" b="1">
              <a:solidFill>
                <a:srgbClr val="6D9EEB"/>
              </a:solidFill>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r>
              <a:rPr lang="en-US" sz="1350" b="1" u="sng">
                <a:latin typeface="Century Schoolbook"/>
                <a:ea typeface="Century Schoolbook"/>
                <a:cs typeface="Century Schoolbook"/>
                <a:sym typeface="Century Schoolbook"/>
                <a:hlinkClick r:id="rId3"/>
              </a:rPr>
              <a:t>https://www.hercampus.com/school/furman/destigmatizing-feminine-hygiene-one-step-at-a-time-fighting-for-the-tiny-trash-can/</a:t>
            </a:r>
            <a:endParaRPr sz="1350" b="1">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r>
              <a:rPr lang="en-US" sz="2050">
                <a:latin typeface="Century Schoolbook"/>
                <a:ea typeface="Century Schoolbook"/>
                <a:cs typeface="Century Schoolbook"/>
                <a:sym typeface="Century Schoolbook"/>
              </a:rPr>
              <a:t>–</a:t>
            </a:r>
            <a:r>
              <a:rPr lang="en-US" sz="1750" b="1">
                <a:latin typeface="Century Schoolbook"/>
                <a:ea typeface="Century Schoolbook"/>
                <a:cs typeface="Century Schoolbook"/>
                <a:sym typeface="Century Schoolbook"/>
              </a:rPr>
              <a:t> </a:t>
            </a:r>
            <a:r>
              <a:rPr lang="en-US" sz="1750" b="1">
                <a:solidFill>
                  <a:srgbClr val="6D9EEB"/>
                </a:solidFill>
                <a:latin typeface="Century Schoolbook"/>
                <a:ea typeface="Century Schoolbook"/>
                <a:cs typeface="Century Schoolbook"/>
                <a:sym typeface="Century Schoolbook"/>
              </a:rPr>
              <a:t>Whiteboards faculty/students can checkout from the library for outdoor classes/study sesh with friends.</a:t>
            </a:r>
            <a:endParaRPr sz="1750" b="1">
              <a:solidFill>
                <a:srgbClr val="6D9EEB"/>
              </a:solidFill>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r>
              <a:rPr lang="en-US" sz="2050" b="1">
                <a:latin typeface="Century Schoolbook"/>
                <a:ea typeface="Century Schoolbook"/>
                <a:cs typeface="Century Schoolbook"/>
                <a:sym typeface="Century Schoolbook"/>
              </a:rPr>
              <a:t>– </a:t>
            </a:r>
            <a:r>
              <a:rPr lang="en-US" sz="1750" b="1">
                <a:solidFill>
                  <a:srgbClr val="6D9EEB"/>
                </a:solidFill>
                <a:latin typeface="Century Schoolbook"/>
                <a:ea typeface="Century Schoolbook"/>
                <a:cs typeface="Century Schoolbook"/>
                <a:sym typeface="Century Schoolbook"/>
              </a:rPr>
              <a:t>Working with the Asian Studies Department to utilize the Place of Peace as a space “occasioning deep reflection, meditation, calmness, and connection” for students to use &amp; enjoy.</a:t>
            </a:r>
            <a:endParaRPr sz="1750" b="1">
              <a:solidFill>
                <a:srgbClr val="6D9EEB"/>
              </a:solidFill>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r>
              <a:rPr lang="en-US" sz="1350" b="1" u="sng">
                <a:latin typeface="Century Schoolbook"/>
                <a:ea typeface="Century Schoolbook"/>
                <a:cs typeface="Century Schoolbook"/>
                <a:sym typeface="Century Schoolbook"/>
                <a:hlinkClick r:id="rId4"/>
              </a:rPr>
              <a:t>Link to Place of Peace - Interesting Facts</a:t>
            </a:r>
            <a:r>
              <a:rPr lang="en-US" sz="1650" b="1" u="sng">
                <a:latin typeface="Century Schoolbook"/>
                <a:ea typeface="Century Schoolbook"/>
                <a:cs typeface="Century Schoolbook"/>
                <a:sym typeface="Century Schoolbook"/>
                <a:hlinkClick r:id="rId4"/>
              </a:rPr>
              <a:t> </a:t>
            </a:r>
            <a:endParaRPr sz="1650" b="1">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endParaRPr sz="2475" b="1">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endParaRPr sz="2575" b="1">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endParaRPr sz="2575" b="1">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endParaRPr sz="3175">
              <a:latin typeface="Century Schoolbook"/>
              <a:ea typeface="Century Schoolbook"/>
              <a:cs typeface="Century Schoolbook"/>
              <a:sym typeface="Century Schoolbook"/>
            </a:endParaRPr>
          </a:p>
        </p:txBody>
      </p:sp>
      <p:sp>
        <p:nvSpPr>
          <p:cNvPr id="242" name="Google Shape;242;p16"/>
          <p:cNvSpPr txBox="1"/>
          <p:nvPr/>
        </p:nvSpPr>
        <p:spPr>
          <a:xfrm>
            <a:off x="6740000" y="551425"/>
            <a:ext cx="4109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Kobby Frempong </a:t>
            </a:r>
            <a:endParaRPr/>
          </a:p>
        </p:txBody>
      </p:sp>
      <p:sp>
        <p:nvSpPr>
          <p:cNvPr id="252" name="Google Shape;252;p17"/>
          <p:cNvSpPr txBox="1"/>
          <p:nvPr/>
        </p:nvSpPr>
        <p:spPr>
          <a:xfrm>
            <a:off x="7562200" y="520475"/>
            <a:ext cx="4148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latin typeface="Libre Franklin"/>
              <a:ea typeface="Libre Franklin"/>
              <a:cs typeface="Libre Franklin"/>
              <a:sym typeface="Libre Franklin"/>
            </a:endParaRPr>
          </a:p>
        </p:txBody>
      </p:sp>
      <p:sp>
        <p:nvSpPr>
          <p:cNvPr id="253" name="Google Shape;253;p17"/>
          <p:cNvSpPr txBox="1"/>
          <p:nvPr/>
        </p:nvSpPr>
        <p:spPr>
          <a:xfrm>
            <a:off x="719475" y="1653275"/>
            <a:ext cx="5465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200">
              <a:solidFill>
                <a:srgbClr val="582C83"/>
              </a:solidFill>
              <a:latin typeface="Libre Franklin"/>
              <a:ea typeface="Libre Franklin"/>
              <a:cs typeface="Libre Franklin"/>
              <a:sym typeface="Libre Franklin"/>
            </a:endParaRPr>
          </a:p>
        </p:txBody>
      </p:sp>
      <p:sp>
        <p:nvSpPr>
          <p:cNvPr id="254" name="Google Shape;254;p17"/>
          <p:cNvSpPr txBox="1"/>
          <p:nvPr/>
        </p:nvSpPr>
        <p:spPr>
          <a:xfrm>
            <a:off x="887875" y="2372750"/>
            <a:ext cx="5189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Libre Franklin"/>
              <a:ea typeface="Libre Franklin"/>
              <a:cs typeface="Libre Franklin"/>
              <a:sym typeface="Libre Frankli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7"/>
          <p:cNvSpPr txBox="1">
            <a:spLocks noGrp="1"/>
          </p:cNvSpPr>
          <p:nvPr>
            <p:ph type="ctrTitle"/>
          </p:nvPr>
        </p:nvSpPr>
        <p:spPr>
          <a:xfrm>
            <a:off x="1589700" y="158711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At- Large Reports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FUSAB         - </a:t>
            </a:r>
            <a:r>
              <a:rPr lang="en-US">
                <a:latin typeface="Roboto"/>
                <a:ea typeface="Roboto"/>
                <a:cs typeface="Roboto"/>
                <a:sym typeface="Roboto"/>
              </a:rPr>
              <a:t>Grayson Taylor </a:t>
            </a:r>
            <a:endParaRPr>
              <a:latin typeface="Roboto"/>
              <a:ea typeface="Roboto"/>
              <a:cs typeface="Roboto"/>
              <a:sym typeface="Roboto"/>
            </a:endParaRPr>
          </a:p>
        </p:txBody>
      </p:sp>
      <p:pic>
        <p:nvPicPr>
          <p:cNvPr id="267" name="Google Shape;267;p28"/>
          <p:cNvPicPr preferRelativeResize="0"/>
          <p:nvPr/>
        </p:nvPicPr>
        <p:blipFill rotWithShape="1">
          <a:blip r:embed="rId3">
            <a:alphaModFix/>
          </a:blip>
          <a:srcRect/>
          <a:stretch/>
        </p:blipFill>
        <p:spPr>
          <a:xfrm>
            <a:off x="147652" y="126927"/>
            <a:ext cx="3841851" cy="1611725"/>
          </a:xfrm>
          <a:prstGeom prst="rect">
            <a:avLst/>
          </a:prstGeom>
          <a:noFill/>
          <a:ln>
            <a:noFill/>
          </a:ln>
        </p:spPr>
      </p:pic>
      <p:sp>
        <p:nvSpPr>
          <p:cNvPr id="268" name="Google Shape;268;p28"/>
          <p:cNvSpPr txBox="1"/>
          <p:nvPr/>
        </p:nvSpPr>
        <p:spPr>
          <a:xfrm>
            <a:off x="910350" y="1987600"/>
            <a:ext cx="9088500" cy="359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latin typeface="Century Schoolbook"/>
                <a:ea typeface="Century Schoolbook"/>
                <a:cs typeface="Century Schoolbook"/>
                <a:sym typeface="Century Schoolbook"/>
              </a:rPr>
              <a:t>FALL BALL THIS FRIDAY!!!!!!!</a:t>
            </a:r>
            <a:endParaRPr sz="2400">
              <a:latin typeface="Century Schoolbook"/>
              <a:ea typeface="Century Schoolbook"/>
              <a:cs typeface="Century Schoolbook"/>
              <a:sym typeface="Century Schoolbook"/>
            </a:endParaRPr>
          </a:p>
          <a:p>
            <a:pPr marL="0" lvl="0" indent="0" algn="l" rtl="0">
              <a:spcBef>
                <a:spcPts val="0"/>
              </a:spcBef>
              <a:spcAft>
                <a:spcPts val="0"/>
              </a:spcAft>
              <a:buNone/>
            </a:pPr>
            <a:r>
              <a:rPr lang="en-US" sz="2400">
                <a:latin typeface="Century Schoolbook"/>
                <a:ea typeface="Century Schoolbook"/>
                <a:cs typeface="Century Schoolbook"/>
                <a:sym typeface="Century Schoolbook"/>
              </a:rPr>
              <a:t>POSES AND MIMOSAS NEXT SATURDAY!!!!!!!!!!</a:t>
            </a:r>
            <a:endParaRPr sz="2400">
              <a:latin typeface="Century Schoolbook"/>
              <a:ea typeface="Century Schoolbook"/>
              <a:cs typeface="Century Schoolbook"/>
              <a:sym typeface="Century Schoolbook"/>
            </a:endParaRPr>
          </a:p>
          <a:p>
            <a:pPr marL="0" lvl="0" indent="0" algn="l" rtl="0">
              <a:spcBef>
                <a:spcPts val="0"/>
              </a:spcBef>
              <a:spcAft>
                <a:spcPts val="0"/>
              </a:spcAft>
              <a:buNone/>
            </a:pPr>
            <a:endParaRPr sz="2400">
              <a:latin typeface="Century Schoolbook"/>
              <a:ea typeface="Century Schoolbook"/>
              <a:cs typeface="Century Schoolbook"/>
              <a:sym typeface="Century Schoolbook"/>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RLC- Jeff McLane </a:t>
            </a:r>
            <a:endParaRPr/>
          </a:p>
        </p:txBody>
      </p:sp>
      <p:sp>
        <p:nvSpPr>
          <p:cNvPr id="275" name="Google Shape;275;p29"/>
          <p:cNvSpPr txBox="1"/>
          <p:nvPr/>
        </p:nvSpPr>
        <p:spPr>
          <a:xfrm>
            <a:off x="1372650" y="2569350"/>
            <a:ext cx="9446700" cy="1719300"/>
          </a:xfrm>
          <a:prstGeom prst="rect">
            <a:avLst/>
          </a:prstGeom>
          <a:noFill/>
          <a:ln>
            <a:noFill/>
          </a:ln>
        </p:spPr>
        <p:txBody>
          <a:bodyPr spcFirstLastPara="1" wrap="square" lIns="91425" tIns="91425" rIns="91425" bIns="91425" anchor="t" anchorCtr="0">
            <a:noAutofit/>
          </a:bodyPr>
          <a:lstStyle/>
          <a:p>
            <a:pPr marL="457200" lvl="0" indent="-336550" algn="l" rtl="0">
              <a:spcBef>
                <a:spcPts val="0"/>
              </a:spcBef>
              <a:spcAft>
                <a:spcPts val="0"/>
              </a:spcAft>
              <a:buSzPts val="1700"/>
              <a:buFont typeface="Century Schoolbook"/>
              <a:buChar char="-"/>
            </a:pPr>
            <a:r>
              <a:rPr lang="en-US" sz="1700">
                <a:latin typeface="Century Schoolbook"/>
                <a:ea typeface="Century Schoolbook"/>
                <a:cs typeface="Century Schoolbook"/>
                <a:sym typeface="Century Schoolbook"/>
              </a:rPr>
              <a:t>Met and discussed the idea of bringing a food truck on campus sometime</a:t>
            </a:r>
            <a:endParaRPr sz="1700">
              <a:latin typeface="Century Schoolbook"/>
              <a:ea typeface="Century Schoolbook"/>
              <a:cs typeface="Century Schoolbook"/>
              <a:sym typeface="Century Schoolbook"/>
            </a:endParaRPr>
          </a:p>
          <a:p>
            <a:pPr marL="457200" lvl="0" indent="-336550" algn="l" rtl="0">
              <a:spcBef>
                <a:spcPts val="0"/>
              </a:spcBef>
              <a:spcAft>
                <a:spcPts val="0"/>
              </a:spcAft>
              <a:buSzPts val="1700"/>
              <a:buFont typeface="Century Schoolbook"/>
              <a:buChar char="-"/>
            </a:pPr>
            <a:r>
              <a:rPr lang="en-US" sz="1700">
                <a:latin typeface="Century Schoolbook"/>
                <a:ea typeface="Century Schoolbook"/>
                <a:cs typeface="Century Schoolbook"/>
                <a:sym typeface="Century Schoolbook"/>
              </a:rPr>
              <a:t>Discussed putting furniture on the balconies of Lakeside so people could enjoy them</a:t>
            </a:r>
            <a:endParaRPr sz="1700">
              <a:latin typeface="Century Schoolbook"/>
              <a:ea typeface="Century Schoolbook"/>
              <a:cs typeface="Century Schoolbook"/>
              <a:sym typeface="Century Schoolbook"/>
            </a:endParaRPr>
          </a:p>
          <a:p>
            <a:pPr marL="914400" lvl="1" indent="-336550" algn="l" rtl="0">
              <a:spcBef>
                <a:spcPts val="0"/>
              </a:spcBef>
              <a:spcAft>
                <a:spcPts val="0"/>
              </a:spcAft>
              <a:buSzPts val="1700"/>
              <a:buFont typeface="Century Schoolbook"/>
              <a:buChar char="-"/>
            </a:pPr>
            <a:r>
              <a:rPr lang="en-US" sz="1700">
                <a:latin typeface="Century Schoolbook"/>
                <a:ea typeface="Century Schoolbook"/>
                <a:cs typeface="Century Schoolbook"/>
                <a:sym typeface="Century Schoolbook"/>
              </a:rPr>
              <a:t>Ron Thompson will be at next meeting and will discuss this</a:t>
            </a:r>
            <a:endParaRPr sz="1700">
              <a:latin typeface="Century Schoolbook"/>
              <a:ea typeface="Century Schoolbook"/>
              <a:cs typeface="Century Schoolbook"/>
              <a:sym typeface="Century Schoolbook"/>
            </a:endParaRPr>
          </a:p>
          <a:p>
            <a:pPr marL="457200" lvl="0" indent="-336550" algn="l" rtl="0">
              <a:spcBef>
                <a:spcPts val="0"/>
              </a:spcBef>
              <a:spcAft>
                <a:spcPts val="0"/>
              </a:spcAft>
              <a:buSzPts val="1700"/>
              <a:buFont typeface="Century Schoolbook"/>
              <a:buChar char="-"/>
            </a:pPr>
            <a:r>
              <a:rPr lang="en-US" sz="1700">
                <a:latin typeface="Century Schoolbook"/>
                <a:ea typeface="Century Schoolbook"/>
                <a:cs typeface="Century Schoolbook"/>
                <a:sym typeface="Century Schoolbook"/>
              </a:rPr>
              <a:t>Adding 15 new members this week! Got rid of some older members who no longer attend meetings.</a:t>
            </a:r>
            <a:endParaRPr sz="1700">
              <a:latin typeface="Century Schoolbook"/>
              <a:ea typeface="Century Schoolbook"/>
              <a:cs typeface="Century Schoolbook"/>
              <a:sym typeface="Century Schoolbook"/>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0"/>
          <p:cNvSpPr txBox="1">
            <a:spLocks noGrp="1"/>
          </p:cNvSpPr>
          <p:nvPr>
            <p:ph type="title"/>
          </p:nvPr>
        </p:nvSpPr>
        <p:spPr>
          <a:xfrm>
            <a:off x="838200" y="869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sz="3500"/>
              <a:t>Religious Council - Ruthie Richardson </a:t>
            </a:r>
            <a:endParaRPr sz="2800"/>
          </a:p>
        </p:txBody>
      </p:sp>
      <p:sp>
        <p:nvSpPr>
          <p:cNvPr id="282" name="Google Shape;282;p30"/>
          <p:cNvSpPr txBox="1"/>
          <p:nvPr/>
        </p:nvSpPr>
        <p:spPr>
          <a:xfrm>
            <a:off x="1015475" y="1773675"/>
            <a:ext cx="5481000" cy="5388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300">
              <a:solidFill>
                <a:srgbClr val="582C83"/>
              </a:solidFill>
              <a:latin typeface="Century Schoolbook"/>
              <a:ea typeface="Century Schoolbook"/>
              <a:cs typeface="Century Schoolbook"/>
              <a:sym typeface="Century Schoolbook"/>
            </a:endParaRPr>
          </a:p>
        </p:txBody>
      </p:sp>
      <p:sp>
        <p:nvSpPr>
          <p:cNvPr id="283" name="Google Shape;283;p30"/>
          <p:cNvSpPr txBox="1"/>
          <p:nvPr/>
        </p:nvSpPr>
        <p:spPr>
          <a:xfrm>
            <a:off x="1087000" y="1442750"/>
            <a:ext cx="8814600" cy="3715500"/>
          </a:xfrm>
          <a:prstGeom prst="rect">
            <a:avLst/>
          </a:prstGeom>
          <a:noFill/>
          <a:ln>
            <a:noFill/>
          </a:ln>
        </p:spPr>
        <p:txBody>
          <a:bodyPr spcFirstLastPara="1" wrap="square" lIns="91425" tIns="91425" rIns="91425" bIns="91425" anchor="t" anchorCtr="0">
            <a:noAutofit/>
          </a:bodyPr>
          <a:lstStyle/>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Tentative budgets have been sent out by Myla (our treasurer)</a:t>
            </a:r>
            <a:endParaRPr sz="2500">
              <a:latin typeface="Century Schoolbook"/>
              <a:ea typeface="Century Schoolbook"/>
              <a:cs typeface="Century Schoolbook"/>
              <a:sym typeface="Century Schoolbook"/>
            </a:endParaRPr>
          </a:p>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Nothing else :)</a:t>
            </a:r>
            <a:endParaRPr sz="2500">
              <a:latin typeface="Century Schoolbook"/>
              <a:ea typeface="Century Schoolbook"/>
              <a:cs typeface="Century Schoolbook"/>
              <a:sym typeface="Century Schoolbook"/>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1"/>
          <p:cNvSpPr/>
          <p:nvPr/>
        </p:nvSpPr>
        <p:spPr>
          <a:xfrm>
            <a:off x="3023875" y="2748975"/>
            <a:ext cx="3689400" cy="2083500"/>
          </a:xfrm>
          <a:prstGeom prst="roundRect">
            <a:avLst>
              <a:gd name="adj" fmla="val 16667"/>
            </a:avLst>
          </a:prstGeom>
          <a:solidFill>
            <a:srgbClr val="D9D2E9"/>
          </a:solidFill>
          <a:ln>
            <a:noFill/>
          </a:ln>
          <a:effectLst>
            <a:outerShdw blurRad="57150" dist="200025" dir="8040000" algn="bl" rotWithShape="0">
              <a:srgbClr val="000000">
                <a:alpha val="4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Schoolbook"/>
              <a:ea typeface="Century Schoolbook"/>
              <a:cs typeface="Century Schoolbook"/>
              <a:sym typeface="Century Schoolbook"/>
            </a:endParaRPr>
          </a:p>
        </p:txBody>
      </p:sp>
      <p:sp>
        <p:nvSpPr>
          <p:cNvPr id="290" name="Google Shape;290;p3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Campus Rec - Eva Brooks</a:t>
            </a:r>
            <a:endParaRPr/>
          </a:p>
        </p:txBody>
      </p:sp>
      <p:sp>
        <p:nvSpPr>
          <p:cNvPr id="291" name="Google Shape;291;p31"/>
          <p:cNvSpPr txBox="1"/>
          <p:nvPr/>
        </p:nvSpPr>
        <p:spPr>
          <a:xfrm>
            <a:off x="152400" y="1591725"/>
            <a:ext cx="3783000" cy="44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900" b="1">
                <a:latin typeface="Century Schoolbook"/>
                <a:ea typeface="Century Schoolbook"/>
                <a:cs typeface="Century Schoolbook"/>
                <a:sym typeface="Century Schoolbook"/>
              </a:rPr>
              <a:t>Club Sports</a:t>
            </a:r>
            <a:endParaRPr sz="2900" b="1">
              <a:latin typeface="Century Schoolbook"/>
              <a:ea typeface="Century Schoolbook"/>
              <a:cs typeface="Century Schoolbook"/>
              <a:sym typeface="Century Schoolbook"/>
            </a:endParaRPr>
          </a:p>
          <a:p>
            <a:pPr marL="0" lvl="0" indent="0" algn="l" rtl="0">
              <a:spcBef>
                <a:spcPts val="0"/>
              </a:spcBef>
              <a:spcAft>
                <a:spcPts val="0"/>
              </a:spcAft>
              <a:buNone/>
            </a:pPr>
            <a:endParaRPr sz="1800" b="1">
              <a:latin typeface="Century Schoolbook"/>
              <a:ea typeface="Century Schoolbook"/>
              <a:cs typeface="Century Schoolbook"/>
              <a:sym typeface="Century Schoolbook"/>
            </a:endParaRPr>
          </a:p>
          <a:p>
            <a:pPr marL="0" lvl="0" indent="0" algn="l" rtl="0">
              <a:spcBef>
                <a:spcPts val="0"/>
              </a:spcBef>
              <a:spcAft>
                <a:spcPts val="0"/>
              </a:spcAft>
              <a:buNone/>
            </a:pPr>
            <a:r>
              <a:rPr lang="en-US" sz="1800" b="1" u="sng">
                <a:latin typeface="Century Schoolbook"/>
                <a:ea typeface="Century Schoolbook"/>
                <a:cs typeface="Century Schoolbook"/>
                <a:sym typeface="Century Schoolbook"/>
              </a:rPr>
              <a:t>Last Weekend</a:t>
            </a:r>
            <a:endParaRPr sz="1800" b="1" u="sng">
              <a:latin typeface="Century Schoolbook"/>
              <a:ea typeface="Century Schoolbook"/>
              <a:cs typeface="Century Schoolbook"/>
              <a:sym typeface="Century Schoolbook"/>
            </a:endParaRPr>
          </a:p>
          <a:p>
            <a:pPr marL="0" lvl="0" indent="0" algn="l" rtl="0">
              <a:spcBef>
                <a:spcPts val="0"/>
              </a:spcBef>
              <a:spcAft>
                <a:spcPts val="0"/>
              </a:spcAft>
              <a:buNone/>
            </a:pPr>
            <a:endParaRPr sz="1800" b="1" u="sng">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Men’s Soccer v Kennesaw St</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Women’s Soccer v GA South</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Powerlifting </a:t>
            </a:r>
            <a:r>
              <a:rPr lang="en-US" sz="1800" b="1">
                <a:latin typeface="Century Schoolbook"/>
                <a:ea typeface="Century Schoolbook"/>
                <a:cs typeface="Century Schoolbook"/>
                <a:sym typeface="Century Schoolbook"/>
              </a:rPr>
              <a:t>W</a:t>
            </a:r>
            <a:endParaRPr sz="1800" b="1">
              <a:latin typeface="Century Schoolbook"/>
              <a:ea typeface="Century Schoolbook"/>
              <a:cs typeface="Century Schoolbook"/>
              <a:sym typeface="Century Schoolbook"/>
            </a:endParaRPr>
          </a:p>
          <a:p>
            <a:pPr marL="0" lvl="0" indent="0" algn="l" rtl="0">
              <a:spcBef>
                <a:spcPts val="0"/>
              </a:spcBef>
              <a:spcAft>
                <a:spcPts val="0"/>
              </a:spcAft>
              <a:buNone/>
            </a:pPr>
            <a:endParaRPr sz="1800" b="1">
              <a:latin typeface="Century Schoolbook"/>
              <a:ea typeface="Century Schoolbook"/>
              <a:cs typeface="Century Schoolbook"/>
              <a:sym typeface="Century Schoolbook"/>
            </a:endParaRPr>
          </a:p>
          <a:p>
            <a:pPr marL="0" lvl="0" indent="0" algn="l" rtl="0">
              <a:spcBef>
                <a:spcPts val="0"/>
              </a:spcBef>
              <a:spcAft>
                <a:spcPts val="0"/>
              </a:spcAft>
              <a:buNone/>
            </a:pPr>
            <a:endParaRPr sz="1800" b="1">
              <a:latin typeface="Century Schoolbook"/>
              <a:ea typeface="Century Schoolbook"/>
              <a:cs typeface="Century Schoolbook"/>
              <a:sym typeface="Century Schoolbook"/>
            </a:endParaRPr>
          </a:p>
          <a:p>
            <a:pPr marL="0" lvl="0" indent="0" algn="l" rtl="0">
              <a:spcBef>
                <a:spcPts val="0"/>
              </a:spcBef>
              <a:spcAft>
                <a:spcPts val="0"/>
              </a:spcAft>
              <a:buNone/>
            </a:pPr>
            <a:r>
              <a:rPr lang="en-US" sz="1800" b="1" u="sng">
                <a:latin typeface="Century Schoolbook"/>
                <a:ea typeface="Century Schoolbook"/>
                <a:cs typeface="Century Schoolbook"/>
                <a:sym typeface="Century Schoolbook"/>
              </a:rPr>
              <a:t>Next Weekend</a:t>
            </a:r>
            <a:endParaRPr sz="1800" b="1" u="sng">
              <a:latin typeface="Century Schoolbook"/>
              <a:ea typeface="Century Schoolbook"/>
              <a:cs typeface="Century Schoolbook"/>
              <a:sym typeface="Century Schoolbook"/>
            </a:endParaRPr>
          </a:p>
          <a:p>
            <a:pPr marL="0" lvl="0" indent="0" algn="l" rtl="0">
              <a:spcBef>
                <a:spcPts val="0"/>
              </a:spcBef>
              <a:spcAft>
                <a:spcPts val="0"/>
              </a:spcAft>
              <a:buNone/>
            </a:pPr>
            <a:endParaRPr sz="1800" u="sng">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Men’s Soccer v GA Tech - SUN</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Women’s Soccer v USC - FRI</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Women’s Soccer v Coastal - SAT</a:t>
            </a:r>
            <a:endParaRPr sz="1800">
              <a:latin typeface="Century Schoolbook"/>
              <a:ea typeface="Century Schoolbook"/>
              <a:cs typeface="Century Schoolbook"/>
              <a:sym typeface="Century Schoolbook"/>
            </a:endParaRPr>
          </a:p>
        </p:txBody>
      </p:sp>
      <p:sp>
        <p:nvSpPr>
          <p:cNvPr id="292" name="Google Shape;292;p31"/>
          <p:cNvSpPr txBox="1"/>
          <p:nvPr/>
        </p:nvSpPr>
        <p:spPr>
          <a:xfrm>
            <a:off x="3178675" y="2901225"/>
            <a:ext cx="3320400" cy="221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900" b="1">
                <a:latin typeface="Century Schoolbook"/>
                <a:ea typeface="Century Schoolbook"/>
                <a:cs typeface="Century Schoolbook"/>
                <a:sym typeface="Century Schoolbook"/>
              </a:rPr>
              <a:t>Intramurals</a:t>
            </a:r>
            <a:endParaRPr sz="2900" b="1">
              <a:latin typeface="Century Schoolbook"/>
              <a:ea typeface="Century Schoolbook"/>
              <a:cs typeface="Century Schoolbook"/>
              <a:sym typeface="Century Schoolbook"/>
            </a:endParaRPr>
          </a:p>
          <a:p>
            <a:pPr marL="0" lvl="0" indent="0" algn="ctr" rtl="0">
              <a:spcBef>
                <a:spcPts val="0"/>
              </a:spcBef>
              <a:spcAft>
                <a:spcPts val="0"/>
              </a:spcAft>
              <a:buNone/>
            </a:pPr>
            <a:endParaRPr sz="1800">
              <a:latin typeface="Century Schoolbook"/>
              <a:ea typeface="Century Schoolbook"/>
              <a:cs typeface="Century Schoolbook"/>
              <a:sym typeface="Century Schoolbook"/>
            </a:endParaRPr>
          </a:p>
          <a:p>
            <a:pPr marL="0" lvl="0" indent="0" algn="ctr" rtl="0">
              <a:spcBef>
                <a:spcPts val="0"/>
              </a:spcBef>
              <a:spcAft>
                <a:spcPts val="0"/>
              </a:spcAft>
              <a:buNone/>
            </a:pPr>
            <a:r>
              <a:rPr lang="en-US" sz="1800">
                <a:latin typeface="Century Schoolbook"/>
                <a:ea typeface="Century Schoolbook"/>
                <a:cs typeface="Century Schoolbook"/>
                <a:sym typeface="Century Schoolbook"/>
              </a:rPr>
              <a:t>Last week of regular season flag football</a:t>
            </a:r>
            <a:endParaRPr sz="1800">
              <a:latin typeface="Century Schoolbook"/>
              <a:ea typeface="Century Schoolbook"/>
              <a:cs typeface="Century Schoolbook"/>
              <a:sym typeface="Century Schoolbook"/>
            </a:endParaRPr>
          </a:p>
        </p:txBody>
      </p:sp>
      <p:sp>
        <p:nvSpPr>
          <p:cNvPr id="294" name="Google Shape;294;p31"/>
          <p:cNvSpPr txBox="1"/>
          <p:nvPr/>
        </p:nvSpPr>
        <p:spPr>
          <a:xfrm>
            <a:off x="7921625" y="841375"/>
            <a:ext cx="2873100" cy="7524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US" sz="3700" b="1">
                <a:latin typeface="Century Schoolbook"/>
                <a:ea typeface="Century Schoolbook"/>
                <a:cs typeface="Century Schoolbook"/>
                <a:sym typeface="Century Schoolbook"/>
              </a:rPr>
              <a:t>FREE!!!</a:t>
            </a:r>
            <a:endParaRPr sz="3700" b="1">
              <a:latin typeface="Century Schoolbook"/>
              <a:ea typeface="Century Schoolbook"/>
              <a:cs typeface="Century Schoolbook"/>
              <a:sym typeface="Century Schoolbook"/>
            </a:endParaRPr>
          </a:p>
        </p:txBody>
      </p:sp>
      <p:sp>
        <p:nvSpPr>
          <p:cNvPr id="295" name="Google Shape;295;p31"/>
          <p:cNvSpPr/>
          <p:nvPr/>
        </p:nvSpPr>
        <p:spPr>
          <a:xfrm rot="4956169">
            <a:off x="10066498" y="891265"/>
            <a:ext cx="1190710" cy="1240945"/>
          </a:xfrm>
          <a:prstGeom prst="bentArrow">
            <a:avLst>
              <a:gd name="adj1" fmla="val 25000"/>
              <a:gd name="adj2" fmla="val 20665"/>
              <a:gd name="adj3" fmla="val 25000"/>
              <a:gd name="adj4" fmla="val 4375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2"/>
          <p:cNvSpPr txBox="1">
            <a:spLocks noGrp="1"/>
          </p:cNvSpPr>
          <p:nvPr>
            <p:ph type="title"/>
          </p:nvPr>
        </p:nvSpPr>
        <p:spPr>
          <a:xfrm>
            <a:off x="816575" y="202875"/>
            <a:ext cx="84195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SDC- Abijah Leamon </a:t>
            </a:r>
            <a:endParaRPr sz="6000">
              <a:latin typeface="Lobster"/>
              <a:ea typeface="Lobster"/>
              <a:cs typeface="Lobster"/>
              <a:sym typeface="Lobster"/>
            </a:endParaRPr>
          </a:p>
        </p:txBody>
      </p:sp>
      <p:sp>
        <p:nvSpPr>
          <p:cNvPr id="303" name="Google Shape;303;p32"/>
          <p:cNvSpPr txBox="1"/>
          <p:nvPr/>
        </p:nvSpPr>
        <p:spPr>
          <a:xfrm>
            <a:off x="4550325" y="1608875"/>
            <a:ext cx="6663000" cy="426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latin typeface="Century Schoolbook"/>
                <a:ea typeface="Century Schoolbook"/>
                <a:cs typeface="Century Schoolbook"/>
                <a:sym typeface="Century Schoolbook"/>
              </a:rPr>
              <a:t>NAACP is having a Voter Registration Drive! </a:t>
            </a:r>
            <a:endParaRPr sz="2000">
              <a:latin typeface="Century Schoolbook"/>
              <a:ea typeface="Century Schoolbook"/>
              <a:cs typeface="Century Schoolbook"/>
              <a:sym typeface="Century Schoolbook"/>
            </a:endParaRPr>
          </a:p>
          <a:p>
            <a:pPr marL="0" lvl="0" indent="0" algn="l" rtl="0">
              <a:spcBef>
                <a:spcPts val="0"/>
              </a:spcBef>
              <a:spcAft>
                <a:spcPts val="0"/>
              </a:spcAft>
              <a:buNone/>
            </a:pPr>
            <a:endParaRPr sz="2000">
              <a:latin typeface="Century Schoolbook"/>
              <a:ea typeface="Century Schoolbook"/>
              <a:cs typeface="Century Schoolbook"/>
              <a:sym typeface="Century Schoolbook"/>
            </a:endParaRPr>
          </a:p>
          <a:p>
            <a:pPr marL="0" lvl="0" indent="0" algn="l" rtl="0">
              <a:spcBef>
                <a:spcPts val="0"/>
              </a:spcBef>
              <a:spcAft>
                <a:spcPts val="0"/>
              </a:spcAft>
              <a:buNone/>
            </a:pPr>
            <a:r>
              <a:rPr lang="en-US" sz="2000">
                <a:latin typeface="Century Schoolbook"/>
                <a:ea typeface="Century Schoolbook"/>
                <a:cs typeface="Century Schoolbook"/>
                <a:sym typeface="Century Schoolbook"/>
              </a:rPr>
              <a:t>Please encourage students to come out and find out information for voting! This event is for all Furman students, not just Furman students that live in South Carolina! </a:t>
            </a:r>
            <a:endParaRPr sz="2000">
              <a:latin typeface="Century Schoolbook"/>
              <a:ea typeface="Century Schoolbook"/>
              <a:cs typeface="Century Schoolbook"/>
              <a:sym typeface="Century Schoolbook"/>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Panhel- Katherine Murphy </a:t>
            </a:r>
            <a:endParaRPr/>
          </a:p>
        </p:txBody>
      </p:sp>
      <p:sp>
        <p:nvSpPr>
          <p:cNvPr id="310" name="Google Shape;310;p34"/>
          <p:cNvSpPr txBox="1"/>
          <p:nvPr/>
        </p:nvSpPr>
        <p:spPr>
          <a:xfrm>
            <a:off x="5811875" y="2059350"/>
            <a:ext cx="3000000" cy="47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900">
              <a:solidFill>
                <a:srgbClr val="212121"/>
              </a:solidFill>
              <a:highlight>
                <a:srgbClr val="FFFFFF"/>
              </a:highlight>
              <a:latin typeface="Times New Roman"/>
              <a:ea typeface="Times New Roman"/>
              <a:cs typeface="Times New Roman"/>
              <a:sym typeface="Times New Roman"/>
            </a:endParaRPr>
          </a:p>
        </p:txBody>
      </p:sp>
      <p:sp>
        <p:nvSpPr>
          <p:cNvPr id="311" name="Google Shape;311;p34"/>
          <p:cNvSpPr txBox="1"/>
          <p:nvPr/>
        </p:nvSpPr>
        <p:spPr>
          <a:xfrm>
            <a:off x="477875" y="1690825"/>
            <a:ext cx="6677100" cy="3923700"/>
          </a:xfrm>
          <a:prstGeom prst="rect">
            <a:avLst/>
          </a:prstGeom>
          <a:noFill/>
          <a:ln>
            <a:noFill/>
          </a:ln>
        </p:spPr>
        <p:txBody>
          <a:bodyPr spcFirstLastPara="1" wrap="square" lIns="91425" tIns="91425" rIns="91425" bIns="91425" anchor="t" anchorCtr="0">
            <a:spAutoFit/>
          </a:bodyPr>
          <a:lstStyle/>
          <a:p>
            <a:pPr marL="0" lvl="0" indent="0" algn="l" rtl="0">
              <a:lnSpc>
                <a:spcPct val="198500"/>
              </a:lnSpc>
              <a:spcBef>
                <a:spcPts val="0"/>
              </a:spcBef>
              <a:spcAft>
                <a:spcPts val="0"/>
              </a:spcAft>
              <a:buNone/>
            </a:pPr>
            <a:endParaRPr sz="1900" u="sng">
              <a:solidFill>
                <a:srgbClr val="212121"/>
              </a:solidFill>
              <a:highlight>
                <a:srgbClr val="FFFFFF"/>
              </a:highlight>
              <a:latin typeface="Times New Roman"/>
              <a:ea typeface="Times New Roman"/>
              <a:cs typeface="Times New Roman"/>
              <a:sym typeface="Times New Roman"/>
            </a:endParaRPr>
          </a:p>
          <a:p>
            <a:pPr marL="0" lvl="0" indent="0" algn="l" rtl="0">
              <a:lnSpc>
                <a:spcPct val="198500"/>
              </a:lnSpc>
              <a:spcBef>
                <a:spcPts val="0"/>
              </a:spcBef>
              <a:spcAft>
                <a:spcPts val="0"/>
              </a:spcAft>
              <a:buNone/>
            </a:pPr>
            <a:r>
              <a:rPr lang="en-US" sz="1900">
                <a:solidFill>
                  <a:srgbClr val="212121"/>
                </a:solidFill>
                <a:highlight>
                  <a:srgbClr val="FFFFFF"/>
                </a:highlight>
                <a:latin typeface="Times New Roman"/>
                <a:ea typeface="Times New Roman"/>
                <a:cs typeface="Times New Roman"/>
                <a:sym typeface="Times New Roman"/>
              </a:rPr>
              <a:t>September 18th - 22nd: Acts of Random Kindness (ARK) Week</a:t>
            </a:r>
            <a:endParaRPr sz="1300">
              <a:solidFill>
                <a:srgbClr val="212121"/>
              </a:solidFill>
              <a:highlight>
                <a:srgbClr val="FFFFFF"/>
              </a:highlight>
              <a:latin typeface="Times New Roman"/>
              <a:ea typeface="Times New Roman"/>
              <a:cs typeface="Times New Roman"/>
              <a:sym typeface="Times New Roman"/>
            </a:endParaRPr>
          </a:p>
          <a:p>
            <a:pPr marL="457200" lvl="0" indent="-368300" algn="l" rtl="0">
              <a:lnSpc>
                <a:spcPct val="115000"/>
              </a:lnSpc>
              <a:spcBef>
                <a:spcPts val="0"/>
              </a:spcBef>
              <a:spcAft>
                <a:spcPts val="0"/>
              </a:spcAft>
              <a:buClr>
                <a:srgbClr val="212121"/>
              </a:buClr>
              <a:buSzPts val="2200"/>
              <a:buFont typeface="Times New Roman"/>
              <a:buChar char="●"/>
            </a:pPr>
            <a:r>
              <a:rPr lang="en-US">
                <a:solidFill>
                  <a:srgbClr val="212121"/>
                </a:solidFill>
                <a:highlight>
                  <a:srgbClr val="FFFFFF"/>
                </a:highlight>
                <a:latin typeface="Times New Roman"/>
                <a:ea typeface="Times New Roman"/>
                <a:cs typeface="Times New Roman"/>
                <a:sym typeface="Times New Roman"/>
              </a:rPr>
              <a:t>Quick Stop Event: Sticky Note Project; 6:00-7:30pm on September 21st in Watkins </a:t>
            </a:r>
            <a:endParaRPr>
              <a:solidFill>
                <a:srgbClr val="212121"/>
              </a:solidFill>
              <a:highlight>
                <a:srgbClr val="FFFFFF"/>
              </a:highlight>
              <a:latin typeface="Times New Roman"/>
              <a:ea typeface="Times New Roman"/>
              <a:cs typeface="Times New Roman"/>
              <a:sym typeface="Times New Roman"/>
            </a:endParaRPr>
          </a:p>
          <a:p>
            <a:pPr marL="0" lvl="0" indent="0" algn="l" rtl="0">
              <a:lnSpc>
                <a:spcPct val="198500"/>
              </a:lnSpc>
              <a:spcBef>
                <a:spcPts val="0"/>
              </a:spcBef>
              <a:spcAft>
                <a:spcPts val="0"/>
              </a:spcAft>
              <a:buNone/>
            </a:pPr>
            <a:r>
              <a:rPr lang="en-US" sz="1900">
                <a:solidFill>
                  <a:srgbClr val="212121"/>
                </a:solidFill>
                <a:highlight>
                  <a:srgbClr val="FFFFFF"/>
                </a:highlight>
                <a:latin typeface="Times New Roman"/>
                <a:ea typeface="Times New Roman"/>
                <a:cs typeface="Times New Roman"/>
                <a:sym typeface="Times New Roman"/>
              </a:rPr>
              <a:t>September 21st: DG and Adpi Panhellenic Night</a:t>
            </a:r>
            <a:endParaRPr sz="1900">
              <a:solidFill>
                <a:srgbClr val="212121"/>
              </a:solidFill>
              <a:highlight>
                <a:srgbClr val="FFFFFF"/>
              </a:highlight>
              <a:latin typeface="Times New Roman"/>
              <a:ea typeface="Times New Roman"/>
              <a:cs typeface="Times New Roman"/>
              <a:sym typeface="Times New Roman"/>
            </a:endParaRPr>
          </a:p>
          <a:p>
            <a:pPr marL="457200" lvl="0" indent="-323850" algn="l" rtl="0">
              <a:lnSpc>
                <a:spcPct val="115000"/>
              </a:lnSpc>
              <a:spcBef>
                <a:spcPts val="0"/>
              </a:spcBef>
              <a:spcAft>
                <a:spcPts val="0"/>
              </a:spcAft>
              <a:buClr>
                <a:srgbClr val="212121"/>
              </a:buClr>
              <a:buSzPts val="1500"/>
              <a:buFont typeface="Times New Roman"/>
              <a:buChar char="●"/>
            </a:pPr>
            <a:r>
              <a:rPr lang="en-US" sz="1500">
                <a:solidFill>
                  <a:srgbClr val="212121"/>
                </a:solidFill>
                <a:highlight>
                  <a:srgbClr val="FFFFFF"/>
                </a:highlight>
                <a:latin typeface="Times New Roman"/>
                <a:ea typeface="Times New Roman"/>
                <a:cs typeface="Times New Roman"/>
                <a:sym typeface="Times New Roman"/>
              </a:rPr>
              <a:t>pop-up outside of Trone</a:t>
            </a:r>
            <a:endParaRPr sz="1500">
              <a:solidFill>
                <a:srgbClr val="212121"/>
              </a:solidFill>
              <a:highlight>
                <a:srgbClr val="FFFFFF"/>
              </a:highlight>
              <a:latin typeface="Times New Roman"/>
              <a:ea typeface="Times New Roman"/>
              <a:cs typeface="Times New Roman"/>
              <a:sym typeface="Times New Roman"/>
            </a:endParaRPr>
          </a:p>
          <a:p>
            <a:pPr marL="457200" lvl="0" indent="-323850" algn="l" rtl="0">
              <a:lnSpc>
                <a:spcPct val="115000"/>
              </a:lnSpc>
              <a:spcBef>
                <a:spcPts val="0"/>
              </a:spcBef>
              <a:spcAft>
                <a:spcPts val="0"/>
              </a:spcAft>
              <a:buClr>
                <a:srgbClr val="212121"/>
              </a:buClr>
              <a:buSzPts val="1500"/>
              <a:buFont typeface="Times New Roman"/>
              <a:buChar char="●"/>
            </a:pPr>
            <a:r>
              <a:rPr lang="en-US" sz="1500">
                <a:solidFill>
                  <a:srgbClr val="212121"/>
                </a:solidFill>
                <a:highlight>
                  <a:srgbClr val="FFFFFF"/>
                </a:highlight>
                <a:latin typeface="Times New Roman"/>
                <a:ea typeface="Times New Roman"/>
                <a:cs typeface="Times New Roman"/>
                <a:sym typeface="Times New Roman"/>
              </a:rPr>
              <a:t>making vision boards from 5-7 pm.</a:t>
            </a:r>
            <a:endParaRPr sz="1500">
              <a:solidFill>
                <a:srgbClr val="212121"/>
              </a:solidFill>
              <a:highlight>
                <a:srgbClr val="FFFFFF"/>
              </a:highlight>
              <a:latin typeface="Times New Roman"/>
              <a:ea typeface="Times New Roman"/>
              <a:cs typeface="Times New Roman"/>
              <a:sym typeface="Times New Roman"/>
            </a:endParaRPr>
          </a:p>
          <a:p>
            <a:pPr marL="0" lvl="0" indent="0" algn="l" rtl="0">
              <a:lnSpc>
                <a:spcPct val="198500"/>
              </a:lnSpc>
              <a:spcBef>
                <a:spcPts val="0"/>
              </a:spcBef>
              <a:spcAft>
                <a:spcPts val="0"/>
              </a:spcAft>
              <a:buNone/>
            </a:pPr>
            <a:r>
              <a:rPr lang="en-US" sz="1900">
                <a:solidFill>
                  <a:srgbClr val="212121"/>
                </a:solidFill>
                <a:highlight>
                  <a:srgbClr val="FFFFFF"/>
                </a:highlight>
                <a:latin typeface="Times New Roman"/>
                <a:ea typeface="Times New Roman"/>
                <a:cs typeface="Times New Roman"/>
                <a:sym typeface="Times New Roman"/>
              </a:rPr>
              <a:t>September 25th - 29th:  Stop the Hazing week </a:t>
            </a:r>
            <a:endParaRPr sz="1500">
              <a:solidFill>
                <a:srgbClr val="212121"/>
              </a:solidFill>
              <a:highlight>
                <a:srgbClr val="FFFFFF"/>
              </a:highlight>
              <a:latin typeface="Times New Roman"/>
              <a:ea typeface="Times New Roman"/>
              <a:cs typeface="Times New Roman"/>
              <a:sym typeface="Times New Roman"/>
            </a:endParaRPr>
          </a:p>
          <a:p>
            <a:pPr marL="457200" lvl="0" indent="-323850" algn="l" rtl="0">
              <a:lnSpc>
                <a:spcPct val="115000"/>
              </a:lnSpc>
              <a:spcBef>
                <a:spcPts val="0"/>
              </a:spcBef>
              <a:spcAft>
                <a:spcPts val="0"/>
              </a:spcAft>
              <a:buClr>
                <a:srgbClr val="212121"/>
              </a:buClr>
              <a:buSzPts val="1500"/>
              <a:buFont typeface="Times New Roman"/>
              <a:buChar char="●"/>
            </a:pPr>
            <a:r>
              <a:rPr lang="en-US" sz="1500">
                <a:solidFill>
                  <a:srgbClr val="212121"/>
                </a:solidFill>
                <a:highlight>
                  <a:srgbClr val="FFFFFF"/>
                </a:highlight>
                <a:latin typeface="Times New Roman"/>
                <a:ea typeface="Times New Roman"/>
                <a:cs typeface="Times New Roman"/>
                <a:sym typeface="Times New Roman"/>
              </a:rPr>
              <a:t>purple ribbon-making with FUPO on the 27th from 7 -8pm outside the DH</a:t>
            </a:r>
            <a:endParaRPr sz="1500">
              <a:solidFill>
                <a:srgbClr val="212121"/>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500">
              <a:solidFill>
                <a:srgbClr val="212121"/>
              </a:solidFill>
              <a:highlight>
                <a:srgbClr val="FFFFFF"/>
              </a:highlight>
              <a:latin typeface="Times New Roman"/>
              <a:ea typeface="Times New Roman"/>
              <a:cs typeface="Times New Roman"/>
              <a:sym typeface="Times New Roman"/>
            </a:endParaRPr>
          </a:p>
        </p:txBody>
      </p:sp>
      <p:sp>
        <p:nvSpPr>
          <p:cNvPr id="312" name="Google Shape;312;p34"/>
          <p:cNvSpPr txBox="1"/>
          <p:nvPr/>
        </p:nvSpPr>
        <p:spPr>
          <a:xfrm>
            <a:off x="7154975" y="2044225"/>
            <a:ext cx="4610700" cy="321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u="sng">
                <a:latin typeface="Century Schoolbook"/>
                <a:ea typeface="Century Schoolbook"/>
                <a:cs typeface="Century Schoolbook"/>
                <a:sym typeface="Century Schoolbook"/>
              </a:rPr>
              <a:t>Upcoming Philanthropy</a:t>
            </a:r>
            <a:r>
              <a:rPr lang="en-US" u="sng">
                <a:latin typeface="Century Schoolbook"/>
                <a:ea typeface="Century Schoolbook"/>
                <a:cs typeface="Century Schoolbook"/>
                <a:sym typeface="Century Schoolbook"/>
              </a:rPr>
              <a:t> Events </a:t>
            </a:r>
            <a:endParaRPr u="sng">
              <a:latin typeface="Century Schoolbook"/>
              <a:ea typeface="Century Schoolbook"/>
              <a:cs typeface="Century Schoolbook"/>
              <a:sym typeface="Century Schoolbook"/>
            </a:endParaRPr>
          </a:p>
          <a:p>
            <a:pPr marL="0" lvl="0" indent="0" algn="l" rtl="0">
              <a:spcBef>
                <a:spcPts val="0"/>
              </a:spcBef>
              <a:spcAft>
                <a:spcPts val="0"/>
              </a:spcAft>
              <a:buNone/>
            </a:pPr>
            <a:endParaRPr u="sng">
              <a:latin typeface="Century Schoolbook"/>
              <a:ea typeface="Century Schoolbook"/>
              <a:cs typeface="Century Schoolbook"/>
              <a:sym typeface="Century Schoolbook"/>
            </a:endParaRPr>
          </a:p>
          <a:p>
            <a:pPr marL="0" lvl="0" indent="0" algn="l" rtl="0">
              <a:spcBef>
                <a:spcPts val="0"/>
              </a:spcBef>
              <a:spcAft>
                <a:spcPts val="0"/>
              </a:spcAft>
              <a:buNone/>
            </a:pPr>
            <a:r>
              <a:rPr lang="en-US">
                <a:latin typeface="Century Schoolbook"/>
                <a:ea typeface="Century Schoolbook"/>
                <a:cs typeface="Century Schoolbook"/>
                <a:sym typeface="Century Schoolbook"/>
              </a:rPr>
              <a:t>September 21st: Dezign your Dough</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hosted by Zeta Tau Alpha</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edible cookie dough bar on the steps of the James B. Duke library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raising money for breast cancer education and awareness</a:t>
            </a:r>
            <a:endParaRPr>
              <a:latin typeface="Century Schoolbook"/>
              <a:ea typeface="Century Schoolbook"/>
              <a:cs typeface="Century Schoolbook"/>
              <a:sym typeface="Century Schoolbook"/>
            </a:endParaRPr>
          </a:p>
          <a:p>
            <a:pPr marL="0" lvl="0" indent="0" algn="l" rtl="0">
              <a:spcBef>
                <a:spcPts val="0"/>
              </a:spcBef>
              <a:spcAft>
                <a:spcPts val="0"/>
              </a:spcAft>
              <a:buNone/>
            </a:pPr>
            <a:r>
              <a:rPr lang="en-US">
                <a:latin typeface="Century Schoolbook"/>
                <a:ea typeface="Century Schoolbook"/>
                <a:cs typeface="Century Schoolbook"/>
                <a:sym typeface="Century Schoolbook"/>
              </a:rPr>
              <a:t>September 24th-27th: Wish Week</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*more details to come*</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Chi Omega</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in support of the Make-A-Wish foundation</a:t>
            </a: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pic>
        <p:nvPicPr>
          <p:cNvPr id="313" name="Google Shape;313;p34"/>
          <p:cNvPicPr preferRelativeResize="0"/>
          <p:nvPr/>
        </p:nvPicPr>
        <p:blipFill>
          <a:blip r:embed="rId3">
            <a:alphaModFix/>
          </a:blip>
          <a:stretch>
            <a:fillRect/>
          </a:stretch>
        </p:blipFill>
        <p:spPr>
          <a:xfrm>
            <a:off x="9226525" y="147775"/>
            <a:ext cx="1790700" cy="15430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6"/>
          <p:cNvSpPr txBox="1">
            <a:spLocks noGrp="1"/>
          </p:cNvSpPr>
          <p:nvPr>
            <p:ph type="title"/>
          </p:nvPr>
        </p:nvSpPr>
        <p:spPr>
          <a:xfrm>
            <a:off x="838200" y="3323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ROTC- Deanna Hoyos</a:t>
            </a:r>
            <a:endParaRPr/>
          </a:p>
        </p:txBody>
      </p:sp>
      <p:sp>
        <p:nvSpPr>
          <p:cNvPr id="320" name="Google Shape;320;p36"/>
          <p:cNvSpPr txBox="1"/>
          <p:nvPr/>
        </p:nvSpPr>
        <p:spPr>
          <a:xfrm>
            <a:off x="0" y="1196300"/>
            <a:ext cx="7898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b="1">
              <a:latin typeface="Century Schoolbook"/>
              <a:ea typeface="Century Schoolbook"/>
              <a:cs typeface="Century Schoolbook"/>
              <a:sym typeface="Century Schoolbook"/>
            </a:endParaRPr>
          </a:p>
        </p:txBody>
      </p:sp>
      <p:sp>
        <p:nvSpPr>
          <p:cNvPr id="321" name="Google Shape;321;p36"/>
          <p:cNvSpPr txBox="1"/>
          <p:nvPr/>
        </p:nvSpPr>
        <p:spPr>
          <a:xfrm>
            <a:off x="6802475" y="955700"/>
            <a:ext cx="5436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Century Schoolbook"/>
                <a:ea typeface="Century Schoolbook"/>
                <a:cs typeface="Century Schoolbook"/>
                <a:sym typeface="Century Schoolbook"/>
              </a:rPr>
              <a:t>I</a:t>
            </a:r>
            <a:endParaRPr b="1">
              <a:solidFill>
                <a:srgbClr val="262626"/>
              </a:solidFill>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322" name="Google Shape;322;p36"/>
          <p:cNvSpPr txBox="1"/>
          <p:nvPr/>
        </p:nvSpPr>
        <p:spPr>
          <a:xfrm>
            <a:off x="0" y="1571300"/>
            <a:ext cx="5371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highlight>
                <a:srgbClr val="FFFFFF"/>
              </a:highlight>
              <a:latin typeface="Century Schoolbook"/>
              <a:ea typeface="Century Schoolbook"/>
              <a:cs typeface="Century Schoolbook"/>
              <a:sym typeface="Century Schoolbook"/>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152e01f2e5c_0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FUOC- Adrian Gonzalez</a:t>
            </a:r>
            <a:endParaRPr/>
          </a:p>
        </p:txBody>
      </p:sp>
      <p:sp>
        <p:nvSpPr>
          <p:cNvPr id="329" name="Google Shape;329;g152e01f2e5c_0_5"/>
          <p:cNvSpPr txBox="1"/>
          <p:nvPr/>
        </p:nvSpPr>
        <p:spPr>
          <a:xfrm>
            <a:off x="1059025" y="1398325"/>
            <a:ext cx="9747300" cy="384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latin typeface="Century Schoolbook"/>
                <a:ea typeface="Century Schoolbook"/>
                <a:cs typeface="Century Schoolbook"/>
                <a:sym typeface="Century Schoolbook"/>
              </a:rPr>
              <a:t>look behind you </a:t>
            </a:r>
            <a:endParaRPr sz="2000">
              <a:latin typeface="Century Schoolbook"/>
              <a:ea typeface="Century Schoolbook"/>
              <a:cs typeface="Century Schoolbook"/>
              <a:sym typeface="Century Schoolbook"/>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7"/>
          <p:cNvSpPr txBox="1">
            <a:spLocks noGrp="1"/>
          </p:cNvSpPr>
          <p:nvPr>
            <p:ph type="ctrTitle"/>
          </p:nvPr>
        </p:nvSpPr>
        <p:spPr>
          <a:xfrm>
            <a:off x="1524000" y="125868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Committee Reports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8"/>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JEDI</a:t>
            </a:r>
            <a:endParaRPr/>
          </a:p>
        </p:txBody>
      </p:sp>
      <p:sp>
        <p:nvSpPr>
          <p:cNvPr id="342" name="Google Shape;342;p38"/>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28da97dc4bb_0_36"/>
          <p:cNvSpPr txBox="1">
            <a:spLocks noGrp="1"/>
          </p:cNvSpPr>
          <p:nvPr>
            <p:ph type="ctrTitle"/>
          </p:nvPr>
        </p:nvSpPr>
        <p:spPr>
          <a:xfrm>
            <a:off x="1524000" y="693738"/>
            <a:ext cx="9144000" cy="23877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Leadership </a:t>
            </a:r>
            <a:endParaRPr/>
          </a:p>
        </p:txBody>
      </p:sp>
      <p:sp>
        <p:nvSpPr>
          <p:cNvPr id="349" name="Google Shape;349;g28da97dc4bb_0_36"/>
          <p:cNvSpPr txBox="1">
            <a:spLocks noGrp="1"/>
          </p:cNvSpPr>
          <p:nvPr>
            <p:ph type="subTitle" idx="1"/>
          </p:nvPr>
        </p:nvSpPr>
        <p:spPr>
          <a:xfrm>
            <a:off x="1524000" y="3173413"/>
            <a:ext cx="9144000" cy="1655700"/>
          </a:xfrm>
          <a:prstGeom prst="rect">
            <a:avLst/>
          </a:prstGeom>
        </p:spPr>
        <p:txBody>
          <a:bodyPr spcFirstLastPara="1" wrap="square" lIns="91425" tIns="45700" rIns="91425" bIns="45700" anchor="t" anchorCtr="0">
            <a:normAutofit/>
          </a:bodyPr>
          <a:lstStyle/>
          <a:p>
            <a:pPr marL="0" lvl="0" indent="0" algn="ctr" rtl="0">
              <a:spcBef>
                <a:spcPts val="1000"/>
              </a:spcBef>
              <a:spcAft>
                <a:spcPts val="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g28da97dc4bb_0_42"/>
          <p:cNvSpPr txBox="1">
            <a:spLocks noGrp="1"/>
          </p:cNvSpPr>
          <p:nvPr>
            <p:ph type="ctrTitle"/>
          </p:nvPr>
        </p:nvSpPr>
        <p:spPr>
          <a:xfrm>
            <a:off x="1524000" y="693738"/>
            <a:ext cx="9144000" cy="23877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PR </a:t>
            </a:r>
            <a:endParaRPr/>
          </a:p>
        </p:txBody>
      </p:sp>
      <p:sp>
        <p:nvSpPr>
          <p:cNvPr id="356" name="Google Shape;356;g28da97dc4bb_0_42"/>
          <p:cNvSpPr txBox="1">
            <a:spLocks noGrp="1"/>
          </p:cNvSpPr>
          <p:nvPr>
            <p:ph type="subTitle" idx="1"/>
          </p:nvPr>
        </p:nvSpPr>
        <p:spPr>
          <a:xfrm>
            <a:off x="1524000" y="3173413"/>
            <a:ext cx="9144000" cy="1655700"/>
          </a:xfrm>
          <a:prstGeom prst="rect">
            <a:avLst/>
          </a:prstGeom>
        </p:spPr>
        <p:txBody>
          <a:bodyPr spcFirstLastPara="1" wrap="square" lIns="91425" tIns="45700" rIns="91425" bIns="45700" anchor="t" anchorCtr="0">
            <a:normAutofit/>
          </a:bodyPr>
          <a:lstStyle/>
          <a:p>
            <a:pPr marL="0" lvl="0" indent="0" algn="ctr" rtl="0">
              <a:spcBef>
                <a:spcPts val="1000"/>
              </a:spcBef>
              <a:spcAft>
                <a:spcPts val="0"/>
              </a:spcAft>
              <a:buNone/>
            </a:pPr>
            <a:r>
              <a:rPr lang="en-US"/>
              <a:t>text carly at 864-590-4898 to join </a:t>
            </a:r>
            <a:endParaRPr/>
          </a:p>
        </p:txBody>
      </p:sp>
      <p:pic>
        <p:nvPicPr>
          <p:cNvPr id="357" name="Google Shape;357;g28da97dc4bb_0_42"/>
          <p:cNvPicPr preferRelativeResize="0"/>
          <p:nvPr/>
        </p:nvPicPr>
        <p:blipFill>
          <a:blip r:embed="rId3">
            <a:alphaModFix/>
          </a:blip>
          <a:stretch>
            <a:fillRect/>
          </a:stretch>
        </p:blipFill>
        <p:spPr>
          <a:xfrm>
            <a:off x="476250" y="693749"/>
            <a:ext cx="2763429" cy="368457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Finance</a:t>
            </a:r>
            <a:endParaRPr/>
          </a:p>
        </p:txBody>
      </p:sp>
      <p:sp>
        <p:nvSpPr>
          <p:cNvPr id="364" name="Google Shape;364;p39"/>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l" rtl="0">
              <a:lnSpc>
                <a:spcPct val="90000"/>
              </a:lnSpc>
              <a:spcBef>
                <a:spcPts val="1000"/>
              </a:spcBef>
              <a:spcAft>
                <a:spcPts val="0"/>
              </a:spcAft>
              <a:buSzPts val="2400"/>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Food</a:t>
            </a:r>
            <a:endParaRPr/>
          </a:p>
        </p:txBody>
      </p:sp>
      <p:sp>
        <p:nvSpPr>
          <p:cNvPr id="371" name="Google Shape;371;p4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7"/>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New Business</a:t>
            </a:r>
            <a:endParaRPr/>
          </a:p>
        </p:txBody>
      </p:sp>
      <p:sp>
        <p:nvSpPr>
          <p:cNvPr id="378" name="Google Shape;378;p47"/>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2400"/>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6"/>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Old Business</a:t>
            </a:r>
            <a:endParaRPr/>
          </a:p>
        </p:txBody>
      </p:sp>
      <p:sp>
        <p:nvSpPr>
          <p:cNvPr id="385" name="Google Shape;385;p46"/>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ctr" rtl="0">
              <a:lnSpc>
                <a:spcPct val="90000"/>
              </a:lnSpc>
              <a:spcBef>
                <a:spcPts val="1000"/>
              </a:spcBef>
              <a:spcAft>
                <a:spcPts val="0"/>
              </a:spcAft>
              <a:buSzPts val="2400"/>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8"/>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Open Forum</a:t>
            </a:r>
            <a:endParaRPr/>
          </a:p>
        </p:txBody>
      </p:sp>
      <p:sp>
        <p:nvSpPr>
          <p:cNvPr id="392" name="Google Shape;392;p48"/>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All the fun stuff: </a:t>
            </a:r>
            <a:endParaRPr/>
          </a:p>
          <a:p>
            <a:pPr marL="0" lvl="0" indent="0" algn="ctr" rtl="0">
              <a:lnSpc>
                <a:spcPct val="90000"/>
              </a:lnSpc>
              <a:spcBef>
                <a:spcPts val="1000"/>
              </a:spcBef>
              <a:spcAft>
                <a:spcPts val="0"/>
              </a:spcAft>
              <a:buSzPts val="2400"/>
              <a:buNone/>
            </a:pPr>
            <a:r>
              <a:rPr lang="en-US"/>
              <a:t>announcements, discussions, and more!</a:t>
            </a:r>
            <a:endParaRPr/>
          </a:p>
        </p:txBody>
      </p:sp>
    </p:spTree>
  </p:cSld>
  <p:clrMapOvr>
    <a:masterClrMapping/>
  </p:clrMapOvr>
</p:sld>
</file>

<file path=ppt/theme/theme1.xml><?xml version="1.0" encoding="utf-8"?>
<a:theme xmlns:a="http://schemas.openxmlformats.org/drawingml/2006/main" name="Embedded Diamonds">
  <a:themeElements>
    <a:clrScheme name="Furman">
      <a:dk1>
        <a:srgbClr val="43296D"/>
      </a:dk1>
      <a:lt1>
        <a:srgbClr val="FFFFFF"/>
      </a:lt1>
      <a:dk2>
        <a:srgbClr val="43296D"/>
      </a:dk2>
      <a:lt2>
        <a:srgbClr val="FFFFFF"/>
      </a:lt2>
      <a:accent1>
        <a:srgbClr val="9ED5E0"/>
      </a:accent1>
      <a:accent2>
        <a:srgbClr val="4C4D4C"/>
      </a:accent2>
      <a:accent3>
        <a:srgbClr val="FFFEFE"/>
      </a:accent3>
      <a:accent4>
        <a:srgbClr val="FFFEFE"/>
      </a:accent4>
      <a:accent5>
        <a:srgbClr val="FFFEFE"/>
      </a:accent5>
      <a:accent6>
        <a:srgbClr val="FFFEFE"/>
      </a:accent6>
      <a:hlink>
        <a:srgbClr val="FFFEFE"/>
      </a:hlink>
      <a:folHlink>
        <a:srgbClr val="FFFE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1143</Words>
  <Application>Microsoft Macintosh PowerPoint</Application>
  <PresentationFormat>Widescreen</PresentationFormat>
  <Paragraphs>208</Paragraphs>
  <Slides>42</Slides>
  <Notes>42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Century Schoolbook</vt:lpstr>
      <vt:lpstr>Comic Sans MS</vt:lpstr>
      <vt:lpstr>Arial</vt:lpstr>
      <vt:lpstr>Times New Roman</vt:lpstr>
      <vt:lpstr>Calibri</vt:lpstr>
      <vt:lpstr>Libre Franklin Medium</vt:lpstr>
      <vt:lpstr>Libre Franklin</vt:lpstr>
      <vt:lpstr>Roboto</vt:lpstr>
      <vt:lpstr>Bodoni Moda</vt:lpstr>
      <vt:lpstr>Lobster</vt:lpstr>
      <vt:lpstr>Embedded Diamonds</vt:lpstr>
      <vt:lpstr>Welcome to SGA!</vt:lpstr>
      <vt:lpstr>Agenda</vt:lpstr>
      <vt:lpstr>Guest Speakers</vt:lpstr>
      <vt:lpstr>Exec Reports</vt:lpstr>
      <vt:lpstr>Dean Cassidy </vt:lpstr>
      <vt:lpstr>   Meredith Ervin </vt:lpstr>
      <vt:lpstr>Yaseen Echekki </vt:lpstr>
      <vt:lpstr>Andrew Cooter </vt:lpstr>
      <vt:lpstr>Carly Gillis </vt:lpstr>
      <vt:lpstr>Tatyana Gonzalez </vt:lpstr>
      <vt:lpstr>Lydia McCarty </vt:lpstr>
      <vt:lpstr>Representative Reports</vt:lpstr>
      <vt:lpstr>Sydney Beraho </vt:lpstr>
      <vt:lpstr>Alex Murray </vt:lpstr>
      <vt:lpstr>Kelsey Sumter </vt:lpstr>
      <vt:lpstr>Leah Manning </vt:lpstr>
      <vt:lpstr>Mary Boucher </vt:lpstr>
      <vt:lpstr>Deen Deovic </vt:lpstr>
      <vt:lpstr>Adara Briceno </vt:lpstr>
      <vt:lpstr>Jennifer Woollery</vt:lpstr>
      <vt:lpstr>Tate Denham </vt:lpstr>
      <vt:lpstr>Mariam Nguyen </vt:lpstr>
      <vt:lpstr>Caroline Cousar </vt:lpstr>
      <vt:lpstr>Kobby Frempong </vt:lpstr>
      <vt:lpstr>At- Large Reports</vt:lpstr>
      <vt:lpstr>FUSAB         - Grayson Taylor </vt:lpstr>
      <vt:lpstr>RLC- Jeff McLane </vt:lpstr>
      <vt:lpstr>Religious Council - Ruthie Richardson </vt:lpstr>
      <vt:lpstr>Campus Rec - Eva Brooks</vt:lpstr>
      <vt:lpstr>SDC- Abijah Leamon </vt:lpstr>
      <vt:lpstr>Panhel- Katherine Murphy </vt:lpstr>
      <vt:lpstr>ROTC- Deanna Hoyos</vt:lpstr>
      <vt:lpstr>FUOC- Adrian Gonzalez</vt:lpstr>
      <vt:lpstr>Committee Reports</vt:lpstr>
      <vt:lpstr>JEDI</vt:lpstr>
      <vt:lpstr>Leadership </vt:lpstr>
      <vt:lpstr>PR </vt:lpstr>
      <vt:lpstr>Finance</vt:lpstr>
      <vt:lpstr>Food</vt:lpstr>
      <vt:lpstr>New Business</vt:lpstr>
      <vt:lpstr>Old Business</vt:lpstr>
      <vt:lpstr>Open Forum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SGA!</dc:title>
  <dc:creator>Kaylee Welgraven</dc:creator>
  <cp:lastModifiedBy>Carly Gillis2-Student</cp:lastModifiedBy>
  <cp:revision>1</cp:revision>
  <dcterms:created xsi:type="dcterms:W3CDTF">2017-10-16T12:38:22Z</dcterms:created>
  <dcterms:modified xsi:type="dcterms:W3CDTF">2024-09-23T13:35:03Z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0x01010064D2884E5B56A24E8EB547943B5579B3</vt:lpwstr>
  </property>
</Properties>
</file>