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embeddedFontLst>
    <p:embeddedFont>
      <p:font typeface="Bodoni Moda" pitchFamily="2" charset="77"/>
      <p:regular r:id="rId45"/>
      <p:bold r:id="rId46"/>
      <p:italic r:id="rId47"/>
      <p:boldItalic r:id="rId48"/>
    </p:embeddedFont>
    <p:embeddedFont>
      <p:font typeface="Calibri" panose="020F0502020204030204" pitchFamily="34" charset="0"/>
      <p:regular r:id="rId49"/>
      <p:bold r:id="rId50"/>
      <p:italic r:id="rId51"/>
      <p:boldItalic r:id="rId52"/>
    </p:embeddedFont>
    <p:embeddedFont>
      <p:font typeface="Cambria" panose="02040503050406030204" pitchFamily="18" charset="0"/>
      <p:regular r:id="rId53"/>
      <p:bold r:id="rId54"/>
      <p:italic r:id="rId55"/>
      <p:boldItalic r:id="rId56"/>
    </p:embeddedFont>
    <p:embeddedFont>
      <p:font typeface="Century Schoolbook" panose="02040604050505020304" pitchFamily="18" charset="0"/>
      <p:regular r:id="rId57"/>
      <p:bold r:id="rId58"/>
      <p:italic r:id="rId59"/>
      <p:boldItalic r:id="rId60"/>
    </p:embeddedFont>
    <p:embeddedFont>
      <p:font typeface="Comic Sans MS" panose="030F0902030302020204" pitchFamily="66" charset="0"/>
      <p:regular r:id="rId61"/>
    </p:embeddedFont>
    <p:embeddedFont>
      <p:font typeface="Libre Franklin" pitchFamily="2" charset="77"/>
      <p:regular r:id="rId62"/>
      <p:bold r:id="rId63"/>
      <p:italic r:id="rId64"/>
      <p:boldItalic r:id="rId65"/>
    </p:embeddedFont>
    <p:embeddedFont>
      <p:font typeface="Libre Franklin Medium" panose="020F0502020204030204" pitchFamily="34" charset="0"/>
      <p:regular r:id="rId66"/>
      <p:bold r:id="rId67"/>
      <p:italic r:id="rId68"/>
      <p:boldItalic r:id="rId69"/>
    </p:embeddedFont>
    <p:embeddedFont>
      <p:font typeface="Lobster" pitchFamily="2" charset="77"/>
      <p:regular r:id="rId70"/>
    </p:embeddedFont>
    <p:embeddedFont>
      <p:font typeface="Merriweather" pitchFamily="2" charset="77"/>
      <p:regular r:id="rId71"/>
      <p:bold r:id="rId72"/>
      <p:italic r:id="rId73"/>
      <p:boldItalic r:id="rId74"/>
    </p:embeddedFont>
    <p:embeddedFont>
      <p:font typeface="Oswald" pitchFamily="2" charset="77"/>
      <p:regular r:id="rId75"/>
      <p:bold r:id="rId76"/>
    </p:embeddedFont>
    <p:embeddedFont>
      <p:font typeface="Roboto" panose="02000000000000000000" pitchFamily="2" charset="0"/>
      <p:regular r:id="rId77"/>
      <p:bold r:id="rId78"/>
      <p:italic r:id="rId79"/>
      <p:boldItalic r:id="rId8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1" roundtripDataSignature="AMtx7mjmKXUfMNTlQxCV6blIyqFmVyaA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6"/>
  </p:normalViewPr>
  <p:slideViewPr>
    <p:cSldViewPr snapToGrid="0">
      <p:cViewPr varScale="1">
        <p:scale>
          <a:sx n="105" d="100"/>
          <a:sy n="105" d="100"/>
        </p:scale>
        <p:origin x="8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63" Type="http://schemas.openxmlformats.org/officeDocument/2006/relationships/font" Target="fonts/font19.fntdata"/><Relationship Id="rId68" Type="http://schemas.openxmlformats.org/officeDocument/2006/relationships/font" Target="fonts/font24.fntdata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74" Type="http://schemas.openxmlformats.org/officeDocument/2006/relationships/font" Target="fonts/font30.fntdata"/><Relationship Id="rId79" Type="http://schemas.openxmlformats.org/officeDocument/2006/relationships/font" Target="fonts/font35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64" Type="http://schemas.openxmlformats.org/officeDocument/2006/relationships/font" Target="fonts/font20.fntdata"/><Relationship Id="rId69" Type="http://schemas.openxmlformats.org/officeDocument/2006/relationships/font" Target="fonts/font25.fntdata"/><Relationship Id="rId77" Type="http://schemas.openxmlformats.org/officeDocument/2006/relationships/font" Target="fonts/font33.fntdata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72" Type="http://schemas.openxmlformats.org/officeDocument/2006/relationships/font" Target="fonts/font28.fntdata"/><Relationship Id="rId80" Type="http://schemas.openxmlformats.org/officeDocument/2006/relationships/font" Target="fonts/font36.fntdata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font" Target="fonts/font15.fntdata"/><Relationship Id="rId67" Type="http://schemas.openxmlformats.org/officeDocument/2006/relationships/font" Target="fonts/font2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62" Type="http://schemas.openxmlformats.org/officeDocument/2006/relationships/font" Target="fonts/font18.fntdata"/><Relationship Id="rId70" Type="http://schemas.openxmlformats.org/officeDocument/2006/relationships/font" Target="fonts/font26.fntdata"/><Relationship Id="rId75" Type="http://schemas.openxmlformats.org/officeDocument/2006/relationships/font" Target="fonts/font31.fntdata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font" Target="fonts/font16.fntdata"/><Relationship Id="rId65" Type="http://schemas.openxmlformats.org/officeDocument/2006/relationships/font" Target="fonts/font21.fntdata"/><Relationship Id="rId73" Type="http://schemas.openxmlformats.org/officeDocument/2006/relationships/font" Target="fonts/font29.fntdata"/><Relationship Id="rId78" Type="http://schemas.openxmlformats.org/officeDocument/2006/relationships/font" Target="fonts/font34.fntdata"/><Relationship Id="rId8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76" Type="http://schemas.openxmlformats.org/officeDocument/2006/relationships/font" Target="fonts/font32.fntdata"/><Relationship Id="rId7" Type="http://schemas.openxmlformats.org/officeDocument/2006/relationships/slide" Target="slides/slide6.xml"/><Relationship Id="rId71" Type="http://schemas.openxmlformats.org/officeDocument/2006/relationships/font" Target="fonts/font27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66" Type="http://schemas.openxmlformats.org/officeDocument/2006/relationships/font" Target="fonts/font22.fntdata"/><Relationship Id="rId61" Type="http://schemas.openxmlformats.org/officeDocument/2006/relationships/font" Target="fonts/font17.fntdata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" name="Google Shape;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" name="Google Shape;7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12681b999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212681b9990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g212681b9990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7636d3176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17636d3176e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g17636d3176e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7abb8a7af6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17abb8a7af6_6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g17abb8a7af6_6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7636d3176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17636d3176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g17636d3176e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7c904ac0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7c904ac06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7c904ac06b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7c904ac06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7c904ac06b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27c904ac06b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7c904ac06b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7c904ac06b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27c904ac06b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7636d3176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17636d3176e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g17636d3176e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7c904ac06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7c904ac06b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27c904ac06b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7c904ac06b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7c904ac06b_0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27c904ac06b_0_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7c904ac06b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7c904ac06b_0_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27c904ac06b_0_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7636d3176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g17636d3176e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g17636d3176e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7c904ac06b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7c904ac06b_0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g27c904ac06b_0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7c904ac06b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7c904ac06b_0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g27c904ac06b_0_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7c904ac06b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7c904ac06b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27c904ac06b_0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7636d3176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g17636d3176e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g17636d3176e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9" name="Google Shape;279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5" name="Google Shape;285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9" name="Google Shape;319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shoutout to sdc for the muffins and coffee while chalking &lt;3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-LP</a:t>
            </a:r>
            <a:endParaRPr/>
          </a:p>
        </p:txBody>
      </p:sp>
      <p:sp>
        <p:nvSpPr>
          <p:cNvPr id="336" name="Google Shape;336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4" name="Google Shape;344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5" name="Google Shape;345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5" name="Google Shape;355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52e01f2e5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0" name="Google Shape;360;g152e01f2e5c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1" name="Google Shape;361;g152e01f2e5c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7636d3176e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g17636d3176e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2" name="Google Shape;372;g17636d3176e_0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9" name="Google Shape;379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5" name="Google Shape;385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2" name="Google Shape;392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7636d3176e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8" name="Google Shape;398;g17636d3176e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9" name="Google Shape;399;g17636d3176e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6" name="Google Shape;406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3" name="Google Shape;413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9" name="Google Shape;419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0" name="Google Shape;420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w Section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2"/>
          <p:cNvSpPr txBox="1">
            <a:spLocks noGrp="1"/>
          </p:cNvSpPr>
          <p:nvPr>
            <p:ph type="ctrTitle"/>
          </p:nvPr>
        </p:nvSpPr>
        <p:spPr>
          <a:xfrm>
            <a:off x="1524000" y="6937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2C83"/>
              </a:buClr>
              <a:buSzPts val="6000"/>
              <a:buFont typeface="Libre Franklin Medium"/>
              <a:buNone/>
              <a:defRPr sz="6000">
                <a:solidFill>
                  <a:srgbClr val="582C8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52"/>
          <p:cNvSpPr txBox="1"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2C8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-Purple">
  <p:cSld name="Title Slide-Purp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0"/>
          <p:cNvSpPr txBox="1">
            <a:spLocks noGrp="1"/>
          </p:cNvSpPr>
          <p:nvPr>
            <p:ph type="ctrTitle"/>
          </p:nvPr>
        </p:nvSpPr>
        <p:spPr>
          <a:xfrm>
            <a:off x="1524000" y="6937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ibre Franklin Medium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0"/>
          <p:cNvSpPr txBox="1"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2C8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-White">
  <p:cSld name="Title Slide-Whit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2"/>
          <p:cNvSpPr txBox="1">
            <a:spLocks noGrp="1"/>
          </p:cNvSpPr>
          <p:nvPr>
            <p:ph type="ctrTitle"/>
          </p:nvPr>
        </p:nvSpPr>
        <p:spPr>
          <a:xfrm>
            <a:off x="1524000" y="6937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2C83"/>
              </a:buClr>
              <a:buSzPts val="6000"/>
              <a:buFont typeface="Libre Franklin Medium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2"/>
          <p:cNvSpPr txBox="1"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4"/>
          <p:cNvSpPr txBox="1">
            <a:spLocks noGrp="1"/>
          </p:cNvSpPr>
          <p:nvPr>
            <p:ph type="title"/>
          </p:nvPr>
        </p:nvSpPr>
        <p:spPr>
          <a:xfrm>
            <a:off x="950967" y="719367"/>
            <a:ext cx="10290000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31" name="Google Shape;31;p64"/>
          <p:cNvSpPr txBox="1">
            <a:spLocks noGrp="1"/>
          </p:cNvSpPr>
          <p:nvPr>
            <p:ph type="subTitle" idx="1"/>
          </p:nvPr>
        </p:nvSpPr>
        <p:spPr>
          <a:xfrm>
            <a:off x="2673667" y="2749750"/>
            <a:ext cx="33021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4"/>
          <p:cNvSpPr txBox="1">
            <a:spLocks noGrp="1"/>
          </p:cNvSpPr>
          <p:nvPr>
            <p:ph type="subTitle" idx="2"/>
          </p:nvPr>
        </p:nvSpPr>
        <p:spPr>
          <a:xfrm>
            <a:off x="2673667" y="2268683"/>
            <a:ext cx="33021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33" name="Google Shape;33;p64"/>
          <p:cNvSpPr txBox="1">
            <a:spLocks noGrp="1"/>
          </p:cNvSpPr>
          <p:nvPr>
            <p:ph type="subTitle" idx="3"/>
          </p:nvPr>
        </p:nvSpPr>
        <p:spPr>
          <a:xfrm>
            <a:off x="2673667" y="4463650"/>
            <a:ext cx="33021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4"/>
          <p:cNvSpPr txBox="1">
            <a:spLocks noGrp="1"/>
          </p:cNvSpPr>
          <p:nvPr>
            <p:ph type="subTitle" idx="4"/>
          </p:nvPr>
        </p:nvSpPr>
        <p:spPr>
          <a:xfrm>
            <a:off x="2673667" y="3982583"/>
            <a:ext cx="33021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35" name="Google Shape;35;p64"/>
          <p:cNvSpPr txBox="1">
            <a:spLocks noGrp="1"/>
          </p:cNvSpPr>
          <p:nvPr>
            <p:ph type="subTitle" idx="5"/>
          </p:nvPr>
        </p:nvSpPr>
        <p:spPr>
          <a:xfrm>
            <a:off x="7864400" y="2749750"/>
            <a:ext cx="33021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4"/>
          <p:cNvSpPr txBox="1">
            <a:spLocks noGrp="1"/>
          </p:cNvSpPr>
          <p:nvPr>
            <p:ph type="subTitle" idx="6"/>
          </p:nvPr>
        </p:nvSpPr>
        <p:spPr>
          <a:xfrm>
            <a:off x="7864400" y="2268683"/>
            <a:ext cx="33021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37" name="Google Shape;37;p64"/>
          <p:cNvSpPr txBox="1">
            <a:spLocks noGrp="1"/>
          </p:cNvSpPr>
          <p:nvPr>
            <p:ph type="subTitle" idx="7"/>
          </p:nvPr>
        </p:nvSpPr>
        <p:spPr>
          <a:xfrm>
            <a:off x="7864400" y="4463650"/>
            <a:ext cx="33021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4"/>
          <p:cNvSpPr txBox="1">
            <a:spLocks noGrp="1"/>
          </p:cNvSpPr>
          <p:nvPr>
            <p:ph type="subTitle" idx="8"/>
          </p:nvPr>
        </p:nvSpPr>
        <p:spPr>
          <a:xfrm>
            <a:off x="7864400" y="3982583"/>
            <a:ext cx="33021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39" name="Google Shape;39;p64"/>
          <p:cNvSpPr txBox="1">
            <a:spLocks noGrp="1"/>
          </p:cNvSpPr>
          <p:nvPr>
            <p:ph type="title" idx="9"/>
          </p:nvPr>
        </p:nvSpPr>
        <p:spPr>
          <a:xfrm>
            <a:off x="1507000" y="2296636"/>
            <a:ext cx="1071900" cy="99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40" name="Google Shape;40;p64"/>
          <p:cNvSpPr txBox="1">
            <a:spLocks noGrp="1"/>
          </p:cNvSpPr>
          <p:nvPr>
            <p:ph type="title" idx="13"/>
          </p:nvPr>
        </p:nvSpPr>
        <p:spPr>
          <a:xfrm>
            <a:off x="1507000" y="4025500"/>
            <a:ext cx="1071900" cy="99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41" name="Google Shape;41;p64"/>
          <p:cNvSpPr txBox="1">
            <a:spLocks noGrp="1"/>
          </p:cNvSpPr>
          <p:nvPr>
            <p:ph type="title" idx="14"/>
          </p:nvPr>
        </p:nvSpPr>
        <p:spPr>
          <a:xfrm>
            <a:off x="6697733" y="2296636"/>
            <a:ext cx="1071900" cy="99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42" name="Google Shape;42;p64"/>
          <p:cNvSpPr txBox="1">
            <a:spLocks noGrp="1"/>
          </p:cNvSpPr>
          <p:nvPr>
            <p:ph type="title" idx="15"/>
          </p:nvPr>
        </p:nvSpPr>
        <p:spPr>
          <a:xfrm>
            <a:off x="6697733" y="4025500"/>
            <a:ext cx="1071900" cy="99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43" name="Google Shape;43;p64"/>
          <p:cNvSpPr/>
          <p:nvPr/>
        </p:nvSpPr>
        <p:spPr>
          <a:xfrm>
            <a:off x="414967" y="501133"/>
            <a:ext cx="1071900" cy="1071900"/>
          </a:xfrm>
          <a:prstGeom prst="star8">
            <a:avLst>
              <a:gd name="adj" fmla="val 2467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p64"/>
          <p:cNvCxnSpPr>
            <a:stCxn id="43" idx="2"/>
          </p:cNvCxnSpPr>
          <p:nvPr/>
        </p:nvCxnSpPr>
        <p:spPr>
          <a:xfrm>
            <a:off x="950917" y="1573033"/>
            <a:ext cx="0" cy="54603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5" name="Google Shape;45;p64"/>
          <p:cNvGrpSpPr/>
          <p:nvPr/>
        </p:nvGrpSpPr>
        <p:grpSpPr>
          <a:xfrm>
            <a:off x="1518662" y="5939602"/>
            <a:ext cx="9660958" cy="385590"/>
            <a:chOff x="1139025" y="4454813"/>
            <a:chExt cx="7245900" cy="289200"/>
          </a:xfrm>
        </p:grpSpPr>
        <p:cxnSp>
          <p:nvCxnSpPr>
            <p:cNvPr id="46" name="Google Shape;46;p64"/>
            <p:cNvCxnSpPr/>
            <p:nvPr/>
          </p:nvCxnSpPr>
          <p:spPr>
            <a:xfrm>
              <a:off x="1139025" y="4599425"/>
              <a:ext cx="7245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7" name="Google Shape;47;p64"/>
            <p:cNvSpPr/>
            <p:nvPr/>
          </p:nvSpPr>
          <p:spPr>
            <a:xfrm rot="5400000">
              <a:off x="7507775" y="4507463"/>
              <a:ext cx="289200" cy="183900"/>
            </a:xfrm>
            <a:prstGeom prst="triangle">
              <a:avLst>
                <a:gd name="adj" fmla="val 49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64"/>
            <p:cNvSpPr/>
            <p:nvPr/>
          </p:nvSpPr>
          <p:spPr>
            <a:xfrm rot="5400000">
              <a:off x="7828050" y="4507463"/>
              <a:ext cx="289200" cy="183900"/>
            </a:xfrm>
            <a:prstGeom prst="triangle">
              <a:avLst>
                <a:gd name="adj" fmla="val 49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64"/>
            <p:cNvSpPr/>
            <p:nvPr/>
          </p:nvSpPr>
          <p:spPr>
            <a:xfrm rot="5400000">
              <a:off x="8148325" y="4507463"/>
              <a:ext cx="289200" cy="183900"/>
            </a:xfrm>
            <a:prstGeom prst="triangle">
              <a:avLst>
                <a:gd name="adj" fmla="val 49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64"/>
            <p:cNvSpPr/>
            <p:nvPr/>
          </p:nvSpPr>
          <p:spPr>
            <a:xfrm rot="5400000">
              <a:off x="4107125" y="4507463"/>
              <a:ext cx="289200" cy="183900"/>
            </a:xfrm>
            <a:prstGeom prst="triangle">
              <a:avLst>
                <a:gd name="adj" fmla="val 49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64"/>
            <p:cNvSpPr/>
            <p:nvPr/>
          </p:nvSpPr>
          <p:spPr>
            <a:xfrm rot="5400000">
              <a:off x="4427400" y="4507463"/>
              <a:ext cx="289200" cy="183900"/>
            </a:xfrm>
            <a:prstGeom prst="triangle">
              <a:avLst>
                <a:gd name="adj" fmla="val 49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64"/>
            <p:cNvSpPr/>
            <p:nvPr/>
          </p:nvSpPr>
          <p:spPr>
            <a:xfrm rot="5400000">
              <a:off x="4747675" y="4507463"/>
              <a:ext cx="289200" cy="183900"/>
            </a:xfrm>
            <a:prstGeom prst="triangle">
              <a:avLst>
                <a:gd name="adj" fmla="val 49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5"/>
          <p:cNvSpPr txBox="1">
            <a:spLocks noGrp="1"/>
          </p:cNvSpPr>
          <p:nvPr>
            <p:ph type="title"/>
          </p:nvPr>
        </p:nvSpPr>
        <p:spPr>
          <a:xfrm>
            <a:off x="3056600" y="3275967"/>
            <a:ext cx="60789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55" name="Google Shape;55;p65"/>
          <p:cNvSpPr txBox="1">
            <a:spLocks noGrp="1"/>
          </p:cNvSpPr>
          <p:nvPr>
            <p:ph type="subTitle" idx="1"/>
          </p:nvPr>
        </p:nvSpPr>
        <p:spPr>
          <a:xfrm>
            <a:off x="4144200" y="4410633"/>
            <a:ext cx="3903600" cy="9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56" name="Google Shape;56;p65"/>
          <p:cNvSpPr txBox="1">
            <a:spLocks noGrp="1"/>
          </p:cNvSpPr>
          <p:nvPr>
            <p:ph type="title" idx="2"/>
          </p:nvPr>
        </p:nvSpPr>
        <p:spPr>
          <a:xfrm>
            <a:off x="5355400" y="1481256"/>
            <a:ext cx="1481100" cy="148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grpSp>
        <p:nvGrpSpPr>
          <p:cNvPr id="57" name="Google Shape;57;p65"/>
          <p:cNvGrpSpPr/>
          <p:nvPr/>
        </p:nvGrpSpPr>
        <p:grpSpPr>
          <a:xfrm>
            <a:off x="761881" y="720799"/>
            <a:ext cx="3488379" cy="3310684"/>
            <a:chOff x="571425" y="540613"/>
            <a:chExt cx="2616350" cy="2483075"/>
          </a:xfrm>
        </p:grpSpPr>
        <p:sp>
          <p:nvSpPr>
            <p:cNvPr id="58" name="Google Shape;58;p65"/>
            <p:cNvSpPr/>
            <p:nvPr/>
          </p:nvSpPr>
          <p:spPr>
            <a:xfrm>
              <a:off x="717275" y="540613"/>
              <a:ext cx="2470500" cy="2483075"/>
            </a:xfrm>
            <a:custGeom>
              <a:avLst/>
              <a:gdLst/>
              <a:ahLst/>
              <a:cxnLst/>
              <a:rect l="l" t="t" r="r" b="b"/>
              <a:pathLst>
                <a:path w="98820" h="99323" extrusionOk="0">
                  <a:moveTo>
                    <a:pt x="0" y="99323"/>
                  </a:moveTo>
                  <a:lnTo>
                    <a:pt x="0" y="0"/>
                  </a:lnTo>
                  <a:lnTo>
                    <a:pt x="98820" y="0"/>
                  </a:ln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9" name="Google Shape;59;p65"/>
            <p:cNvSpPr/>
            <p:nvPr/>
          </p:nvSpPr>
          <p:spPr>
            <a:xfrm>
              <a:off x="583350" y="2010475"/>
              <a:ext cx="289200" cy="183900"/>
            </a:xfrm>
            <a:prstGeom prst="triangle">
              <a:avLst>
                <a:gd name="adj" fmla="val 49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65"/>
            <p:cNvSpPr/>
            <p:nvPr/>
          </p:nvSpPr>
          <p:spPr>
            <a:xfrm>
              <a:off x="583350" y="1690200"/>
              <a:ext cx="289200" cy="183900"/>
            </a:xfrm>
            <a:prstGeom prst="triangle">
              <a:avLst>
                <a:gd name="adj" fmla="val 49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65"/>
            <p:cNvSpPr/>
            <p:nvPr/>
          </p:nvSpPr>
          <p:spPr>
            <a:xfrm>
              <a:off x="571425" y="1369925"/>
              <a:ext cx="289200" cy="183900"/>
            </a:xfrm>
            <a:prstGeom prst="triangle">
              <a:avLst>
                <a:gd name="adj" fmla="val 49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" name="Google Shape;62;p65"/>
          <p:cNvGrpSpPr/>
          <p:nvPr/>
        </p:nvGrpSpPr>
        <p:grpSpPr>
          <a:xfrm>
            <a:off x="9969882" y="4635916"/>
            <a:ext cx="4444239" cy="4444174"/>
            <a:chOff x="-1157850" y="-1175191"/>
            <a:chExt cx="2325853" cy="2325818"/>
          </a:xfrm>
        </p:grpSpPr>
        <p:sp>
          <p:nvSpPr>
            <p:cNvPr id="63" name="Google Shape;63;p65"/>
            <p:cNvSpPr/>
            <p:nvPr/>
          </p:nvSpPr>
          <p:spPr>
            <a:xfrm>
              <a:off x="-1157850" y="-1175191"/>
              <a:ext cx="2325853" cy="2325818"/>
            </a:xfrm>
            <a:custGeom>
              <a:avLst/>
              <a:gdLst/>
              <a:ahLst/>
              <a:cxnLst/>
              <a:rect l="l" t="t" r="r" b="b"/>
              <a:pathLst>
                <a:path w="67819" h="67818" fill="none" extrusionOk="0">
                  <a:moveTo>
                    <a:pt x="55741" y="12077"/>
                  </a:moveTo>
                  <a:cubicBezTo>
                    <a:pt x="67818" y="24133"/>
                    <a:pt x="67818" y="43684"/>
                    <a:pt x="55741" y="55741"/>
                  </a:cubicBezTo>
                  <a:cubicBezTo>
                    <a:pt x="43685" y="67818"/>
                    <a:pt x="24134" y="67818"/>
                    <a:pt x="12078" y="55741"/>
                  </a:cubicBezTo>
                  <a:cubicBezTo>
                    <a:pt x="1" y="43684"/>
                    <a:pt x="1" y="24133"/>
                    <a:pt x="12078" y="12077"/>
                  </a:cubicBezTo>
                  <a:cubicBezTo>
                    <a:pt x="24134" y="0"/>
                    <a:pt x="43685" y="0"/>
                    <a:pt x="55741" y="1207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2036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65"/>
            <p:cNvSpPr/>
            <p:nvPr/>
          </p:nvSpPr>
          <p:spPr>
            <a:xfrm>
              <a:off x="-969954" y="-987329"/>
              <a:ext cx="1950048" cy="1950082"/>
            </a:xfrm>
            <a:custGeom>
              <a:avLst/>
              <a:gdLst/>
              <a:ahLst/>
              <a:cxnLst/>
              <a:rect l="l" t="t" r="r" b="b"/>
              <a:pathLst>
                <a:path w="56861" h="56862" fill="none" extrusionOk="0">
                  <a:moveTo>
                    <a:pt x="46739" y="10122"/>
                  </a:moveTo>
                  <a:cubicBezTo>
                    <a:pt x="56861" y="20224"/>
                    <a:pt x="56861" y="36638"/>
                    <a:pt x="46739" y="46740"/>
                  </a:cubicBezTo>
                  <a:cubicBezTo>
                    <a:pt x="36638" y="56861"/>
                    <a:pt x="20223" y="56861"/>
                    <a:pt x="10122" y="46740"/>
                  </a:cubicBezTo>
                  <a:cubicBezTo>
                    <a:pt x="0" y="36638"/>
                    <a:pt x="0" y="20224"/>
                    <a:pt x="10122" y="10122"/>
                  </a:cubicBezTo>
                  <a:cubicBezTo>
                    <a:pt x="20223" y="1"/>
                    <a:pt x="36638" y="1"/>
                    <a:pt x="46739" y="10122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2036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65"/>
            <p:cNvSpPr/>
            <p:nvPr/>
          </p:nvSpPr>
          <p:spPr>
            <a:xfrm>
              <a:off x="-782092" y="-799467"/>
              <a:ext cx="1574312" cy="1574312"/>
            </a:xfrm>
            <a:custGeom>
              <a:avLst/>
              <a:gdLst/>
              <a:ahLst/>
              <a:cxnLst/>
              <a:rect l="l" t="t" r="r" b="b"/>
              <a:pathLst>
                <a:path w="45905" h="45905" fill="none" extrusionOk="0">
                  <a:moveTo>
                    <a:pt x="37738" y="8167"/>
                  </a:moveTo>
                  <a:cubicBezTo>
                    <a:pt x="45905" y="16334"/>
                    <a:pt x="45905" y="29572"/>
                    <a:pt x="37738" y="37738"/>
                  </a:cubicBezTo>
                  <a:cubicBezTo>
                    <a:pt x="29571" y="45905"/>
                    <a:pt x="16334" y="45905"/>
                    <a:pt x="8167" y="37738"/>
                  </a:cubicBezTo>
                  <a:cubicBezTo>
                    <a:pt x="0" y="29572"/>
                    <a:pt x="0" y="16334"/>
                    <a:pt x="8167" y="8167"/>
                  </a:cubicBezTo>
                  <a:cubicBezTo>
                    <a:pt x="16334" y="1"/>
                    <a:pt x="29571" y="1"/>
                    <a:pt x="37738" y="816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2036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65"/>
            <p:cNvSpPr/>
            <p:nvPr/>
          </p:nvSpPr>
          <p:spPr>
            <a:xfrm>
              <a:off x="-617962" y="-636023"/>
              <a:ext cx="1246760" cy="1247446"/>
            </a:xfrm>
            <a:custGeom>
              <a:avLst/>
              <a:gdLst/>
              <a:ahLst/>
              <a:cxnLst/>
              <a:rect l="l" t="t" r="r" b="b"/>
              <a:pathLst>
                <a:path w="36354" h="36374" fill="none" extrusionOk="0">
                  <a:moveTo>
                    <a:pt x="25926" y="4277"/>
                  </a:moveTo>
                  <a:cubicBezTo>
                    <a:pt x="33604" y="8554"/>
                    <a:pt x="36353" y="18248"/>
                    <a:pt x="32076" y="25926"/>
                  </a:cubicBezTo>
                  <a:cubicBezTo>
                    <a:pt x="27799" y="33624"/>
                    <a:pt x="18105" y="36373"/>
                    <a:pt x="10428" y="32097"/>
                  </a:cubicBezTo>
                  <a:cubicBezTo>
                    <a:pt x="2750" y="27799"/>
                    <a:pt x="0" y="18105"/>
                    <a:pt x="4277" y="10428"/>
                  </a:cubicBezTo>
                  <a:cubicBezTo>
                    <a:pt x="8554" y="2750"/>
                    <a:pt x="18248" y="0"/>
                    <a:pt x="25926" y="427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2036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65"/>
            <p:cNvSpPr/>
            <p:nvPr/>
          </p:nvSpPr>
          <p:spPr>
            <a:xfrm>
              <a:off x="-423104" y="-440479"/>
              <a:ext cx="856312" cy="856312"/>
            </a:xfrm>
            <a:custGeom>
              <a:avLst/>
              <a:gdLst/>
              <a:ahLst/>
              <a:cxnLst/>
              <a:rect l="l" t="t" r="r" b="b"/>
              <a:pathLst>
                <a:path w="24969" h="24969" fill="none" extrusionOk="0">
                  <a:moveTo>
                    <a:pt x="17861" y="2974"/>
                  </a:moveTo>
                  <a:cubicBezTo>
                    <a:pt x="23115" y="5948"/>
                    <a:pt x="24969" y="12607"/>
                    <a:pt x="21995" y="17861"/>
                  </a:cubicBezTo>
                  <a:cubicBezTo>
                    <a:pt x="19042" y="23116"/>
                    <a:pt x="12362" y="24969"/>
                    <a:pt x="7108" y="21996"/>
                  </a:cubicBezTo>
                  <a:cubicBezTo>
                    <a:pt x="1854" y="19022"/>
                    <a:pt x="0" y="12363"/>
                    <a:pt x="2974" y="7108"/>
                  </a:cubicBezTo>
                  <a:cubicBezTo>
                    <a:pt x="5947" y="1854"/>
                    <a:pt x="12607" y="1"/>
                    <a:pt x="17861" y="2974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2036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65"/>
            <p:cNvSpPr/>
            <p:nvPr/>
          </p:nvSpPr>
          <p:spPr>
            <a:xfrm>
              <a:off x="-226155" y="-243530"/>
              <a:ext cx="463085" cy="462399"/>
            </a:xfrm>
            <a:custGeom>
              <a:avLst/>
              <a:gdLst/>
              <a:ahLst/>
              <a:cxnLst/>
              <a:rect l="l" t="t" r="r" b="b"/>
              <a:pathLst>
                <a:path w="13503" h="13483" fill="none" extrusionOk="0">
                  <a:moveTo>
                    <a:pt x="11609" y="3341"/>
                  </a:moveTo>
                  <a:cubicBezTo>
                    <a:pt x="13503" y="6029"/>
                    <a:pt x="12851" y="9736"/>
                    <a:pt x="10163" y="11609"/>
                  </a:cubicBezTo>
                  <a:cubicBezTo>
                    <a:pt x="7475" y="13483"/>
                    <a:pt x="3768" y="12831"/>
                    <a:pt x="1895" y="10143"/>
                  </a:cubicBezTo>
                  <a:cubicBezTo>
                    <a:pt x="0" y="7455"/>
                    <a:pt x="652" y="3769"/>
                    <a:pt x="3340" y="1875"/>
                  </a:cubicBezTo>
                  <a:cubicBezTo>
                    <a:pt x="6029" y="1"/>
                    <a:pt x="9735" y="653"/>
                    <a:pt x="11609" y="334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2036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2C83"/>
              </a:buClr>
              <a:buSzPts val="4400"/>
              <a:buFont typeface="Libre Franklin Medium"/>
              <a:buNone/>
              <a:defRPr sz="4400" b="0" i="0" u="none" strike="noStrike" cap="none">
                <a:solidFill>
                  <a:srgbClr val="582C83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atalog.furman.edu/content.php?catoid=24&amp;navoid=1355#spac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ercampus.com/school/furman/destigmatizing-feminine-hygiene-one-step-at-a-time-fighting-for-the-tiny-trash-can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google.com/document/d/1vdtb9DYrGalgsodEIJbWZHX735dcRunl_uuzDWkQrMI/edit?usp=sharing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"/>
          <p:cNvSpPr txBox="1">
            <a:spLocks noGrp="1"/>
          </p:cNvSpPr>
          <p:nvPr>
            <p:ph type="ctrTitle"/>
          </p:nvPr>
        </p:nvSpPr>
        <p:spPr>
          <a:xfrm>
            <a:off x="1524000" y="24936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2C83"/>
              </a:buClr>
              <a:buSzPts val="6000"/>
              <a:buFont typeface="Libre Franklin Medium"/>
              <a:buNone/>
            </a:pPr>
            <a:r>
              <a:rPr lang="en-US"/>
              <a:t>Welcome to SGA!</a:t>
            </a:r>
            <a:endParaRPr/>
          </a:p>
        </p:txBody>
      </p:sp>
      <p:sp>
        <p:nvSpPr>
          <p:cNvPr id="74" name="Google Shape;74;p1"/>
          <p:cNvSpPr txBox="1">
            <a:spLocks noGrp="1"/>
          </p:cNvSpPr>
          <p:nvPr>
            <p:ph type="subTitle" idx="1"/>
          </p:nvPr>
        </p:nvSpPr>
        <p:spPr>
          <a:xfrm>
            <a:off x="983675" y="5131642"/>
            <a:ext cx="10668000" cy="5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20040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</a:pPr>
            <a:r>
              <a:rPr lang="en-US"/>
              <a:t>September 11th, 2023</a:t>
            </a:r>
            <a:endParaRPr/>
          </a:p>
        </p:txBody>
      </p:sp>
      <p:pic>
        <p:nvPicPr>
          <p:cNvPr id="75" name="Google Shape;7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913" y="165550"/>
            <a:ext cx="3618175" cy="361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82" name="Google Shape;82;p2"/>
          <p:cNvSpPr txBox="1">
            <a:spLocks noGrp="1"/>
          </p:cNvSpPr>
          <p:nvPr>
            <p:ph type="body" idx="1"/>
          </p:nvPr>
        </p:nvSpPr>
        <p:spPr>
          <a:xfrm>
            <a:off x="894800" y="18445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/>
              <a:t>Guest speaker(s): – John Milby, Furman Police Chief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/>
              <a:t>Main Points of the Week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/>
              <a:t>Committee reports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/>
              <a:t>Old business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/>
              <a:t>New business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/>
              <a:t>Open forum &amp; announcements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 txBox="1">
            <a:spLocks noGrp="1"/>
          </p:cNvSpPr>
          <p:nvPr>
            <p:ph type="ctrTitle"/>
          </p:nvPr>
        </p:nvSpPr>
        <p:spPr>
          <a:xfrm>
            <a:off x="1524000" y="59468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Guest Speaker</a:t>
            </a:r>
            <a:endParaRPr/>
          </a:p>
        </p:txBody>
      </p:sp>
      <p:sp>
        <p:nvSpPr>
          <p:cNvPr id="89" name="Google Shape;89;p3"/>
          <p:cNvSpPr txBox="1">
            <a:spLocks noGrp="1"/>
          </p:cNvSpPr>
          <p:nvPr>
            <p:ph type="subTitle" idx="1"/>
          </p:nvPr>
        </p:nvSpPr>
        <p:spPr>
          <a:xfrm>
            <a:off x="783250" y="3173425"/>
            <a:ext cx="110223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 txBox="1">
            <a:spLocks noGrp="1"/>
          </p:cNvSpPr>
          <p:nvPr>
            <p:ph type="ctrTitle"/>
          </p:nvPr>
        </p:nvSpPr>
        <p:spPr>
          <a:xfrm>
            <a:off x="1524000" y="2870694"/>
            <a:ext cx="9144000" cy="11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Exec Reports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12681b9990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Dean Cassidy - Student Life </a:t>
            </a:r>
            <a:endParaRPr/>
          </a:p>
        </p:txBody>
      </p:sp>
      <p:sp>
        <p:nvSpPr>
          <p:cNvPr id="102" name="Google Shape;102;g212681b9990_0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3377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Piloting the Wellbeing Program (WBP) this semester.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Thefts in P-Den are not cool. Cameras will be installed soon.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Student protests/demonstrations must be registered with Student Life. Guidelines available at </a:t>
            </a:r>
            <a:r>
              <a:rPr lang="en-US" u="sng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https://catalog.furman.edu/content.php?catoid=24&amp;navoid=1355#space</a:t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title"/>
          </p:nvPr>
        </p:nvSpPr>
        <p:spPr>
          <a:xfrm>
            <a:off x="308488" y="100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President </a:t>
            </a:r>
            <a:endParaRPr/>
          </a:p>
        </p:txBody>
      </p:sp>
      <p:sp>
        <p:nvSpPr>
          <p:cNvPr id="109" name="Google Shape;109;p5"/>
          <p:cNvSpPr txBox="1"/>
          <p:nvPr/>
        </p:nvSpPr>
        <p:spPr>
          <a:xfrm>
            <a:off x="1563075" y="2422775"/>
            <a:ext cx="2364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1309075" y="1817075"/>
            <a:ext cx="3438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604350" y="1582844"/>
            <a:ext cx="9753600" cy="29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Freshmen Elections:</a:t>
            </a:r>
            <a:endParaRPr sz="1900" b="1"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Monday, September 11 by 5pm: Candidate Forms due on syncDIN</a:t>
            </a:r>
            <a:endParaRPr sz="1900"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Tuesday, September 12: Speeches posted to syncDIN, campaigning begins</a:t>
            </a:r>
            <a:endParaRPr sz="1900"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Wednesday, September 20-Thursday, September 21: Elections</a:t>
            </a:r>
            <a:endParaRPr sz="1900"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Monday, September 25: First council meeting</a:t>
            </a:r>
            <a:endParaRPr sz="1900"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Parliamentarian and Elections Chair have been voted on by exec: </a:t>
            </a:r>
            <a:endParaRPr sz="1900" b="1"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Tatyana Gonzalez and Jaeyden Hill-Mims          YAYYY</a:t>
            </a:r>
            <a:endParaRPr sz="1900"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Tatyana will need to be affirmed by the council and sworn in!</a:t>
            </a:r>
            <a:endParaRPr sz="1900"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VeePee </a:t>
            </a:r>
            <a:endParaRPr/>
          </a:p>
        </p:txBody>
      </p:sp>
      <p:sp>
        <p:nvSpPr>
          <p:cNvPr id="118" name="Google Shape;118;p6"/>
          <p:cNvSpPr txBox="1"/>
          <p:nvPr/>
        </p:nvSpPr>
        <p:spPr>
          <a:xfrm>
            <a:off x="949650" y="1932000"/>
            <a:ext cx="6373500" cy="18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200">
                <a:latin typeface="Century Schoolbook"/>
                <a:ea typeface="Century Schoolbook"/>
                <a:cs typeface="Century Schoolbook"/>
                <a:sym typeface="Century Schoolbook"/>
              </a:rPr>
              <a:t>Office Hours: WF:10:30-11:30. But I can be reached at any point in time or space via phone (919)561-9453</a:t>
            </a:r>
            <a:endParaRPr sz="2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200">
                <a:latin typeface="Century Schoolbook"/>
                <a:ea typeface="Century Schoolbook"/>
                <a:cs typeface="Century Schoolbook"/>
                <a:sym typeface="Century Schoolbook"/>
              </a:rPr>
              <a:t>Huge Congrats to new additions to the fam</a:t>
            </a:r>
            <a:endParaRPr sz="22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19" name="Google Shape;11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4975" y="585276"/>
            <a:ext cx="4141651" cy="5522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25" y="3809700"/>
            <a:ext cx="2269750" cy="226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59300" y="4050875"/>
            <a:ext cx="1903350" cy="194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Treasurer </a:t>
            </a:r>
            <a:endParaRPr/>
          </a:p>
        </p:txBody>
      </p:sp>
      <p:sp>
        <p:nvSpPr>
          <p:cNvPr id="128" name="Google Shape;128;p7"/>
          <p:cNvSpPr txBox="1"/>
          <p:nvPr/>
        </p:nvSpPr>
        <p:spPr>
          <a:xfrm>
            <a:off x="888325" y="1690825"/>
            <a:ext cx="9165300" cy="43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>
                <a:latin typeface="Century Schoolbook"/>
                <a:ea typeface="Century Schoolbook"/>
                <a:cs typeface="Century Schoolbook"/>
                <a:sym typeface="Century Schoolbook"/>
              </a:rPr>
              <a:t>Office Hours: Tuesday/Thursday 9:30-11! Come visit if you/someone you know has questions about the Treasury, or if you just wanna hang out</a:t>
            </a:r>
            <a:endParaRPr sz="21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>
                <a:latin typeface="Century Schoolbook"/>
                <a:ea typeface="Century Schoolbook"/>
                <a:cs typeface="Century Schoolbook"/>
                <a:sym typeface="Century Schoolbook"/>
              </a:rPr>
              <a:t>In search of Finance Committee members (one from each class) - come chat to find out more!</a:t>
            </a:r>
            <a:endParaRPr sz="21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>
                <a:latin typeface="Century Schoolbook"/>
                <a:ea typeface="Century Schoolbook"/>
                <a:cs typeface="Century Schoolbook"/>
                <a:sym typeface="Century Schoolbook"/>
              </a:rPr>
              <a:t>Meeting with Chief Milby last week…discussed establishing a secondary FUPO office in Trone so that an officer can be there to answer questions/respond to threats</a:t>
            </a:r>
            <a:endParaRPr sz="21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418550" y="2069425"/>
            <a:ext cx="99273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Secretary </a:t>
            </a:r>
            <a:endParaRPr/>
          </a:p>
        </p:txBody>
      </p:sp>
      <p:sp>
        <p:nvSpPr>
          <p:cNvPr id="136" name="Google Shape;136;p8"/>
          <p:cNvSpPr txBox="1"/>
          <p:nvPr/>
        </p:nvSpPr>
        <p:spPr>
          <a:xfrm>
            <a:off x="573100" y="1318100"/>
            <a:ext cx="1100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993350" y="1833900"/>
            <a:ext cx="876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615300" y="1690750"/>
            <a:ext cx="5993700" cy="29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entury Schoolbook"/>
                <a:ea typeface="Century Schoolbook"/>
                <a:cs typeface="Century Schoolbook"/>
                <a:sym typeface="Century Schoolbook"/>
              </a:rPr>
              <a:t>Office Hours: Tuesdays from 12:00-2:00pm in the SGA office</a:t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entury Schoolbook"/>
                <a:ea typeface="Century Schoolbook"/>
                <a:cs typeface="Century Schoolbook"/>
                <a:sym typeface="Century Schoolbook"/>
              </a:rPr>
              <a:t>Starting the club  promotion project next week with FPA….Jordan King sending out the rest of the forms this week. </a:t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entury Schoolbook"/>
                <a:ea typeface="Century Schoolbook"/>
                <a:cs typeface="Century Schoolbook"/>
                <a:sym typeface="Century Schoolbook"/>
              </a:rPr>
              <a:t>Charity of the Month Iniative……starting with NAMI as it’s suicide awareness month. Graphic to come </a:t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entury Schoolbook"/>
                <a:ea typeface="Century Schoolbook"/>
                <a:cs typeface="Century Schoolbook"/>
                <a:sym typeface="Century Schoolbook"/>
              </a:rPr>
              <a:t>Keep posting on photocircle and join if you haven’t already! </a:t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entury Schoolbook"/>
                <a:ea typeface="Century Schoolbook"/>
                <a:cs typeface="Century Schoolbook"/>
                <a:sym typeface="Century Schoolbook"/>
              </a:rPr>
              <a:t>Tiktok is @furman.sga </a:t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7636d3176e_0_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Parliamentarian </a:t>
            </a:r>
            <a:endParaRPr/>
          </a:p>
        </p:txBody>
      </p:sp>
      <p:sp>
        <p:nvSpPr>
          <p:cNvPr id="145" name="Google Shape;145;g17636d3176e_0_5"/>
          <p:cNvSpPr txBox="1"/>
          <p:nvPr/>
        </p:nvSpPr>
        <p:spPr>
          <a:xfrm>
            <a:off x="1051475" y="1553348"/>
            <a:ext cx="97536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46" name="Google Shape;146;g17636d3176e_0_5"/>
          <p:cNvSpPr txBox="1"/>
          <p:nvPr/>
        </p:nvSpPr>
        <p:spPr>
          <a:xfrm>
            <a:off x="316038" y="1436485"/>
            <a:ext cx="10057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7abb8a7af6_6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Academic Affairs </a:t>
            </a:r>
            <a:endParaRPr/>
          </a:p>
        </p:txBody>
      </p:sp>
      <p:sp>
        <p:nvSpPr>
          <p:cNvPr id="153" name="Google Shape;153;g17abb8a7af6_6_0"/>
          <p:cNvSpPr txBox="1"/>
          <p:nvPr/>
        </p:nvSpPr>
        <p:spPr>
          <a:xfrm>
            <a:off x="810750" y="1704775"/>
            <a:ext cx="10939500" cy="43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Century Schoolbook"/>
                <a:ea typeface="Century Schoolbook"/>
                <a:cs typeface="Century Schoolbook"/>
                <a:sym typeface="Century Schoolbook"/>
              </a:rPr>
              <a:t>-Updates on pass/no pass </a:t>
            </a:r>
            <a:endParaRPr sz="3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Century Schoolbook"/>
                <a:ea typeface="Century Schoolbook"/>
                <a:cs typeface="Century Schoolbook"/>
                <a:sym typeface="Century Schoolbook"/>
              </a:rPr>
              <a:t>-Updates on wellness programs </a:t>
            </a:r>
            <a:endParaRPr sz="3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Century Schoolbook"/>
                <a:ea typeface="Century Schoolbook"/>
                <a:cs typeface="Century Schoolbook"/>
                <a:sym typeface="Century Schoolbook"/>
              </a:rPr>
              <a:t>-Coffee with the Dean</a:t>
            </a:r>
            <a:endParaRPr sz="3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Century Schoolbook"/>
                <a:ea typeface="Century Schoolbook"/>
                <a:cs typeface="Century Schoolbook"/>
                <a:sym typeface="Century Schoolbook"/>
              </a:rPr>
              <a:t>- Junior and Senior Reps: Can you all coordinate and provide me with 3 hour long times in the month of October that would be good for your classes to have “coffee with the Dean” aka Dean Longest of Academic Affairs</a:t>
            </a:r>
            <a:endParaRPr sz="34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>
            <a:spLocks noGrp="1"/>
          </p:cNvSpPr>
          <p:nvPr>
            <p:ph type="ctrTitle"/>
          </p:nvPr>
        </p:nvSpPr>
        <p:spPr>
          <a:xfrm>
            <a:off x="1524000" y="149871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Representative Reports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7636d3176e_0_0"/>
          <p:cNvSpPr txBox="1">
            <a:spLocks noGrp="1"/>
          </p:cNvSpPr>
          <p:nvPr>
            <p:ph type="title"/>
          </p:nvPr>
        </p:nvSpPr>
        <p:spPr>
          <a:xfrm>
            <a:off x="424975" y="249175"/>
            <a:ext cx="61722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Kelsey Sumter 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6" name="Google Shape;166;g17636d3176e_0_0"/>
          <p:cNvSpPr txBox="1">
            <a:spLocks noGrp="1"/>
          </p:cNvSpPr>
          <p:nvPr>
            <p:ph type="body" idx="1"/>
          </p:nvPr>
        </p:nvSpPr>
        <p:spPr>
          <a:xfrm>
            <a:off x="326975" y="1905050"/>
            <a:ext cx="4701300" cy="18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endParaRPr sz="192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7" name="Google Shape;167;g17636d3176e_0_0"/>
          <p:cNvSpPr txBox="1">
            <a:spLocks noGrp="1"/>
          </p:cNvSpPr>
          <p:nvPr>
            <p:ph type="body" idx="2"/>
          </p:nvPr>
        </p:nvSpPr>
        <p:spPr>
          <a:xfrm>
            <a:off x="106125" y="1254225"/>
            <a:ext cx="5570700" cy="50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600">
              <a:solidFill>
                <a:srgbClr val="582C8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600">
              <a:solidFill>
                <a:srgbClr val="582C8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8" name="Google Shape;168;g17636d3176e_0_0"/>
          <p:cNvSpPr txBox="1"/>
          <p:nvPr/>
        </p:nvSpPr>
        <p:spPr>
          <a:xfrm>
            <a:off x="8291700" y="4804842"/>
            <a:ext cx="344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7c904ac06b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Alex Murray </a:t>
            </a:r>
            <a:endParaRPr/>
          </a:p>
        </p:txBody>
      </p:sp>
      <p:sp>
        <p:nvSpPr>
          <p:cNvPr id="175" name="Google Shape;175;g27c904ac06b_0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27c904ac06b_0_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c904ac06b_0_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Sydney Beraho </a:t>
            </a:r>
            <a:endParaRPr/>
          </a:p>
        </p:txBody>
      </p:sp>
      <p:sp>
        <p:nvSpPr>
          <p:cNvPr id="183" name="Google Shape;183;g27c904ac06b_0_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Preparing the Class of 2024 Senior Class Gift Program!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If you know any seniors that are looking to be involved on campus (low commitment), send them our way. :)</a:t>
            </a:r>
            <a:endParaRPr/>
          </a:p>
        </p:txBody>
      </p:sp>
      <p:sp>
        <p:nvSpPr>
          <p:cNvPr id="184" name="Google Shape;184;g27c904ac06b_0_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5" name="Google Shape;185;g27c904ac06b_0_7"/>
          <p:cNvPicPr preferRelativeResize="0"/>
          <p:nvPr/>
        </p:nvPicPr>
        <p:blipFill rotWithShape="1">
          <a:blip r:embed="rId3">
            <a:alphaModFix/>
          </a:blip>
          <a:srcRect t="7546" b="6410"/>
          <a:stretch/>
        </p:blipFill>
        <p:spPr>
          <a:xfrm>
            <a:off x="6842325" y="760575"/>
            <a:ext cx="3841350" cy="495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7c904ac06b_0_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Leah Manning </a:t>
            </a:r>
            <a:endParaRPr/>
          </a:p>
        </p:txBody>
      </p:sp>
      <p:sp>
        <p:nvSpPr>
          <p:cNvPr id="192" name="Google Shape;192;g27c904ac06b_0_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working on getting Senior Class Gift Officers!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Senior Class Gift Video shoot Friday afternoon at the library 1-3:30!</a:t>
            </a:r>
            <a:endParaRPr/>
          </a:p>
        </p:txBody>
      </p:sp>
      <p:sp>
        <p:nvSpPr>
          <p:cNvPr id="193" name="Google Shape;193;g27c904ac06b_0_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7636d3176e_0_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Mary Boucher </a:t>
            </a:r>
            <a:endParaRPr/>
          </a:p>
        </p:txBody>
      </p:sp>
      <p:sp>
        <p:nvSpPr>
          <p:cNvPr id="201" name="Google Shape;201;g17636d3176e_0_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44835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My main project/goal for this year is to come up with some sort of program/platform for students to buy and sell used textbooks!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7c904ac06b_0_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Deen Deovic </a:t>
            </a:r>
            <a:endParaRPr/>
          </a:p>
        </p:txBody>
      </p:sp>
      <p:sp>
        <p:nvSpPr>
          <p:cNvPr id="209" name="Google Shape;209;g27c904ac06b_0_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The main goal is to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bring back the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downtown trolly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Secondary goal is to create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 shoe/textile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recycling program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7c904ac06b_0_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Jennifer Woollery</a:t>
            </a:r>
            <a:endParaRPr/>
          </a:p>
        </p:txBody>
      </p:sp>
      <p:sp>
        <p:nvSpPr>
          <p:cNvPr id="217" name="Google Shape;217;g27c904ac06b_0_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utilize our athletic teams as a means of promoting unity and participation in our campus community 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>
                <a:highlight>
                  <a:srgbClr val="00FF00"/>
                </a:highlight>
              </a:rPr>
              <a:t>add relevant nutrition information to DH menus</a:t>
            </a:r>
            <a:r>
              <a:rPr lang="en-US"/>
              <a:t>  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relevant = nutrient density/content and explanation of positive effect on physical wellbeing; collab w/Health Science Dpt.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>
                <a:highlight>
                  <a:srgbClr val="00FF00"/>
                </a:highlight>
              </a:rPr>
              <a:t>make amendments to course registration policy </a:t>
            </a:r>
            <a:r>
              <a:rPr lang="en-US"/>
              <a:t>  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make contact this semester (I am aware this will probably take more than a few weeks)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get panini press for gluten free section of DH 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7c904ac06b_0_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Adara Briceno </a:t>
            </a:r>
            <a:endParaRPr/>
          </a:p>
        </p:txBody>
      </p:sp>
      <p:sp>
        <p:nvSpPr>
          <p:cNvPr id="224" name="Google Shape;224;g27c904ac06b_0_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-Nothing to add :)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7636d3176e_0_16"/>
          <p:cNvSpPr txBox="1">
            <a:spLocks noGrp="1"/>
          </p:cNvSpPr>
          <p:nvPr>
            <p:ph type="title"/>
          </p:nvPr>
        </p:nvSpPr>
        <p:spPr>
          <a:xfrm>
            <a:off x="737700" y="2771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Tate! Denham!</a:t>
            </a:r>
            <a:endParaRPr/>
          </a:p>
        </p:txBody>
      </p:sp>
      <p:sp>
        <p:nvSpPr>
          <p:cNvPr id="231" name="Google Shape;231;g17636d3176e_0_16"/>
          <p:cNvSpPr txBox="1">
            <a:spLocks noGrp="1"/>
          </p:cNvSpPr>
          <p:nvPr>
            <p:ph type="body" idx="1"/>
          </p:nvPr>
        </p:nvSpPr>
        <p:spPr>
          <a:xfrm>
            <a:off x="737700" y="1329376"/>
            <a:ext cx="51549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3700" b="1">
                <a:latin typeface="Oswald"/>
                <a:ea typeface="Oswald"/>
                <a:cs typeface="Oswald"/>
                <a:sym typeface="Oswald"/>
              </a:rPr>
              <a:t>HELLO!</a:t>
            </a:r>
            <a:endParaRPr sz="3700"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2" name="Google Shape;232;g17636d3176e_0_16"/>
          <p:cNvSpPr txBox="1"/>
          <p:nvPr/>
        </p:nvSpPr>
        <p:spPr>
          <a:xfrm>
            <a:off x="6555350" y="3989325"/>
            <a:ext cx="4152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33" name="Google Shape;233;g17636d3176e_0_16"/>
          <p:cNvSpPr txBox="1"/>
          <p:nvPr/>
        </p:nvSpPr>
        <p:spPr>
          <a:xfrm>
            <a:off x="9984350" y="3074925"/>
            <a:ext cx="194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34" name="Google Shape;234;g17636d3176e_0_16"/>
          <p:cNvSpPr txBox="1">
            <a:spLocks noGrp="1"/>
          </p:cNvSpPr>
          <p:nvPr>
            <p:ph type="body" idx="1"/>
          </p:nvPr>
        </p:nvSpPr>
        <p:spPr>
          <a:xfrm>
            <a:off x="-1750400" y="1964325"/>
            <a:ext cx="6973200" cy="46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Oswald"/>
                <a:ea typeface="Oswald"/>
                <a:cs typeface="Oswald"/>
                <a:sym typeface="Oswald"/>
              </a:rPr>
              <a:t>What we doin?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CC4125"/>
                </a:solidFill>
                <a:latin typeface="Oswald"/>
                <a:ea typeface="Oswald"/>
                <a:cs typeface="Oswald"/>
                <a:sym typeface="Oswald"/>
              </a:rPr>
              <a:t>Swingset!</a:t>
            </a:r>
            <a:endParaRPr>
              <a:solidFill>
                <a:srgbClr val="CC4125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9900FF"/>
                </a:solidFill>
                <a:latin typeface="Oswald"/>
                <a:ea typeface="Oswald"/>
                <a:cs typeface="Oswald"/>
                <a:sym typeface="Oswald"/>
              </a:rPr>
              <a:t>SGA Pins SOON</a:t>
            </a:r>
            <a:endParaRPr>
              <a:solidFill>
                <a:srgbClr val="9900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674EA7"/>
                </a:solidFill>
                <a:latin typeface="Oswald"/>
                <a:ea typeface="Oswald"/>
                <a:cs typeface="Oswald"/>
                <a:sym typeface="Oswald"/>
              </a:rPr>
              <a:t>School Spirit!</a:t>
            </a:r>
            <a:endParaRPr>
              <a:solidFill>
                <a:srgbClr val="674EA7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0000FF"/>
                </a:solidFill>
                <a:latin typeface="Oswald"/>
                <a:ea typeface="Oswald"/>
                <a:cs typeface="Oswald"/>
                <a:sym typeface="Oswald"/>
              </a:rPr>
              <a:t>Study Room App</a:t>
            </a:r>
            <a:endParaRPr>
              <a:solidFill>
                <a:srgbClr val="0000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FF9900"/>
                </a:solidFill>
                <a:latin typeface="Oswald"/>
                <a:ea typeface="Oswald"/>
                <a:cs typeface="Oswald"/>
                <a:sym typeface="Oswald"/>
              </a:rPr>
              <a:t>Slip n’kickball</a:t>
            </a:r>
            <a:endParaRPr>
              <a:solidFill>
                <a:srgbClr val="FF99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FF00FF"/>
                </a:solidFill>
                <a:latin typeface="Oswald"/>
                <a:ea typeface="Oswald"/>
                <a:cs typeface="Oswald"/>
                <a:sym typeface="Oswald"/>
              </a:rPr>
              <a:t>Voter Turn up!</a:t>
            </a:r>
            <a:endParaRPr>
              <a:solidFill>
                <a:srgbClr val="FF00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9" name="Google Shape;239;g17636d3176e_0_16"/>
          <p:cNvSpPr txBox="1"/>
          <p:nvPr/>
        </p:nvSpPr>
        <p:spPr>
          <a:xfrm>
            <a:off x="-563550" y="5675600"/>
            <a:ext cx="5154900" cy="5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rPr>
              <a:t>SOTW: Daybreak by Michael Haggins</a:t>
            </a:r>
            <a:endParaRPr sz="2300">
              <a:solidFill>
                <a:schemeClr val="accent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0" name="Google Shape;240;g17636d3176e_0_16"/>
          <p:cNvSpPr txBox="1"/>
          <p:nvPr/>
        </p:nvSpPr>
        <p:spPr>
          <a:xfrm>
            <a:off x="2996700" y="1910825"/>
            <a:ext cx="30000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rPr>
              <a:t>FIND ME!</a:t>
            </a:r>
            <a:endParaRPr sz="2800">
              <a:solidFill>
                <a:schemeClr val="accent2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 u="sng">
                <a:solidFill>
                  <a:srgbClr val="FFFF00"/>
                </a:solidFill>
                <a:latin typeface="Oswald"/>
                <a:ea typeface="Oswald"/>
                <a:cs typeface="Oswald"/>
                <a:sym typeface="Oswald"/>
              </a:rPr>
              <a:t>Improv!</a:t>
            </a:r>
            <a:endParaRPr sz="2800" b="1" u="sng">
              <a:solidFill>
                <a:srgbClr val="FFFF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F6000"/>
                </a:solidFill>
                <a:latin typeface="Oswald"/>
                <a:ea typeface="Oswald"/>
                <a:cs typeface="Oswald"/>
                <a:sym typeface="Oswald"/>
              </a:rPr>
              <a:t>FUOC</a:t>
            </a:r>
            <a:endParaRPr sz="2800">
              <a:solidFill>
                <a:srgbClr val="7F6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9900FF"/>
                </a:solidFill>
                <a:latin typeface="Oswald"/>
                <a:ea typeface="Oswald"/>
                <a:cs typeface="Oswald"/>
                <a:sym typeface="Oswald"/>
              </a:rPr>
              <a:t>Tour Guide</a:t>
            </a:r>
            <a:endParaRPr sz="2800">
              <a:solidFill>
                <a:srgbClr val="9900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A86E8"/>
                </a:solidFill>
                <a:latin typeface="Oswald"/>
                <a:ea typeface="Oswald"/>
                <a:cs typeface="Oswald"/>
                <a:sym typeface="Oswald"/>
              </a:rPr>
              <a:t>Strengths dude</a:t>
            </a:r>
            <a:endParaRPr sz="2800">
              <a:solidFill>
                <a:srgbClr val="4A86E8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RA Judson 300!</a:t>
            </a:r>
            <a:endParaRPr sz="28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rPr>
              <a:t>(pull up lets hang)</a:t>
            </a:r>
            <a:endParaRPr sz="2800">
              <a:solidFill>
                <a:schemeClr val="accent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7c904ac06b_0_39"/>
          <p:cNvSpPr txBox="1">
            <a:spLocks noGrp="1"/>
          </p:cNvSpPr>
          <p:nvPr>
            <p:ph type="title"/>
          </p:nvPr>
        </p:nvSpPr>
        <p:spPr>
          <a:xfrm>
            <a:off x="71075" y="0"/>
            <a:ext cx="4364400" cy="611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/>
              <a:t>Caroline Cousar</a:t>
            </a:r>
            <a:r>
              <a:rPr lang="en-US"/>
              <a:t> </a:t>
            </a:r>
            <a:endParaRPr/>
          </a:p>
        </p:txBody>
      </p:sp>
      <p:sp>
        <p:nvSpPr>
          <p:cNvPr id="247" name="Google Shape;247;g27c904ac06b_0_39"/>
          <p:cNvSpPr txBox="1">
            <a:spLocks noGrp="1"/>
          </p:cNvSpPr>
          <p:nvPr>
            <p:ph type="body" idx="1"/>
          </p:nvPr>
        </p:nvSpPr>
        <p:spPr>
          <a:xfrm>
            <a:off x="71075" y="611400"/>
            <a:ext cx="11097900" cy="529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EA99C2"/>
                </a:solidFill>
              </a:rPr>
              <a:t>I hope everyone had a wonderful weekend!!!</a:t>
            </a:r>
            <a:endParaRPr sz="1650" b="1">
              <a:solidFill>
                <a:srgbClr val="EA99C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47" b="1">
                <a:solidFill>
                  <a:srgbClr val="000000"/>
                </a:solidFill>
              </a:rPr>
              <a:t>                                                          Ideas/goals for the semester:</a:t>
            </a:r>
            <a:endParaRPr sz="1847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00"/>
                </a:solidFill>
              </a:rPr>
              <a:t>–</a:t>
            </a:r>
            <a:r>
              <a:rPr lang="en-US" sz="2400" b="1">
                <a:solidFill>
                  <a:srgbClr val="000000"/>
                </a:solidFill>
              </a:rPr>
              <a:t> </a:t>
            </a:r>
            <a:r>
              <a:rPr lang="en-US" sz="1750" b="1">
                <a:solidFill>
                  <a:srgbClr val="6D9EEB"/>
                </a:solidFill>
              </a:rPr>
              <a:t>Small trash cans in dorm restroom stalls for feminine hygiene product disposal.</a:t>
            </a:r>
            <a:endParaRPr sz="1750" b="1">
              <a:solidFill>
                <a:srgbClr val="6D9EEB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50" b="1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https://www.hercampus.com/school/furman/destigmatizing-feminine-hygiene-one-step-at-a-time-fighting-for-the-tiny-trash-can/</a:t>
            </a:r>
            <a:endParaRPr sz="135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000000"/>
                </a:solidFill>
              </a:rPr>
              <a:t>–</a:t>
            </a:r>
            <a:r>
              <a:rPr lang="en-US" sz="1750" b="1">
                <a:solidFill>
                  <a:srgbClr val="000000"/>
                </a:solidFill>
              </a:rPr>
              <a:t> </a:t>
            </a:r>
            <a:r>
              <a:rPr lang="en-US" sz="1750" b="1">
                <a:solidFill>
                  <a:srgbClr val="6D9EEB"/>
                </a:solidFill>
              </a:rPr>
              <a:t>Whiteboards faculty/students can checkout from the library for outdoor classes/study sesh with friends.</a:t>
            </a:r>
            <a:endParaRPr sz="1750" b="1">
              <a:solidFill>
                <a:srgbClr val="6D9EEB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50" b="1">
                <a:solidFill>
                  <a:srgbClr val="000000"/>
                </a:solidFill>
              </a:rPr>
              <a:t>– </a:t>
            </a:r>
            <a:r>
              <a:rPr lang="en-US" sz="1750" b="1">
                <a:solidFill>
                  <a:srgbClr val="6D9EEB"/>
                </a:solidFill>
              </a:rPr>
              <a:t>Working with the Asian Studies Department to utilize the Place of Peace as a space “occasioning deep reflection, meditation, calmness, and connection” for students to use &amp; enjoy.</a:t>
            </a:r>
            <a:endParaRPr sz="1750" b="1">
              <a:solidFill>
                <a:srgbClr val="6D9EEB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50" b="1" u="sng">
                <a:solidFill>
                  <a:srgbClr val="0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Place of Peace - Interesting Facts</a:t>
            </a:r>
            <a:r>
              <a:rPr lang="en-US" sz="1650" b="1" u="sng">
                <a:solidFill>
                  <a:srgbClr val="0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sz="165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75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75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75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3175">
              <a:solidFill>
                <a:srgbClr val="000000"/>
              </a:solidFill>
            </a:endParaRPr>
          </a:p>
        </p:txBody>
      </p:sp>
      <p:sp>
        <p:nvSpPr>
          <p:cNvPr id="248" name="Google Shape;248;g27c904ac06b_0_39"/>
          <p:cNvSpPr txBox="1"/>
          <p:nvPr/>
        </p:nvSpPr>
        <p:spPr>
          <a:xfrm>
            <a:off x="298550" y="4947325"/>
            <a:ext cx="1962000" cy="19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7c904ac06b_0_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Kobby Frempong </a:t>
            </a:r>
            <a:endParaRPr/>
          </a:p>
        </p:txBody>
      </p:sp>
      <p:sp>
        <p:nvSpPr>
          <p:cNvPr id="258" name="Google Shape;258;g27c904ac06b_0_45"/>
          <p:cNvSpPr txBox="1">
            <a:spLocks noGrp="1"/>
          </p:cNvSpPr>
          <p:nvPr>
            <p:ph type="body" idx="1"/>
          </p:nvPr>
        </p:nvSpPr>
        <p:spPr>
          <a:xfrm>
            <a:off x="430250" y="1525450"/>
            <a:ext cx="7822800" cy="4651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 primary focus is to start a Go-Fund-Me - primarily for sophomores - to help meet the needs of students who require assistance for education-related activities.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 secondary focus would be to establish a system of providing washing and cleaning detergents for sophomore students to help reduce the number of times students have to ply the road for these products.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7c904ac06b_0_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Mariam Nguyen </a:t>
            </a:r>
            <a:endParaRPr/>
          </a:p>
        </p:txBody>
      </p:sp>
      <p:sp>
        <p:nvSpPr>
          <p:cNvPr id="266" name="Google Shape;266;g27c904ac06b_0_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3355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-SOOO excited for this year!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-Met with Tony McGuirt last week to discuss bringing back ice cream in the DH!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-We are having a follow up meeting this week!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-Vegan ice cream/cooler w to-go treats and snacks in DH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7636d3176e_0_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Freshmen Reps</a:t>
            </a:r>
            <a:endParaRPr/>
          </a:p>
        </p:txBody>
      </p:sp>
      <p:sp>
        <p:nvSpPr>
          <p:cNvPr id="274" name="Google Shape;274;g17636d3176e_0_22"/>
          <p:cNvSpPr txBox="1">
            <a:spLocks noGrp="1"/>
          </p:cNvSpPr>
          <p:nvPr>
            <p:ph type="body" idx="1"/>
          </p:nvPr>
        </p:nvSpPr>
        <p:spPr>
          <a:xfrm>
            <a:off x="838200" y="1690825"/>
            <a:ext cx="45072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900">
                <a:solidFill>
                  <a:srgbClr val="000000"/>
                </a:solidFill>
              </a:rPr>
              <a:t>coming soon hehe 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275" name="Google Shape;275;g17636d3176e_0_22"/>
          <p:cNvSpPr txBox="1"/>
          <p:nvPr/>
        </p:nvSpPr>
        <p:spPr>
          <a:xfrm>
            <a:off x="6069050" y="1808100"/>
            <a:ext cx="3869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7"/>
          <p:cNvSpPr txBox="1">
            <a:spLocks noGrp="1"/>
          </p:cNvSpPr>
          <p:nvPr>
            <p:ph type="ctrTitle"/>
          </p:nvPr>
        </p:nvSpPr>
        <p:spPr>
          <a:xfrm>
            <a:off x="1589700" y="158711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At- Large Reports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FUSAB        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8" name="Google Shape;288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652" y="126927"/>
            <a:ext cx="3841851" cy="161172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 txBox="1"/>
          <p:nvPr/>
        </p:nvSpPr>
        <p:spPr>
          <a:xfrm>
            <a:off x="4073325" y="488800"/>
            <a:ext cx="5910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rgbClr val="582C83"/>
              </a:buClr>
              <a:buSzPts val="3000"/>
              <a:buFont typeface="Libre Franklin"/>
              <a:buChar char="-"/>
            </a:pPr>
            <a:r>
              <a:rPr lang="en-US" sz="3800">
                <a:solidFill>
                  <a:srgbClr val="582C8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Grayson Taylor</a:t>
            </a:r>
            <a:r>
              <a:rPr lang="en-US" sz="3000">
                <a:solidFill>
                  <a:srgbClr val="582C8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endParaRPr sz="3000">
              <a:solidFill>
                <a:srgbClr val="582C83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0" y="2162575"/>
            <a:ext cx="121920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1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473975" y="2829100"/>
            <a:ext cx="1072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0" y="2947600"/>
            <a:ext cx="121920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6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93" name="Google Shape;293;p28"/>
          <p:cNvSpPr txBox="1"/>
          <p:nvPr/>
        </p:nvSpPr>
        <p:spPr>
          <a:xfrm>
            <a:off x="1125725" y="3984450"/>
            <a:ext cx="19551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94" name="Google Shape;294;p28"/>
          <p:cNvSpPr txBox="1"/>
          <p:nvPr/>
        </p:nvSpPr>
        <p:spPr>
          <a:xfrm>
            <a:off x="8902075" y="322125"/>
            <a:ext cx="3289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95" name="Google Shape;295;p28"/>
          <p:cNvSpPr txBox="1"/>
          <p:nvPr/>
        </p:nvSpPr>
        <p:spPr>
          <a:xfrm>
            <a:off x="4384375" y="4043700"/>
            <a:ext cx="34068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96" name="Google Shape;296;p28"/>
          <p:cNvSpPr txBox="1"/>
          <p:nvPr/>
        </p:nvSpPr>
        <p:spPr>
          <a:xfrm>
            <a:off x="8709500" y="4105175"/>
            <a:ext cx="2873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714700" y="1992025"/>
            <a:ext cx="10142400" cy="35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582C8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Currently not here because I’m in FUSAB INTERVIEWS!!!!!!!!!!!!!!!!!!! WOOHOO </a:t>
            </a:r>
            <a:endParaRPr sz="2200">
              <a:solidFill>
                <a:srgbClr val="582C83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582C83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u="sng">
                <a:solidFill>
                  <a:srgbClr val="582C8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SAB updates: </a:t>
            </a:r>
            <a:r>
              <a:rPr lang="en-US" sz="2200">
                <a:solidFill>
                  <a:srgbClr val="582C8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We have our retreat this weekend at YMCA Blue Ridge Assembly (Woop Woop) (Big things coming) </a:t>
            </a:r>
            <a:endParaRPr sz="2200">
              <a:solidFill>
                <a:srgbClr val="582C83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u="sng">
                <a:solidFill>
                  <a:srgbClr val="582C8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SAVE THE DATES::</a:t>
            </a:r>
            <a:endParaRPr sz="2200" b="1" u="sng">
              <a:solidFill>
                <a:srgbClr val="582C83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582C8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09/23 </a:t>
            </a:r>
            <a:r>
              <a:rPr lang="en-US" sz="2200">
                <a:solidFill>
                  <a:srgbClr val="582C8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FALL BALL!!!!! at the South Wind Ranch in TR (like Winter Ball for those who know but semi-formal and SOUTHERN) WILL BE AWESOME</a:t>
            </a:r>
            <a:endParaRPr sz="2200">
              <a:solidFill>
                <a:srgbClr val="582C83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582C8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09/30</a:t>
            </a:r>
            <a:r>
              <a:rPr lang="en-US" sz="2200">
                <a:solidFill>
                  <a:srgbClr val="582C8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- Poses and Mimosas: Come get some mimosas (if you’re of age) and mocktails (if you’re not) and take a yoga lesson from a Soul Yoga instructor!!!</a:t>
            </a:r>
            <a:endParaRPr sz="2200">
              <a:solidFill>
                <a:srgbClr val="582C83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RLC- Jeff McLane </a:t>
            </a:r>
            <a:endParaRPr/>
          </a:p>
        </p:txBody>
      </p:sp>
      <p:sp>
        <p:nvSpPr>
          <p:cNvPr id="304" name="Google Shape;304;p29"/>
          <p:cNvSpPr txBox="1"/>
          <p:nvPr/>
        </p:nvSpPr>
        <p:spPr>
          <a:xfrm>
            <a:off x="972925" y="2009150"/>
            <a:ext cx="583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05" name="Google Shape;305;p29"/>
          <p:cNvSpPr txBox="1"/>
          <p:nvPr/>
        </p:nvSpPr>
        <p:spPr>
          <a:xfrm>
            <a:off x="830550" y="1914225"/>
            <a:ext cx="56241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latin typeface="Century Schoolbook"/>
                <a:ea typeface="Century Schoolbook"/>
                <a:cs typeface="Century Schoolbook"/>
                <a:sym typeface="Century Schoolbook"/>
              </a:rPr>
              <a:t>Just had first meeting didn’t plan anything.DO SOMETHING JEFFERSON</a:t>
            </a:r>
            <a:endParaRPr sz="28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306" name="Google Shape;306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26025" y="-411350"/>
            <a:ext cx="3365975" cy="32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9"/>
          <p:cNvSpPr txBox="1"/>
          <p:nvPr/>
        </p:nvSpPr>
        <p:spPr>
          <a:xfrm>
            <a:off x="5662125" y="2399900"/>
            <a:ext cx="5624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>
            <a:spLocks noGrp="1"/>
          </p:cNvSpPr>
          <p:nvPr>
            <p:ph type="title"/>
          </p:nvPr>
        </p:nvSpPr>
        <p:spPr>
          <a:xfrm>
            <a:off x="838200" y="86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Religious Council - Ruthie Richardson </a:t>
            </a:r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1082850" y="1124500"/>
            <a:ext cx="5802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15" name="Google Shape;315;p30"/>
          <p:cNvSpPr txBox="1"/>
          <p:nvPr/>
        </p:nvSpPr>
        <p:spPr>
          <a:xfrm>
            <a:off x="830550" y="1914225"/>
            <a:ext cx="1051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entury Schoolbook"/>
              <a:buChar char="❖"/>
            </a:pPr>
            <a:r>
              <a:rPr lang="en-US" sz="2800">
                <a:latin typeface="Century Schoolbook"/>
                <a:ea typeface="Century Schoolbook"/>
                <a:cs typeface="Century Schoolbook"/>
                <a:sym typeface="Century Schoolbook"/>
              </a:rPr>
              <a:t>(Most) orgs have had their first meetings</a:t>
            </a:r>
            <a:endParaRPr sz="28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entury Schoolbook"/>
              <a:buChar char="❖"/>
            </a:pPr>
            <a:r>
              <a:rPr lang="en-US" sz="2800">
                <a:latin typeface="Century Schoolbook"/>
                <a:ea typeface="Century Schoolbook"/>
                <a:cs typeface="Century Schoolbook"/>
                <a:sym typeface="Century Schoolbook"/>
              </a:rPr>
              <a:t>Exec is meeting tomorrow to finalize tentative budgets for our organizations</a:t>
            </a:r>
            <a:endParaRPr sz="28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Campus Rec - Eva Brooks</a:t>
            </a:r>
            <a:endParaRPr/>
          </a:p>
        </p:txBody>
      </p:sp>
      <p:sp>
        <p:nvSpPr>
          <p:cNvPr id="323" name="Google Shape;323;p31"/>
          <p:cNvSpPr txBox="1"/>
          <p:nvPr/>
        </p:nvSpPr>
        <p:spPr>
          <a:xfrm>
            <a:off x="1810600" y="5614925"/>
            <a:ext cx="291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24" name="Google Shape;324;p31"/>
          <p:cNvSpPr txBox="1"/>
          <p:nvPr/>
        </p:nvSpPr>
        <p:spPr>
          <a:xfrm>
            <a:off x="6597125" y="5614925"/>
            <a:ext cx="401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25" name="Google Shape;325;p31"/>
          <p:cNvSpPr txBox="1"/>
          <p:nvPr/>
        </p:nvSpPr>
        <p:spPr>
          <a:xfrm>
            <a:off x="9355489" y="2099800"/>
            <a:ext cx="3141300" cy="5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US" sz="2900" b="0" i="0" u="none" strike="noStrike" cap="none">
                <a:solidFill>
                  <a:srgbClr val="4C4D4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@FurmanCRW</a:t>
            </a:r>
            <a:endParaRPr sz="2900" b="0" i="0" u="none" strike="noStrike" cap="none">
              <a:solidFill>
                <a:srgbClr val="4C4D4C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27" name="Google Shape;327;p31"/>
          <p:cNvSpPr txBox="1"/>
          <p:nvPr/>
        </p:nvSpPr>
        <p:spPr>
          <a:xfrm>
            <a:off x="9394500" y="5624375"/>
            <a:ext cx="24537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1" i="0" u="none" strike="noStrike" cap="non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1" i="0" u="none" strike="noStrike" cap="non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29" name="Google Shape;329;p31"/>
          <p:cNvSpPr txBox="1"/>
          <p:nvPr/>
        </p:nvSpPr>
        <p:spPr>
          <a:xfrm>
            <a:off x="5437875" y="2122700"/>
            <a:ext cx="46659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latin typeface="Century Schoolbook"/>
                <a:ea typeface="Century Schoolbook"/>
                <a:cs typeface="Century Schoolbook"/>
                <a:sym typeface="Century Schoolbook"/>
              </a:rPr>
              <a:t>Jordan Cox</a:t>
            </a:r>
            <a:endParaRPr sz="2300" b="1" dirty="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entury Schoolbook"/>
                <a:ea typeface="Century Schoolbook"/>
                <a:cs typeface="Century Schoolbook"/>
                <a:sym typeface="Century Schoolbook"/>
              </a:rPr>
              <a:t>Assistant Director of Competitive Sports</a:t>
            </a:r>
            <a:endParaRPr sz="1600" dirty="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30" name="Google Shape;330;p31"/>
          <p:cNvSpPr txBox="1"/>
          <p:nvPr/>
        </p:nvSpPr>
        <p:spPr>
          <a:xfrm>
            <a:off x="152400" y="1591725"/>
            <a:ext cx="33204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latin typeface="Century Schoolbook"/>
                <a:ea typeface="Century Schoolbook"/>
                <a:cs typeface="Century Schoolbook"/>
                <a:sym typeface="Century Schoolbook"/>
              </a:rPr>
              <a:t>Club Sports</a:t>
            </a:r>
            <a:endParaRPr sz="2900" b="1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latin typeface="Century Schoolbook"/>
                <a:ea typeface="Century Schoolbook"/>
                <a:cs typeface="Century Schoolbook"/>
                <a:sym typeface="Century Schoolbook"/>
              </a:rPr>
              <a:t>Last Weekend</a:t>
            </a:r>
            <a:endParaRPr sz="1800" b="1" u="sng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u="sng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entury Schoolbook"/>
                <a:ea typeface="Century Schoolbook"/>
                <a:cs typeface="Century Schoolbook"/>
                <a:sym typeface="Century Schoolbook"/>
              </a:rPr>
              <a:t>Men’s Soccer v Emory</a:t>
            </a:r>
            <a:endParaRPr sz="18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entury Schoolbook"/>
                <a:ea typeface="Century Schoolbook"/>
                <a:cs typeface="Century Schoolbook"/>
                <a:sym typeface="Century Schoolbook"/>
              </a:rPr>
              <a:t>Women’s Soccer v Clemson</a:t>
            </a:r>
            <a:endParaRPr sz="18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latin typeface="Century Schoolbook"/>
                <a:ea typeface="Century Schoolbook"/>
                <a:cs typeface="Century Schoolbook"/>
                <a:sym typeface="Century Schoolbook"/>
              </a:rPr>
              <a:t>Next Weekend</a:t>
            </a:r>
            <a:endParaRPr sz="1800" b="1" u="sng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entury Schoolbook"/>
                <a:ea typeface="Century Schoolbook"/>
                <a:cs typeface="Century Schoolbook"/>
                <a:sym typeface="Century Schoolbook"/>
              </a:rPr>
              <a:t>Powerlifting @ Furman - Sat.</a:t>
            </a:r>
            <a:endParaRPr sz="18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entury Schoolbook"/>
                <a:ea typeface="Century Schoolbook"/>
                <a:cs typeface="Century Schoolbook"/>
                <a:sym typeface="Century Schoolbook"/>
              </a:rPr>
              <a:t>Men’s Soccer @ UGA - Fri.</a:t>
            </a:r>
            <a:endParaRPr sz="18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entury Schoolbook"/>
                <a:ea typeface="Century Schoolbook"/>
                <a:cs typeface="Century Schoolbook"/>
                <a:sym typeface="Century Schoolbook"/>
              </a:rPr>
              <a:t>Men’s Soccer v Kennesaw State - Sun.</a:t>
            </a:r>
            <a:endParaRPr sz="1800" b="1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31" name="Google Shape;331;p31"/>
          <p:cNvSpPr txBox="1"/>
          <p:nvPr/>
        </p:nvSpPr>
        <p:spPr>
          <a:xfrm>
            <a:off x="3677375" y="4029388"/>
            <a:ext cx="3320400" cy="22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latin typeface="Century Schoolbook"/>
                <a:ea typeface="Century Schoolbook"/>
                <a:cs typeface="Century Schoolbook"/>
                <a:sym typeface="Century Schoolbook"/>
              </a:rPr>
              <a:t>Intramurals</a:t>
            </a:r>
            <a:endParaRPr sz="2900" b="1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latin typeface="Century Schoolbook"/>
                <a:ea typeface="Century Schoolbook"/>
                <a:cs typeface="Century Schoolbook"/>
                <a:sym typeface="Century Schoolbook"/>
              </a:rPr>
              <a:t>Tomorrow 9/12</a:t>
            </a:r>
            <a:endParaRPr sz="1800" u="sng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entury Schoolbook"/>
                <a:ea typeface="Century Schoolbook"/>
                <a:cs typeface="Century Schoolbook"/>
                <a:sym typeface="Century Schoolbook"/>
              </a:rPr>
              <a:t>Cornhole @ 6 outside of DH</a:t>
            </a:r>
            <a:endParaRPr sz="18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entury Schoolbook"/>
                <a:ea typeface="Century Schoolbook"/>
                <a:cs typeface="Century Schoolbook"/>
                <a:sym typeface="Century Schoolbook"/>
              </a:rPr>
              <a:t>All are welcome!!!</a:t>
            </a:r>
            <a:endParaRPr sz="18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2"/>
          <p:cNvSpPr txBox="1">
            <a:spLocks noGrp="1"/>
          </p:cNvSpPr>
          <p:nvPr>
            <p:ph type="title"/>
          </p:nvPr>
        </p:nvSpPr>
        <p:spPr>
          <a:xfrm>
            <a:off x="641900" y="103350"/>
            <a:ext cx="84195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SDC- Abijah Leamon </a:t>
            </a:r>
            <a:endParaRPr sz="6000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5968200" y="1754325"/>
            <a:ext cx="5326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Schoolbook"/>
              <a:buChar char="-"/>
            </a:pPr>
            <a:r>
              <a:rPr lang="en-US" sz="1800" b="0" i="0" u="none" strike="noStrike" cap="non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 sz="18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340" name="Google Shape;34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3500" y="190250"/>
            <a:ext cx="3646851" cy="3646851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2"/>
          <p:cNvSpPr txBox="1"/>
          <p:nvPr/>
        </p:nvSpPr>
        <p:spPr>
          <a:xfrm>
            <a:off x="428450" y="1429050"/>
            <a:ext cx="8419500" cy="45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latin typeface="Century Schoolbook"/>
                <a:ea typeface="Century Schoolbook"/>
                <a:cs typeface="Century Schoolbook"/>
                <a:sym typeface="Century Schoolbook"/>
              </a:rPr>
              <a:t>Social Media</a:t>
            </a:r>
            <a:r>
              <a:rPr lang="en-US" sz="2800"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 sz="28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entury Schoolbook"/>
                <a:ea typeface="Century Schoolbook"/>
                <a:cs typeface="Century Schoolbook"/>
                <a:sym typeface="Century Schoolbook"/>
              </a:rPr>
              <a:t>Instagram - @furmansdc</a:t>
            </a:r>
            <a:endParaRPr sz="28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latin typeface="Century Schoolbook"/>
                <a:ea typeface="Century Schoolbook"/>
                <a:cs typeface="Century Schoolbook"/>
                <a:sym typeface="Century Schoolbook"/>
              </a:rPr>
              <a:t>Organization of SDC</a:t>
            </a:r>
            <a:endParaRPr sz="2800" b="1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entury Schoolbook"/>
                <a:ea typeface="Century Schoolbook"/>
                <a:cs typeface="Century Schoolbook"/>
                <a:sym typeface="Century Schoolbook"/>
              </a:rPr>
              <a:t>Executive Board, Advisor, Organizations</a:t>
            </a:r>
            <a:endParaRPr sz="28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latin typeface="Century Schoolbook"/>
                <a:ea typeface="Century Schoolbook"/>
                <a:cs typeface="Century Schoolbook"/>
                <a:sym typeface="Century Schoolbook"/>
              </a:rPr>
              <a:t>First Meeting Recap</a:t>
            </a:r>
            <a:endParaRPr sz="2800" b="1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Panhel - Katherine Murphy  </a:t>
            </a:r>
            <a:endParaRPr/>
          </a:p>
        </p:txBody>
      </p:sp>
      <p:pic>
        <p:nvPicPr>
          <p:cNvPr id="348" name="Google Shape;34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7600" y="197825"/>
            <a:ext cx="1793125" cy="153922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4"/>
          <p:cNvSpPr txBox="1"/>
          <p:nvPr/>
        </p:nvSpPr>
        <p:spPr>
          <a:xfrm>
            <a:off x="3099650" y="2014775"/>
            <a:ext cx="6199200" cy="39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50" name="Google Shape;350;p34"/>
          <p:cNvSpPr txBox="1"/>
          <p:nvPr/>
        </p:nvSpPr>
        <p:spPr>
          <a:xfrm>
            <a:off x="903825" y="1612600"/>
            <a:ext cx="7233300" cy="40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5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12121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September 18th - 22nd: ARK Week</a:t>
            </a:r>
            <a:endParaRPr sz="1900">
              <a:solidFill>
                <a:srgbClr val="212121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61950" algn="l" rtl="0">
              <a:lnSpc>
                <a:spcPct val="165416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Cambria"/>
              <a:buChar char="●"/>
            </a:pPr>
            <a:r>
              <a:rPr lang="en-US" sz="1300">
                <a:solidFill>
                  <a:srgbClr val="212121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Panhel is collaborating with the Acts of Random Kindness club </a:t>
            </a:r>
            <a:endParaRPr sz="1300">
              <a:solidFill>
                <a:srgbClr val="212121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61950" algn="l" rtl="0">
              <a:lnSpc>
                <a:spcPct val="165416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Cambria"/>
              <a:buChar char="●"/>
            </a:pPr>
            <a:r>
              <a:rPr lang="en-US" sz="1300">
                <a:solidFill>
                  <a:srgbClr val="212121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Sisters will post an ARK and challenge 3 other sisters to do the same by tagging them</a:t>
            </a:r>
            <a:endParaRPr sz="1300">
              <a:solidFill>
                <a:srgbClr val="212121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61950" algn="l" rtl="0">
              <a:lnSpc>
                <a:spcPct val="165416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Cambria"/>
              <a:buChar char="●"/>
            </a:pPr>
            <a:r>
              <a:rPr lang="en-US" sz="1300">
                <a:solidFill>
                  <a:srgbClr val="212121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Quick Stop Event: Sticky Note Project; 6:00-7:30pm on September 21st in Watkins </a:t>
            </a:r>
            <a:endParaRPr sz="2100">
              <a:solidFill>
                <a:srgbClr val="212121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65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12121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September 25th - 29th:  Stop the Hazing week </a:t>
            </a:r>
            <a:endParaRPr sz="1900">
              <a:solidFill>
                <a:srgbClr val="212121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3850" algn="l" rtl="0">
              <a:lnSpc>
                <a:spcPct val="165416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Cambria"/>
              <a:buChar char="●"/>
            </a:pPr>
            <a:r>
              <a:rPr lang="en-US" sz="1500">
                <a:solidFill>
                  <a:srgbClr val="212121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beer goggle challenge with FUPO for a chance to win a free golden parking pass</a:t>
            </a:r>
            <a:endParaRPr sz="1500">
              <a:solidFill>
                <a:srgbClr val="212121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3850" algn="l" rtl="0">
              <a:lnSpc>
                <a:spcPct val="165416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Cambria"/>
              <a:buChar char="●"/>
            </a:pPr>
            <a:r>
              <a:rPr lang="en-US" sz="1500">
                <a:solidFill>
                  <a:srgbClr val="212121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“wear purple and win a free donut” day</a:t>
            </a:r>
            <a:endParaRPr sz="1500">
              <a:solidFill>
                <a:srgbClr val="212121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3850" algn="l" rtl="0">
              <a:lnSpc>
                <a:spcPct val="165416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Cambria"/>
              <a:buChar char="●"/>
            </a:pPr>
            <a:r>
              <a:rPr lang="en-US" sz="1500">
                <a:solidFill>
                  <a:srgbClr val="212121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cup stacking</a:t>
            </a:r>
            <a:endParaRPr sz="1500">
              <a:solidFill>
                <a:srgbClr val="212121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3850" algn="l" rtl="0">
              <a:lnSpc>
                <a:spcPct val="165416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Cambria"/>
              <a:buChar char="●"/>
            </a:pPr>
            <a:r>
              <a:rPr lang="en-US" sz="1500">
                <a:solidFill>
                  <a:srgbClr val="212121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purple ribbon-making with FUPO on the 27th from 7 -8pm outside the DH</a:t>
            </a:r>
            <a:endParaRPr sz="1500">
              <a:solidFill>
                <a:srgbClr val="212121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654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rgbClr val="212121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654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rgbClr val="212121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51" name="Google Shape;351;p34"/>
          <p:cNvSpPr txBox="1"/>
          <p:nvPr/>
        </p:nvSpPr>
        <p:spPr>
          <a:xfrm>
            <a:off x="8448700" y="2014775"/>
            <a:ext cx="3292200" cy="3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65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12121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September 21st: </a:t>
            </a:r>
            <a:endParaRPr sz="1900">
              <a:solidFill>
                <a:srgbClr val="212121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49250" algn="l" rtl="0">
              <a:lnSpc>
                <a:spcPct val="165416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900"/>
              <a:buFont typeface="Cambria"/>
              <a:buChar char="●"/>
            </a:pPr>
            <a:r>
              <a:rPr lang="en-US" sz="1900">
                <a:solidFill>
                  <a:srgbClr val="212121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*1st Panhellic Night* </a:t>
            </a:r>
            <a:endParaRPr sz="1900">
              <a:solidFill>
                <a:srgbClr val="212121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49250" algn="l" rtl="0">
              <a:lnSpc>
                <a:spcPct val="165416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900"/>
              <a:buFont typeface="Cambria"/>
              <a:buChar char="●"/>
            </a:pPr>
            <a:r>
              <a:rPr lang="en-US" sz="1900">
                <a:solidFill>
                  <a:srgbClr val="212121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DG and Adpi will be having a pop-up outside of Trone. </a:t>
            </a:r>
            <a:endParaRPr sz="1900">
              <a:solidFill>
                <a:srgbClr val="212121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49250" algn="l" rtl="0">
              <a:lnSpc>
                <a:spcPct val="165416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900"/>
              <a:buFont typeface="Cambria"/>
              <a:buChar char="●"/>
            </a:pPr>
            <a:r>
              <a:rPr lang="en-US" sz="1900">
                <a:solidFill>
                  <a:srgbClr val="212121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making vision boards from 5-7 pm.</a:t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6"/>
          <p:cNvSpPr txBox="1">
            <a:spLocks noGrp="1"/>
          </p:cNvSpPr>
          <p:nvPr>
            <p:ph type="title"/>
          </p:nvPr>
        </p:nvSpPr>
        <p:spPr>
          <a:xfrm>
            <a:off x="838200" y="3323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ROTC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52e01f2e5c_0_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FUOC- Adrian Gonzalez</a:t>
            </a:r>
            <a:endParaRPr/>
          </a:p>
        </p:txBody>
      </p:sp>
      <p:sp>
        <p:nvSpPr>
          <p:cNvPr id="368" name="Google Shape;368;g152e01f2e5c_0_5"/>
          <p:cNvSpPr txBox="1"/>
          <p:nvPr/>
        </p:nvSpPr>
        <p:spPr>
          <a:xfrm>
            <a:off x="6960750" y="1462625"/>
            <a:ext cx="4548000" cy="45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entury Schoolbook"/>
              <a:buChar char="●"/>
            </a:pPr>
            <a:r>
              <a:rPr lang="en-US" sz="2400">
                <a:latin typeface="Century Schoolbook"/>
                <a:ea typeface="Century Schoolbook"/>
                <a:cs typeface="Century Schoolbook"/>
                <a:sym typeface="Century Schoolbook"/>
              </a:rPr>
              <a:t>Turtleback good </a:t>
            </a:r>
            <a:endParaRPr sz="2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entury Schoolbook"/>
              <a:buChar char="●"/>
            </a:pPr>
            <a:r>
              <a:rPr lang="en-US" sz="2400">
                <a:latin typeface="Century Schoolbook"/>
                <a:ea typeface="Century Schoolbook"/>
                <a:cs typeface="Century Schoolbook"/>
                <a:sym typeface="Century Schoolbook"/>
              </a:rPr>
              <a:t>Tubing this weekend</a:t>
            </a:r>
            <a:endParaRPr sz="2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entury Schoolbook"/>
              <a:buChar char="●"/>
            </a:pPr>
            <a:r>
              <a:rPr lang="en-US" sz="2400">
                <a:latin typeface="Century Schoolbook"/>
                <a:ea typeface="Century Schoolbook"/>
                <a:cs typeface="Century Schoolbook"/>
                <a:sym typeface="Century Schoolbook"/>
              </a:rPr>
              <a:t>New trip restrictions from campus rec, working on that </a:t>
            </a:r>
            <a:endParaRPr sz="2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entury Schoolbook"/>
              <a:buChar char="●"/>
            </a:pPr>
            <a:r>
              <a:rPr lang="en-US" sz="2400">
                <a:latin typeface="Century Schoolbook"/>
                <a:ea typeface="Century Schoolbook"/>
                <a:cs typeface="Century Schoolbook"/>
                <a:sym typeface="Century Schoolbook"/>
              </a:rPr>
              <a:t>sign up/payment on Fusion now  </a:t>
            </a:r>
            <a:endParaRPr sz="24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7636d3176e_0_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International Student Rep</a:t>
            </a:r>
            <a:endParaRPr/>
          </a:p>
        </p:txBody>
      </p:sp>
      <p:sp>
        <p:nvSpPr>
          <p:cNvPr id="375" name="Google Shape;375;g17636d3176e_0_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3876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7"/>
          <p:cNvSpPr txBox="1">
            <a:spLocks noGrp="1"/>
          </p:cNvSpPr>
          <p:nvPr>
            <p:ph type="ctrTitle"/>
          </p:nvPr>
        </p:nvSpPr>
        <p:spPr>
          <a:xfrm>
            <a:off x="1524000" y="125868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Committee Reports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8"/>
          <p:cNvSpPr txBox="1">
            <a:spLocks noGrp="1"/>
          </p:cNvSpPr>
          <p:nvPr>
            <p:ph type="ctrTitle"/>
          </p:nvPr>
        </p:nvSpPr>
        <p:spPr>
          <a:xfrm>
            <a:off x="1524000" y="6937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JEDI</a:t>
            </a:r>
            <a:endParaRPr/>
          </a:p>
        </p:txBody>
      </p:sp>
      <p:sp>
        <p:nvSpPr>
          <p:cNvPr id="388" name="Google Shape;388;p38"/>
          <p:cNvSpPr txBox="1"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9"/>
          <p:cNvSpPr txBox="1">
            <a:spLocks noGrp="1"/>
          </p:cNvSpPr>
          <p:nvPr>
            <p:ph type="ctrTitle"/>
          </p:nvPr>
        </p:nvSpPr>
        <p:spPr>
          <a:xfrm>
            <a:off x="1524000" y="6937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Finance</a:t>
            </a:r>
            <a:endParaRPr/>
          </a:p>
        </p:txBody>
      </p:sp>
      <p:sp>
        <p:nvSpPr>
          <p:cNvPr id="395" name="Google Shape;395;p39"/>
          <p:cNvSpPr txBox="1"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17636d3176e_0_28"/>
          <p:cNvSpPr txBox="1">
            <a:spLocks noGrp="1"/>
          </p:cNvSpPr>
          <p:nvPr>
            <p:ph type="ctrTitle"/>
          </p:nvPr>
        </p:nvSpPr>
        <p:spPr>
          <a:xfrm>
            <a:off x="1524000" y="6937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Leadership Committee</a:t>
            </a:r>
            <a:endParaRPr/>
          </a:p>
        </p:txBody>
      </p:sp>
      <p:sp>
        <p:nvSpPr>
          <p:cNvPr id="402" name="Google Shape;402;g17636d3176e_0_28"/>
          <p:cNvSpPr txBox="1"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7"/>
          <p:cNvSpPr txBox="1">
            <a:spLocks noGrp="1"/>
          </p:cNvSpPr>
          <p:nvPr>
            <p:ph type="ctrTitle"/>
          </p:nvPr>
        </p:nvSpPr>
        <p:spPr>
          <a:xfrm>
            <a:off x="1524000" y="6937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New Business</a:t>
            </a:r>
            <a:endParaRPr/>
          </a:p>
        </p:txBody>
      </p:sp>
      <p:sp>
        <p:nvSpPr>
          <p:cNvPr id="409" name="Google Shape;409;p47"/>
          <p:cNvSpPr txBox="1"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6"/>
          <p:cNvSpPr txBox="1">
            <a:spLocks noGrp="1"/>
          </p:cNvSpPr>
          <p:nvPr>
            <p:ph type="ctrTitle"/>
          </p:nvPr>
        </p:nvSpPr>
        <p:spPr>
          <a:xfrm>
            <a:off x="1524000" y="6937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Old Business</a:t>
            </a:r>
            <a:endParaRPr/>
          </a:p>
        </p:txBody>
      </p:sp>
      <p:sp>
        <p:nvSpPr>
          <p:cNvPr id="416" name="Google Shape;416;p46"/>
          <p:cNvSpPr txBox="1"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8"/>
          <p:cNvSpPr txBox="1">
            <a:spLocks noGrp="1"/>
          </p:cNvSpPr>
          <p:nvPr>
            <p:ph type="ctrTitle"/>
          </p:nvPr>
        </p:nvSpPr>
        <p:spPr>
          <a:xfrm>
            <a:off x="1524000" y="6937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Open Forum</a:t>
            </a:r>
            <a:endParaRPr/>
          </a:p>
        </p:txBody>
      </p:sp>
      <p:sp>
        <p:nvSpPr>
          <p:cNvPr id="423" name="Google Shape;423;p48"/>
          <p:cNvSpPr txBox="1"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/>
              <a:t>All the fun stuff: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/>
              <a:t>announcements, discussions, and more!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mbedded Diamonds">
  <a:themeElements>
    <a:clrScheme name="Furman">
      <a:dk1>
        <a:srgbClr val="43296D"/>
      </a:dk1>
      <a:lt1>
        <a:srgbClr val="FFFFFF"/>
      </a:lt1>
      <a:dk2>
        <a:srgbClr val="43296D"/>
      </a:dk2>
      <a:lt2>
        <a:srgbClr val="FFFFFF"/>
      </a:lt2>
      <a:accent1>
        <a:srgbClr val="9ED5E0"/>
      </a:accent1>
      <a:accent2>
        <a:srgbClr val="4C4D4C"/>
      </a:accent2>
      <a:accent3>
        <a:srgbClr val="FFFEFE"/>
      </a:accent3>
      <a:accent4>
        <a:srgbClr val="FFFEFE"/>
      </a:accent4>
      <a:accent5>
        <a:srgbClr val="FFFEFE"/>
      </a:accent5>
      <a:accent6>
        <a:srgbClr val="FFFEFE"/>
      </a:accent6>
      <a:hlink>
        <a:srgbClr val="FFFEFE"/>
      </a:hlink>
      <a:folHlink>
        <a:srgbClr val="FFFE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1368</Words>
  <Application>Microsoft Macintosh PowerPoint</Application>
  <PresentationFormat>Widescreen</PresentationFormat>
  <Paragraphs>244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5" baseType="lpstr">
      <vt:lpstr>Lobster</vt:lpstr>
      <vt:lpstr>Merriweather</vt:lpstr>
      <vt:lpstr>Roboto</vt:lpstr>
      <vt:lpstr>Bodoni Moda</vt:lpstr>
      <vt:lpstr>Comic Sans MS</vt:lpstr>
      <vt:lpstr>Calibri</vt:lpstr>
      <vt:lpstr>Cambria</vt:lpstr>
      <vt:lpstr>Century Schoolbook</vt:lpstr>
      <vt:lpstr>Oswald</vt:lpstr>
      <vt:lpstr>Arial</vt:lpstr>
      <vt:lpstr>Libre Franklin Medium</vt:lpstr>
      <vt:lpstr>Libre Franklin</vt:lpstr>
      <vt:lpstr>Embedded Diamonds</vt:lpstr>
      <vt:lpstr>Welcome to SGA!</vt:lpstr>
      <vt:lpstr>Agenda</vt:lpstr>
      <vt:lpstr>Guest Speaker</vt:lpstr>
      <vt:lpstr>Exec Reports</vt:lpstr>
      <vt:lpstr>Dean Cassidy - Student Life </vt:lpstr>
      <vt:lpstr>President </vt:lpstr>
      <vt:lpstr>VeePee </vt:lpstr>
      <vt:lpstr>Treasurer </vt:lpstr>
      <vt:lpstr>Secretary </vt:lpstr>
      <vt:lpstr>Parliamentarian </vt:lpstr>
      <vt:lpstr>Academic Affairs </vt:lpstr>
      <vt:lpstr>Representative Reports</vt:lpstr>
      <vt:lpstr>Kelsey Sumter </vt:lpstr>
      <vt:lpstr>Alex Murray </vt:lpstr>
      <vt:lpstr>Sydney Beraho </vt:lpstr>
      <vt:lpstr>Leah Manning </vt:lpstr>
      <vt:lpstr>Mary Boucher </vt:lpstr>
      <vt:lpstr>Deen Deovic </vt:lpstr>
      <vt:lpstr>Jennifer Woollery</vt:lpstr>
      <vt:lpstr>Adara Briceno </vt:lpstr>
      <vt:lpstr>Tate! Denham!</vt:lpstr>
      <vt:lpstr>Caroline Cousar </vt:lpstr>
      <vt:lpstr>Kobby Frempong </vt:lpstr>
      <vt:lpstr>Mariam Nguyen </vt:lpstr>
      <vt:lpstr>Freshmen Reps</vt:lpstr>
      <vt:lpstr>At- Large Reports</vt:lpstr>
      <vt:lpstr>FUSAB         </vt:lpstr>
      <vt:lpstr>RLC- Jeff McLane </vt:lpstr>
      <vt:lpstr>Religious Council - Ruthie Richardson </vt:lpstr>
      <vt:lpstr>Campus Rec - Eva Brooks</vt:lpstr>
      <vt:lpstr>SDC- Abijah Leamon </vt:lpstr>
      <vt:lpstr>Panhel - Katherine Murphy  </vt:lpstr>
      <vt:lpstr>ROTC </vt:lpstr>
      <vt:lpstr>FUOC- Adrian Gonzalez</vt:lpstr>
      <vt:lpstr>International Student Rep</vt:lpstr>
      <vt:lpstr>Committee Reports</vt:lpstr>
      <vt:lpstr>JEDI</vt:lpstr>
      <vt:lpstr>Finance</vt:lpstr>
      <vt:lpstr>Leadership Committee</vt:lpstr>
      <vt:lpstr>New Business</vt:lpstr>
      <vt:lpstr>Old Business</vt:lpstr>
      <vt:lpstr>Open Forum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SGA!</dc:title>
  <dc:creator>Kaylee Welgraven</dc:creator>
  <cp:lastModifiedBy>Carly Gillis2-Student</cp:lastModifiedBy>
  <cp:revision>2</cp:revision>
  <dcterms:created xsi:type="dcterms:W3CDTF">2017-10-16T12:38:22Z</dcterms:created>
  <dcterms:modified xsi:type="dcterms:W3CDTF">2024-09-23T13:30:24Z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0x01010064D2884E5B56A24E8EB547943B5579B3</vt:lpwstr>
  </property>
</Properties>
</file>