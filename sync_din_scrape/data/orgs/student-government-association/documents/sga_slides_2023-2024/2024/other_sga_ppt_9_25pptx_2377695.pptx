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embeddedFontLst>
    <p:embeddedFont>
      <p:font typeface="Bodoni Moda" pitchFamily="2" charset="77"/>
      <p:regular r:id="rId48"/>
      <p:bold r:id="rId49"/>
      <p:italic r:id="rId50"/>
      <p:boldItalic r:id="rId51"/>
    </p:embeddedFont>
    <p:embeddedFont>
      <p:font typeface="Calibri" panose="020F0502020204030204" pitchFamily="34" charset="0"/>
      <p:regular r:id="rId52"/>
      <p:bold r:id="rId53"/>
      <p:italic r:id="rId54"/>
      <p:boldItalic r:id="rId55"/>
    </p:embeddedFont>
    <p:embeddedFont>
      <p:font typeface="Cambria" panose="02040503050406030204" pitchFamily="18" charset="0"/>
      <p:regular r:id="rId56"/>
      <p:bold r:id="rId57"/>
      <p:italic r:id="rId58"/>
      <p:boldItalic r:id="rId59"/>
    </p:embeddedFont>
    <p:embeddedFont>
      <p:font typeface="Century Schoolbook" panose="02040604050505020304" pitchFamily="18" charset="0"/>
      <p:regular r:id="rId60"/>
      <p:bold r:id="rId61"/>
      <p:italic r:id="rId62"/>
      <p:boldItalic r:id="rId63"/>
    </p:embeddedFont>
    <p:embeddedFont>
      <p:font typeface="Comic Sans MS" panose="030F0902030302020204" pitchFamily="66" charset="0"/>
      <p:regular r:id="rId64"/>
    </p:embeddedFont>
    <p:embeddedFont>
      <p:font typeface="Libre Franklin" pitchFamily="2" charset="77"/>
      <p:regular r:id="rId65"/>
      <p:bold r:id="rId66"/>
      <p:italic r:id="rId67"/>
      <p:boldItalic r:id="rId68"/>
    </p:embeddedFont>
    <p:embeddedFont>
      <p:font typeface="Libre Franklin Medium" panose="020F0502020204030204" pitchFamily="34" charset="0"/>
      <p:regular r:id="rId69"/>
      <p:bold r:id="rId70"/>
      <p:italic r:id="rId71"/>
      <p:boldItalic r:id="rId72"/>
    </p:embeddedFont>
    <p:embeddedFont>
      <p:font typeface="Lobster" pitchFamily="2" charset="77"/>
      <p:regular r:id="rId73"/>
    </p:embeddedFont>
    <p:embeddedFont>
      <p:font typeface="Merriweather" pitchFamily="2" charset="77"/>
      <p:regular r:id="rId74"/>
      <p:bold r:id="rId75"/>
      <p:italic r:id="rId76"/>
      <p:boldItalic r:id="rId77"/>
    </p:embeddedFont>
    <p:embeddedFont>
      <p:font typeface="Oswald Medium" pitchFamily="2" charset="77"/>
      <p:regular r:id="rId78"/>
      <p:bold r:id="rId79"/>
    </p:embeddedFont>
    <p:embeddedFont>
      <p:font typeface="Roboto" panose="02000000000000000000" pitchFamily="2" charset="0"/>
      <p:regular r:id="rId80"/>
      <p:bold r:id="rId81"/>
      <p:italic r:id="rId82"/>
      <p:boldItalic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4" roundtripDataSignature="AMtx7mhCFOKt1At6qq+F5VYUmFLb3gr8r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3"/>
  </p:normalViewPr>
  <p:slideViewPr>
    <p:cSldViewPr snapToGrid="0">
      <p:cViewPr varScale="1">
        <p:scale>
          <a:sx n="105" d="100"/>
          <a:sy n="105" d="100"/>
        </p:scale>
        <p:origin x="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notesMaster" Target="notesMasters/notesMaster1.xml"/><Relationship Id="rId63" Type="http://schemas.openxmlformats.org/officeDocument/2006/relationships/font" Target="fonts/font16.fntdata"/><Relationship Id="rId68" Type="http://schemas.openxmlformats.org/officeDocument/2006/relationships/font" Target="fonts/font21.fntdata"/><Relationship Id="rId84" Type="http://customschemas.google.com/relationships/presentationmetadata" Target="meta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font" Target="fonts/font6.fntdata"/><Relationship Id="rId58" Type="http://schemas.openxmlformats.org/officeDocument/2006/relationships/font" Target="fonts/font11.fntdata"/><Relationship Id="rId74" Type="http://schemas.openxmlformats.org/officeDocument/2006/relationships/font" Target="fonts/font27.fntdata"/><Relationship Id="rId79" Type="http://schemas.openxmlformats.org/officeDocument/2006/relationships/font" Target="fonts/font32.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font" Target="fonts/font17.fntdata"/><Relationship Id="rId69" Type="http://schemas.openxmlformats.org/officeDocument/2006/relationships/font" Target="fonts/font22.fntdata"/><Relationship Id="rId77" Type="http://schemas.openxmlformats.org/officeDocument/2006/relationships/font" Target="fonts/font30.fntdata"/><Relationship Id="rId8" Type="http://schemas.openxmlformats.org/officeDocument/2006/relationships/slide" Target="slides/slide7.xml"/><Relationship Id="rId51" Type="http://schemas.openxmlformats.org/officeDocument/2006/relationships/font" Target="fonts/font4.fntdata"/><Relationship Id="rId72" Type="http://schemas.openxmlformats.org/officeDocument/2006/relationships/font" Target="fonts/font25.fntdata"/><Relationship Id="rId80" Type="http://schemas.openxmlformats.org/officeDocument/2006/relationships/font" Target="fonts/font33.fntdata"/><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2.fntdata"/><Relationship Id="rId67"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font" Target="fonts/font15.fntdata"/><Relationship Id="rId70" Type="http://schemas.openxmlformats.org/officeDocument/2006/relationships/font" Target="fonts/font23.fntdata"/><Relationship Id="rId75" Type="http://schemas.openxmlformats.org/officeDocument/2006/relationships/font" Target="fonts/font28.fntdata"/><Relationship Id="rId83" Type="http://schemas.openxmlformats.org/officeDocument/2006/relationships/font" Target="fonts/font36.fntdata"/><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font" Target="fonts/font18.fntdata"/><Relationship Id="rId73" Type="http://schemas.openxmlformats.org/officeDocument/2006/relationships/font" Target="fonts/font26.fntdata"/><Relationship Id="rId78" Type="http://schemas.openxmlformats.org/officeDocument/2006/relationships/font" Target="fonts/font31.fntdata"/><Relationship Id="rId81" Type="http://schemas.openxmlformats.org/officeDocument/2006/relationships/font" Target="fonts/font34.fntdata"/><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3.fntdata"/><Relationship Id="rId55" Type="http://schemas.openxmlformats.org/officeDocument/2006/relationships/font" Target="fonts/font8.fntdata"/><Relationship Id="rId76" Type="http://schemas.openxmlformats.org/officeDocument/2006/relationships/font" Target="fonts/font29.fntdata"/><Relationship Id="rId7" Type="http://schemas.openxmlformats.org/officeDocument/2006/relationships/slide" Target="slides/slide6.xml"/><Relationship Id="rId71" Type="http://schemas.openxmlformats.org/officeDocument/2006/relationships/font" Target="fonts/font2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9.fntdata"/><Relationship Id="rId87" Type="http://schemas.openxmlformats.org/officeDocument/2006/relationships/theme" Target="theme/theme1.xml"/><Relationship Id="rId61" Type="http://schemas.openxmlformats.org/officeDocument/2006/relationships/font" Target="fonts/font14.fntdata"/><Relationship Id="rId82" Type="http://schemas.openxmlformats.org/officeDocument/2006/relationships/font" Target="fonts/font3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 name="Google Shape;7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 name="Google Shape;79;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Google Shape;8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e808c46a9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g1e808c46a9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g1e808c46a9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829f9c74f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829f9c74ff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g2829f9c74ff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829f9c74ff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829f9c74ff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g2829f9c74ff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15a37df3a2b_16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15a37df3a2b_16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g15a37df3a2b_16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119f5cc7372_4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g119f5cc7372_4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119f5cc7372_4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829f9c74ff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829f9c74ff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g2829f9c74ff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829f9c74ff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829f9c74ff_0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g2829f9c74ff_0_1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829f9c74ff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829f9c74ff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g2829f9c74ff_0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829f9c74ff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2829f9c74ff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g2829f9c74ff_0_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829f9c74ff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829f9c74ff_0_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g2829f9c74ff_0_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829f9c74ff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829f9c74ff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g2829f9c74ff_0_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829f9c74ff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829f9c74ff_0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g2829f9c74ff_0_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829f9c74ff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2829f9c74ff_0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g2829f9c74ff_0_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152e01f2e5c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g152e01f2e5c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g152e01f2e5c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1" name="Google Shape;361;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2829f9c74ff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2829f9c74ff_0_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g2829f9c74ff_0_6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1" name="Google Shape;381;p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8" name="Google Shape;388;p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4" name="Google Shape;394;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5" name="Google Shape;395;p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p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New Section Slide" type="title">
  <p:cSld name="TITLE">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5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582C83"/>
              </a:buClr>
              <a:buSzPts val="6000"/>
              <a:buFont typeface="Libre Franklin Medium"/>
              <a:buNone/>
              <a:defRPr sz="6000">
                <a:solidFill>
                  <a:srgbClr val="582C8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5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accent2"/>
              </a:buClr>
              <a:buSzPts val="2400"/>
              <a:buNone/>
              <a:defRPr sz="2400">
                <a:solidFill>
                  <a:schemeClr val="accent2"/>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5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82C8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Purple">
  <p:cSld name="Title Slide-Purple">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60"/>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Libre Franklin Medium"/>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0"/>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6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82C8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1"/>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1"/>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White">
  <p:cSld name="Title Slide-White">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6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582C83"/>
              </a:buClr>
              <a:buSzPts val="6000"/>
              <a:buFont typeface="Libre Franklin Medium"/>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solidFill>
                  <a:schemeClr val="dk1"/>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9"/>
        <p:cNvGrpSpPr/>
        <p:nvPr/>
      </p:nvGrpSpPr>
      <p:grpSpPr>
        <a:xfrm>
          <a:off x="0" y="0"/>
          <a:ext cx="0" cy="0"/>
          <a:chOff x="0" y="0"/>
          <a:chExt cx="0" cy="0"/>
        </a:xfrm>
      </p:grpSpPr>
      <p:sp>
        <p:nvSpPr>
          <p:cNvPr id="30" name="Google Shape;30;p64"/>
          <p:cNvSpPr txBox="1">
            <a:spLocks noGrp="1"/>
          </p:cNvSpPr>
          <p:nvPr>
            <p:ph type="title"/>
          </p:nvPr>
        </p:nvSpPr>
        <p:spPr>
          <a:xfrm>
            <a:off x="950967" y="719367"/>
            <a:ext cx="10290000" cy="6375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4400"/>
              <a:buFont typeface="Bodoni Moda"/>
              <a:buNone/>
              <a:defRPr>
                <a:latin typeface="Bodoni Moda"/>
                <a:ea typeface="Bodoni Moda"/>
                <a:cs typeface="Bodoni Moda"/>
                <a:sym typeface="Bodoni Moda"/>
              </a:defRPr>
            </a:lvl1pPr>
            <a:lvl2pPr lvl="1" algn="l">
              <a:lnSpc>
                <a:spcPct val="100000"/>
              </a:lnSpc>
              <a:spcBef>
                <a:spcPts val="0"/>
              </a:spcBef>
              <a:spcAft>
                <a:spcPts val="0"/>
              </a:spcAft>
              <a:buSzPts val="1400"/>
              <a:buFont typeface="Bodoni Moda"/>
              <a:buNone/>
              <a:defRPr>
                <a:latin typeface="Bodoni Moda"/>
                <a:ea typeface="Bodoni Moda"/>
                <a:cs typeface="Bodoni Moda"/>
                <a:sym typeface="Bodoni Moda"/>
              </a:defRPr>
            </a:lvl2pPr>
            <a:lvl3pPr lvl="2" algn="l">
              <a:lnSpc>
                <a:spcPct val="100000"/>
              </a:lnSpc>
              <a:spcBef>
                <a:spcPts val="0"/>
              </a:spcBef>
              <a:spcAft>
                <a:spcPts val="0"/>
              </a:spcAft>
              <a:buSzPts val="1400"/>
              <a:buFont typeface="Bodoni Moda"/>
              <a:buNone/>
              <a:defRPr>
                <a:latin typeface="Bodoni Moda"/>
                <a:ea typeface="Bodoni Moda"/>
                <a:cs typeface="Bodoni Moda"/>
                <a:sym typeface="Bodoni Moda"/>
              </a:defRPr>
            </a:lvl3pPr>
            <a:lvl4pPr lvl="3" algn="l">
              <a:lnSpc>
                <a:spcPct val="100000"/>
              </a:lnSpc>
              <a:spcBef>
                <a:spcPts val="0"/>
              </a:spcBef>
              <a:spcAft>
                <a:spcPts val="0"/>
              </a:spcAft>
              <a:buSzPts val="1400"/>
              <a:buFont typeface="Bodoni Moda"/>
              <a:buNone/>
              <a:defRPr>
                <a:latin typeface="Bodoni Moda"/>
                <a:ea typeface="Bodoni Moda"/>
                <a:cs typeface="Bodoni Moda"/>
                <a:sym typeface="Bodoni Moda"/>
              </a:defRPr>
            </a:lvl4pPr>
            <a:lvl5pPr lvl="4" algn="l">
              <a:lnSpc>
                <a:spcPct val="100000"/>
              </a:lnSpc>
              <a:spcBef>
                <a:spcPts val="0"/>
              </a:spcBef>
              <a:spcAft>
                <a:spcPts val="0"/>
              </a:spcAft>
              <a:buSzPts val="1400"/>
              <a:buFont typeface="Bodoni Moda"/>
              <a:buNone/>
              <a:defRPr>
                <a:latin typeface="Bodoni Moda"/>
                <a:ea typeface="Bodoni Moda"/>
                <a:cs typeface="Bodoni Moda"/>
                <a:sym typeface="Bodoni Moda"/>
              </a:defRPr>
            </a:lvl5pPr>
            <a:lvl6pPr lvl="5" algn="l">
              <a:lnSpc>
                <a:spcPct val="100000"/>
              </a:lnSpc>
              <a:spcBef>
                <a:spcPts val="0"/>
              </a:spcBef>
              <a:spcAft>
                <a:spcPts val="0"/>
              </a:spcAft>
              <a:buSzPts val="1400"/>
              <a:buFont typeface="Bodoni Moda"/>
              <a:buNone/>
              <a:defRPr>
                <a:latin typeface="Bodoni Moda"/>
                <a:ea typeface="Bodoni Moda"/>
                <a:cs typeface="Bodoni Moda"/>
                <a:sym typeface="Bodoni Moda"/>
              </a:defRPr>
            </a:lvl6pPr>
            <a:lvl7pPr lvl="6" algn="l">
              <a:lnSpc>
                <a:spcPct val="100000"/>
              </a:lnSpc>
              <a:spcBef>
                <a:spcPts val="0"/>
              </a:spcBef>
              <a:spcAft>
                <a:spcPts val="0"/>
              </a:spcAft>
              <a:buSzPts val="1400"/>
              <a:buFont typeface="Bodoni Moda"/>
              <a:buNone/>
              <a:defRPr>
                <a:latin typeface="Bodoni Moda"/>
                <a:ea typeface="Bodoni Moda"/>
                <a:cs typeface="Bodoni Moda"/>
                <a:sym typeface="Bodoni Moda"/>
              </a:defRPr>
            </a:lvl7pPr>
            <a:lvl8pPr lvl="7" algn="l">
              <a:lnSpc>
                <a:spcPct val="100000"/>
              </a:lnSpc>
              <a:spcBef>
                <a:spcPts val="0"/>
              </a:spcBef>
              <a:spcAft>
                <a:spcPts val="0"/>
              </a:spcAft>
              <a:buSzPts val="1400"/>
              <a:buFont typeface="Bodoni Moda"/>
              <a:buNone/>
              <a:defRPr>
                <a:latin typeface="Bodoni Moda"/>
                <a:ea typeface="Bodoni Moda"/>
                <a:cs typeface="Bodoni Moda"/>
                <a:sym typeface="Bodoni Moda"/>
              </a:defRPr>
            </a:lvl8pPr>
            <a:lvl9pPr lvl="8" algn="l">
              <a:lnSpc>
                <a:spcPct val="100000"/>
              </a:lnSpc>
              <a:spcBef>
                <a:spcPts val="0"/>
              </a:spcBef>
              <a:spcAft>
                <a:spcPts val="0"/>
              </a:spcAft>
              <a:buSzPts val="1400"/>
              <a:buFont typeface="Bodoni Moda"/>
              <a:buNone/>
              <a:defRPr>
                <a:latin typeface="Bodoni Moda"/>
                <a:ea typeface="Bodoni Moda"/>
                <a:cs typeface="Bodoni Moda"/>
                <a:sym typeface="Bodoni Moda"/>
              </a:defRPr>
            </a:lvl9pPr>
          </a:lstStyle>
          <a:p>
            <a:endParaRPr/>
          </a:p>
        </p:txBody>
      </p:sp>
      <p:sp>
        <p:nvSpPr>
          <p:cNvPr id="31" name="Google Shape;31;p64"/>
          <p:cNvSpPr txBox="1">
            <a:spLocks noGrp="1"/>
          </p:cNvSpPr>
          <p:nvPr>
            <p:ph type="subTitle" idx="1"/>
          </p:nvPr>
        </p:nvSpPr>
        <p:spPr>
          <a:xfrm>
            <a:off x="2673667" y="27497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2" name="Google Shape;32;p64"/>
          <p:cNvSpPr txBox="1">
            <a:spLocks noGrp="1"/>
          </p:cNvSpPr>
          <p:nvPr>
            <p:ph type="subTitle" idx="2"/>
          </p:nvPr>
        </p:nvSpPr>
        <p:spPr>
          <a:xfrm>
            <a:off x="2673667" y="22686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3" name="Google Shape;33;p64"/>
          <p:cNvSpPr txBox="1">
            <a:spLocks noGrp="1"/>
          </p:cNvSpPr>
          <p:nvPr>
            <p:ph type="subTitle" idx="3"/>
          </p:nvPr>
        </p:nvSpPr>
        <p:spPr>
          <a:xfrm>
            <a:off x="2673667" y="44636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4" name="Google Shape;34;p64"/>
          <p:cNvSpPr txBox="1">
            <a:spLocks noGrp="1"/>
          </p:cNvSpPr>
          <p:nvPr>
            <p:ph type="subTitle" idx="4"/>
          </p:nvPr>
        </p:nvSpPr>
        <p:spPr>
          <a:xfrm>
            <a:off x="2673667" y="39825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5" name="Google Shape;35;p64"/>
          <p:cNvSpPr txBox="1">
            <a:spLocks noGrp="1"/>
          </p:cNvSpPr>
          <p:nvPr>
            <p:ph type="subTitle" idx="5"/>
          </p:nvPr>
        </p:nvSpPr>
        <p:spPr>
          <a:xfrm>
            <a:off x="7864400" y="27497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6" name="Google Shape;36;p64"/>
          <p:cNvSpPr txBox="1">
            <a:spLocks noGrp="1"/>
          </p:cNvSpPr>
          <p:nvPr>
            <p:ph type="subTitle" idx="6"/>
          </p:nvPr>
        </p:nvSpPr>
        <p:spPr>
          <a:xfrm>
            <a:off x="7864400" y="22686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7" name="Google Shape;37;p64"/>
          <p:cNvSpPr txBox="1">
            <a:spLocks noGrp="1"/>
          </p:cNvSpPr>
          <p:nvPr>
            <p:ph type="subTitle" idx="7"/>
          </p:nvPr>
        </p:nvSpPr>
        <p:spPr>
          <a:xfrm>
            <a:off x="7864400" y="44636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8" name="Google Shape;38;p64"/>
          <p:cNvSpPr txBox="1">
            <a:spLocks noGrp="1"/>
          </p:cNvSpPr>
          <p:nvPr>
            <p:ph type="subTitle" idx="8"/>
          </p:nvPr>
        </p:nvSpPr>
        <p:spPr>
          <a:xfrm>
            <a:off x="7864400" y="39825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9" name="Google Shape;39;p64"/>
          <p:cNvSpPr txBox="1">
            <a:spLocks noGrp="1"/>
          </p:cNvSpPr>
          <p:nvPr>
            <p:ph type="title" idx="9"/>
          </p:nvPr>
        </p:nvSpPr>
        <p:spPr>
          <a:xfrm>
            <a:off x="1507000"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0" name="Google Shape;40;p64"/>
          <p:cNvSpPr txBox="1">
            <a:spLocks noGrp="1"/>
          </p:cNvSpPr>
          <p:nvPr>
            <p:ph type="title" idx="13"/>
          </p:nvPr>
        </p:nvSpPr>
        <p:spPr>
          <a:xfrm>
            <a:off x="1507000"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1" name="Google Shape;41;p64"/>
          <p:cNvSpPr txBox="1">
            <a:spLocks noGrp="1"/>
          </p:cNvSpPr>
          <p:nvPr>
            <p:ph type="title" idx="14"/>
          </p:nvPr>
        </p:nvSpPr>
        <p:spPr>
          <a:xfrm>
            <a:off x="6697733"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2" name="Google Shape;42;p64"/>
          <p:cNvSpPr txBox="1">
            <a:spLocks noGrp="1"/>
          </p:cNvSpPr>
          <p:nvPr>
            <p:ph type="title" idx="15"/>
          </p:nvPr>
        </p:nvSpPr>
        <p:spPr>
          <a:xfrm>
            <a:off x="6697733"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3" name="Google Shape;43;p64"/>
          <p:cNvSpPr/>
          <p:nvPr/>
        </p:nvSpPr>
        <p:spPr>
          <a:xfrm>
            <a:off x="414967" y="501133"/>
            <a:ext cx="1071900" cy="1071900"/>
          </a:xfrm>
          <a:prstGeom prst="star8">
            <a:avLst>
              <a:gd name="adj" fmla="val 24675"/>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4" name="Google Shape;44;p64"/>
          <p:cNvCxnSpPr>
            <a:stCxn id="43" idx="2"/>
          </p:cNvCxnSpPr>
          <p:nvPr/>
        </p:nvCxnSpPr>
        <p:spPr>
          <a:xfrm>
            <a:off x="950917" y="1573033"/>
            <a:ext cx="0" cy="5460300"/>
          </a:xfrm>
          <a:prstGeom prst="straightConnector1">
            <a:avLst/>
          </a:prstGeom>
          <a:noFill/>
          <a:ln w="19050" cap="flat" cmpd="sng">
            <a:solidFill>
              <a:schemeClr val="accent1"/>
            </a:solidFill>
            <a:prstDash val="solid"/>
            <a:round/>
            <a:headEnd type="none" w="sm" len="sm"/>
            <a:tailEnd type="none" w="sm" len="sm"/>
          </a:ln>
        </p:spPr>
      </p:cxnSp>
      <p:grpSp>
        <p:nvGrpSpPr>
          <p:cNvPr id="45" name="Google Shape;45;p64"/>
          <p:cNvGrpSpPr/>
          <p:nvPr/>
        </p:nvGrpSpPr>
        <p:grpSpPr>
          <a:xfrm>
            <a:off x="1518662" y="5939602"/>
            <a:ext cx="9660958" cy="385590"/>
            <a:chOff x="1139025" y="4454813"/>
            <a:chExt cx="7245900" cy="289200"/>
          </a:xfrm>
        </p:grpSpPr>
        <p:cxnSp>
          <p:nvCxnSpPr>
            <p:cNvPr id="46" name="Google Shape;46;p64"/>
            <p:cNvCxnSpPr/>
            <p:nvPr/>
          </p:nvCxnSpPr>
          <p:spPr>
            <a:xfrm>
              <a:off x="1139025" y="4599425"/>
              <a:ext cx="7245900" cy="0"/>
            </a:xfrm>
            <a:prstGeom prst="straightConnector1">
              <a:avLst/>
            </a:prstGeom>
            <a:noFill/>
            <a:ln w="19050" cap="flat" cmpd="sng">
              <a:solidFill>
                <a:schemeClr val="accent1"/>
              </a:solidFill>
              <a:prstDash val="solid"/>
              <a:round/>
              <a:headEnd type="none" w="sm" len="sm"/>
              <a:tailEnd type="none" w="sm" len="sm"/>
            </a:ln>
          </p:spPr>
        </p:cxnSp>
        <p:sp>
          <p:nvSpPr>
            <p:cNvPr id="47" name="Google Shape;47;p64"/>
            <p:cNvSpPr/>
            <p:nvPr/>
          </p:nvSpPr>
          <p:spPr>
            <a:xfrm rot="5400000">
              <a:off x="75077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64"/>
            <p:cNvSpPr/>
            <p:nvPr/>
          </p:nvSpPr>
          <p:spPr>
            <a:xfrm rot="5400000">
              <a:off x="782805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64"/>
            <p:cNvSpPr/>
            <p:nvPr/>
          </p:nvSpPr>
          <p:spPr>
            <a:xfrm rot="5400000">
              <a:off x="81483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64"/>
            <p:cNvSpPr/>
            <p:nvPr/>
          </p:nvSpPr>
          <p:spPr>
            <a:xfrm rot="5400000">
              <a:off x="41071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64"/>
            <p:cNvSpPr/>
            <p:nvPr/>
          </p:nvSpPr>
          <p:spPr>
            <a:xfrm rot="5400000">
              <a:off x="442740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64"/>
            <p:cNvSpPr/>
            <p:nvPr/>
          </p:nvSpPr>
          <p:spPr>
            <a:xfrm rot="5400000">
              <a:off x="47476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
        <p:cNvGrpSpPr/>
        <p:nvPr/>
      </p:nvGrpSpPr>
      <p:grpSpPr>
        <a:xfrm>
          <a:off x="0" y="0"/>
          <a:ext cx="0" cy="0"/>
          <a:chOff x="0" y="0"/>
          <a:chExt cx="0" cy="0"/>
        </a:xfrm>
      </p:grpSpPr>
      <p:sp>
        <p:nvSpPr>
          <p:cNvPr id="54" name="Google Shape;54;p65"/>
          <p:cNvSpPr txBox="1">
            <a:spLocks noGrp="1"/>
          </p:cNvSpPr>
          <p:nvPr>
            <p:ph type="title"/>
          </p:nvPr>
        </p:nvSpPr>
        <p:spPr>
          <a:xfrm>
            <a:off x="3056600" y="3275967"/>
            <a:ext cx="6078900" cy="908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a:endParaRPr/>
          </a:p>
        </p:txBody>
      </p:sp>
      <p:sp>
        <p:nvSpPr>
          <p:cNvPr id="55" name="Google Shape;55;p65"/>
          <p:cNvSpPr txBox="1">
            <a:spLocks noGrp="1"/>
          </p:cNvSpPr>
          <p:nvPr>
            <p:ph type="subTitle" idx="1"/>
          </p:nvPr>
        </p:nvSpPr>
        <p:spPr>
          <a:xfrm>
            <a:off x="4144200" y="4410633"/>
            <a:ext cx="3903600" cy="9273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300"/>
              <a:buNone/>
              <a:defRPr sz="2300"/>
            </a:lvl1pPr>
            <a:lvl2pPr lvl="1" algn="ctr">
              <a:lnSpc>
                <a:spcPct val="100000"/>
              </a:lnSpc>
              <a:spcBef>
                <a:spcPts val="500"/>
              </a:spcBef>
              <a:spcAft>
                <a:spcPts val="0"/>
              </a:spcAft>
              <a:buSzPts val="2300"/>
              <a:buNone/>
              <a:defRPr sz="2300"/>
            </a:lvl2pPr>
            <a:lvl3pPr lvl="2" algn="ctr">
              <a:lnSpc>
                <a:spcPct val="100000"/>
              </a:lnSpc>
              <a:spcBef>
                <a:spcPts val="500"/>
              </a:spcBef>
              <a:spcAft>
                <a:spcPts val="0"/>
              </a:spcAft>
              <a:buSzPts val="2300"/>
              <a:buNone/>
              <a:defRPr sz="2300"/>
            </a:lvl3pPr>
            <a:lvl4pPr lvl="3" algn="ctr">
              <a:lnSpc>
                <a:spcPct val="100000"/>
              </a:lnSpc>
              <a:spcBef>
                <a:spcPts val="500"/>
              </a:spcBef>
              <a:spcAft>
                <a:spcPts val="0"/>
              </a:spcAft>
              <a:buSzPts val="2300"/>
              <a:buNone/>
              <a:defRPr sz="2300"/>
            </a:lvl4pPr>
            <a:lvl5pPr lvl="4" algn="ctr">
              <a:lnSpc>
                <a:spcPct val="100000"/>
              </a:lnSpc>
              <a:spcBef>
                <a:spcPts val="500"/>
              </a:spcBef>
              <a:spcAft>
                <a:spcPts val="0"/>
              </a:spcAft>
              <a:buSzPts val="2300"/>
              <a:buNone/>
              <a:defRPr sz="2300"/>
            </a:lvl5pPr>
            <a:lvl6pPr lvl="5" algn="ctr">
              <a:lnSpc>
                <a:spcPct val="100000"/>
              </a:lnSpc>
              <a:spcBef>
                <a:spcPts val="500"/>
              </a:spcBef>
              <a:spcAft>
                <a:spcPts val="0"/>
              </a:spcAft>
              <a:buSzPts val="2300"/>
              <a:buNone/>
              <a:defRPr sz="2300"/>
            </a:lvl6pPr>
            <a:lvl7pPr lvl="6" algn="ctr">
              <a:lnSpc>
                <a:spcPct val="100000"/>
              </a:lnSpc>
              <a:spcBef>
                <a:spcPts val="500"/>
              </a:spcBef>
              <a:spcAft>
                <a:spcPts val="0"/>
              </a:spcAft>
              <a:buSzPts val="2300"/>
              <a:buNone/>
              <a:defRPr sz="2300"/>
            </a:lvl7pPr>
            <a:lvl8pPr lvl="7" algn="ctr">
              <a:lnSpc>
                <a:spcPct val="100000"/>
              </a:lnSpc>
              <a:spcBef>
                <a:spcPts val="500"/>
              </a:spcBef>
              <a:spcAft>
                <a:spcPts val="0"/>
              </a:spcAft>
              <a:buSzPts val="2300"/>
              <a:buNone/>
              <a:defRPr sz="2300"/>
            </a:lvl8pPr>
            <a:lvl9pPr lvl="8" algn="ctr">
              <a:lnSpc>
                <a:spcPct val="100000"/>
              </a:lnSpc>
              <a:spcBef>
                <a:spcPts val="500"/>
              </a:spcBef>
              <a:spcAft>
                <a:spcPts val="0"/>
              </a:spcAft>
              <a:buSzPts val="2300"/>
              <a:buNone/>
              <a:defRPr sz="2300"/>
            </a:lvl9pPr>
          </a:lstStyle>
          <a:p>
            <a:endParaRPr/>
          </a:p>
        </p:txBody>
      </p:sp>
      <p:sp>
        <p:nvSpPr>
          <p:cNvPr id="56" name="Google Shape;56;p65"/>
          <p:cNvSpPr txBox="1">
            <a:spLocks noGrp="1"/>
          </p:cNvSpPr>
          <p:nvPr>
            <p:ph type="title" idx="2"/>
          </p:nvPr>
        </p:nvSpPr>
        <p:spPr>
          <a:xfrm>
            <a:off x="5355400" y="1481256"/>
            <a:ext cx="1481100" cy="14820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a:endParaRPr/>
          </a:p>
        </p:txBody>
      </p:sp>
      <p:grpSp>
        <p:nvGrpSpPr>
          <p:cNvPr id="57" name="Google Shape;57;p65"/>
          <p:cNvGrpSpPr/>
          <p:nvPr/>
        </p:nvGrpSpPr>
        <p:grpSpPr>
          <a:xfrm>
            <a:off x="761881" y="720799"/>
            <a:ext cx="3488379" cy="3310684"/>
            <a:chOff x="571425" y="540613"/>
            <a:chExt cx="2616350" cy="2483075"/>
          </a:xfrm>
        </p:grpSpPr>
        <p:sp>
          <p:nvSpPr>
            <p:cNvPr id="58" name="Google Shape;58;p65"/>
            <p:cNvSpPr/>
            <p:nvPr/>
          </p:nvSpPr>
          <p:spPr>
            <a:xfrm>
              <a:off x="717275" y="540613"/>
              <a:ext cx="2470500" cy="2483075"/>
            </a:xfrm>
            <a:custGeom>
              <a:avLst/>
              <a:gdLst/>
              <a:ahLst/>
              <a:cxnLst/>
              <a:rect l="l" t="t" r="r" b="b"/>
              <a:pathLst>
                <a:path w="98820" h="99323" extrusionOk="0">
                  <a:moveTo>
                    <a:pt x="0" y="99323"/>
                  </a:moveTo>
                  <a:lnTo>
                    <a:pt x="0" y="0"/>
                  </a:lnTo>
                  <a:lnTo>
                    <a:pt x="98820" y="0"/>
                  </a:lnTo>
                </a:path>
              </a:pathLst>
            </a:custGeom>
            <a:noFill/>
            <a:ln w="19050" cap="flat" cmpd="sng">
              <a:solidFill>
                <a:schemeClr val="accent1"/>
              </a:solidFill>
              <a:prstDash val="solid"/>
              <a:round/>
              <a:headEnd type="none" w="sm" len="sm"/>
              <a:tailEnd type="none" w="sm" len="sm"/>
            </a:ln>
          </p:spPr>
        </p:sp>
        <p:sp>
          <p:nvSpPr>
            <p:cNvPr id="59" name="Google Shape;59;p65"/>
            <p:cNvSpPr/>
            <p:nvPr/>
          </p:nvSpPr>
          <p:spPr>
            <a:xfrm>
              <a:off x="583350" y="201047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65"/>
            <p:cNvSpPr/>
            <p:nvPr/>
          </p:nvSpPr>
          <p:spPr>
            <a:xfrm>
              <a:off x="583350" y="1690200"/>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65"/>
            <p:cNvSpPr/>
            <p:nvPr/>
          </p:nvSpPr>
          <p:spPr>
            <a:xfrm>
              <a:off x="571425" y="136992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2" name="Google Shape;62;p65"/>
          <p:cNvGrpSpPr/>
          <p:nvPr/>
        </p:nvGrpSpPr>
        <p:grpSpPr>
          <a:xfrm>
            <a:off x="9969882" y="4635916"/>
            <a:ext cx="4444239" cy="4444174"/>
            <a:chOff x="-1157850" y="-1175191"/>
            <a:chExt cx="2325853" cy="2325818"/>
          </a:xfrm>
        </p:grpSpPr>
        <p:sp>
          <p:nvSpPr>
            <p:cNvPr id="63" name="Google Shape;63;p65"/>
            <p:cNvSpPr/>
            <p:nvPr/>
          </p:nvSpPr>
          <p:spPr>
            <a:xfrm>
              <a:off x="-1157850" y="-1175191"/>
              <a:ext cx="2325853" cy="2325818"/>
            </a:xfrm>
            <a:custGeom>
              <a:avLst/>
              <a:gdLst/>
              <a:ahLst/>
              <a:cxnLst/>
              <a:rect l="l" t="t" r="r" b="b"/>
              <a:pathLst>
                <a:path w="67819" h="67818" fill="none" extrusionOk="0">
                  <a:moveTo>
                    <a:pt x="55741" y="12077"/>
                  </a:moveTo>
                  <a:cubicBezTo>
                    <a:pt x="67818" y="24133"/>
                    <a:pt x="67818" y="43684"/>
                    <a:pt x="55741" y="55741"/>
                  </a:cubicBezTo>
                  <a:cubicBezTo>
                    <a:pt x="43685" y="67818"/>
                    <a:pt x="24134" y="67818"/>
                    <a:pt x="12078" y="55741"/>
                  </a:cubicBezTo>
                  <a:cubicBezTo>
                    <a:pt x="1" y="43684"/>
                    <a:pt x="1" y="24133"/>
                    <a:pt x="12078" y="12077"/>
                  </a:cubicBezTo>
                  <a:cubicBezTo>
                    <a:pt x="24134" y="0"/>
                    <a:pt x="43685" y="0"/>
                    <a:pt x="55741" y="120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65"/>
            <p:cNvSpPr/>
            <p:nvPr/>
          </p:nvSpPr>
          <p:spPr>
            <a:xfrm>
              <a:off x="-969954" y="-987329"/>
              <a:ext cx="1950048" cy="1950082"/>
            </a:xfrm>
            <a:custGeom>
              <a:avLst/>
              <a:gdLst/>
              <a:ahLst/>
              <a:cxnLst/>
              <a:rect l="l" t="t" r="r" b="b"/>
              <a:pathLst>
                <a:path w="56861" h="56862" fill="none" extrusionOk="0">
                  <a:moveTo>
                    <a:pt x="46739" y="10122"/>
                  </a:moveTo>
                  <a:cubicBezTo>
                    <a:pt x="56861" y="20224"/>
                    <a:pt x="56861" y="36638"/>
                    <a:pt x="46739" y="46740"/>
                  </a:cubicBezTo>
                  <a:cubicBezTo>
                    <a:pt x="36638" y="56861"/>
                    <a:pt x="20223" y="56861"/>
                    <a:pt x="10122" y="46740"/>
                  </a:cubicBezTo>
                  <a:cubicBezTo>
                    <a:pt x="0" y="36638"/>
                    <a:pt x="0" y="20224"/>
                    <a:pt x="10122" y="10122"/>
                  </a:cubicBezTo>
                  <a:cubicBezTo>
                    <a:pt x="20223" y="1"/>
                    <a:pt x="36638" y="1"/>
                    <a:pt x="46739" y="10122"/>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65"/>
            <p:cNvSpPr/>
            <p:nvPr/>
          </p:nvSpPr>
          <p:spPr>
            <a:xfrm>
              <a:off x="-782092" y="-799467"/>
              <a:ext cx="1574312" cy="1574312"/>
            </a:xfrm>
            <a:custGeom>
              <a:avLst/>
              <a:gdLst/>
              <a:ahLst/>
              <a:cxnLst/>
              <a:rect l="l" t="t" r="r" b="b"/>
              <a:pathLst>
                <a:path w="45905" h="45905" fill="none" extrusionOk="0">
                  <a:moveTo>
                    <a:pt x="37738" y="8167"/>
                  </a:moveTo>
                  <a:cubicBezTo>
                    <a:pt x="45905" y="16334"/>
                    <a:pt x="45905" y="29572"/>
                    <a:pt x="37738" y="37738"/>
                  </a:cubicBezTo>
                  <a:cubicBezTo>
                    <a:pt x="29571" y="45905"/>
                    <a:pt x="16334" y="45905"/>
                    <a:pt x="8167" y="37738"/>
                  </a:cubicBezTo>
                  <a:cubicBezTo>
                    <a:pt x="0" y="29572"/>
                    <a:pt x="0" y="16334"/>
                    <a:pt x="8167" y="8167"/>
                  </a:cubicBezTo>
                  <a:cubicBezTo>
                    <a:pt x="16334" y="1"/>
                    <a:pt x="29571" y="1"/>
                    <a:pt x="37738" y="816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65"/>
            <p:cNvSpPr/>
            <p:nvPr/>
          </p:nvSpPr>
          <p:spPr>
            <a:xfrm>
              <a:off x="-617962" y="-636023"/>
              <a:ext cx="1246760" cy="1247446"/>
            </a:xfrm>
            <a:custGeom>
              <a:avLst/>
              <a:gdLst/>
              <a:ahLst/>
              <a:cxnLst/>
              <a:rect l="l" t="t" r="r" b="b"/>
              <a:pathLst>
                <a:path w="36354" h="36374" fill="none" extrusionOk="0">
                  <a:moveTo>
                    <a:pt x="25926" y="4277"/>
                  </a:moveTo>
                  <a:cubicBezTo>
                    <a:pt x="33604" y="8554"/>
                    <a:pt x="36353" y="18248"/>
                    <a:pt x="32076" y="25926"/>
                  </a:cubicBezTo>
                  <a:cubicBezTo>
                    <a:pt x="27799" y="33624"/>
                    <a:pt x="18105" y="36373"/>
                    <a:pt x="10428" y="32097"/>
                  </a:cubicBezTo>
                  <a:cubicBezTo>
                    <a:pt x="2750" y="27799"/>
                    <a:pt x="0" y="18105"/>
                    <a:pt x="4277" y="10428"/>
                  </a:cubicBezTo>
                  <a:cubicBezTo>
                    <a:pt x="8554" y="2750"/>
                    <a:pt x="18248" y="0"/>
                    <a:pt x="25926" y="42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65"/>
            <p:cNvSpPr/>
            <p:nvPr/>
          </p:nvSpPr>
          <p:spPr>
            <a:xfrm>
              <a:off x="-423104" y="-440479"/>
              <a:ext cx="856312" cy="856312"/>
            </a:xfrm>
            <a:custGeom>
              <a:avLst/>
              <a:gdLst/>
              <a:ahLst/>
              <a:cxnLst/>
              <a:rect l="l" t="t" r="r" b="b"/>
              <a:pathLst>
                <a:path w="24969" h="24969" fill="none" extrusionOk="0">
                  <a:moveTo>
                    <a:pt x="17861" y="2974"/>
                  </a:moveTo>
                  <a:cubicBezTo>
                    <a:pt x="23115" y="5948"/>
                    <a:pt x="24969" y="12607"/>
                    <a:pt x="21995" y="17861"/>
                  </a:cubicBezTo>
                  <a:cubicBezTo>
                    <a:pt x="19042" y="23116"/>
                    <a:pt x="12362" y="24969"/>
                    <a:pt x="7108" y="21996"/>
                  </a:cubicBezTo>
                  <a:cubicBezTo>
                    <a:pt x="1854" y="19022"/>
                    <a:pt x="0" y="12363"/>
                    <a:pt x="2974" y="7108"/>
                  </a:cubicBezTo>
                  <a:cubicBezTo>
                    <a:pt x="5947" y="1854"/>
                    <a:pt x="12607" y="1"/>
                    <a:pt x="17861" y="2974"/>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65"/>
            <p:cNvSpPr/>
            <p:nvPr/>
          </p:nvSpPr>
          <p:spPr>
            <a:xfrm>
              <a:off x="-226155" y="-243530"/>
              <a:ext cx="463085" cy="462399"/>
            </a:xfrm>
            <a:custGeom>
              <a:avLst/>
              <a:gdLst/>
              <a:ahLst/>
              <a:cxnLst/>
              <a:rect l="l" t="t" r="r" b="b"/>
              <a:pathLst>
                <a:path w="13503" h="13483" fill="none" extrusionOk="0">
                  <a:moveTo>
                    <a:pt x="11609" y="3341"/>
                  </a:moveTo>
                  <a:cubicBezTo>
                    <a:pt x="13503" y="6029"/>
                    <a:pt x="12851" y="9736"/>
                    <a:pt x="10163" y="11609"/>
                  </a:cubicBezTo>
                  <a:cubicBezTo>
                    <a:pt x="7475" y="13483"/>
                    <a:pt x="3768" y="12831"/>
                    <a:pt x="1895" y="10143"/>
                  </a:cubicBezTo>
                  <a:cubicBezTo>
                    <a:pt x="0" y="7455"/>
                    <a:pt x="652" y="3769"/>
                    <a:pt x="3340" y="1875"/>
                  </a:cubicBezTo>
                  <a:cubicBezTo>
                    <a:pt x="6029" y="1"/>
                    <a:pt x="9735" y="653"/>
                    <a:pt x="11609" y="3341"/>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582C83"/>
              </a:buClr>
              <a:buSzPts val="4400"/>
              <a:buFont typeface="Libre Franklin Medium"/>
              <a:buNone/>
              <a:defRPr sz="4400" b="0" i="0" u="none" strike="noStrike" cap="none">
                <a:solidFill>
                  <a:srgbClr val="582C83"/>
                </a:solidFill>
                <a:latin typeface="Libre Franklin Medium"/>
                <a:ea typeface="Libre Franklin Medium"/>
                <a:cs typeface="Libre Franklin Medium"/>
                <a:sym typeface="Libre Franklin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Arial"/>
              <a:buChar char="•"/>
              <a:defRPr sz="2800" b="0" i="0" u="none" strike="noStrike" cap="none">
                <a:solidFill>
                  <a:schemeClr val="accent2"/>
                </a:solidFill>
                <a:latin typeface="Century Schoolbook"/>
                <a:ea typeface="Century Schoolbook"/>
                <a:cs typeface="Century Schoolbook"/>
                <a:sym typeface="Century Schoolbook"/>
              </a:defRPr>
            </a:lvl1pPr>
            <a:lvl2pPr marL="914400" marR="0" lvl="1" indent="-381000" algn="l" rtl="0">
              <a:lnSpc>
                <a:spcPct val="90000"/>
              </a:lnSpc>
              <a:spcBef>
                <a:spcPts val="500"/>
              </a:spcBef>
              <a:spcAft>
                <a:spcPts val="0"/>
              </a:spcAft>
              <a:buClr>
                <a:schemeClr val="accent2"/>
              </a:buClr>
              <a:buSzPts val="2400"/>
              <a:buFont typeface="Arial"/>
              <a:buChar char="•"/>
              <a:defRPr sz="2400" b="0" i="0" u="none" strike="noStrike" cap="none">
                <a:solidFill>
                  <a:schemeClr val="accent2"/>
                </a:solidFill>
                <a:latin typeface="Century Schoolbook"/>
                <a:ea typeface="Century Schoolbook"/>
                <a:cs typeface="Century Schoolbook"/>
                <a:sym typeface="Century Schoolbook"/>
              </a:defRPr>
            </a:lvl2pPr>
            <a:lvl3pPr marL="1371600" marR="0" lvl="2" indent="-355600" algn="l" rtl="0">
              <a:lnSpc>
                <a:spcPct val="90000"/>
              </a:lnSpc>
              <a:spcBef>
                <a:spcPts val="500"/>
              </a:spcBef>
              <a:spcAft>
                <a:spcPts val="0"/>
              </a:spcAft>
              <a:buClr>
                <a:schemeClr val="accent2"/>
              </a:buClr>
              <a:buSzPts val="2000"/>
              <a:buFont typeface="Arial"/>
              <a:buChar char="•"/>
              <a:defRPr sz="2000" b="0" i="0" u="none" strike="noStrike" cap="none">
                <a:solidFill>
                  <a:schemeClr val="accent2"/>
                </a:solidFill>
                <a:latin typeface="Century Schoolbook"/>
                <a:ea typeface="Century Schoolbook"/>
                <a:cs typeface="Century Schoolbook"/>
                <a:sym typeface="Century Schoolbook"/>
              </a:defRPr>
            </a:lvl3pPr>
            <a:lvl4pPr marL="1828800" marR="0" lvl="3"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4pPr>
            <a:lvl5pPr marL="2286000" marR="0" lvl="4"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youtu.be/4r7wHMg5Yjg"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
          <p:cNvSpPr txBox="1">
            <a:spLocks noGrp="1"/>
          </p:cNvSpPr>
          <p:nvPr>
            <p:ph type="ctrTitle"/>
          </p:nvPr>
        </p:nvSpPr>
        <p:spPr>
          <a:xfrm>
            <a:off x="1524000" y="24936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582C83"/>
              </a:buClr>
              <a:buSzPts val="6000"/>
              <a:buFont typeface="Libre Franklin Medium"/>
              <a:buNone/>
            </a:pPr>
            <a:r>
              <a:rPr lang="en-US"/>
              <a:t>Welcome to SGA!</a:t>
            </a:r>
            <a:endParaRPr/>
          </a:p>
        </p:txBody>
      </p:sp>
      <p:sp>
        <p:nvSpPr>
          <p:cNvPr id="74" name="Google Shape;74;p1"/>
          <p:cNvSpPr txBox="1">
            <a:spLocks noGrp="1"/>
          </p:cNvSpPr>
          <p:nvPr>
            <p:ph type="subTitle" idx="1"/>
          </p:nvPr>
        </p:nvSpPr>
        <p:spPr>
          <a:xfrm>
            <a:off x="762000" y="4973317"/>
            <a:ext cx="10668000" cy="570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2"/>
              </a:buClr>
              <a:buSzPts val="2400"/>
              <a:buNone/>
            </a:pPr>
            <a:r>
              <a:rPr lang="en-US"/>
              <a:t>September 26, 2022 </a:t>
            </a:r>
            <a:endParaRPr/>
          </a:p>
        </p:txBody>
      </p:sp>
      <p:pic>
        <p:nvPicPr>
          <p:cNvPr id="75" name="Google Shape;75;p1"/>
          <p:cNvPicPr preferRelativeResize="0"/>
          <p:nvPr/>
        </p:nvPicPr>
        <p:blipFill rotWithShape="1">
          <a:blip r:embed="rId3">
            <a:alphaModFix/>
          </a:blip>
          <a:srcRect/>
          <a:stretch/>
        </p:blipFill>
        <p:spPr>
          <a:xfrm>
            <a:off x="4286913" y="165550"/>
            <a:ext cx="3618175" cy="3618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Agenda</a:t>
            </a:r>
            <a:endParaRPr/>
          </a:p>
        </p:txBody>
      </p:sp>
      <p:sp>
        <p:nvSpPr>
          <p:cNvPr id="82" name="Google Shape;82;p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1000"/>
              </a:spcBef>
              <a:spcAft>
                <a:spcPts val="0"/>
              </a:spcAft>
              <a:buSzPct val="75630"/>
              <a:buNone/>
            </a:pPr>
            <a:r>
              <a:rPr lang="en-US"/>
              <a:t>Guest speaker(s): FU Cycling ! </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Officer, class, &amp; at-large reports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Committee reports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Old business: Budgets </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New business</a:t>
            </a:r>
            <a:endParaRPr b="1"/>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Open forum &amp; 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3"/>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Guest Speaker</a:t>
            </a:r>
            <a:endParaRPr/>
          </a:p>
        </p:txBody>
      </p:sp>
      <p:sp>
        <p:nvSpPr>
          <p:cNvPr id="89" name="Google Shape;89;p3"/>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None/>
            </a:pPr>
            <a:endParaRPr sz="3300"/>
          </a:p>
          <a:p>
            <a:pPr marL="0" lvl="0" indent="0" algn="ctr" rtl="0">
              <a:lnSpc>
                <a:spcPct val="90000"/>
              </a:lnSpc>
              <a:spcBef>
                <a:spcPts val="1200"/>
              </a:spcBef>
              <a:spcAft>
                <a:spcPts val="0"/>
              </a:spcAft>
              <a:buSzPts val="24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4"/>
          <p:cNvSpPr txBox="1">
            <a:spLocks noGrp="1"/>
          </p:cNvSpPr>
          <p:nvPr>
            <p:ph type="ctrTitle"/>
          </p:nvPr>
        </p:nvSpPr>
        <p:spPr>
          <a:xfrm>
            <a:off x="1524000" y="2870694"/>
            <a:ext cx="9144000" cy="1116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Exec Reports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g1e808c46a95_0_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Dean Cassidy </a:t>
            </a:r>
            <a:endParaRPr/>
          </a:p>
        </p:txBody>
      </p:sp>
      <p:sp>
        <p:nvSpPr>
          <p:cNvPr id="102" name="Google Shape;102;g1e808c46a95_0_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SzPts val="1800"/>
              <a:buChar char="●"/>
            </a:pPr>
            <a:r>
              <a:rPr lang="en-US"/>
              <a:t>Welcome to the new freshmen reps!</a:t>
            </a:r>
            <a:endParaRPr/>
          </a:p>
          <a:p>
            <a:pPr marL="457200" lvl="0" indent="0" algn="l" rtl="0">
              <a:lnSpc>
                <a:spcPct val="90000"/>
              </a:lnSpc>
              <a:spcBef>
                <a:spcPts val="1000"/>
              </a:spcBef>
              <a:spcAft>
                <a:spcPts val="0"/>
              </a:spcAft>
              <a:buNone/>
            </a:pPr>
            <a:endParaRPr/>
          </a:p>
          <a:p>
            <a:pPr marL="457200" lvl="0" indent="-342900" algn="l" rtl="0">
              <a:lnSpc>
                <a:spcPct val="90000"/>
              </a:lnSpc>
              <a:spcBef>
                <a:spcPts val="1000"/>
              </a:spcBef>
              <a:spcAft>
                <a:spcPts val="0"/>
              </a:spcAft>
              <a:buSzPts val="1800"/>
              <a:buChar char="●"/>
            </a:pPr>
            <a:r>
              <a:rPr lang="en-US"/>
              <a:t>The Career and Internship Fair is this Wednesday, Sept. 27, 12:30-3:30 p.m. in the Watkins Room. There are 50 organizations from a variety of industries that will be hiring for internships and full-time employment opportunities.  </a:t>
            </a:r>
            <a:endParaRPr/>
          </a:p>
          <a:p>
            <a:pPr marL="914400" lvl="1" indent="-342900" algn="l" rtl="0">
              <a:lnSpc>
                <a:spcPct val="90000"/>
              </a:lnSpc>
              <a:spcBef>
                <a:spcPts val="0"/>
              </a:spcBef>
              <a:spcAft>
                <a:spcPts val="0"/>
              </a:spcAft>
              <a:buSzPts val="1800"/>
              <a:buChar char="○"/>
            </a:pPr>
            <a:r>
              <a:rPr lang="en-US"/>
              <a:t>The Malone Center and Internship Office will be offering drop-in advising for students that would like to have their resumes reviewed or questions about the Fair on Monday, Sept. 25, and Tuesday, Sept. 26 from 10 a.m. - 4 p.m. in Trone 209.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420413" y="8115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Meredith Ervin </a:t>
            </a:r>
            <a:endParaRPr/>
          </a:p>
        </p:txBody>
      </p:sp>
      <p:sp>
        <p:nvSpPr>
          <p:cNvPr id="109" name="Google Shape;109;p5"/>
          <p:cNvSpPr txBox="1"/>
          <p:nvPr/>
        </p:nvSpPr>
        <p:spPr>
          <a:xfrm>
            <a:off x="722600" y="1406850"/>
            <a:ext cx="5084400" cy="6156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110" name="Google Shape;110;p5"/>
          <p:cNvSpPr txBox="1"/>
          <p:nvPr/>
        </p:nvSpPr>
        <p:spPr>
          <a:xfrm>
            <a:off x="1190250" y="2479425"/>
            <a:ext cx="9495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111" name="Google Shape;111;p5"/>
          <p:cNvSpPr txBox="1"/>
          <p:nvPr/>
        </p:nvSpPr>
        <p:spPr>
          <a:xfrm>
            <a:off x="1206750" y="2083775"/>
            <a:ext cx="9495600" cy="14775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WELCOME FRESHMEN!!! So excited to have y’all here &lt;3</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Interview with FUNC/Paladin! Super excited to continue to grow our connection! Colin Brake from the Paladin will be attending our meetings regularly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HOCO information is starting to be sent. Lydia and/or I will keep you posted on information as we hear it.</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Retreat details to be reviewed by exec after council, and then sent to yall! </a:t>
            </a:r>
            <a:endParaRPr>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Yaseen Echekki </a:t>
            </a:r>
            <a:endParaRPr/>
          </a:p>
        </p:txBody>
      </p:sp>
      <p:sp>
        <p:nvSpPr>
          <p:cNvPr id="118" name="Google Shape;118;p6"/>
          <p:cNvSpPr txBox="1"/>
          <p:nvPr/>
        </p:nvSpPr>
        <p:spPr>
          <a:xfrm>
            <a:off x="838200" y="1771500"/>
            <a:ext cx="8823900" cy="5694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500">
              <a:latin typeface="Century Schoolbook"/>
              <a:ea typeface="Century Schoolbook"/>
              <a:cs typeface="Century Schoolbook"/>
              <a:sym typeface="Century Schoolboo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7"/>
          <p:cNvSpPr txBox="1">
            <a:spLocks noGrp="1"/>
          </p:cNvSpPr>
          <p:nvPr>
            <p:ph type="title"/>
          </p:nvPr>
        </p:nvSpPr>
        <p:spPr>
          <a:xfrm>
            <a:off x="493975" y="181200"/>
            <a:ext cx="60093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Andrew Cooter</a:t>
            </a:r>
            <a:endParaRPr/>
          </a:p>
        </p:txBody>
      </p:sp>
      <p:sp>
        <p:nvSpPr>
          <p:cNvPr id="125" name="Google Shape;125;p7"/>
          <p:cNvSpPr txBox="1"/>
          <p:nvPr/>
        </p:nvSpPr>
        <p:spPr>
          <a:xfrm>
            <a:off x="246975" y="1309825"/>
            <a:ext cx="11311800" cy="27705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Century Schoolbook"/>
              <a:buChar char="●"/>
            </a:pPr>
            <a:r>
              <a:rPr lang="en-US" sz="2000">
                <a:latin typeface="Century Schoolbook"/>
                <a:ea typeface="Century Schoolbook"/>
                <a:cs typeface="Century Schoolbook"/>
                <a:sym typeface="Century Schoolbook"/>
              </a:rPr>
              <a:t>Welcome new folks! We’re glad you’re here!</a:t>
            </a:r>
            <a:endParaRPr sz="2000">
              <a:latin typeface="Century Schoolbook"/>
              <a:ea typeface="Century Schoolbook"/>
              <a:cs typeface="Century Schoolbook"/>
              <a:sym typeface="Century Schoolbook"/>
            </a:endParaRPr>
          </a:p>
          <a:p>
            <a:pPr marL="457200" lvl="0" indent="-355600" algn="l" rtl="0">
              <a:spcBef>
                <a:spcPts val="0"/>
              </a:spcBef>
              <a:spcAft>
                <a:spcPts val="0"/>
              </a:spcAft>
              <a:buSzPts val="2000"/>
              <a:buFont typeface="Century Schoolbook"/>
              <a:buChar char="●"/>
            </a:pPr>
            <a:r>
              <a:rPr lang="en-US" sz="2000">
                <a:latin typeface="Century Schoolbook"/>
                <a:ea typeface="Century Schoolbook"/>
                <a:cs typeface="Century Schoolbook"/>
                <a:sym typeface="Century Schoolbook"/>
              </a:rPr>
              <a:t>Reminder for new reps and returners alike - each class gets $200 each semester for a class event! Please go ahead and work on planning this between yourselves and make sure to advertise it to your classes when it’s happening! Let me know if you need help navigating that, or if you’d like to bounce an idea off of me! </a:t>
            </a:r>
            <a:endParaRPr sz="2000">
              <a:latin typeface="Century Schoolbook"/>
              <a:ea typeface="Century Schoolbook"/>
              <a:cs typeface="Century Schoolbook"/>
              <a:sym typeface="Century Schoolbook"/>
            </a:endParaRPr>
          </a:p>
          <a:p>
            <a:pPr marL="457200" lvl="0" indent="-355600" algn="l" rtl="0">
              <a:spcBef>
                <a:spcPts val="0"/>
              </a:spcBef>
              <a:spcAft>
                <a:spcPts val="0"/>
              </a:spcAft>
              <a:buSzPts val="2000"/>
              <a:buFont typeface="Century Schoolbook"/>
              <a:buChar char="●"/>
            </a:pPr>
            <a:r>
              <a:rPr lang="en-US" sz="2000">
                <a:latin typeface="Century Schoolbook"/>
                <a:ea typeface="Century Schoolbook"/>
                <a:cs typeface="Century Schoolbook"/>
                <a:sym typeface="Century Schoolbook"/>
              </a:rPr>
              <a:t>SGA’S ALLOCATION FROM THE UNIVERSITY FINANCE DEPARTMENT HAS FINALLY ARRIVED!!!! Voting on club budgets will now commence…</a:t>
            </a:r>
            <a:endParaRPr sz="2000">
              <a:latin typeface="Century Schoolbook"/>
              <a:ea typeface="Century Schoolbook"/>
              <a:cs typeface="Century Schoolbook"/>
              <a:sym typeface="Century Schoolbook"/>
            </a:endParaRPr>
          </a:p>
          <a:p>
            <a:pPr marL="457200" lvl="0" indent="0" algn="l" rtl="0">
              <a:spcBef>
                <a:spcPts val="0"/>
              </a:spcBef>
              <a:spcAft>
                <a:spcPts val="0"/>
              </a:spcAft>
              <a:buNone/>
            </a:pPr>
            <a:endParaRPr>
              <a:latin typeface="Century Schoolbook"/>
              <a:ea typeface="Century Schoolbook"/>
              <a:cs typeface="Century Schoolbook"/>
              <a:sym typeface="Century Schoolbook"/>
            </a:endParaRPr>
          </a:p>
          <a:p>
            <a:pPr marL="45720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126" name="Google Shape;126;p7"/>
          <p:cNvSpPr txBox="1"/>
          <p:nvPr/>
        </p:nvSpPr>
        <p:spPr>
          <a:xfrm>
            <a:off x="5138575" y="1729850"/>
            <a:ext cx="31236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a:latin typeface="Century Schoolbook"/>
              <a:ea typeface="Century Schoolbook"/>
              <a:cs typeface="Century Schoolbook"/>
              <a:sym typeface="Century Schoolbook"/>
            </a:endParaRPr>
          </a:p>
        </p:txBody>
      </p:sp>
      <p:sp>
        <p:nvSpPr>
          <p:cNvPr id="127" name="Google Shape;127;p7"/>
          <p:cNvSpPr txBox="1"/>
          <p:nvPr/>
        </p:nvSpPr>
        <p:spPr>
          <a:xfrm>
            <a:off x="4755900" y="2019825"/>
            <a:ext cx="26802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700">
              <a:latin typeface="Century Schoolbook"/>
              <a:ea typeface="Century Schoolbook"/>
              <a:cs typeface="Century Schoolbook"/>
              <a:sym typeface="Century Schoolbook"/>
            </a:endParaRPr>
          </a:p>
        </p:txBody>
      </p:sp>
      <p:sp>
        <p:nvSpPr>
          <p:cNvPr id="128" name="Google Shape;128;p7"/>
          <p:cNvSpPr txBox="1"/>
          <p:nvPr/>
        </p:nvSpPr>
        <p:spPr>
          <a:xfrm>
            <a:off x="5138575" y="3573525"/>
            <a:ext cx="28641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latin typeface="Century Schoolbook"/>
              <a:ea typeface="Century Schoolbook"/>
              <a:cs typeface="Century Schoolbook"/>
              <a:sym typeface="Century Schoolboo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Carly Gillis </a:t>
            </a:r>
            <a:endParaRPr/>
          </a:p>
        </p:txBody>
      </p:sp>
      <p:sp>
        <p:nvSpPr>
          <p:cNvPr id="135" name="Google Shape;135;p8"/>
          <p:cNvSpPr txBox="1"/>
          <p:nvPr/>
        </p:nvSpPr>
        <p:spPr>
          <a:xfrm>
            <a:off x="792500" y="2018150"/>
            <a:ext cx="4645200" cy="2586000"/>
          </a:xfrm>
          <a:prstGeom prst="rect">
            <a:avLst/>
          </a:prstGeom>
          <a:noFill/>
          <a:ln>
            <a:noFill/>
          </a:ln>
        </p:spPr>
        <p:txBody>
          <a:bodyPr spcFirstLastPara="1" wrap="square" lIns="91425" tIns="91425" rIns="91425" bIns="91425" anchor="t" anchorCtr="0">
            <a:spAutoFit/>
          </a:bodyPr>
          <a:lstStyle/>
          <a:p>
            <a:pPr marL="457200" lvl="0"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game day series beginning soon! </a:t>
            </a:r>
            <a:endParaRPr sz="2600">
              <a:latin typeface="Century Schoolbook"/>
              <a:ea typeface="Century Schoolbook"/>
              <a:cs typeface="Century Schoolbook"/>
              <a:sym typeface="Century Schoolbook"/>
            </a:endParaRPr>
          </a:p>
          <a:p>
            <a:pPr marL="457200" lvl="0"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SGA contact master list to send out to the whole student body now that we have a complete council </a:t>
            </a:r>
            <a:endParaRPr sz="2600">
              <a:latin typeface="Century Schoolbook"/>
              <a:ea typeface="Century Schoolbook"/>
              <a:cs typeface="Century Schoolbook"/>
              <a:sym typeface="Century Schoolbook"/>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2829f9c74ff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Lydia McCarty </a:t>
            </a:r>
            <a:endParaRPr/>
          </a:p>
        </p:txBody>
      </p:sp>
      <p:sp>
        <p:nvSpPr>
          <p:cNvPr id="142" name="Google Shape;142;g2829f9c74ff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2829f9c74ff_0_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Tatyana Gonzalez </a:t>
            </a:r>
            <a:endParaRPr/>
          </a:p>
        </p:txBody>
      </p:sp>
      <p:sp>
        <p:nvSpPr>
          <p:cNvPr id="149" name="Google Shape;149;g2829f9c74ff_0_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0"/>
          <p:cNvSpPr txBox="1">
            <a:spLocks noGrp="1"/>
          </p:cNvSpPr>
          <p:nvPr>
            <p:ph type="ctrTitle"/>
          </p:nvPr>
        </p:nvSpPr>
        <p:spPr>
          <a:xfrm>
            <a:off x="1524000" y="171851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Representative Reports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1033275" y="365150"/>
            <a:ext cx="4992600" cy="953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latin typeface="Comic Sans MS"/>
                <a:ea typeface="Comic Sans MS"/>
                <a:cs typeface="Comic Sans MS"/>
                <a:sym typeface="Comic Sans MS"/>
              </a:rPr>
              <a:t>Sydney Beraho </a:t>
            </a:r>
            <a:endParaRPr>
              <a:latin typeface="Comic Sans MS"/>
              <a:ea typeface="Comic Sans MS"/>
              <a:cs typeface="Comic Sans MS"/>
              <a:sym typeface="Comic Sans MS"/>
            </a:endParaRPr>
          </a:p>
        </p:txBody>
      </p:sp>
      <p:sp>
        <p:nvSpPr>
          <p:cNvPr id="162" name="Google Shape;162;p12"/>
          <p:cNvSpPr txBox="1"/>
          <p:nvPr/>
        </p:nvSpPr>
        <p:spPr>
          <a:xfrm>
            <a:off x="0" y="1318850"/>
            <a:ext cx="4111800" cy="474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600">
              <a:latin typeface="Comic Sans MS"/>
              <a:ea typeface="Comic Sans MS"/>
              <a:cs typeface="Comic Sans MS"/>
              <a:sym typeface="Comic Sans MS"/>
            </a:endParaRPr>
          </a:p>
          <a:p>
            <a:pPr marL="0" lvl="0" indent="0" algn="l" rtl="0">
              <a:spcBef>
                <a:spcPts val="0"/>
              </a:spcBef>
              <a:spcAft>
                <a:spcPts val="0"/>
              </a:spcAft>
              <a:buNone/>
            </a:pPr>
            <a:endParaRPr>
              <a:latin typeface="Comic Sans MS"/>
              <a:ea typeface="Comic Sans MS"/>
              <a:cs typeface="Comic Sans MS"/>
              <a:sym typeface="Comic Sans MS"/>
            </a:endParaRPr>
          </a:p>
          <a:p>
            <a:pPr marL="0" lvl="0" indent="0" algn="l" rtl="0">
              <a:spcBef>
                <a:spcPts val="0"/>
              </a:spcBef>
              <a:spcAft>
                <a:spcPts val="0"/>
              </a:spcAft>
              <a:buNone/>
            </a:pPr>
            <a:endParaRPr>
              <a:latin typeface="Comic Sans MS"/>
              <a:ea typeface="Comic Sans MS"/>
              <a:cs typeface="Comic Sans MS"/>
              <a:sym typeface="Comic Sans MS"/>
            </a:endParaRPr>
          </a:p>
        </p:txBody>
      </p:sp>
      <p:sp>
        <p:nvSpPr>
          <p:cNvPr id="163" name="Google Shape;163;p12"/>
          <p:cNvSpPr txBox="1"/>
          <p:nvPr/>
        </p:nvSpPr>
        <p:spPr>
          <a:xfrm>
            <a:off x="10168925" y="1690825"/>
            <a:ext cx="2023200" cy="18492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sz="1800">
              <a:latin typeface="Comic Sans MS"/>
              <a:ea typeface="Comic Sans MS"/>
              <a:cs typeface="Comic Sans MS"/>
              <a:sym typeface="Comic Sans M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Alex Murray </a:t>
            </a:r>
            <a:endParaRPr/>
          </a:p>
        </p:txBody>
      </p:sp>
      <p:sp>
        <p:nvSpPr>
          <p:cNvPr id="170" name="Google Shape;170;p14"/>
          <p:cNvSpPr txBox="1">
            <a:spLocks noGrp="1"/>
          </p:cNvSpPr>
          <p:nvPr>
            <p:ph type="body" idx="1"/>
          </p:nvPr>
        </p:nvSpPr>
        <p:spPr>
          <a:xfrm>
            <a:off x="838200" y="2947650"/>
            <a:ext cx="5181600" cy="21111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
        <p:nvSpPr>
          <p:cNvPr id="171" name="Google Shape;171;p14"/>
          <p:cNvSpPr txBox="1"/>
          <p:nvPr/>
        </p:nvSpPr>
        <p:spPr>
          <a:xfrm>
            <a:off x="8491000" y="1839725"/>
            <a:ext cx="3729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3"/>
          <p:cNvSpPr txBox="1">
            <a:spLocks noGrp="1"/>
          </p:cNvSpPr>
          <p:nvPr>
            <p:ph type="title"/>
          </p:nvPr>
        </p:nvSpPr>
        <p:spPr>
          <a:xfrm>
            <a:off x="838200" y="14317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Leah Manning </a:t>
            </a:r>
            <a:endParaRPr/>
          </a:p>
        </p:txBody>
      </p:sp>
      <p:sp>
        <p:nvSpPr>
          <p:cNvPr id="178" name="Google Shape;178;p13"/>
          <p:cNvSpPr txBox="1"/>
          <p:nvPr/>
        </p:nvSpPr>
        <p:spPr>
          <a:xfrm>
            <a:off x="366200" y="1154100"/>
            <a:ext cx="9177300" cy="4617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1000"/>
              </a:spcAft>
              <a:buNone/>
            </a:pPr>
            <a:endParaRPr sz="1800">
              <a:latin typeface="Century Schoolbook"/>
              <a:ea typeface="Century Schoolbook"/>
              <a:cs typeface="Century Schoolbook"/>
              <a:sym typeface="Century Schoolbook"/>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5a37df3a2b_16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Kelsey Sumter </a:t>
            </a:r>
            <a:endParaRPr/>
          </a:p>
        </p:txBody>
      </p:sp>
      <p:sp>
        <p:nvSpPr>
          <p:cNvPr id="185" name="Google Shape;185;g15a37df3a2b_16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Mary Boucher </a:t>
            </a:r>
            <a:endParaRPr/>
          </a:p>
        </p:txBody>
      </p:sp>
      <p:sp>
        <p:nvSpPr>
          <p:cNvPr id="192" name="Google Shape;192;p11"/>
          <p:cNvSpPr txBox="1"/>
          <p:nvPr/>
        </p:nvSpPr>
        <p:spPr>
          <a:xfrm>
            <a:off x="498175" y="1695950"/>
            <a:ext cx="11235600" cy="5694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500">
              <a:latin typeface="Century Schoolbook"/>
              <a:ea typeface="Century Schoolbook"/>
              <a:cs typeface="Century Schoolbook"/>
              <a:sym typeface="Century Schoolbook"/>
            </a:endParaRPr>
          </a:p>
        </p:txBody>
      </p:sp>
      <p:sp>
        <p:nvSpPr>
          <p:cNvPr id="193" name="Google Shape;193;p11"/>
          <p:cNvSpPr txBox="1"/>
          <p:nvPr/>
        </p:nvSpPr>
        <p:spPr>
          <a:xfrm>
            <a:off x="7822575" y="3211700"/>
            <a:ext cx="40278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u="sng">
                <a:solidFill>
                  <a:schemeClr val="hlink"/>
                </a:solidFill>
                <a:hlinkClick r:id="rId3"/>
              </a:rPr>
              <a:t>https://youtu.be/4r7wHMg5Yjg</a:t>
            </a:r>
            <a:endParaRPr sz="900"/>
          </a:p>
        </p:txBody>
      </p:sp>
      <p:sp>
        <p:nvSpPr>
          <p:cNvPr id="194" name="Google Shape;194;p11"/>
          <p:cNvSpPr txBox="1"/>
          <p:nvPr/>
        </p:nvSpPr>
        <p:spPr>
          <a:xfrm>
            <a:off x="0" y="0"/>
            <a:ext cx="30000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u="sng">
                <a:solidFill>
                  <a:schemeClr val="hlink"/>
                </a:solidFill>
                <a:hlinkClick r:id="rId3"/>
              </a:rPr>
              <a:t>https://youtu.be/4r7wHMg5Yjg</a:t>
            </a:r>
            <a:endParaRPr/>
          </a:p>
        </p:txBody>
      </p:sp>
      <p:sp>
        <p:nvSpPr>
          <p:cNvPr id="195" name="Google Shape;195;p11"/>
          <p:cNvSpPr txBox="1"/>
          <p:nvPr/>
        </p:nvSpPr>
        <p:spPr>
          <a:xfrm>
            <a:off x="7971825" y="3554900"/>
            <a:ext cx="372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96" name="Google Shape;196;p11"/>
          <p:cNvSpPr txBox="1"/>
          <p:nvPr/>
        </p:nvSpPr>
        <p:spPr>
          <a:xfrm>
            <a:off x="1100325" y="2139700"/>
            <a:ext cx="5821800" cy="181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a:latin typeface="Century Schoolbook"/>
                <a:ea typeface="Century Schoolbook"/>
                <a:cs typeface="Century Schoolbook"/>
                <a:sym typeface="Century Schoolbook"/>
              </a:rPr>
              <a:t>Adara and I are partnering to work on my used textbook initiative together!</a:t>
            </a:r>
            <a:endParaRPr sz="2200">
              <a:latin typeface="Century Schoolbook"/>
              <a:ea typeface="Century Schoolbook"/>
              <a:cs typeface="Century Schoolbook"/>
              <a:sym typeface="Century Schoolbook"/>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119f5cc7372_4_7"/>
          <p:cNvSpPr txBox="1">
            <a:spLocks noGrp="1"/>
          </p:cNvSpPr>
          <p:nvPr>
            <p:ph type="title"/>
          </p:nvPr>
        </p:nvSpPr>
        <p:spPr>
          <a:xfrm>
            <a:off x="838200" y="2731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Carly Gillis</a:t>
            </a:r>
            <a:endParaRPr/>
          </a:p>
        </p:txBody>
      </p:sp>
      <p:sp>
        <p:nvSpPr>
          <p:cNvPr id="203" name="Google Shape;203;g119f5cc7372_4_7"/>
          <p:cNvSpPr txBox="1"/>
          <p:nvPr/>
        </p:nvSpPr>
        <p:spPr>
          <a:xfrm>
            <a:off x="480950" y="1674425"/>
            <a:ext cx="712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Adara Briceño </a:t>
            </a:r>
            <a:endParaRPr/>
          </a:p>
        </p:txBody>
      </p:sp>
      <p:sp>
        <p:nvSpPr>
          <p:cNvPr id="210" name="Google Shape;210;p15"/>
          <p:cNvSpPr txBox="1"/>
          <p:nvPr/>
        </p:nvSpPr>
        <p:spPr>
          <a:xfrm>
            <a:off x="1120325" y="2031225"/>
            <a:ext cx="60309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Partnering with Mary!</a:t>
            </a:r>
            <a:endParaRPr>
              <a:latin typeface="Century Schoolbook"/>
              <a:ea typeface="Century Schoolbook"/>
              <a:cs typeface="Century Schoolbook"/>
              <a:sym typeface="Century Schoolbook"/>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Deen Deovic </a:t>
            </a:r>
            <a:endParaRPr/>
          </a:p>
        </p:txBody>
      </p:sp>
      <p:sp>
        <p:nvSpPr>
          <p:cNvPr id="217" name="Google Shape;217;p16"/>
          <p:cNvSpPr txBox="1"/>
          <p:nvPr/>
        </p:nvSpPr>
        <p:spPr>
          <a:xfrm>
            <a:off x="952500" y="1605650"/>
            <a:ext cx="4041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Jennifer Woollery </a:t>
            </a:r>
            <a:endParaRPr/>
          </a:p>
        </p:txBody>
      </p:sp>
      <p:sp>
        <p:nvSpPr>
          <p:cNvPr id="224" name="Google Shape;224;p17"/>
          <p:cNvSpPr txBox="1"/>
          <p:nvPr/>
        </p:nvSpPr>
        <p:spPr>
          <a:xfrm>
            <a:off x="734775" y="1760425"/>
            <a:ext cx="58017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a:latin typeface="Century Schoolbook"/>
              <a:ea typeface="Century Schoolbook"/>
              <a:cs typeface="Century Schoolbook"/>
              <a:sym typeface="Century Schoolbook"/>
            </a:endParaRPr>
          </a:p>
        </p:txBody>
      </p:sp>
      <p:sp>
        <p:nvSpPr>
          <p:cNvPr id="225" name="Google Shape;225;p17"/>
          <p:cNvSpPr txBox="1"/>
          <p:nvPr/>
        </p:nvSpPr>
        <p:spPr>
          <a:xfrm>
            <a:off x="6659000" y="168400"/>
            <a:ext cx="27555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700">
              <a:latin typeface="Century Schoolbook"/>
              <a:ea typeface="Century Schoolbook"/>
              <a:cs typeface="Century Schoolbook"/>
              <a:sym typeface="Century Schoolbook"/>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2829f9c74ff_0_1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Caroline Cousar </a:t>
            </a:r>
            <a:endParaRPr/>
          </a:p>
        </p:txBody>
      </p:sp>
      <p:sp>
        <p:nvSpPr>
          <p:cNvPr id="232" name="Google Shape;232;g2829f9c74ff_0_1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2829f9c74ff_0_1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Tate Denham </a:t>
            </a:r>
            <a:endParaRPr/>
          </a:p>
        </p:txBody>
      </p:sp>
      <p:sp>
        <p:nvSpPr>
          <p:cNvPr id="239" name="Google Shape;239;g2829f9c74ff_0_1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Hey freshies!</a:t>
            </a:r>
            <a:endParaRPr/>
          </a:p>
          <a:p>
            <a:pPr marL="0" lvl="0" indent="0" algn="l" rtl="0">
              <a:spcBef>
                <a:spcPts val="1000"/>
              </a:spcBef>
              <a:spcAft>
                <a:spcPts val="0"/>
              </a:spcAft>
              <a:buNone/>
            </a:pPr>
            <a:endParaRPr/>
          </a:p>
          <a:p>
            <a:pPr marL="0" lvl="0" indent="0" algn="l" rtl="0">
              <a:spcBef>
                <a:spcPts val="1000"/>
              </a:spcBef>
              <a:spcAft>
                <a:spcPts val="0"/>
              </a:spcAft>
              <a:buNone/>
            </a:pPr>
            <a:r>
              <a:rPr lang="en-US"/>
              <a:t>No updates from me!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2829f9c74ff_0_2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Kobby Frempong </a:t>
            </a:r>
            <a:endParaRPr/>
          </a:p>
        </p:txBody>
      </p:sp>
      <p:sp>
        <p:nvSpPr>
          <p:cNvPr id="246" name="Google Shape;246;g2829f9c74ff_0_2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2829f9c74ff_0_3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Mariam Nguyen </a:t>
            </a:r>
            <a:endParaRPr/>
          </a:p>
        </p:txBody>
      </p:sp>
      <p:sp>
        <p:nvSpPr>
          <p:cNvPr id="253" name="Google Shape;253;g2829f9c74ff_0_3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-Follow up meeting with Tony McGuirt on DH vegan ice cream and soft serve machines!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2829f9c74ff_0_3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Caroline Orr</a:t>
            </a:r>
            <a:endParaRPr/>
          </a:p>
        </p:txBody>
      </p:sp>
      <p:sp>
        <p:nvSpPr>
          <p:cNvPr id="260" name="Google Shape;260;g2829f9c74ff_0_3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For now:</a:t>
            </a:r>
            <a:endParaRPr/>
          </a:p>
          <a:p>
            <a:pPr marL="457200" lvl="0" indent="-342900" algn="l" rtl="0">
              <a:spcBef>
                <a:spcPts val="1000"/>
              </a:spcBef>
              <a:spcAft>
                <a:spcPts val="0"/>
              </a:spcAft>
              <a:buSzPts val="1800"/>
              <a:buChar char="•"/>
            </a:pPr>
            <a:r>
              <a:rPr lang="en-US"/>
              <a:t>Meeting &amp; connecting with other members of SGA! :)</a:t>
            </a:r>
            <a:endParaRPr/>
          </a:p>
          <a:p>
            <a:pPr marL="457200" lvl="0" indent="-342900" algn="l" rtl="0">
              <a:spcBef>
                <a:spcPts val="0"/>
              </a:spcBef>
              <a:spcAft>
                <a:spcPts val="0"/>
              </a:spcAft>
              <a:buSzPts val="1800"/>
              <a:buChar char="•"/>
            </a:pPr>
            <a:r>
              <a:rPr lang="en-US"/>
              <a:t>Continuing free menstrual product redistribution in Soho bathrooms</a:t>
            </a:r>
            <a:endParaRPr/>
          </a:p>
          <a:p>
            <a:pPr marL="914400" lvl="1" indent="-342900" algn="l" rtl="0">
              <a:spcBef>
                <a:spcPts val="0"/>
              </a:spcBef>
              <a:spcAft>
                <a:spcPts val="0"/>
              </a:spcAft>
              <a:buSzPts val="1800"/>
              <a:buChar char="•"/>
            </a:pPr>
            <a:r>
              <a:rPr lang="en-US"/>
              <a:t>Looking into getting into contact w/the campus Period Project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g2829f9c74ff_0_4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Curtis Wilson </a:t>
            </a:r>
            <a:endParaRPr/>
          </a:p>
        </p:txBody>
      </p:sp>
      <p:sp>
        <p:nvSpPr>
          <p:cNvPr id="267" name="Google Shape;267;g2829f9c74ff_0_4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85000" lnSpcReduction="20000"/>
          </a:bodyPr>
          <a:lstStyle/>
          <a:p>
            <a:pPr marL="457200" lvl="0" indent="-325755" algn="l" rtl="0">
              <a:spcBef>
                <a:spcPts val="1000"/>
              </a:spcBef>
              <a:spcAft>
                <a:spcPts val="0"/>
              </a:spcAft>
              <a:buSzPct val="64285"/>
              <a:buChar char="•"/>
            </a:pPr>
            <a:r>
              <a:rPr lang="en-US"/>
              <a:t>Having a strong effect on our student body and faculty </a:t>
            </a:r>
            <a:endParaRPr/>
          </a:p>
          <a:p>
            <a:pPr marL="914400" lvl="0" indent="0" algn="l" rtl="0">
              <a:spcBef>
                <a:spcPts val="1000"/>
              </a:spcBef>
              <a:spcAft>
                <a:spcPts val="0"/>
              </a:spcAft>
              <a:buNone/>
            </a:pPr>
            <a:endParaRPr/>
          </a:p>
          <a:p>
            <a:pPr marL="457200" lvl="0" indent="-325755" algn="l" rtl="0">
              <a:spcBef>
                <a:spcPts val="1000"/>
              </a:spcBef>
              <a:spcAft>
                <a:spcPts val="0"/>
              </a:spcAft>
              <a:buSzPct val="64285"/>
              <a:buChar char="•"/>
            </a:pPr>
            <a:r>
              <a:rPr lang="en-US"/>
              <a:t>Promoting DEI (Diversity, Equality, and Inclusion) between all members of the Furman community </a:t>
            </a:r>
            <a:endParaRPr/>
          </a:p>
          <a:p>
            <a:pPr marL="914400" lvl="0" indent="0" algn="l" rtl="0">
              <a:spcBef>
                <a:spcPts val="1000"/>
              </a:spcBef>
              <a:spcAft>
                <a:spcPts val="0"/>
              </a:spcAft>
              <a:buNone/>
            </a:pPr>
            <a:endParaRPr/>
          </a:p>
          <a:p>
            <a:pPr marL="457200" lvl="0" indent="-325755" algn="l" rtl="0">
              <a:spcBef>
                <a:spcPts val="1000"/>
              </a:spcBef>
              <a:spcAft>
                <a:spcPts val="0"/>
              </a:spcAft>
              <a:buSzPct val="64285"/>
              <a:buChar char="•"/>
            </a:pPr>
            <a:r>
              <a:rPr lang="en-US"/>
              <a:t>Finding a solution for barriers students may have and addressing them</a:t>
            </a:r>
            <a:endParaRPr/>
          </a:p>
          <a:p>
            <a:pPr marL="914400" lvl="0" indent="0" algn="l" rtl="0">
              <a:spcBef>
                <a:spcPts val="1000"/>
              </a:spcBef>
              <a:spcAft>
                <a:spcPts val="0"/>
              </a:spcAft>
              <a:buNone/>
            </a:pPr>
            <a:endParaRPr/>
          </a:p>
          <a:p>
            <a:pPr marL="457200" lvl="0" indent="-325755" algn="l" rtl="0">
              <a:spcBef>
                <a:spcPts val="1000"/>
              </a:spcBef>
              <a:spcAft>
                <a:spcPts val="0"/>
              </a:spcAft>
              <a:buSzPct val="64285"/>
              <a:buChar char="•"/>
            </a:pPr>
            <a:r>
              <a:rPr lang="en-US"/>
              <a:t>Promoting students and faculty wellness in mental and physical health </a:t>
            </a:r>
            <a:endParaRPr/>
          </a:p>
          <a:p>
            <a:pPr marL="914400" lvl="0" indent="0" algn="l" rtl="0">
              <a:spcBef>
                <a:spcPts val="1000"/>
              </a:spcBef>
              <a:spcAft>
                <a:spcPts val="0"/>
              </a:spcAft>
              <a:buNone/>
            </a:pPr>
            <a:endParaRPr/>
          </a:p>
          <a:p>
            <a:pPr marL="914400" lvl="0" indent="0" algn="l" rtl="0">
              <a:spcBef>
                <a:spcPts val="1000"/>
              </a:spcBef>
              <a:spcAft>
                <a:spcPts val="0"/>
              </a:spcAft>
              <a:buNone/>
            </a:pPr>
            <a:r>
              <a:rPr lang="en-US"/>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2829f9c74ff_0_4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Libby Adams </a:t>
            </a:r>
            <a:endParaRPr/>
          </a:p>
        </p:txBody>
      </p:sp>
      <p:sp>
        <p:nvSpPr>
          <p:cNvPr id="274" name="Google Shape;274;g2829f9c74ff_0_4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Reach out to communications department to facilitate a brief  campus news article each week, including updates upcoming events FUPO reports and fun features around campus. </a:t>
            </a:r>
            <a:endParaRPr/>
          </a:p>
          <a:p>
            <a:pPr marL="457200" lvl="0" indent="-342900" algn="l" rtl="0">
              <a:spcBef>
                <a:spcPts val="0"/>
              </a:spcBef>
              <a:spcAft>
                <a:spcPts val="0"/>
              </a:spcAft>
              <a:buSzPts val="1800"/>
              <a:buChar char="-"/>
            </a:pPr>
            <a:r>
              <a:rPr lang="en-US"/>
              <a:t>Freshman Town Hall, give the freshmen class a chance to meet their reps and get to know us do they feel comfortable approaching us about their concerns and ideas. </a:t>
            </a:r>
            <a:endParaRPr/>
          </a:p>
          <a:p>
            <a:pPr marL="457200" lvl="0" indent="-342900" algn="l" rtl="0">
              <a:spcBef>
                <a:spcPts val="0"/>
              </a:spcBef>
              <a:spcAft>
                <a:spcPts val="0"/>
              </a:spcAft>
              <a:buSzPts val="1800"/>
              <a:buChar char="-"/>
            </a:pPr>
            <a:r>
              <a:rPr lang="en-US"/>
              <a:t>Set up a Furman hype team to lead the student section during sporting events. They would be responsible for leading and  encouraging chants cheers and student participation during the games!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g2829f9c74ff_0_5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Danyal Sharif</a:t>
            </a:r>
            <a:endParaRPr/>
          </a:p>
        </p:txBody>
      </p:sp>
      <p:sp>
        <p:nvSpPr>
          <p:cNvPr id="281" name="Google Shape;281;g2829f9c74ff_0_5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7"/>
          <p:cNvSpPr txBox="1">
            <a:spLocks noGrp="1"/>
          </p:cNvSpPr>
          <p:nvPr>
            <p:ph type="ctrTitle"/>
          </p:nvPr>
        </p:nvSpPr>
        <p:spPr>
          <a:xfrm>
            <a:off x="1589700" y="158711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At- Large Reports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FUSAB          Grayson Taylor </a:t>
            </a:r>
            <a:endParaRPr>
              <a:latin typeface="Roboto"/>
              <a:ea typeface="Roboto"/>
              <a:cs typeface="Roboto"/>
              <a:sym typeface="Roboto"/>
            </a:endParaRPr>
          </a:p>
        </p:txBody>
      </p:sp>
      <p:pic>
        <p:nvPicPr>
          <p:cNvPr id="294" name="Google Shape;294;p28"/>
          <p:cNvPicPr preferRelativeResize="0"/>
          <p:nvPr/>
        </p:nvPicPr>
        <p:blipFill rotWithShape="1">
          <a:blip r:embed="rId3">
            <a:alphaModFix/>
          </a:blip>
          <a:srcRect/>
          <a:stretch/>
        </p:blipFill>
        <p:spPr>
          <a:xfrm>
            <a:off x="147652" y="126927"/>
            <a:ext cx="3841851" cy="1611725"/>
          </a:xfrm>
          <a:prstGeom prst="rect">
            <a:avLst/>
          </a:prstGeom>
          <a:noFill/>
          <a:ln>
            <a:noFill/>
          </a:ln>
        </p:spPr>
      </p:pic>
      <p:sp>
        <p:nvSpPr>
          <p:cNvPr id="295" name="Google Shape;295;p28"/>
          <p:cNvSpPr txBox="1"/>
          <p:nvPr/>
        </p:nvSpPr>
        <p:spPr>
          <a:xfrm>
            <a:off x="428625" y="2242050"/>
            <a:ext cx="72756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500">
              <a:latin typeface="Century Schoolbook"/>
              <a:ea typeface="Century Schoolbook"/>
              <a:cs typeface="Century Schoolbook"/>
              <a:sym typeface="Century Schoolbook"/>
            </a:endParaRPr>
          </a:p>
        </p:txBody>
      </p:sp>
      <p:sp>
        <p:nvSpPr>
          <p:cNvPr id="296" name="Google Shape;296;p28"/>
          <p:cNvSpPr txBox="1"/>
          <p:nvPr/>
        </p:nvSpPr>
        <p:spPr>
          <a:xfrm>
            <a:off x="910350" y="2017950"/>
            <a:ext cx="7101000" cy="3687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2500">
                <a:solidFill>
                  <a:schemeClr val="dk2"/>
                </a:solidFill>
                <a:latin typeface="Libre Franklin"/>
                <a:ea typeface="Libre Franklin"/>
                <a:cs typeface="Libre Franklin"/>
                <a:sym typeface="Libre Franklin"/>
              </a:rPr>
              <a:t>FALL BALL WAS A BIIIIG SUCCESS!!!!! There was a big SGA turnout so thank you so much guys!!!!!</a:t>
            </a:r>
            <a:endParaRPr sz="2500">
              <a:solidFill>
                <a:schemeClr val="dk2"/>
              </a:solidFill>
              <a:latin typeface="Libre Franklin"/>
              <a:ea typeface="Libre Franklin"/>
              <a:cs typeface="Libre Franklin"/>
              <a:sym typeface="Libre Franklin"/>
            </a:endParaRPr>
          </a:p>
          <a:p>
            <a:pPr marL="0" lvl="0" indent="0" algn="l" rtl="0">
              <a:spcBef>
                <a:spcPts val="0"/>
              </a:spcBef>
              <a:spcAft>
                <a:spcPts val="0"/>
              </a:spcAft>
              <a:buNone/>
            </a:pPr>
            <a:endParaRPr sz="2500">
              <a:solidFill>
                <a:schemeClr val="dk2"/>
              </a:solidFill>
              <a:latin typeface="Libre Franklin"/>
              <a:ea typeface="Libre Franklin"/>
              <a:cs typeface="Libre Franklin"/>
              <a:sym typeface="Libre Franklin"/>
            </a:endParaRPr>
          </a:p>
          <a:p>
            <a:pPr marL="0" lvl="0" indent="0" algn="l" rtl="0">
              <a:spcBef>
                <a:spcPts val="0"/>
              </a:spcBef>
              <a:spcAft>
                <a:spcPts val="0"/>
              </a:spcAft>
              <a:buNone/>
            </a:pPr>
            <a:r>
              <a:rPr lang="en-US" sz="2700">
                <a:solidFill>
                  <a:schemeClr val="dk2"/>
                </a:solidFill>
                <a:latin typeface="Libre Franklin"/>
                <a:ea typeface="Libre Franklin"/>
                <a:cs typeface="Libre Franklin"/>
                <a:sym typeface="Libre Franklin"/>
              </a:rPr>
              <a:t>POSES AND MIMOSAS IS </a:t>
            </a:r>
            <a:endParaRPr sz="2700">
              <a:solidFill>
                <a:schemeClr val="dk2"/>
              </a:solidFill>
              <a:latin typeface="Libre Franklin"/>
              <a:ea typeface="Libre Franklin"/>
              <a:cs typeface="Libre Franklin"/>
              <a:sym typeface="Libre Franklin"/>
            </a:endParaRPr>
          </a:p>
          <a:p>
            <a:pPr marL="0" lvl="0" indent="0" algn="l" rtl="0">
              <a:spcBef>
                <a:spcPts val="0"/>
              </a:spcBef>
              <a:spcAft>
                <a:spcPts val="0"/>
              </a:spcAft>
              <a:buNone/>
            </a:pPr>
            <a:r>
              <a:rPr lang="en-US" sz="2700">
                <a:solidFill>
                  <a:schemeClr val="dk2"/>
                </a:solidFill>
                <a:latin typeface="Libre Franklin"/>
                <a:ea typeface="Libre Franklin"/>
                <a:cs typeface="Libre Franklin"/>
                <a:sym typeface="Libre Franklin"/>
              </a:rPr>
              <a:t>THIS SATURDAY!!!!! Enjoy a </a:t>
            </a:r>
            <a:endParaRPr sz="2700">
              <a:solidFill>
                <a:schemeClr val="dk2"/>
              </a:solidFill>
              <a:latin typeface="Libre Franklin"/>
              <a:ea typeface="Libre Franklin"/>
              <a:cs typeface="Libre Franklin"/>
              <a:sym typeface="Libre Franklin"/>
            </a:endParaRPr>
          </a:p>
          <a:p>
            <a:pPr marL="0" lvl="0" indent="0" algn="l" rtl="0">
              <a:spcBef>
                <a:spcPts val="0"/>
              </a:spcBef>
              <a:spcAft>
                <a:spcPts val="0"/>
              </a:spcAft>
              <a:buNone/>
            </a:pPr>
            <a:r>
              <a:rPr lang="en-US" sz="2700">
                <a:solidFill>
                  <a:schemeClr val="dk2"/>
                </a:solidFill>
                <a:latin typeface="Libre Franklin"/>
                <a:ea typeface="Libre Franklin"/>
                <a:cs typeface="Libre Franklin"/>
                <a:sym typeface="Libre Franklin"/>
              </a:rPr>
              <a:t>yoga class from a Soul Yoga</a:t>
            </a:r>
            <a:endParaRPr sz="2700">
              <a:solidFill>
                <a:schemeClr val="dk2"/>
              </a:solidFill>
              <a:latin typeface="Libre Franklin"/>
              <a:ea typeface="Libre Franklin"/>
              <a:cs typeface="Libre Franklin"/>
              <a:sym typeface="Libre Franklin"/>
            </a:endParaRPr>
          </a:p>
          <a:p>
            <a:pPr marL="0" lvl="0" indent="0" algn="l" rtl="0">
              <a:spcBef>
                <a:spcPts val="0"/>
              </a:spcBef>
              <a:spcAft>
                <a:spcPts val="0"/>
              </a:spcAft>
              <a:buNone/>
            </a:pPr>
            <a:r>
              <a:rPr lang="en-US" sz="2700">
                <a:solidFill>
                  <a:schemeClr val="dk2"/>
                </a:solidFill>
                <a:latin typeface="Libre Franklin"/>
                <a:ea typeface="Libre Franklin"/>
                <a:cs typeface="Libre Franklin"/>
                <a:sym typeface="Libre Franklin"/>
              </a:rPr>
              <a:t> instructor and a cash bar</a:t>
            </a:r>
            <a:endParaRPr sz="2700">
              <a:solidFill>
                <a:schemeClr val="dk2"/>
              </a:solidFill>
              <a:latin typeface="Libre Franklin"/>
              <a:ea typeface="Libre Franklin"/>
              <a:cs typeface="Libre Franklin"/>
              <a:sym typeface="Libre Franklin"/>
            </a:endParaRPr>
          </a:p>
          <a:p>
            <a:pPr marL="0" lvl="0" indent="0" algn="l" rtl="0">
              <a:spcBef>
                <a:spcPts val="0"/>
              </a:spcBef>
              <a:spcAft>
                <a:spcPts val="0"/>
              </a:spcAft>
              <a:buNone/>
            </a:pPr>
            <a:r>
              <a:rPr lang="en-US" sz="2700">
                <a:solidFill>
                  <a:schemeClr val="dk2"/>
                </a:solidFill>
                <a:latin typeface="Libre Franklin"/>
                <a:ea typeface="Libre Franklin"/>
                <a:cs typeface="Libre Franklin"/>
                <a:sym typeface="Libre Franklin"/>
              </a:rPr>
              <a:t>with mimosas after!!!!</a:t>
            </a:r>
            <a:endParaRPr sz="2700">
              <a:solidFill>
                <a:schemeClr val="dk2"/>
              </a:solidFill>
              <a:latin typeface="Libre Franklin"/>
              <a:ea typeface="Libre Franklin"/>
              <a:cs typeface="Libre Franklin"/>
              <a:sym typeface="Libre Franklin"/>
            </a:endParaRPr>
          </a:p>
        </p:txBody>
      </p:sp>
      <p:pic>
        <p:nvPicPr>
          <p:cNvPr id="297" name="Google Shape;297;p28"/>
          <p:cNvPicPr preferRelativeResize="0"/>
          <p:nvPr/>
        </p:nvPicPr>
        <p:blipFill>
          <a:blip r:embed="rId4">
            <a:alphaModFix/>
          </a:blip>
          <a:stretch>
            <a:fillRect/>
          </a:stretch>
        </p:blipFill>
        <p:spPr>
          <a:xfrm>
            <a:off x="9165025" y="1287600"/>
            <a:ext cx="2454424" cy="2308299"/>
          </a:xfrm>
          <a:prstGeom prst="rect">
            <a:avLst/>
          </a:prstGeom>
          <a:noFill/>
          <a:ln>
            <a:noFill/>
          </a:ln>
        </p:spPr>
      </p:pic>
      <p:pic>
        <p:nvPicPr>
          <p:cNvPr id="298" name="Google Shape;298;p28"/>
          <p:cNvPicPr preferRelativeResize="0"/>
          <p:nvPr/>
        </p:nvPicPr>
        <p:blipFill>
          <a:blip r:embed="rId5">
            <a:alphaModFix/>
          </a:blip>
          <a:stretch>
            <a:fillRect/>
          </a:stretch>
        </p:blipFill>
        <p:spPr>
          <a:xfrm>
            <a:off x="9165025" y="3733125"/>
            <a:ext cx="2454425" cy="2355758"/>
          </a:xfrm>
          <a:prstGeom prst="rect">
            <a:avLst/>
          </a:prstGeom>
          <a:noFill/>
          <a:ln>
            <a:noFill/>
          </a:ln>
        </p:spPr>
      </p:pic>
      <p:pic>
        <p:nvPicPr>
          <p:cNvPr id="299" name="Google Shape;299;p28"/>
          <p:cNvPicPr preferRelativeResize="0"/>
          <p:nvPr/>
        </p:nvPicPr>
        <p:blipFill>
          <a:blip r:embed="rId6">
            <a:alphaModFix/>
          </a:blip>
          <a:stretch>
            <a:fillRect/>
          </a:stretch>
        </p:blipFill>
        <p:spPr>
          <a:xfrm>
            <a:off x="5830150" y="3595888"/>
            <a:ext cx="2333050" cy="2293729"/>
          </a:xfrm>
          <a:prstGeom prst="rect">
            <a:avLst/>
          </a:prstGeom>
          <a:noFill/>
          <a:ln>
            <a:noFill/>
          </a:ln>
        </p:spPr>
      </p:pic>
      <p:sp>
        <p:nvSpPr>
          <p:cNvPr id="300" name="Google Shape;300;p28"/>
          <p:cNvSpPr txBox="1"/>
          <p:nvPr/>
        </p:nvSpPr>
        <p:spPr>
          <a:xfrm>
            <a:off x="9407000" y="758625"/>
            <a:ext cx="1729800" cy="39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entury Schoolbook"/>
                <a:ea typeface="Century Schoolbook"/>
                <a:cs typeface="Century Schoolbook"/>
                <a:sym typeface="Century Schoolbook"/>
              </a:rPr>
              <a:t>#INSPO</a:t>
            </a:r>
            <a:endParaRPr>
              <a:latin typeface="Century Schoolbook"/>
              <a:ea typeface="Century Schoolbook"/>
              <a:cs typeface="Century Schoolbook"/>
              <a:sym typeface="Century Schoolbook"/>
            </a:endParaRPr>
          </a:p>
        </p:txBody>
      </p:sp>
      <p:sp>
        <p:nvSpPr>
          <p:cNvPr id="301" name="Google Shape;301;p28"/>
          <p:cNvSpPr txBox="1"/>
          <p:nvPr/>
        </p:nvSpPr>
        <p:spPr>
          <a:xfrm>
            <a:off x="6160050" y="3037400"/>
            <a:ext cx="1729800" cy="39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entury Schoolbook"/>
                <a:ea typeface="Century Schoolbook"/>
                <a:cs typeface="Century Schoolbook"/>
                <a:sym typeface="Century Schoolbook"/>
              </a:rPr>
              <a:t>scan this to reserve a spot!!!</a:t>
            </a:r>
            <a:endParaRPr>
              <a:latin typeface="Century Schoolbook"/>
              <a:ea typeface="Century Schoolbook"/>
              <a:cs typeface="Century Schoolbook"/>
              <a:sym typeface="Century Schoolbook"/>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RLC- Jeff McLane </a:t>
            </a:r>
            <a:endParaRPr/>
          </a:p>
        </p:txBody>
      </p:sp>
      <p:sp>
        <p:nvSpPr>
          <p:cNvPr id="308" name="Google Shape;308;p29"/>
          <p:cNvSpPr txBox="1"/>
          <p:nvPr/>
        </p:nvSpPr>
        <p:spPr>
          <a:xfrm>
            <a:off x="838200" y="1815300"/>
            <a:ext cx="7704600" cy="4109400"/>
          </a:xfrm>
          <a:prstGeom prst="rect">
            <a:avLst/>
          </a:prstGeom>
          <a:noFill/>
          <a:ln>
            <a:noFill/>
          </a:ln>
        </p:spPr>
        <p:txBody>
          <a:bodyPr spcFirstLastPara="1" wrap="square" lIns="91425" tIns="91425" rIns="91425" bIns="91425" anchor="t" anchorCtr="0">
            <a:normAutofit/>
          </a:bodyPr>
          <a:lstStyle/>
          <a:p>
            <a:pPr marL="457200" lvl="0" indent="0" algn="l" rtl="0">
              <a:spcBef>
                <a:spcPts val="0"/>
              </a:spcBef>
              <a:spcAft>
                <a:spcPts val="0"/>
              </a:spcAft>
              <a:buNone/>
            </a:pPr>
            <a:endParaRPr sz="2800">
              <a:latin typeface="Century Schoolbook"/>
              <a:ea typeface="Century Schoolbook"/>
              <a:cs typeface="Century Schoolbook"/>
              <a:sym typeface="Century Schoolbook"/>
            </a:endParaRPr>
          </a:p>
          <a:p>
            <a:pPr marL="0" lvl="0" indent="0" algn="l" rtl="0">
              <a:spcBef>
                <a:spcPts val="0"/>
              </a:spcBef>
              <a:spcAft>
                <a:spcPts val="0"/>
              </a:spcAft>
              <a:buNone/>
            </a:pPr>
            <a:endParaRPr sz="2800">
              <a:latin typeface="Century Schoolbook"/>
              <a:ea typeface="Century Schoolbook"/>
              <a:cs typeface="Century Schoolbook"/>
              <a:sym typeface="Century Schoolbook"/>
            </a:endParaRPr>
          </a:p>
          <a:p>
            <a:pPr marL="457200" lvl="0" indent="-406400" algn="l" rtl="0">
              <a:spcBef>
                <a:spcPts val="0"/>
              </a:spcBef>
              <a:spcAft>
                <a:spcPts val="0"/>
              </a:spcAft>
              <a:buSzPts val="2800"/>
              <a:buFont typeface="Century Schoolbook"/>
              <a:buChar char="-"/>
            </a:pPr>
            <a:r>
              <a:rPr lang="en-US" sz="2800">
                <a:latin typeface="Century Schoolbook"/>
                <a:ea typeface="Century Schoolbook"/>
                <a:cs typeface="Century Schoolbook"/>
                <a:sym typeface="Century Schoolbook"/>
              </a:rPr>
              <a:t>G Pavilion is open!!</a:t>
            </a:r>
            <a:endParaRPr sz="2800">
              <a:latin typeface="Century Schoolbook"/>
              <a:ea typeface="Century Schoolbook"/>
              <a:cs typeface="Century Schoolbook"/>
              <a:sym typeface="Century Schoolbook"/>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0"/>
          <p:cNvSpPr txBox="1">
            <a:spLocks noGrp="1"/>
          </p:cNvSpPr>
          <p:nvPr>
            <p:ph type="title"/>
          </p:nvPr>
        </p:nvSpPr>
        <p:spPr>
          <a:xfrm>
            <a:off x="838200" y="869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Religious Council - Ruthie Richardson </a:t>
            </a:r>
            <a:endParaRPr/>
          </a:p>
        </p:txBody>
      </p:sp>
      <p:sp>
        <p:nvSpPr>
          <p:cNvPr id="315" name="Google Shape;315;p30"/>
          <p:cNvSpPr txBox="1"/>
          <p:nvPr/>
        </p:nvSpPr>
        <p:spPr>
          <a:xfrm>
            <a:off x="4399025" y="1307050"/>
            <a:ext cx="68442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700">
              <a:latin typeface="Oswald Medium"/>
              <a:ea typeface="Oswald Medium"/>
              <a:cs typeface="Oswald Medium"/>
              <a:sym typeface="Oswald Medium"/>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316" name="Google Shape;316;p30"/>
          <p:cNvSpPr txBox="1"/>
          <p:nvPr/>
        </p:nvSpPr>
        <p:spPr>
          <a:xfrm>
            <a:off x="885425" y="1432775"/>
            <a:ext cx="8854200" cy="3783300"/>
          </a:xfrm>
          <a:prstGeom prst="rect">
            <a:avLst/>
          </a:prstGeom>
          <a:noFill/>
          <a:ln>
            <a:noFill/>
          </a:ln>
        </p:spPr>
        <p:txBody>
          <a:bodyPr spcFirstLastPara="1" wrap="square" lIns="91425" tIns="91425" rIns="91425" bIns="91425" anchor="t" anchorCtr="0">
            <a:noAutofit/>
          </a:bodyPr>
          <a:lstStyle/>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Nothing new</a:t>
            </a:r>
            <a:endParaRPr sz="2500">
              <a:latin typeface="Century Schoolbook"/>
              <a:ea typeface="Century Schoolbook"/>
              <a:cs typeface="Century Schoolbook"/>
              <a:sym typeface="Century Schoolbook"/>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22" name="Google Shape;322;p31"/>
          <p:cNvPicPr preferRelativeResize="0"/>
          <p:nvPr/>
        </p:nvPicPr>
        <p:blipFill>
          <a:blip r:embed="rId3">
            <a:alphaModFix/>
          </a:blip>
          <a:stretch>
            <a:fillRect/>
          </a:stretch>
        </p:blipFill>
        <p:spPr>
          <a:xfrm>
            <a:off x="138175" y="90175"/>
            <a:ext cx="4498299" cy="2039375"/>
          </a:xfrm>
          <a:prstGeom prst="rect">
            <a:avLst/>
          </a:prstGeom>
          <a:noFill/>
          <a:ln>
            <a:noFill/>
          </a:ln>
        </p:spPr>
      </p:pic>
      <p:sp>
        <p:nvSpPr>
          <p:cNvPr id="323" name="Google Shape;323;p31"/>
          <p:cNvSpPr txBox="1"/>
          <p:nvPr/>
        </p:nvSpPr>
        <p:spPr>
          <a:xfrm>
            <a:off x="9050689" y="742663"/>
            <a:ext cx="3141300" cy="569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rgbClr val="000000"/>
              </a:buClr>
              <a:buSzPts val="3100"/>
              <a:buFont typeface="Arial"/>
              <a:buNone/>
            </a:pPr>
            <a:r>
              <a:rPr lang="en-US" sz="3100" b="0" i="0" u="none" strike="noStrike" cap="none">
                <a:solidFill>
                  <a:srgbClr val="4C4D4C"/>
                </a:solidFill>
                <a:latin typeface="Century Schoolbook"/>
                <a:ea typeface="Century Schoolbook"/>
                <a:cs typeface="Century Schoolbook"/>
                <a:sym typeface="Century Schoolbook"/>
              </a:rPr>
              <a:t>@FurmanCRW</a:t>
            </a:r>
            <a:endParaRPr sz="3100" b="0" i="0" u="none" strike="noStrike" cap="none">
              <a:solidFill>
                <a:srgbClr val="4C4D4C"/>
              </a:solidFill>
              <a:latin typeface="Century Schoolbook"/>
              <a:ea typeface="Century Schoolbook"/>
              <a:cs typeface="Century Schoolbook"/>
              <a:sym typeface="Century Schoolbook"/>
            </a:endParaRPr>
          </a:p>
        </p:txBody>
      </p:sp>
      <p:pic>
        <p:nvPicPr>
          <p:cNvPr id="324" name="Google Shape;324;p31"/>
          <p:cNvPicPr preferRelativeResize="0"/>
          <p:nvPr/>
        </p:nvPicPr>
        <p:blipFill rotWithShape="1">
          <a:blip r:embed="rId4">
            <a:alphaModFix/>
          </a:blip>
          <a:srcRect/>
          <a:stretch/>
        </p:blipFill>
        <p:spPr>
          <a:xfrm>
            <a:off x="8023819" y="514525"/>
            <a:ext cx="1026880" cy="1026900"/>
          </a:xfrm>
          <a:prstGeom prst="rect">
            <a:avLst/>
          </a:prstGeom>
          <a:noFill/>
          <a:ln>
            <a:noFill/>
          </a:ln>
        </p:spPr>
      </p:pic>
      <p:sp>
        <p:nvSpPr>
          <p:cNvPr id="325" name="Google Shape;325;p31"/>
          <p:cNvSpPr txBox="1"/>
          <p:nvPr/>
        </p:nvSpPr>
        <p:spPr>
          <a:xfrm>
            <a:off x="812800" y="1591725"/>
            <a:ext cx="10515600" cy="831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200"/>
              <a:buFont typeface="Arial"/>
              <a:buNone/>
            </a:pPr>
            <a:endParaRPr sz="4200" b="1" i="0" u="none" strike="noStrike" cap="none">
              <a:solidFill>
                <a:srgbClr val="000000"/>
              </a:solidFill>
              <a:latin typeface="Merriweather"/>
              <a:ea typeface="Merriweather"/>
              <a:cs typeface="Merriweather"/>
              <a:sym typeface="Merriweather"/>
            </a:endParaRPr>
          </a:p>
        </p:txBody>
      </p:sp>
      <p:sp>
        <p:nvSpPr>
          <p:cNvPr id="326" name="Google Shape;326;p31"/>
          <p:cNvSpPr txBox="1"/>
          <p:nvPr/>
        </p:nvSpPr>
        <p:spPr>
          <a:xfrm>
            <a:off x="10472388" y="32200"/>
            <a:ext cx="17196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latin typeface="Century Schoolbook"/>
              <a:ea typeface="Century Schoolbook"/>
              <a:cs typeface="Century Schoolbook"/>
              <a:sym typeface="Century Schoolbook"/>
            </a:endParaRPr>
          </a:p>
        </p:txBody>
      </p:sp>
      <p:sp>
        <p:nvSpPr>
          <p:cNvPr id="327" name="Google Shape;327;p31"/>
          <p:cNvSpPr/>
          <p:nvPr/>
        </p:nvSpPr>
        <p:spPr>
          <a:xfrm>
            <a:off x="4014475" y="2129551"/>
            <a:ext cx="3689400" cy="2963400"/>
          </a:xfrm>
          <a:prstGeom prst="roundRect">
            <a:avLst>
              <a:gd name="adj" fmla="val 16667"/>
            </a:avLst>
          </a:prstGeom>
          <a:solidFill>
            <a:srgbClr val="D9D2E9"/>
          </a:solidFill>
          <a:ln>
            <a:noFill/>
          </a:ln>
          <a:effectLst>
            <a:outerShdw blurRad="57150" dist="200025" dir="8040000" algn="bl" rotWithShape="0">
              <a:srgbClr val="000000">
                <a:alpha val="26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Schoolbook"/>
              <a:ea typeface="Century Schoolbook"/>
              <a:cs typeface="Century Schoolbook"/>
              <a:sym typeface="Century Schoolbook"/>
            </a:endParaRPr>
          </a:p>
        </p:txBody>
      </p:sp>
      <p:sp>
        <p:nvSpPr>
          <p:cNvPr id="328" name="Google Shape;328;p31"/>
          <p:cNvSpPr txBox="1"/>
          <p:nvPr/>
        </p:nvSpPr>
        <p:spPr>
          <a:xfrm>
            <a:off x="152400" y="2125125"/>
            <a:ext cx="3783000" cy="384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900" b="1">
                <a:latin typeface="Century Schoolbook"/>
                <a:ea typeface="Century Schoolbook"/>
                <a:cs typeface="Century Schoolbook"/>
                <a:sym typeface="Century Schoolbook"/>
              </a:rPr>
              <a:t>Club Sports</a:t>
            </a:r>
            <a:endParaRPr sz="2900" b="1">
              <a:latin typeface="Century Schoolbook"/>
              <a:ea typeface="Century Schoolbook"/>
              <a:cs typeface="Century Schoolbook"/>
              <a:sym typeface="Century Schoolbook"/>
            </a:endParaRPr>
          </a:p>
          <a:p>
            <a:pPr marL="0" lvl="0" indent="0" algn="l" rtl="0">
              <a:spcBef>
                <a:spcPts val="0"/>
              </a:spcBef>
              <a:spcAft>
                <a:spcPts val="0"/>
              </a:spcAft>
              <a:buNone/>
            </a:pPr>
            <a:endParaRPr sz="1800" b="1">
              <a:latin typeface="Century Schoolbook"/>
              <a:ea typeface="Century Schoolbook"/>
              <a:cs typeface="Century Schoolbook"/>
              <a:sym typeface="Century Schoolbook"/>
            </a:endParaRPr>
          </a:p>
          <a:p>
            <a:pPr marL="0" lvl="0" indent="0" algn="l" rtl="0">
              <a:spcBef>
                <a:spcPts val="0"/>
              </a:spcBef>
              <a:spcAft>
                <a:spcPts val="0"/>
              </a:spcAft>
              <a:buNone/>
            </a:pPr>
            <a:r>
              <a:rPr lang="en-US" sz="1800" b="1" u="sng">
                <a:latin typeface="Century Schoolbook"/>
                <a:ea typeface="Century Schoolbook"/>
                <a:cs typeface="Century Schoolbook"/>
                <a:sym typeface="Century Schoolbook"/>
              </a:rPr>
              <a:t>Last Weekend</a:t>
            </a:r>
            <a:endParaRPr sz="1800" b="1" u="sng">
              <a:latin typeface="Century Schoolbook"/>
              <a:ea typeface="Century Schoolbook"/>
              <a:cs typeface="Century Schoolbook"/>
              <a:sym typeface="Century Schoolbook"/>
            </a:endParaRPr>
          </a:p>
          <a:p>
            <a:pPr marL="0" lvl="0" indent="0" algn="l" rtl="0">
              <a:spcBef>
                <a:spcPts val="0"/>
              </a:spcBef>
              <a:spcAft>
                <a:spcPts val="0"/>
              </a:spcAft>
              <a:buNone/>
            </a:pPr>
            <a:endParaRPr sz="1800" b="1" u="sng">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Ultimate Frisbee @ Charlotte</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Women’s Soccer vs WCU</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Rugby vs Duke</a:t>
            </a:r>
            <a:endParaRPr sz="1800">
              <a:latin typeface="Century Schoolbook"/>
              <a:ea typeface="Century Schoolbook"/>
              <a:cs typeface="Century Schoolbook"/>
              <a:sym typeface="Century Schoolbook"/>
            </a:endParaRPr>
          </a:p>
          <a:p>
            <a:pPr marL="0" lvl="0" indent="0" algn="l" rtl="0">
              <a:spcBef>
                <a:spcPts val="0"/>
              </a:spcBef>
              <a:spcAft>
                <a:spcPts val="0"/>
              </a:spcAft>
              <a:buNone/>
            </a:pPr>
            <a:endParaRPr sz="1800">
              <a:latin typeface="Century Schoolbook"/>
              <a:ea typeface="Century Schoolbook"/>
              <a:cs typeface="Century Schoolbook"/>
              <a:sym typeface="Century Schoolbook"/>
            </a:endParaRPr>
          </a:p>
          <a:p>
            <a:pPr marL="0" lvl="0" indent="0" algn="l" rtl="0">
              <a:spcBef>
                <a:spcPts val="0"/>
              </a:spcBef>
              <a:spcAft>
                <a:spcPts val="0"/>
              </a:spcAft>
              <a:buNone/>
            </a:pPr>
            <a:endParaRPr sz="1800" b="1">
              <a:latin typeface="Century Schoolbook"/>
              <a:ea typeface="Century Schoolbook"/>
              <a:cs typeface="Century Schoolbook"/>
              <a:sym typeface="Century Schoolbook"/>
            </a:endParaRPr>
          </a:p>
          <a:p>
            <a:pPr marL="0" lvl="0" indent="0" algn="l" rtl="0">
              <a:spcBef>
                <a:spcPts val="0"/>
              </a:spcBef>
              <a:spcAft>
                <a:spcPts val="0"/>
              </a:spcAft>
              <a:buNone/>
            </a:pPr>
            <a:r>
              <a:rPr lang="en-US" sz="1800" b="1" u="sng">
                <a:latin typeface="Century Schoolbook"/>
                <a:ea typeface="Century Schoolbook"/>
                <a:cs typeface="Century Schoolbook"/>
                <a:sym typeface="Century Schoolbook"/>
              </a:rPr>
              <a:t>Next Weekend</a:t>
            </a:r>
            <a:endParaRPr sz="1800" b="1" u="sng">
              <a:latin typeface="Century Schoolbook"/>
              <a:ea typeface="Century Schoolbook"/>
              <a:cs typeface="Century Schoolbook"/>
              <a:sym typeface="Century Schoolbook"/>
            </a:endParaRPr>
          </a:p>
          <a:p>
            <a:pPr marL="0" lvl="0" indent="0" algn="l" rtl="0">
              <a:spcBef>
                <a:spcPts val="0"/>
              </a:spcBef>
              <a:spcAft>
                <a:spcPts val="0"/>
              </a:spcAft>
              <a:buNone/>
            </a:pPr>
            <a:endParaRPr sz="1800" u="sng">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Rugby @ College of Charleston</a:t>
            </a:r>
            <a:endParaRPr sz="1800">
              <a:latin typeface="Century Schoolbook"/>
              <a:ea typeface="Century Schoolbook"/>
              <a:cs typeface="Century Schoolbook"/>
              <a:sym typeface="Century Schoolbook"/>
            </a:endParaRPr>
          </a:p>
          <a:p>
            <a:pPr marL="0" lvl="0" indent="0" algn="l" rtl="0">
              <a:spcBef>
                <a:spcPts val="0"/>
              </a:spcBef>
              <a:spcAft>
                <a:spcPts val="0"/>
              </a:spcAft>
              <a:buNone/>
            </a:pPr>
            <a:endParaRPr sz="1800">
              <a:latin typeface="Century Schoolbook"/>
              <a:ea typeface="Century Schoolbook"/>
              <a:cs typeface="Century Schoolbook"/>
              <a:sym typeface="Century Schoolbook"/>
            </a:endParaRPr>
          </a:p>
        </p:txBody>
      </p:sp>
      <p:sp>
        <p:nvSpPr>
          <p:cNvPr id="329" name="Google Shape;329;p31"/>
          <p:cNvSpPr txBox="1"/>
          <p:nvPr/>
        </p:nvSpPr>
        <p:spPr>
          <a:xfrm>
            <a:off x="4169275" y="2444025"/>
            <a:ext cx="3320400" cy="221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900" b="1">
                <a:latin typeface="Century Schoolbook"/>
                <a:ea typeface="Century Schoolbook"/>
                <a:cs typeface="Century Schoolbook"/>
                <a:sym typeface="Century Schoolbook"/>
              </a:rPr>
              <a:t>Intramurals</a:t>
            </a:r>
            <a:endParaRPr sz="2900" b="1">
              <a:latin typeface="Century Schoolbook"/>
              <a:ea typeface="Century Schoolbook"/>
              <a:cs typeface="Century Schoolbook"/>
              <a:sym typeface="Century Schoolbook"/>
            </a:endParaRPr>
          </a:p>
          <a:p>
            <a:pPr marL="0" lvl="0" indent="0" algn="ctr" rtl="0">
              <a:spcBef>
                <a:spcPts val="0"/>
              </a:spcBef>
              <a:spcAft>
                <a:spcPts val="0"/>
              </a:spcAft>
              <a:buNone/>
            </a:pPr>
            <a:endParaRPr sz="1800">
              <a:latin typeface="Century Schoolbook"/>
              <a:ea typeface="Century Schoolbook"/>
              <a:cs typeface="Century Schoolbook"/>
              <a:sym typeface="Century Schoolbook"/>
            </a:endParaRPr>
          </a:p>
          <a:p>
            <a:pPr marL="0" lvl="0" indent="0" algn="ctr" rtl="0">
              <a:spcBef>
                <a:spcPts val="0"/>
              </a:spcBef>
              <a:spcAft>
                <a:spcPts val="0"/>
              </a:spcAft>
              <a:buNone/>
            </a:pPr>
            <a:endParaRPr sz="1800">
              <a:latin typeface="Century Schoolbook"/>
              <a:ea typeface="Century Schoolbook"/>
              <a:cs typeface="Century Schoolbook"/>
              <a:sym typeface="Century Schoolbook"/>
            </a:endParaRPr>
          </a:p>
          <a:p>
            <a:pPr marL="0" lvl="0" indent="0" algn="ctr" rtl="0">
              <a:spcBef>
                <a:spcPts val="0"/>
              </a:spcBef>
              <a:spcAft>
                <a:spcPts val="0"/>
              </a:spcAft>
              <a:buNone/>
            </a:pPr>
            <a:r>
              <a:rPr lang="en-US" sz="1800">
                <a:latin typeface="Century Schoolbook"/>
                <a:ea typeface="Century Schoolbook"/>
                <a:cs typeface="Century Schoolbook"/>
                <a:sym typeface="Century Schoolbook"/>
              </a:rPr>
              <a:t>Tennis, Dodgeball &amp; Table Tennis Signups are </a:t>
            </a:r>
            <a:r>
              <a:rPr lang="en-US" sz="1800" b="1">
                <a:latin typeface="Century Schoolbook"/>
                <a:ea typeface="Century Schoolbook"/>
                <a:cs typeface="Century Schoolbook"/>
                <a:sym typeface="Century Schoolbook"/>
              </a:rPr>
              <a:t>OPEN NOW!</a:t>
            </a:r>
            <a:endParaRPr sz="1800">
              <a:latin typeface="Century Schoolbook"/>
              <a:ea typeface="Century Schoolbook"/>
              <a:cs typeface="Century Schoolbook"/>
              <a:sym typeface="Century Schoolbook"/>
            </a:endParaRPr>
          </a:p>
          <a:p>
            <a:pPr marL="0" lvl="0" indent="0" algn="ctr" rtl="0">
              <a:spcBef>
                <a:spcPts val="0"/>
              </a:spcBef>
              <a:spcAft>
                <a:spcPts val="0"/>
              </a:spcAft>
              <a:buNone/>
            </a:pPr>
            <a:endParaRPr sz="1800">
              <a:latin typeface="Century Schoolbook"/>
              <a:ea typeface="Century Schoolbook"/>
              <a:cs typeface="Century Schoolbook"/>
              <a:sym typeface="Century Schoolbook"/>
            </a:endParaRPr>
          </a:p>
          <a:p>
            <a:pPr marL="0" lvl="0" indent="0" algn="ctr" rtl="0">
              <a:spcBef>
                <a:spcPts val="0"/>
              </a:spcBef>
              <a:spcAft>
                <a:spcPts val="0"/>
              </a:spcAft>
              <a:buNone/>
            </a:pPr>
            <a:endParaRPr sz="1800">
              <a:latin typeface="Century Schoolbook"/>
              <a:ea typeface="Century Schoolbook"/>
              <a:cs typeface="Century Schoolbook"/>
              <a:sym typeface="Century Schoolbook"/>
            </a:endParaRPr>
          </a:p>
        </p:txBody>
      </p:sp>
      <p:sp>
        <p:nvSpPr>
          <p:cNvPr id="330" name="Google Shape;330;p31"/>
          <p:cNvSpPr txBox="1"/>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2743200" lvl="0" indent="457200" algn="l" rtl="0">
              <a:lnSpc>
                <a:spcPct val="90000"/>
              </a:lnSpc>
              <a:spcBef>
                <a:spcPts val="0"/>
              </a:spcBef>
              <a:spcAft>
                <a:spcPts val="0"/>
              </a:spcAft>
              <a:buNone/>
            </a:pPr>
            <a:r>
              <a:rPr lang="en-US" sz="4400">
                <a:solidFill>
                  <a:srgbClr val="582C83"/>
                </a:solidFill>
                <a:latin typeface="Libre Franklin Medium"/>
                <a:ea typeface="Libre Franklin Medium"/>
                <a:cs typeface="Libre Franklin Medium"/>
                <a:sym typeface="Libre Franklin Medium"/>
              </a:rPr>
              <a:t> - Eva Brooks</a:t>
            </a:r>
            <a:endParaRPr sz="4400">
              <a:solidFill>
                <a:srgbClr val="582C83"/>
              </a:solidFill>
              <a:latin typeface="Libre Franklin Medium"/>
              <a:ea typeface="Libre Franklin Medium"/>
              <a:cs typeface="Libre Franklin Medium"/>
              <a:sym typeface="Libre Franklin Medium"/>
            </a:endParaRPr>
          </a:p>
        </p:txBody>
      </p:sp>
      <p:sp>
        <p:nvSpPr>
          <p:cNvPr id="331" name="Google Shape;331;p31"/>
          <p:cNvSpPr txBox="1"/>
          <p:nvPr/>
        </p:nvSpPr>
        <p:spPr>
          <a:xfrm>
            <a:off x="8230250" y="1896550"/>
            <a:ext cx="3783000" cy="319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900" b="1">
              <a:latin typeface="Century Schoolbook"/>
              <a:ea typeface="Century Schoolbook"/>
              <a:cs typeface="Century Schoolbook"/>
              <a:sym typeface="Century Schoolbook"/>
            </a:endParaRPr>
          </a:p>
          <a:p>
            <a:pPr marL="0" lvl="0" indent="0" algn="l" rtl="0">
              <a:spcBef>
                <a:spcPts val="0"/>
              </a:spcBef>
              <a:spcAft>
                <a:spcPts val="0"/>
              </a:spcAft>
              <a:buNone/>
            </a:pPr>
            <a:r>
              <a:rPr lang="en-US" sz="2900" b="1">
                <a:latin typeface="Century Schoolbook"/>
                <a:ea typeface="Century Schoolbook"/>
                <a:cs typeface="Century Schoolbook"/>
                <a:sym typeface="Century Schoolbook"/>
              </a:rPr>
              <a:t>New Campus Recreation Rep starting Jan 2024!</a:t>
            </a:r>
            <a:endParaRPr sz="2900" b="1">
              <a:latin typeface="Century Schoolbook"/>
              <a:ea typeface="Century Schoolbook"/>
              <a:cs typeface="Century Schoolbook"/>
              <a:sym typeface="Century Schoolbook"/>
            </a:endParaRPr>
          </a:p>
          <a:p>
            <a:pPr marL="0" lvl="0" indent="0" algn="l" rtl="0">
              <a:spcBef>
                <a:spcPts val="0"/>
              </a:spcBef>
              <a:spcAft>
                <a:spcPts val="0"/>
              </a:spcAft>
              <a:buNone/>
            </a:pPr>
            <a:endParaRPr sz="2900" b="1">
              <a:latin typeface="Century Schoolbook"/>
              <a:ea typeface="Century Schoolbook"/>
              <a:cs typeface="Century Schoolbook"/>
              <a:sym typeface="Century Schoolbook"/>
            </a:endParaRPr>
          </a:p>
          <a:p>
            <a:pPr marL="0" lvl="0" indent="0" algn="l" rtl="0">
              <a:spcBef>
                <a:spcPts val="0"/>
              </a:spcBef>
              <a:spcAft>
                <a:spcPts val="0"/>
              </a:spcAft>
              <a:buNone/>
            </a:pPr>
            <a:r>
              <a:rPr lang="en-US" sz="2900" b="1">
                <a:latin typeface="Century Schoolbook"/>
                <a:ea typeface="Century Schoolbook"/>
                <a:cs typeface="Century Schoolbook"/>
                <a:sym typeface="Century Schoolbook"/>
              </a:rPr>
              <a:t>Deen Deovic</a:t>
            </a:r>
            <a:endParaRPr sz="1800">
              <a:latin typeface="Century Schoolbook"/>
              <a:ea typeface="Century Schoolbook"/>
              <a:cs typeface="Century Schoolbook"/>
              <a:sym typeface="Century Schoolbook"/>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2"/>
          <p:cNvSpPr txBox="1">
            <a:spLocks noGrp="1"/>
          </p:cNvSpPr>
          <p:nvPr>
            <p:ph type="title"/>
          </p:nvPr>
        </p:nvSpPr>
        <p:spPr>
          <a:xfrm>
            <a:off x="838200" y="365125"/>
            <a:ext cx="84195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SDC - Abijah Leamon </a:t>
            </a:r>
            <a:endParaRPr sz="6000">
              <a:latin typeface="Lobster"/>
              <a:ea typeface="Lobster"/>
              <a:cs typeface="Lobster"/>
              <a:sym typeface="Lobster"/>
            </a:endParaRPr>
          </a:p>
        </p:txBody>
      </p:sp>
      <p:sp>
        <p:nvSpPr>
          <p:cNvPr id="338" name="Google Shape;338;p32"/>
          <p:cNvSpPr txBox="1"/>
          <p:nvPr/>
        </p:nvSpPr>
        <p:spPr>
          <a:xfrm>
            <a:off x="838200" y="1584250"/>
            <a:ext cx="60573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a:highlight>
                <a:srgbClr val="FFFFFF"/>
              </a:highlight>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Panhel - Katherine Murphy </a:t>
            </a:r>
            <a:endParaRPr/>
          </a:p>
        </p:txBody>
      </p:sp>
      <p:sp>
        <p:nvSpPr>
          <p:cNvPr id="345" name="Google Shape;345;p34"/>
          <p:cNvSpPr txBox="1"/>
          <p:nvPr/>
        </p:nvSpPr>
        <p:spPr>
          <a:xfrm>
            <a:off x="1002550" y="1670900"/>
            <a:ext cx="49836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latin typeface="Century Schoolbook"/>
              <a:ea typeface="Century Schoolbook"/>
              <a:cs typeface="Century Schoolbook"/>
              <a:sym typeface="Century Schoolbook"/>
            </a:endParaRPr>
          </a:p>
        </p:txBody>
      </p:sp>
      <p:sp>
        <p:nvSpPr>
          <p:cNvPr id="346" name="Google Shape;346;p34"/>
          <p:cNvSpPr txBox="1"/>
          <p:nvPr/>
        </p:nvSpPr>
        <p:spPr>
          <a:xfrm>
            <a:off x="6265975" y="652250"/>
            <a:ext cx="4213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347" name="Google Shape;347;p34"/>
          <p:cNvSpPr txBox="1"/>
          <p:nvPr/>
        </p:nvSpPr>
        <p:spPr>
          <a:xfrm>
            <a:off x="7352000" y="3981125"/>
            <a:ext cx="37050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Century Schoolbook"/>
              <a:buChar char="-"/>
            </a:pPr>
            <a:endParaRPr>
              <a:latin typeface="Century Schoolbook"/>
              <a:ea typeface="Century Schoolbook"/>
              <a:cs typeface="Century Schoolbook"/>
              <a:sym typeface="Century Schoolbook"/>
            </a:endParaRPr>
          </a:p>
        </p:txBody>
      </p:sp>
      <p:sp>
        <p:nvSpPr>
          <p:cNvPr id="348" name="Google Shape;348;p34"/>
          <p:cNvSpPr txBox="1"/>
          <p:nvPr/>
        </p:nvSpPr>
        <p:spPr>
          <a:xfrm>
            <a:off x="541400" y="1503725"/>
            <a:ext cx="10515600" cy="5281500"/>
          </a:xfrm>
          <a:prstGeom prst="rect">
            <a:avLst/>
          </a:prstGeom>
          <a:noFill/>
          <a:ln>
            <a:noFill/>
          </a:ln>
        </p:spPr>
        <p:txBody>
          <a:bodyPr spcFirstLastPara="1" wrap="square" lIns="91425" tIns="91425" rIns="91425" bIns="91425" anchor="t" anchorCtr="0">
            <a:spAutoFit/>
          </a:bodyPr>
          <a:lstStyle/>
          <a:p>
            <a:pPr marL="0" lvl="0" indent="0" algn="l" rtl="0">
              <a:lnSpc>
                <a:spcPct val="238200"/>
              </a:lnSpc>
              <a:spcBef>
                <a:spcPts val="0"/>
              </a:spcBef>
              <a:spcAft>
                <a:spcPts val="0"/>
              </a:spcAft>
              <a:buNone/>
            </a:pPr>
            <a:r>
              <a:rPr lang="en-US" sz="1600">
                <a:solidFill>
                  <a:srgbClr val="212121"/>
                </a:solidFill>
                <a:highlight>
                  <a:srgbClr val="FFFFFF"/>
                </a:highlight>
                <a:latin typeface="Times New Roman"/>
                <a:ea typeface="Times New Roman"/>
                <a:cs typeface="Times New Roman"/>
                <a:sym typeface="Times New Roman"/>
              </a:rPr>
              <a:t>September 25th - 29th:  Stop the Hazing week </a:t>
            </a:r>
            <a:endParaRPr sz="1600">
              <a:solidFill>
                <a:srgbClr val="212121"/>
              </a:solidFill>
              <a:highlight>
                <a:srgbClr val="FFFFFF"/>
              </a:highlight>
              <a:latin typeface="Times New Roman"/>
              <a:ea typeface="Times New Roman"/>
              <a:cs typeface="Times New Roman"/>
              <a:sym typeface="Times New Roman"/>
            </a:endParaRPr>
          </a:p>
          <a:p>
            <a:pPr marL="457200" lvl="0" indent="-323850" algn="l" rtl="0">
              <a:lnSpc>
                <a:spcPct val="165416"/>
              </a:lnSpc>
              <a:spcBef>
                <a:spcPts val="0"/>
              </a:spcBef>
              <a:spcAft>
                <a:spcPts val="0"/>
              </a:spcAft>
              <a:buClr>
                <a:srgbClr val="212121"/>
              </a:buClr>
              <a:buSzPts val="1500"/>
              <a:buFont typeface="Cambria"/>
              <a:buChar char="●"/>
            </a:pPr>
            <a:r>
              <a:rPr lang="en-US" sz="1500">
                <a:solidFill>
                  <a:srgbClr val="212121"/>
                </a:solidFill>
                <a:highlight>
                  <a:schemeClr val="lt1"/>
                </a:highlight>
                <a:latin typeface="Cambria"/>
                <a:ea typeface="Cambria"/>
                <a:cs typeface="Cambria"/>
                <a:sym typeface="Cambria"/>
              </a:rPr>
              <a:t>beer goggle challenge with FUPO for a chance to win a free golden parking pass</a:t>
            </a:r>
            <a:endParaRPr sz="1600">
              <a:solidFill>
                <a:srgbClr val="212121"/>
              </a:solidFill>
              <a:highlight>
                <a:srgbClr val="FFFFFF"/>
              </a:highlight>
              <a:latin typeface="Times New Roman"/>
              <a:ea typeface="Times New Roman"/>
              <a:cs typeface="Times New Roman"/>
              <a:sym typeface="Times New Roman"/>
            </a:endParaRPr>
          </a:p>
          <a:p>
            <a:pPr marL="457200" lvl="0" indent="-330200" algn="l" rtl="0">
              <a:lnSpc>
                <a:spcPct val="200000"/>
              </a:lnSpc>
              <a:spcBef>
                <a:spcPts val="0"/>
              </a:spcBef>
              <a:spcAft>
                <a:spcPts val="0"/>
              </a:spcAft>
              <a:buClr>
                <a:srgbClr val="212121"/>
              </a:buClr>
              <a:buSzPts val="1600"/>
              <a:buFont typeface="Cambria"/>
              <a:buChar char="●"/>
            </a:pPr>
            <a:r>
              <a:rPr lang="en-US" sz="1600">
                <a:solidFill>
                  <a:srgbClr val="212121"/>
                </a:solidFill>
                <a:highlight>
                  <a:schemeClr val="lt1"/>
                </a:highlight>
                <a:latin typeface="Cambria"/>
                <a:ea typeface="Cambria"/>
                <a:cs typeface="Cambria"/>
                <a:sym typeface="Cambria"/>
              </a:rPr>
              <a:t>“wear purple and win a free donut” day</a:t>
            </a:r>
            <a:endParaRPr sz="1600">
              <a:solidFill>
                <a:srgbClr val="212121"/>
              </a:solidFill>
              <a:highlight>
                <a:schemeClr val="lt1"/>
              </a:highlight>
              <a:latin typeface="Cambria"/>
              <a:ea typeface="Cambria"/>
              <a:cs typeface="Cambria"/>
              <a:sym typeface="Cambria"/>
            </a:endParaRPr>
          </a:p>
          <a:p>
            <a:pPr marL="457200" lvl="0" indent="-330200" algn="l" rtl="0">
              <a:lnSpc>
                <a:spcPct val="200000"/>
              </a:lnSpc>
              <a:spcBef>
                <a:spcPts val="0"/>
              </a:spcBef>
              <a:spcAft>
                <a:spcPts val="0"/>
              </a:spcAft>
              <a:buClr>
                <a:srgbClr val="212121"/>
              </a:buClr>
              <a:buSzPts val="1600"/>
              <a:buFont typeface="Cambria"/>
              <a:buChar char="●"/>
            </a:pPr>
            <a:r>
              <a:rPr lang="en-US" sz="1600">
                <a:solidFill>
                  <a:srgbClr val="212121"/>
                </a:solidFill>
                <a:highlight>
                  <a:schemeClr val="lt1"/>
                </a:highlight>
                <a:latin typeface="Cambria"/>
                <a:ea typeface="Cambria"/>
                <a:cs typeface="Cambria"/>
                <a:sym typeface="Cambria"/>
              </a:rPr>
              <a:t>cup stacking</a:t>
            </a:r>
            <a:endParaRPr sz="1600">
              <a:solidFill>
                <a:srgbClr val="212121"/>
              </a:solidFill>
              <a:highlight>
                <a:schemeClr val="lt1"/>
              </a:highlight>
              <a:latin typeface="Cambria"/>
              <a:ea typeface="Cambria"/>
              <a:cs typeface="Cambria"/>
              <a:sym typeface="Cambria"/>
            </a:endParaRPr>
          </a:p>
          <a:p>
            <a:pPr marL="457200" lvl="0" indent="-330200" algn="l" rtl="0">
              <a:lnSpc>
                <a:spcPct val="200000"/>
              </a:lnSpc>
              <a:spcBef>
                <a:spcPts val="0"/>
              </a:spcBef>
              <a:spcAft>
                <a:spcPts val="0"/>
              </a:spcAft>
              <a:buClr>
                <a:srgbClr val="212121"/>
              </a:buClr>
              <a:buSzPts val="1600"/>
              <a:buFont typeface="Cambria"/>
              <a:buChar char="●"/>
            </a:pPr>
            <a:r>
              <a:rPr lang="en-US" sz="1600">
                <a:solidFill>
                  <a:srgbClr val="212121"/>
                </a:solidFill>
                <a:highlight>
                  <a:schemeClr val="lt1"/>
                </a:highlight>
                <a:latin typeface="Cambria"/>
                <a:ea typeface="Cambria"/>
                <a:cs typeface="Cambria"/>
                <a:sym typeface="Cambria"/>
              </a:rPr>
              <a:t>purple ribbon-making with FUPO on the 27th from 7 -8pm outside the DH</a:t>
            </a:r>
            <a:endParaRPr sz="1600">
              <a:solidFill>
                <a:srgbClr val="212121"/>
              </a:solidFill>
              <a:highlight>
                <a:srgbClr val="FFFFFF"/>
              </a:highlight>
              <a:latin typeface="Times New Roman"/>
              <a:ea typeface="Times New Roman"/>
              <a:cs typeface="Times New Roman"/>
              <a:sym typeface="Times New Roman"/>
            </a:endParaRPr>
          </a:p>
          <a:p>
            <a:pPr marL="0" lvl="0" indent="0" algn="l" rtl="0">
              <a:lnSpc>
                <a:spcPct val="120000"/>
              </a:lnSpc>
              <a:spcBef>
                <a:spcPts val="0"/>
              </a:spcBef>
              <a:spcAft>
                <a:spcPts val="0"/>
              </a:spcAft>
              <a:buNone/>
            </a:pPr>
            <a:r>
              <a:rPr lang="en-US" sz="1600">
                <a:latin typeface="Century Schoolbook"/>
                <a:ea typeface="Century Schoolbook"/>
                <a:cs typeface="Century Schoolbook"/>
                <a:sym typeface="Century Schoolbook"/>
              </a:rPr>
              <a:t>September 25th-29tth: Chi Omega’s Wish Week</a:t>
            </a:r>
            <a:endParaRPr sz="1600">
              <a:latin typeface="Century Schoolbook"/>
              <a:ea typeface="Century Schoolbook"/>
              <a:cs typeface="Century Schoolbook"/>
              <a:sym typeface="Century Schoolbook"/>
            </a:endParaRPr>
          </a:p>
          <a:p>
            <a:pPr marL="457200" lvl="0" indent="-330200" algn="l" rtl="0">
              <a:lnSpc>
                <a:spcPct val="200000"/>
              </a:lnSpc>
              <a:spcBef>
                <a:spcPts val="0"/>
              </a:spcBef>
              <a:spcAft>
                <a:spcPts val="0"/>
              </a:spcAft>
              <a:buSzPts val="1600"/>
              <a:buFont typeface="Century Schoolbook"/>
              <a:buChar char="●"/>
            </a:pPr>
            <a:r>
              <a:rPr lang="en-US" sz="1600">
                <a:latin typeface="Century Schoolbook"/>
                <a:ea typeface="Century Schoolbook"/>
                <a:cs typeface="Century Schoolbook"/>
                <a:sym typeface="Century Schoolbook"/>
              </a:rPr>
              <a:t>Tuesday - raffle outside the lib</a:t>
            </a:r>
            <a:endParaRPr sz="1600">
              <a:latin typeface="Century Schoolbook"/>
              <a:ea typeface="Century Schoolbook"/>
              <a:cs typeface="Century Schoolbook"/>
              <a:sym typeface="Century Schoolbook"/>
            </a:endParaRPr>
          </a:p>
          <a:p>
            <a:pPr marL="457200" lvl="0" indent="-330200" algn="l" rtl="0">
              <a:lnSpc>
                <a:spcPct val="200000"/>
              </a:lnSpc>
              <a:spcBef>
                <a:spcPts val="0"/>
              </a:spcBef>
              <a:spcAft>
                <a:spcPts val="0"/>
              </a:spcAft>
              <a:buSzPts val="1600"/>
              <a:buFont typeface="Century Schoolbook"/>
              <a:buChar char="●"/>
            </a:pPr>
            <a:r>
              <a:rPr lang="en-US" sz="1600">
                <a:latin typeface="Century Schoolbook"/>
                <a:ea typeface="Century Schoolbook"/>
                <a:cs typeface="Century Schoolbook"/>
                <a:sym typeface="Century Schoolbook"/>
              </a:rPr>
              <a:t>Wednesday - % day at Sushi Yama</a:t>
            </a:r>
            <a:endParaRPr sz="1600">
              <a:latin typeface="Century Schoolbook"/>
              <a:ea typeface="Century Schoolbook"/>
              <a:cs typeface="Century Schoolbook"/>
              <a:sym typeface="Century Schoolbook"/>
            </a:endParaRPr>
          </a:p>
          <a:p>
            <a:pPr marL="457200" lvl="0" indent="-330200" algn="l" rtl="0">
              <a:lnSpc>
                <a:spcPct val="200000"/>
              </a:lnSpc>
              <a:spcBef>
                <a:spcPts val="0"/>
              </a:spcBef>
              <a:spcAft>
                <a:spcPts val="0"/>
              </a:spcAft>
              <a:buSzPts val="1600"/>
              <a:buFont typeface="Century Schoolbook"/>
              <a:buChar char="●"/>
            </a:pPr>
            <a:r>
              <a:rPr lang="en-US" sz="1600">
                <a:latin typeface="Century Schoolbook"/>
                <a:ea typeface="Century Schoolbook"/>
                <a:cs typeface="Century Schoolbook"/>
                <a:sym typeface="Century Schoolbook"/>
              </a:rPr>
              <a:t>Thursday - purchase a 5$ ticket at Chi O Cafe to get unlimited desserts and coffee</a:t>
            </a:r>
            <a:endParaRPr sz="1600">
              <a:latin typeface="Century Schoolbook"/>
              <a:ea typeface="Century Schoolbook"/>
              <a:cs typeface="Century Schoolbook"/>
              <a:sym typeface="Century Schoolbook"/>
            </a:endParaRPr>
          </a:p>
          <a:p>
            <a:pPr marL="457200" lvl="0" indent="0" algn="l" rtl="0">
              <a:lnSpc>
                <a:spcPct val="115000"/>
              </a:lnSpc>
              <a:spcBef>
                <a:spcPts val="0"/>
              </a:spcBef>
              <a:spcAft>
                <a:spcPts val="0"/>
              </a:spcAft>
              <a:buNone/>
            </a:pPr>
            <a:endParaRPr>
              <a:latin typeface="Century Schoolbook"/>
              <a:ea typeface="Century Schoolbook"/>
              <a:cs typeface="Century Schoolbook"/>
              <a:sym typeface="Century Schoolbook"/>
            </a:endParaRPr>
          </a:p>
          <a:p>
            <a:pPr marL="0" lvl="0" indent="0" algn="l" rtl="0">
              <a:lnSpc>
                <a:spcPct val="115000"/>
              </a:lnSpc>
              <a:spcBef>
                <a:spcPts val="0"/>
              </a:spcBef>
              <a:spcAft>
                <a:spcPts val="0"/>
              </a:spcAft>
              <a:buNone/>
            </a:pPr>
            <a:endParaRPr sz="1100">
              <a:solidFill>
                <a:srgbClr val="212121"/>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500">
              <a:solidFill>
                <a:srgbClr val="212121"/>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100"/>
          </a:p>
        </p:txBody>
      </p:sp>
      <p:sp>
        <p:nvSpPr>
          <p:cNvPr id="349" name="Google Shape;349;p34"/>
          <p:cNvSpPr txBox="1"/>
          <p:nvPr/>
        </p:nvSpPr>
        <p:spPr>
          <a:xfrm>
            <a:off x="722375" y="1710125"/>
            <a:ext cx="6236100" cy="98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g152e01f2e5c_0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FUOC- Adrian Gonzalez</a:t>
            </a:r>
            <a:endParaRPr/>
          </a:p>
        </p:txBody>
      </p:sp>
      <p:sp>
        <p:nvSpPr>
          <p:cNvPr id="356" name="Google Shape;356;g152e01f2e5c_0_5"/>
          <p:cNvSpPr txBox="1">
            <a:spLocks noGrp="1"/>
          </p:cNvSpPr>
          <p:nvPr>
            <p:ph type="body" idx="1"/>
          </p:nvPr>
        </p:nvSpPr>
        <p:spPr>
          <a:xfrm>
            <a:off x="838200" y="1825625"/>
            <a:ext cx="5181600" cy="4351200"/>
          </a:xfrm>
          <a:prstGeom prst="rect">
            <a:avLst/>
          </a:prstGeom>
        </p:spPr>
        <p:txBody>
          <a:bodyPr spcFirstLastPara="1" wrap="square" lIns="91425" tIns="45700" rIns="91425" bIns="45700" anchor="t" anchorCtr="0">
            <a:normAutofit/>
          </a:bodyPr>
          <a:lstStyle/>
          <a:p>
            <a:pPr marL="457200" lvl="0" indent="0" algn="l" rtl="0">
              <a:spcBef>
                <a:spcPts val="1000"/>
              </a:spcBef>
              <a:spcAft>
                <a:spcPts val="0"/>
              </a:spcAft>
              <a:buNone/>
            </a:pPr>
            <a:endParaRPr/>
          </a:p>
        </p:txBody>
      </p:sp>
      <p:sp>
        <p:nvSpPr>
          <p:cNvPr id="357" name="Google Shape;357;g152e01f2e5c_0_5"/>
          <p:cNvSpPr txBox="1">
            <a:spLocks noGrp="1"/>
          </p:cNvSpPr>
          <p:nvPr>
            <p:ph type="body" idx="2"/>
          </p:nvPr>
        </p:nvSpPr>
        <p:spPr>
          <a:xfrm>
            <a:off x="6172200" y="1825625"/>
            <a:ext cx="5181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7"/>
          <p:cNvSpPr txBox="1">
            <a:spLocks noGrp="1"/>
          </p:cNvSpPr>
          <p:nvPr>
            <p:ph type="ctrTitle"/>
          </p:nvPr>
        </p:nvSpPr>
        <p:spPr>
          <a:xfrm>
            <a:off x="1524000" y="125868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Committee Reports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38"/>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JEDI</a:t>
            </a:r>
            <a:endParaRPr/>
          </a:p>
        </p:txBody>
      </p:sp>
      <p:sp>
        <p:nvSpPr>
          <p:cNvPr id="370" name="Google Shape;370;p38"/>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2829f9c74ff_0_60"/>
          <p:cNvSpPr txBox="1">
            <a:spLocks noGrp="1"/>
          </p:cNvSpPr>
          <p:nvPr>
            <p:ph type="ctrTitle"/>
          </p:nvPr>
        </p:nvSpPr>
        <p:spPr>
          <a:xfrm>
            <a:off x="1524000" y="693738"/>
            <a:ext cx="9144000" cy="23877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PR</a:t>
            </a:r>
            <a:endParaRPr/>
          </a:p>
        </p:txBody>
      </p:sp>
      <p:sp>
        <p:nvSpPr>
          <p:cNvPr id="377" name="Google Shape;377;g2829f9c74ff_0_60"/>
          <p:cNvSpPr txBox="1">
            <a:spLocks noGrp="1"/>
          </p:cNvSpPr>
          <p:nvPr>
            <p:ph type="subTitle" idx="1"/>
          </p:nvPr>
        </p:nvSpPr>
        <p:spPr>
          <a:xfrm>
            <a:off x="1524000" y="3173413"/>
            <a:ext cx="9144000" cy="1655700"/>
          </a:xfrm>
          <a:prstGeom prst="rect">
            <a:avLst/>
          </a:prstGeom>
        </p:spPr>
        <p:txBody>
          <a:bodyPr spcFirstLastPara="1" wrap="square" lIns="91425" tIns="45700" rIns="91425" bIns="45700" anchor="t" anchorCtr="0">
            <a:normAutofit/>
          </a:bodyPr>
          <a:lstStyle/>
          <a:p>
            <a:pPr marL="0" lvl="0" indent="0" algn="ctr" rtl="0">
              <a:spcBef>
                <a:spcPts val="1000"/>
              </a:spcBef>
              <a:spcAft>
                <a:spcPts val="0"/>
              </a:spcAft>
              <a:buNone/>
            </a:pPr>
            <a:r>
              <a:rPr lang="en-US"/>
              <a:t>one more person!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Finance</a:t>
            </a:r>
            <a:endParaRPr/>
          </a:p>
        </p:txBody>
      </p:sp>
      <p:sp>
        <p:nvSpPr>
          <p:cNvPr id="384" name="Google Shape;384;p39"/>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457200" lvl="0" indent="0" algn="l" rtl="0">
              <a:lnSpc>
                <a:spcPct val="90000"/>
              </a:lnSpc>
              <a:spcBef>
                <a:spcPts val="1000"/>
              </a:spcBef>
              <a:spcAft>
                <a:spcPts val="0"/>
              </a:spcAft>
              <a:buSzPts val="2400"/>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4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Food</a:t>
            </a:r>
            <a:endParaRPr/>
          </a:p>
        </p:txBody>
      </p:sp>
      <p:sp>
        <p:nvSpPr>
          <p:cNvPr id="391" name="Google Shape;391;p4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a: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7"/>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New Business</a:t>
            </a:r>
            <a:endParaRPr/>
          </a:p>
        </p:txBody>
      </p:sp>
      <p:sp>
        <p:nvSpPr>
          <p:cNvPr id="398" name="Google Shape;398;p47"/>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457200" lvl="0" indent="0" algn="ctr" rtl="0">
              <a:lnSpc>
                <a:spcPct val="90000"/>
              </a:lnSpc>
              <a:spcBef>
                <a:spcPts val="1000"/>
              </a:spcBef>
              <a:spcAft>
                <a:spcPts val="0"/>
              </a:spcAft>
              <a:buSzPts val="2400"/>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6"/>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Old Business</a:t>
            </a:r>
            <a:endParaRPr/>
          </a:p>
        </p:txBody>
      </p:sp>
      <p:sp>
        <p:nvSpPr>
          <p:cNvPr id="405" name="Google Shape;405;p46"/>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457200" lvl="0" indent="0" algn="ctr" rtl="0">
              <a:lnSpc>
                <a:spcPct val="90000"/>
              </a:lnSpc>
              <a:spcBef>
                <a:spcPts val="1000"/>
              </a:spcBef>
              <a:spcAft>
                <a:spcPts val="0"/>
              </a:spcAft>
              <a:buSzPts val="2400"/>
              <a:buNone/>
            </a:pPr>
            <a:r>
              <a:rPr lang="en-US"/>
              <a:t>BUDGETS!! WAHOO!</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8"/>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Open Forum</a:t>
            </a:r>
            <a:endParaRPr/>
          </a:p>
        </p:txBody>
      </p:sp>
      <p:sp>
        <p:nvSpPr>
          <p:cNvPr id="412" name="Google Shape;412;p48"/>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a:t>All the fun stuff: </a:t>
            </a:r>
            <a:endParaRPr/>
          </a:p>
          <a:p>
            <a:pPr marL="0" lvl="0" indent="0" algn="ctr" rtl="0">
              <a:lnSpc>
                <a:spcPct val="90000"/>
              </a:lnSpc>
              <a:spcBef>
                <a:spcPts val="1000"/>
              </a:spcBef>
              <a:spcAft>
                <a:spcPts val="0"/>
              </a:spcAft>
              <a:buSzPts val="2400"/>
              <a:buNone/>
            </a:pPr>
            <a:r>
              <a:rPr lang="en-US"/>
              <a:t>announcements, discussions, and more!</a:t>
            </a:r>
            <a:endParaRPr/>
          </a:p>
        </p:txBody>
      </p:sp>
    </p:spTree>
  </p:cSld>
  <p:clrMapOvr>
    <a:masterClrMapping/>
  </p:clrMapOvr>
</p:sld>
</file>

<file path=ppt/theme/theme1.xml><?xml version="1.0" encoding="utf-8"?>
<a:theme xmlns:a="http://schemas.openxmlformats.org/drawingml/2006/main" name="Embedded Diamonds">
  <a:themeElements>
    <a:clrScheme name="Furman">
      <a:dk1>
        <a:srgbClr val="43296D"/>
      </a:dk1>
      <a:lt1>
        <a:srgbClr val="FFFFFF"/>
      </a:lt1>
      <a:dk2>
        <a:srgbClr val="43296D"/>
      </a:dk2>
      <a:lt2>
        <a:srgbClr val="FFFFFF"/>
      </a:lt2>
      <a:accent1>
        <a:srgbClr val="9ED5E0"/>
      </a:accent1>
      <a:accent2>
        <a:srgbClr val="4C4D4C"/>
      </a:accent2>
      <a:accent3>
        <a:srgbClr val="FFFEFE"/>
      </a:accent3>
      <a:accent4>
        <a:srgbClr val="FFFEFE"/>
      </a:accent4>
      <a:accent5>
        <a:srgbClr val="FFFEFE"/>
      </a:accent5>
      <a:accent6>
        <a:srgbClr val="FFFEFE"/>
      </a:accent6>
      <a:hlink>
        <a:srgbClr val="FFFEFE"/>
      </a:hlink>
      <a:folHlink>
        <a:srgbClr val="FFFE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919</Words>
  <Application>Microsoft Macintosh PowerPoint</Application>
  <PresentationFormat>Widescreen</PresentationFormat>
  <Paragraphs>189</Paragraphs>
  <Slides>45</Slides>
  <Notes>45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45</vt:i4>
      </vt:variant>
    </vt:vector>
  </HeadingPairs>
  <TitlesOfParts>
    <vt:vector size="59" baseType="lpstr">
      <vt:lpstr>Lobster</vt:lpstr>
      <vt:lpstr>Merriweather</vt:lpstr>
      <vt:lpstr>Roboto</vt:lpstr>
      <vt:lpstr>Bodoni Moda</vt:lpstr>
      <vt:lpstr>Oswald Medium</vt:lpstr>
      <vt:lpstr>Comic Sans MS</vt:lpstr>
      <vt:lpstr>Calibri</vt:lpstr>
      <vt:lpstr>Cambria</vt:lpstr>
      <vt:lpstr>Century Schoolbook</vt:lpstr>
      <vt:lpstr>Times New Roman</vt:lpstr>
      <vt:lpstr>Arial</vt:lpstr>
      <vt:lpstr>Libre Franklin Medium</vt:lpstr>
      <vt:lpstr>Libre Franklin</vt:lpstr>
      <vt:lpstr>Embedded Diamonds</vt:lpstr>
      <vt:lpstr>Welcome to SGA!</vt:lpstr>
      <vt:lpstr>Agenda</vt:lpstr>
      <vt:lpstr>Guest Speaker</vt:lpstr>
      <vt:lpstr>Exec Reports</vt:lpstr>
      <vt:lpstr>Dean Cassidy </vt:lpstr>
      <vt:lpstr>Meredith Ervin </vt:lpstr>
      <vt:lpstr>Yaseen Echekki </vt:lpstr>
      <vt:lpstr>Andrew Cooter</vt:lpstr>
      <vt:lpstr>Carly Gillis </vt:lpstr>
      <vt:lpstr>Lydia McCarty </vt:lpstr>
      <vt:lpstr>Tatyana Gonzalez </vt:lpstr>
      <vt:lpstr>Representative Reports</vt:lpstr>
      <vt:lpstr>Sydney Beraho </vt:lpstr>
      <vt:lpstr>Alex Murray </vt:lpstr>
      <vt:lpstr>Leah Manning </vt:lpstr>
      <vt:lpstr>Kelsey Sumter </vt:lpstr>
      <vt:lpstr>Mary Boucher </vt:lpstr>
      <vt:lpstr>Carly Gillis</vt:lpstr>
      <vt:lpstr>Adara Briceño </vt:lpstr>
      <vt:lpstr>Deen Deovic </vt:lpstr>
      <vt:lpstr>Jennifer Woollery </vt:lpstr>
      <vt:lpstr>Caroline Cousar </vt:lpstr>
      <vt:lpstr>Tate Denham </vt:lpstr>
      <vt:lpstr>Kobby Frempong </vt:lpstr>
      <vt:lpstr>Mariam Nguyen </vt:lpstr>
      <vt:lpstr>Caroline Orr</vt:lpstr>
      <vt:lpstr>Curtis Wilson </vt:lpstr>
      <vt:lpstr>Libby Adams </vt:lpstr>
      <vt:lpstr>Danyal Sharif</vt:lpstr>
      <vt:lpstr>At- Large Reports</vt:lpstr>
      <vt:lpstr>FUSAB          Grayson Taylor </vt:lpstr>
      <vt:lpstr>RLC- Jeff McLane </vt:lpstr>
      <vt:lpstr>Religious Council - Ruthie Richardson </vt:lpstr>
      <vt:lpstr>PowerPoint Presentation</vt:lpstr>
      <vt:lpstr>SDC - Abijah Leamon </vt:lpstr>
      <vt:lpstr>Panhel - Katherine Murphy </vt:lpstr>
      <vt:lpstr>FUOC- Adrian Gonzalez</vt:lpstr>
      <vt:lpstr>Committee Reports</vt:lpstr>
      <vt:lpstr>JEDI</vt:lpstr>
      <vt:lpstr>PR</vt:lpstr>
      <vt:lpstr>Finance</vt:lpstr>
      <vt:lpstr>Food</vt:lpstr>
      <vt:lpstr>New Business</vt:lpstr>
      <vt:lpstr>Old Business</vt:lpstr>
      <vt:lpstr>Open Forum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SGA!</dc:title>
  <dc:creator>Kaylee Welgraven</dc:creator>
  <cp:lastModifiedBy>Carly Gillis2-Student</cp:lastModifiedBy>
  <cp:revision>1</cp:revision>
  <dcterms:created xsi:type="dcterms:W3CDTF">2017-10-16T12:38:22Z</dcterms:created>
  <dcterms:modified xsi:type="dcterms:W3CDTF">2024-09-23T13:37:05Z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0x01010064D2884E5B56A24E8EB547943B5579B3</vt:lpwstr>
  </property>
</Properties>
</file>