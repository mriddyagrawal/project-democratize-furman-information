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4" r:id="rId39"/>
    <p:sldId id="295" r:id="rId40"/>
    <p:sldId id="296" r:id="rId41"/>
    <p:sldId id="297" r:id="rId42"/>
    <p:sldId id="298" r:id="rId43"/>
    <p:sldId id="299" r:id="rId44"/>
  </p:sldIdLst>
  <p:sldSz cx="12192000" cy="6858000"/>
  <p:notesSz cx="6858000" cy="9144000"/>
  <p:embeddedFontLst>
    <p:embeddedFont>
      <p:font typeface="Alegreya" pitchFamily="2" charset="0"/>
      <p:regular r:id="rId46"/>
      <p:bold r:id="rId47"/>
      <p:italic r:id="rId48"/>
      <p:boldItalic r:id="rId49"/>
    </p:embeddedFont>
    <p:embeddedFont>
      <p:font typeface="Bodoni Moda" pitchFamily="2" charset="77"/>
      <p:regular r:id="rId50"/>
      <p:bold r:id="rId51"/>
      <p:italic r:id="rId52"/>
      <p:boldItalic r:id="rId53"/>
    </p:embeddedFont>
    <p:embeddedFont>
      <p:font typeface="Butcherman" panose="02000000000000000000" pitchFamily="2" charset="77"/>
      <p:regular r:id="rId54"/>
    </p:embeddedFont>
    <p:embeddedFont>
      <p:font typeface="Calibri" panose="020F0502020204030204" pitchFamily="34" charset="0"/>
      <p:regular r:id="rId55"/>
      <p:bold r:id="rId56"/>
      <p:italic r:id="rId57"/>
      <p:boldItalic r:id="rId58"/>
    </p:embeddedFont>
    <p:embeddedFont>
      <p:font typeface="Caveat Medium" pitchFamily="2" charset="0"/>
      <p:regular r:id="rId59"/>
      <p:bold r:id="rId60"/>
    </p:embeddedFont>
    <p:embeddedFont>
      <p:font typeface="Century Schoolbook" panose="02040604050505020304" pitchFamily="18" charset="0"/>
      <p:regular r:id="rId61"/>
      <p:bold r:id="rId62"/>
      <p:italic r:id="rId63"/>
      <p:boldItalic r:id="rId64"/>
    </p:embeddedFont>
    <p:embeddedFont>
      <p:font typeface="Comic Sans MS" panose="030F0902030302020204" pitchFamily="66" charset="0"/>
      <p:regular r:id="rId65"/>
    </p:embeddedFont>
    <p:embeddedFont>
      <p:font typeface="Great Vibes" pitchFamily="2" charset="77"/>
      <p:regular r:id="rId66"/>
    </p:embeddedFont>
    <p:embeddedFont>
      <p:font typeface="Libre Franklin" pitchFamily="2" charset="77"/>
      <p:regular r:id="rId67"/>
      <p:bold r:id="rId68"/>
      <p:italic r:id="rId69"/>
      <p:boldItalic r:id="rId70"/>
    </p:embeddedFont>
    <p:embeddedFont>
      <p:font typeface="Libre Franklin Medium" panose="020F0502020204030204" pitchFamily="34" charset="0"/>
      <p:regular r:id="rId71"/>
      <p:bold r:id="rId72"/>
      <p:italic r:id="rId73"/>
      <p:boldItalic r:id="rId74"/>
    </p:embeddedFont>
    <p:embeddedFont>
      <p:font typeface="Merriweather" pitchFamily="2" charset="77"/>
      <p:regular r:id="rId75"/>
      <p:bold r:id="rId76"/>
      <p:italic r:id="rId77"/>
      <p:boldItalic r:id="rId78"/>
    </p:embeddedFont>
    <p:embeddedFont>
      <p:font typeface="Monoton" pitchFamily="2" charset="0"/>
      <p:regular r:id="rId79"/>
    </p:embeddedFont>
    <p:embeddedFont>
      <p:font typeface="Pacifico" pitchFamily="2" charset="77"/>
      <p:regular r:id="rId80"/>
    </p:embeddedFont>
    <p:embeddedFont>
      <p:font typeface="Press Start 2P" pitchFamily="2" charset="0"/>
      <p:regular r:id="rId81"/>
    </p:embeddedFont>
    <p:embeddedFont>
      <p:font typeface="Roboto" panose="02000000000000000000" pitchFamily="2" charset="0"/>
      <p:regular r:id="rId82"/>
      <p:bold r:id="rId83"/>
      <p:italic r:id="rId84"/>
      <p:boldItalic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8" roundtripDataSignature="AMtx7mjlbDARzZxfBb839PLavI+aMFh5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2"/>
  </p:normalViewPr>
  <p:slideViewPr>
    <p:cSldViewPr snapToGrid="0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63" Type="http://schemas.openxmlformats.org/officeDocument/2006/relationships/font" Target="fonts/font18.fntdata"/><Relationship Id="rId68" Type="http://schemas.openxmlformats.org/officeDocument/2006/relationships/font" Target="fonts/font23.fntdata"/><Relationship Id="rId84" Type="http://schemas.openxmlformats.org/officeDocument/2006/relationships/font" Target="fonts/font39.fntdata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74" Type="http://schemas.openxmlformats.org/officeDocument/2006/relationships/font" Target="fonts/font29.fntdata"/><Relationship Id="rId79" Type="http://schemas.openxmlformats.org/officeDocument/2006/relationships/font" Target="fonts/font34.fntdata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font" Target="fonts/font19.fntdata"/><Relationship Id="rId69" Type="http://schemas.openxmlformats.org/officeDocument/2006/relationships/font" Target="fonts/font24.fntdata"/><Relationship Id="rId77" Type="http://schemas.openxmlformats.org/officeDocument/2006/relationships/font" Target="fonts/font32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72" Type="http://schemas.openxmlformats.org/officeDocument/2006/relationships/font" Target="fonts/font27.fntdata"/><Relationship Id="rId80" Type="http://schemas.openxmlformats.org/officeDocument/2006/relationships/font" Target="fonts/font35.fntdata"/><Relationship Id="rId85" Type="http://schemas.openxmlformats.org/officeDocument/2006/relationships/font" Target="fonts/font4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67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font" Target="fonts/font17.fntdata"/><Relationship Id="rId70" Type="http://schemas.openxmlformats.org/officeDocument/2006/relationships/font" Target="fonts/font25.fntdata"/><Relationship Id="rId75" Type="http://schemas.openxmlformats.org/officeDocument/2006/relationships/font" Target="fonts/font30.fntdata"/><Relationship Id="rId83" Type="http://schemas.openxmlformats.org/officeDocument/2006/relationships/font" Target="fonts/font38.fntdata"/><Relationship Id="rId88" Type="http://customschemas.google.com/relationships/presentationmetadata" Target="meta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openxmlformats.org/officeDocument/2006/relationships/font" Target="fonts/font20.fntdata"/><Relationship Id="rId73" Type="http://schemas.openxmlformats.org/officeDocument/2006/relationships/font" Target="fonts/font28.fntdata"/><Relationship Id="rId78" Type="http://schemas.openxmlformats.org/officeDocument/2006/relationships/font" Target="fonts/font33.fntdata"/><Relationship Id="rId81" Type="http://schemas.openxmlformats.org/officeDocument/2006/relationships/font" Target="fonts/font3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6" Type="http://schemas.openxmlformats.org/officeDocument/2006/relationships/font" Target="fonts/font31.fntdata"/><Relationship Id="rId7" Type="http://schemas.openxmlformats.org/officeDocument/2006/relationships/slide" Target="slides/slide6.xml"/><Relationship Id="rId71" Type="http://schemas.openxmlformats.org/officeDocument/2006/relationships/font" Target="fonts/font26.fntdata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66" Type="http://schemas.openxmlformats.org/officeDocument/2006/relationships/font" Target="fonts/font21.fntdata"/><Relationship Id="rId61" Type="http://schemas.openxmlformats.org/officeDocument/2006/relationships/font" Target="fonts/font16.fntdata"/><Relationship Id="rId82" Type="http://schemas.openxmlformats.org/officeDocument/2006/relationships/font" Target="fonts/font37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0" name="Google Shape;370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w Section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6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6000"/>
              <a:buFont typeface="Libre Franklin Medium"/>
              <a:buNone/>
              <a:defRPr sz="6000">
                <a:solidFill>
                  <a:srgbClr val="582C8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Purple">
  <p:cSld name="Title Slide-Purp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8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ibre Franklin Medium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8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White">
  <p:cSld name="Title Slide-Whi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0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6000"/>
              <a:buFont typeface="Libre Franklin Medium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0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2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odoni Moda"/>
              <a:buNone/>
              <a:defRPr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subTitle" idx="1"/>
          </p:nvPr>
        </p:nvSpPr>
        <p:spPr>
          <a:xfrm>
            <a:off x="2673667" y="27497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subTitle" idx="2"/>
          </p:nvPr>
        </p:nvSpPr>
        <p:spPr>
          <a:xfrm>
            <a:off x="2673667" y="22686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3" name="Google Shape;33;p52"/>
          <p:cNvSpPr txBox="1">
            <a:spLocks noGrp="1"/>
          </p:cNvSpPr>
          <p:nvPr>
            <p:ph type="subTitle" idx="3"/>
          </p:nvPr>
        </p:nvSpPr>
        <p:spPr>
          <a:xfrm>
            <a:off x="2673667" y="44636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2"/>
          <p:cNvSpPr txBox="1">
            <a:spLocks noGrp="1"/>
          </p:cNvSpPr>
          <p:nvPr>
            <p:ph type="subTitle" idx="4"/>
          </p:nvPr>
        </p:nvSpPr>
        <p:spPr>
          <a:xfrm>
            <a:off x="2673667" y="39825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5" name="Google Shape;35;p52"/>
          <p:cNvSpPr txBox="1">
            <a:spLocks noGrp="1"/>
          </p:cNvSpPr>
          <p:nvPr>
            <p:ph type="subTitle" idx="5"/>
          </p:nvPr>
        </p:nvSpPr>
        <p:spPr>
          <a:xfrm>
            <a:off x="7864400" y="27497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2"/>
          <p:cNvSpPr txBox="1">
            <a:spLocks noGrp="1"/>
          </p:cNvSpPr>
          <p:nvPr>
            <p:ph type="subTitle" idx="6"/>
          </p:nvPr>
        </p:nvSpPr>
        <p:spPr>
          <a:xfrm>
            <a:off x="7864400" y="22686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7" name="Google Shape;37;p52"/>
          <p:cNvSpPr txBox="1">
            <a:spLocks noGrp="1"/>
          </p:cNvSpPr>
          <p:nvPr>
            <p:ph type="subTitle" idx="7"/>
          </p:nvPr>
        </p:nvSpPr>
        <p:spPr>
          <a:xfrm>
            <a:off x="7864400" y="4463650"/>
            <a:ext cx="33021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2"/>
          <p:cNvSpPr txBox="1">
            <a:spLocks noGrp="1"/>
          </p:cNvSpPr>
          <p:nvPr>
            <p:ph type="subTitle" idx="8"/>
          </p:nvPr>
        </p:nvSpPr>
        <p:spPr>
          <a:xfrm>
            <a:off x="7864400" y="3982583"/>
            <a:ext cx="33021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doni Moda"/>
              <a:buNone/>
              <a:defRPr sz="3200">
                <a:solidFill>
                  <a:schemeClr val="dk2"/>
                </a:solidFill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39" name="Google Shape;39;p52"/>
          <p:cNvSpPr txBox="1">
            <a:spLocks noGrp="1"/>
          </p:cNvSpPr>
          <p:nvPr>
            <p:ph type="title" idx="9"/>
          </p:nvPr>
        </p:nvSpPr>
        <p:spPr>
          <a:xfrm>
            <a:off x="1507000" y="2296636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0" name="Google Shape;40;p52"/>
          <p:cNvSpPr txBox="1">
            <a:spLocks noGrp="1"/>
          </p:cNvSpPr>
          <p:nvPr>
            <p:ph type="title" idx="13"/>
          </p:nvPr>
        </p:nvSpPr>
        <p:spPr>
          <a:xfrm>
            <a:off x="1507000" y="4025500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1" name="Google Shape;41;p52"/>
          <p:cNvSpPr txBox="1">
            <a:spLocks noGrp="1"/>
          </p:cNvSpPr>
          <p:nvPr>
            <p:ph type="title" idx="14"/>
          </p:nvPr>
        </p:nvSpPr>
        <p:spPr>
          <a:xfrm>
            <a:off x="6697733" y="2296636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2" name="Google Shape;42;p52"/>
          <p:cNvSpPr txBox="1">
            <a:spLocks noGrp="1"/>
          </p:cNvSpPr>
          <p:nvPr>
            <p:ph type="title" idx="15"/>
          </p:nvPr>
        </p:nvSpPr>
        <p:spPr>
          <a:xfrm>
            <a:off x="6697733" y="4025500"/>
            <a:ext cx="1071900" cy="9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Bodoni Moda"/>
              <a:buNone/>
              <a:defRPr sz="4700">
                <a:latin typeface="Bodoni Moda"/>
                <a:ea typeface="Bodoni Moda"/>
                <a:cs typeface="Bodoni Moda"/>
                <a:sym typeface="Bodoni Moda"/>
              </a:defRPr>
            </a:lvl9pPr>
          </a:lstStyle>
          <a:p>
            <a:endParaRPr/>
          </a:p>
        </p:txBody>
      </p:sp>
      <p:sp>
        <p:nvSpPr>
          <p:cNvPr id="43" name="Google Shape;43;p52"/>
          <p:cNvSpPr/>
          <p:nvPr/>
        </p:nvSpPr>
        <p:spPr>
          <a:xfrm>
            <a:off x="414967" y="501133"/>
            <a:ext cx="1071900" cy="1071900"/>
          </a:xfrm>
          <a:prstGeom prst="star8">
            <a:avLst>
              <a:gd name="adj" fmla="val 2467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52"/>
          <p:cNvCxnSpPr>
            <a:stCxn id="43" idx="2"/>
          </p:cNvCxnSpPr>
          <p:nvPr/>
        </p:nvCxnSpPr>
        <p:spPr>
          <a:xfrm>
            <a:off x="950917" y="1573033"/>
            <a:ext cx="0" cy="54603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" name="Google Shape;45;p52"/>
          <p:cNvGrpSpPr/>
          <p:nvPr/>
        </p:nvGrpSpPr>
        <p:grpSpPr>
          <a:xfrm>
            <a:off x="1518662" y="5939602"/>
            <a:ext cx="9660958" cy="385590"/>
            <a:chOff x="1139025" y="4454813"/>
            <a:chExt cx="7245900" cy="289200"/>
          </a:xfrm>
        </p:grpSpPr>
        <p:cxnSp>
          <p:nvCxnSpPr>
            <p:cNvPr id="46" name="Google Shape;46;p52"/>
            <p:cNvCxnSpPr/>
            <p:nvPr/>
          </p:nvCxnSpPr>
          <p:spPr>
            <a:xfrm>
              <a:off x="1139025" y="4599425"/>
              <a:ext cx="7245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" name="Google Shape;47;p52"/>
            <p:cNvSpPr/>
            <p:nvPr/>
          </p:nvSpPr>
          <p:spPr>
            <a:xfrm rot="5400000">
              <a:off x="750777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52"/>
            <p:cNvSpPr/>
            <p:nvPr/>
          </p:nvSpPr>
          <p:spPr>
            <a:xfrm rot="5400000">
              <a:off x="7828050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52"/>
            <p:cNvSpPr/>
            <p:nvPr/>
          </p:nvSpPr>
          <p:spPr>
            <a:xfrm rot="5400000">
              <a:off x="814832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2"/>
            <p:cNvSpPr/>
            <p:nvPr/>
          </p:nvSpPr>
          <p:spPr>
            <a:xfrm rot="5400000">
              <a:off x="410712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2"/>
            <p:cNvSpPr/>
            <p:nvPr/>
          </p:nvSpPr>
          <p:spPr>
            <a:xfrm rot="5400000">
              <a:off x="4427400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2"/>
            <p:cNvSpPr/>
            <p:nvPr/>
          </p:nvSpPr>
          <p:spPr>
            <a:xfrm rot="5400000">
              <a:off x="4747675" y="4507463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>
            <a:spLocks noGrp="1"/>
          </p:cNvSpPr>
          <p:nvPr>
            <p:ph type="title"/>
          </p:nvPr>
        </p:nvSpPr>
        <p:spPr>
          <a:xfrm>
            <a:off x="3056600" y="3275967"/>
            <a:ext cx="60789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55" name="Google Shape;55;p53"/>
          <p:cNvSpPr txBox="1">
            <a:spLocks noGrp="1"/>
          </p:cNvSpPr>
          <p:nvPr>
            <p:ph type="subTitle" idx="1"/>
          </p:nvPr>
        </p:nvSpPr>
        <p:spPr>
          <a:xfrm>
            <a:off x="4144200" y="4410633"/>
            <a:ext cx="3903600" cy="9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title" idx="2"/>
          </p:nvPr>
        </p:nvSpPr>
        <p:spPr>
          <a:xfrm>
            <a:off x="5355400" y="1481256"/>
            <a:ext cx="1481100" cy="148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grpSp>
        <p:nvGrpSpPr>
          <p:cNvPr id="57" name="Google Shape;57;p53"/>
          <p:cNvGrpSpPr/>
          <p:nvPr/>
        </p:nvGrpSpPr>
        <p:grpSpPr>
          <a:xfrm>
            <a:off x="761881" y="720799"/>
            <a:ext cx="3488379" cy="3310684"/>
            <a:chOff x="571425" y="540613"/>
            <a:chExt cx="2616350" cy="2483075"/>
          </a:xfrm>
        </p:grpSpPr>
        <p:sp>
          <p:nvSpPr>
            <p:cNvPr id="58" name="Google Shape;58;p53"/>
            <p:cNvSpPr/>
            <p:nvPr/>
          </p:nvSpPr>
          <p:spPr>
            <a:xfrm>
              <a:off x="717275" y="540613"/>
              <a:ext cx="2470500" cy="2483075"/>
            </a:xfrm>
            <a:custGeom>
              <a:avLst/>
              <a:gdLst/>
              <a:ahLst/>
              <a:cxnLst/>
              <a:rect l="l" t="t" r="r" b="b"/>
              <a:pathLst>
                <a:path w="98820" h="99323" extrusionOk="0">
                  <a:moveTo>
                    <a:pt x="0" y="99323"/>
                  </a:moveTo>
                  <a:lnTo>
                    <a:pt x="0" y="0"/>
                  </a:lnTo>
                  <a:lnTo>
                    <a:pt x="98820" y="0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9" name="Google Shape;59;p53"/>
            <p:cNvSpPr/>
            <p:nvPr/>
          </p:nvSpPr>
          <p:spPr>
            <a:xfrm>
              <a:off x="583350" y="2010475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3"/>
            <p:cNvSpPr/>
            <p:nvPr/>
          </p:nvSpPr>
          <p:spPr>
            <a:xfrm>
              <a:off x="583350" y="1690200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53"/>
            <p:cNvSpPr/>
            <p:nvPr/>
          </p:nvSpPr>
          <p:spPr>
            <a:xfrm>
              <a:off x="571425" y="1369925"/>
              <a:ext cx="289200" cy="183900"/>
            </a:xfrm>
            <a:prstGeom prst="triangle">
              <a:avLst>
                <a:gd name="adj" fmla="val 49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53"/>
          <p:cNvGrpSpPr/>
          <p:nvPr/>
        </p:nvGrpSpPr>
        <p:grpSpPr>
          <a:xfrm>
            <a:off x="9969882" y="4635916"/>
            <a:ext cx="4444239" cy="4444174"/>
            <a:chOff x="-1157850" y="-1175191"/>
            <a:chExt cx="2325853" cy="2325818"/>
          </a:xfrm>
        </p:grpSpPr>
        <p:sp>
          <p:nvSpPr>
            <p:cNvPr id="63" name="Google Shape;63;p53"/>
            <p:cNvSpPr/>
            <p:nvPr/>
          </p:nvSpPr>
          <p:spPr>
            <a:xfrm>
              <a:off x="-1157850" y="-1175191"/>
              <a:ext cx="2325853" cy="2325818"/>
            </a:xfrm>
            <a:custGeom>
              <a:avLst/>
              <a:gdLst/>
              <a:ahLst/>
              <a:cxnLst/>
              <a:rect l="l" t="t" r="r" b="b"/>
              <a:pathLst>
                <a:path w="67819" h="67818" fill="none" extrusionOk="0">
                  <a:moveTo>
                    <a:pt x="55741" y="12077"/>
                  </a:moveTo>
                  <a:cubicBezTo>
                    <a:pt x="67818" y="24133"/>
                    <a:pt x="67818" y="43684"/>
                    <a:pt x="55741" y="55741"/>
                  </a:cubicBezTo>
                  <a:cubicBezTo>
                    <a:pt x="43685" y="67818"/>
                    <a:pt x="24134" y="67818"/>
                    <a:pt x="12078" y="55741"/>
                  </a:cubicBezTo>
                  <a:cubicBezTo>
                    <a:pt x="1" y="43684"/>
                    <a:pt x="1" y="24133"/>
                    <a:pt x="12078" y="12077"/>
                  </a:cubicBezTo>
                  <a:cubicBezTo>
                    <a:pt x="24134" y="0"/>
                    <a:pt x="43685" y="0"/>
                    <a:pt x="55741" y="1207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53"/>
            <p:cNvSpPr/>
            <p:nvPr/>
          </p:nvSpPr>
          <p:spPr>
            <a:xfrm>
              <a:off x="-969954" y="-987329"/>
              <a:ext cx="1950048" cy="1950082"/>
            </a:xfrm>
            <a:custGeom>
              <a:avLst/>
              <a:gdLst/>
              <a:ahLst/>
              <a:cxnLst/>
              <a:rect l="l" t="t" r="r" b="b"/>
              <a:pathLst>
                <a:path w="56861" h="56862" fill="none" extrusionOk="0">
                  <a:moveTo>
                    <a:pt x="46739" y="10122"/>
                  </a:moveTo>
                  <a:cubicBezTo>
                    <a:pt x="56861" y="20224"/>
                    <a:pt x="56861" y="36638"/>
                    <a:pt x="46739" y="46740"/>
                  </a:cubicBezTo>
                  <a:cubicBezTo>
                    <a:pt x="36638" y="56861"/>
                    <a:pt x="20223" y="56861"/>
                    <a:pt x="10122" y="46740"/>
                  </a:cubicBezTo>
                  <a:cubicBezTo>
                    <a:pt x="0" y="36638"/>
                    <a:pt x="0" y="20224"/>
                    <a:pt x="10122" y="10122"/>
                  </a:cubicBezTo>
                  <a:cubicBezTo>
                    <a:pt x="20223" y="1"/>
                    <a:pt x="36638" y="1"/>
                    <a:pt x="46739" y="10122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53"/>
            <p:cNvSpPr/>
            <p:nvPr/>
          </p:nvSpPr>
          <p:spPr>
            <a:xfrm>
              <a:off x="-782092" y="-799467"/>
              <a:ext cx="1574312" cy="1574312"/>
            </a:xfrm>
            <a:custGeom>
              <a:avLst/>
              <a:gdLst/>
              <a:ahLst/>
              <a:cxnLst/>
              <a:rect l="l" t="t" r="r" b="b"/>
              <a:pathLst>
                <a:path w="45905" h="45905" fill="none" extrusionOk="0">
                  <a:moveTo>
                    <a:pt x="37738" y="8167"/>
                  </a:moveTo>
                  <a:cubicBezTo>
                    <a:pt x="45905" y="16334"/>
                    <a:pt x="45905" y="29572"/>
                    <a:pt x="37738" y="37738"/>
                  </a:cubicBezTo>
                  <a:cubicBezTo>
                    <a:pt x="29571" y="45905"/>
                    <a:pt x="16334" y="45905"/>
                    <a:pt x="8167" y="37738"/>
                  </a:cubicBezTo>
                  <a:cubicBezTo>
                    <a:pt x="0" y="29572"/>
                    <a:pt x="0" y="16334"/>
                    <a:pt x="8167" y="8167"/>
                  </a:cubicBezTo>
                  <a:cubicBezTo>
                    <a:pt x="16334" y="1"/>
                    <a:pt x="29571" y="1"/>
                    <a:pt x="37738" y="816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53"/>
            <p:cNvSpPr/>
            <p:nvPr/>
          </p:nvSpPr>
          <p:spPr>
            <a:xfrm>
              <a:off x="-617962" y="-636023"/>
              <a:ext cx="1246760" cy="1247446"/>
            </a:xfrm>
            <a:custGeom>
              <a:avLst/>
              <a:gdLst/>
              <a:ahLst/>
              <a:cxnLst/>
              <a:rect l="l" t="t" r="r" b="b"/>
              <a:pathLst>
                <a:path w="36354" h="36374" fill="none" extrusionOk="0">
                  <a:moveTo>
                    <a:pt x="25926" y="4277"/>
                  </a:moveTo>
                  <a:cubicBezTo>
                    <a:pt x="33604" y="8554"/>
                    <a:pt x="36353" y="18248"/>
                    <a:pt x="32076" y="25926"/>
                  </a:cubicBezTo>
                  <a:cubicBezTo>
                    <a:pt x="27799" y="33624"/>
                    <a:pt x="18105" y="36373"/>
                    <a:pt x="10428" y="32097"/>
                  </a:cubicBezTo>
                  <a:cubicBezTo>
                    <a:pt x="2750" y="27799"/>
                    <a:pt x="0" y="18105"/>
                    <a:pt x="4277" y="10428"/>
                  </a:cubicBezTo>
                  <a:cubicBezTo>
                    <a:pt x="8554" y="2750"/>
                    <a:pt x="18248" y="0"/>
                    <a:pt x="25926" y="427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53"/>
            <p:cNvSpPr/>
            <p:nvPr/>
          </p:nvSpPr>
          <p:spPr>
            <a:xfrm>
              <a:off x="-423104" y="-440479"/>
              <a:ext cx="856312" cy="856312"/>
            </a:xfrm>
            <a:custGeom>
              <a:avLst/>
              <a:gdLst/>
              <a:ahLst/>
              <a:cxnLst/>
              <a:rect l="l" t="t" r="r" b="b"/>
              <a:pathLst>
                <a:path w="24969" h="24969" fill="none" extrusionOk="0">
                  <a:moveTo>
                    <a:pt x="17861" y="2974"/>
                  </a:moveTo>
                  <a:cubicBezTo>
                    <a:pt x="23115" y="5948"/>
                    <a:pt x="24969" y="12607"/>
                    <a:pt x="21995" y="17861"/>
                  </a:cubicBezTo>
                  <a:cubicBezTo>
                    <a:pt x="19042" y="23116"/>
                    <a:pt x="12362" y="24969"/>
                    <a:pt x="7108" y="21996"/>
                  </a:cubicBezTo>
                  <a:cubicBezTo>
                    <a:pt x="1854" y="19022"/>
                    <a:pt x="0" y="12363"/>
                    <a:pt x="2974" y="7108"/>
                  </a:cubicBezTo>
                  <a:cubicBezTo>
                    <a:pt x="5947" y="1854"/>
                    <a:pt x="12607" y="1"/>
                    <a:pt x="17861" y="2974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53"/>
            <p:cNvSpPr/>
            <p:nvPr/>
          </p:nvSpPr>
          <p:spPr>
            <a:xfrm>
              <a:off x="-226155" y="-243530"/>
              <a:ext cx="463085" cy="462399"/>
            </a:xfrm>
            <a:custGeom>
              <a:avLst/>
              <a:gdLst/>
              <a:ahLst/>
              <a:cxnLst/>
              <a:rect l="l" t="t" r="r" b="b"/>
              <a:pathLst>
                <a:path w="13503" h="13483" fill="none" extrusionOk="0">
                  <a:moveTo>
                    <a:pt x="11609" y="3341"/>
                  </a:moveTo>
                  <a:cubicBezTo>
                    <a:pt x="13503" y="6029"/>
                    <a:pt x="12851" y="9736"/>
                    <a:pt x="10163" y="11609"/>
                  </a:cubicBezTo>
                  <a:cubicBezTo>
                    <a:pt x="7475" y="13483"/>
                    <a:pt x="3768" y="12831"/>
                    <a:pt x="1895" y="10143"/>
                  </a:cubicBezTo>
                  <a:cubicBezTo>
                    <a:pt x="0" y="7455"/>
                    <a:pt x="652" y="3769"/>
                    <a:pt x="3340" y="1875"/>
                  </a:cubicBezTo>
                  <a:cubicBezTo>
                    <a:pt x="6029" y="1"/>
                    <a:pt x="9735" y="653"/>
                    <a:pt x="11609" y="334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036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4400"/>
              <a:buFont typeface="Libre Franklin Medium"/>
              <a:buNone/>
              <a:defRPr sz="4400" b="0" i="0" u="none" strike="noStrike" cap="none">
                <a:solidFill>
                  <a:srgbClr val="582C83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vecampus.com/schools/FurmanUniversity/class-of-2024-senior-class-gif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1524000" y="24936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2C83"/>
              </a:buClr>
              <a:buSzPts val="6000"/>
              <a:buFont typeface="Libre Franklin Medium"/>
              <a:buNone/>
            </a:pPr>
            <a:r>
              <a:rPr lang="en-US"/>
              <a:t>Welcome to SGA!</a:t>
            </a:r>
            <a:endParaRPr/>
          </a:p>
        </p:txBody>
      </p:sp>
      <p:sp>
        <p:nvSpPr>
          <p:cNvPr id="74" name="Google Shape;74;p1"/>
          <p:cNvSpPr txBox="1">
            <a:spLocks noGrp="1"/>
          </p:cNvSpPr>
          <p:nvPr>
            <p:ph type="subTitle" idx="1"/>
          </p:nvPr>
        </p:nvSpPr>
        <p:spPr>
          <a:xfrm>
            <a:off x="762000" y="4973317"/>
            <a:ext cx="10668000" cy="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lang="en-US"/>
              <a:t>November 13, 2023</a:t>
            </a:r>
            <a:endParaRPr/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913" y="165550"/>
            <a:ext cx="3618175" cy="36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Guest speaker(s):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Officer, class, &amp; at-large reports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Committee reports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Old business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New business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/>
              <a:t>Open forum &amp; announcements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>
            <a:spLocks noGrp="1"/>
          </p:cNvSpPr>
          <p:nvPr>
            <p:ph type="ctrTitle"/>
          </p:nvPr>
        </p:nvSpPr>
        <p:spPr>
          <a:xfrm>
            <a:off x="1524000" y="5946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Guest Speaker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>
            <a:spLocks noGrp="1"/>
          </p:cNvSpPr>
          <p:nvPr>
            <p:ph type="ctrTitle"/>
          </p:nvPr>
        </p:nvSpPr>
        <p:spPr>
          <a:xfrm>
            <a:off x="1524000" y="2870694"/>
            <a:ext cx="9144000" cy="11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Exec Reports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>
            <a:spLocks noGrp="1"/>
          </p:cNvSpPr>
          <p:nvPr>
            <p:ph type="title"/>
          </p:nvPr>
        </p:nvSpPr>
        <p:spPr>
          <a:xfrm>
            <a:off x="838200" y="499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Dean Cassidy </a:t>
            </a:r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I will miss y’all again tonight. I’m at the Associated Colleges of the South meeting at the University of Richmond. I’ll be back in the office on Thursday. Have a great week!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Congratulations</a:t>
            </a:r>
            <a:r>
              <a:rPr lang="en-US"/>
              <a:t> to the football team. SoCon champs! Go Dins!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Response rate on Gallup survey is still behind last year. Please complete! Deadline is 11/22.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>
            <a:spLocks noGrp="1"/>
          </p:cNvSpPr>
          <p:nvPr>
            <p:ph type="title"/>
          </p:nvPr>
        </p:nvSpPr>
        <p:spPr>
          <a:xfrm>
            <a:off x="544688" y="430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Meredith Ervin </a:t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 rot="962127">
            <a:off x="9280771" y="1387252"/>
            <a:ext cx="2071084" cy="53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933225" y="1916250"/>
            <a:ext cx="95646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Tailgate seemed to be a success! </a:t>
            </a:r>
            <a:r>
              <a:rPr lang="en-US" sz="2800" b="0" i="0" u="sng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Will </a:t>
            </a: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definitely keep registering SGA for things like this!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After council, </a:t>
            </a:r>
            <a:r>
              <a:rPr lang="en-US" sz="2800" b="1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exec </a:t>
            </a: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will be finalizing </a:t>
            </a:r>
            <a:r>
              <a:rPr lang="en-US" sz="2800" b="0" i="1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plans </a:t>
            </a: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 our strengths workshop!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 txBox="1">
            <a:spLocks noGrp="1"/>
          </p:cNvSpPr>
          <p:nvPr>
            <p:ph type="title"/>
          </p:nvPr>
        </p:nvSpPr>
        <p:spPr>
          <a:xfrm>
            <a:off x="1026475" y="409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Yaseen </a:t>
            </a:r>
            <a:r>
              <a:rPr lang="en-US" sz="6100" b="1" u="sng">
                <a:solidFill>
                  <a:srgbClr val="FF0000"/>
                </a:solidFill>
                <a:latin typeface="Butcherman"/>
                <a:ea typeface="Butcherman"/>
                <a:cs typeface="Butcherman"/>
                <a:sym typeface="Butcherman"/>
              </a:rPr>
              <a:t>Echekki </a:t>
            </a:r>
            <a:endParaRPr sz="6100" b="1" u="sng">
              <a:solidFill>
                <a:srgbClr val="FF0000"/>
              </a:solidFill>
              <a:latin typeface="Butcherman"/>
              <a:ea typeface="Butcherman"/>
              <a:cs typeface="Butcherman"/>
              <a:sym typeface="Butcherman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618300" y="1628000"/>
            <a:ext cx="10923900" cy="44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accent2"/>
                </a:solidFill>
                <a:latin typeface="Great Vibes"/>
                <a:ea typeface="Great Vibes"/>
                <a:cs typeface="Great Vibes"/>
                <a:sym typeface="Great Vibes"/>
              </a:rPr>
              <a:t>Met with Jordan King last week</a:t>
            </a:r>
            <a:endParaRPr sz="2800" b="1" i="0" u="none" strike="noStrike" cap="none">
              <a:solidFill>
                <a:schemeClr val="accent2"/>
              </a:solidFill>
              <a:latin typeface="Great Vibes"/>
              <a:ea typeface="Great Vibes"/>
              <a:cs typeface="Great Vibes"/>
              <a:sym typeface="Great Vib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accent2"/>
                </a:solidFill>
                <a:latin typeface="Great Vibes"/>
                <a:ea typeface="Great Vibes"/>
                <a:cs typeface="Great Vibes"/>
                <a:sym typeface="Great Vibes"/>
              </a:rPr>
              <a:t>Email to club presidents about gallup survey</a:t>
            </a:r>
            <a:endParaRPr sz="2800" b="1" i="0" u="none" strike="noStrike" cap="none">
              <a:solidFill>
                <a:schemeClr val="accent2"/>
              </a:solidFill>
              <a:latin typeface="Great Vibes"/>
              <a:ea typeface="Great Vibes"/>
              <a:cs typeface="Great Vibes"/>
              <a:sym typeface="Great Vib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accent2"/>
                </a:solidFill>
                <a:latin typeface="Great Vibes"/>
                <a:ea typeface="Great Vibes"/>
                <a:cs typeface="Great Vibes"/>
                <a:sym typeface="Great Vibes"/>
              </a:rPr>
              <a:t>Met with Ron Thompson and gang last week </a:t>
            </a:r>
            <a:endParaRPr sz="2800" b="1" i="0" u="none" strike="noStrike" cap="none">
              <a:solidFill>
                <a:schemeClr val="accent2"/>
              </a:solidFill>
              <a:latin typeface="Great Vibes"/>
              <a:ea typeface="Great Vibes"/>
              <a:cs typeface="Great Vibes"/>
              <a:sym typeface="Great Vib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accent2"/>
                </a:solidFill>
                <a:latin typeface="Great Vibes"/>
                <a:ea typeface="Great Vibes"/>
                <a:cs typeface="Great Vibes"/>
                <a:sym typeface="Great Vibes"/>
              </a:rPr>
              <a:t>FUISA International Fashion show was awesome</a:t>
            </a:r>
            <a:endParaRPr sz="2800" b="1" i="0" u="none" strike="noStrike" cap="none">
              <a:solidFill>
                <a:schemeClr val="accent2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  <a:effectLst>
            <a:outerShdw blurRad="57150" dist="2095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Andrew Cooter</a:t>
            </a:r>
            <a:endParaRPr/>
          </a:p>
        </p:txBody>
      </p:sp>
      <p:sp>
        <p:nvSpPr>
          <p:cNvPr id="123" name="Google Shape;123;p8"/>
          <p:cNvSpPr txBox="1"/>
          <p:nvPr/>
        </p:nvSpPr>
        <p:spPr>
          <a:xfrm>
            <a:off x="1043925" y="1812375"/>
            <a:ext cx="94824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highlight>
                  <a:srgbClr val="8E7CC3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Burnout Music Festival is </a:t>
            </a:r>
            <a:r>
              <a:rPr lang="en-US" sz="2700" b="1" i="0" u="none" strike="noStrike" cap="none">
                <a:solidFill>
                  <a:srgbClr val="000000"/>
                </a:solidFill>
                <a:highlight>
                  <a:srgbClr val="8E7CC3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THIS SATURDAY 4-7PM!!</a:t>
            </a:r>
            <a:r>
              <a:rPr lang="en-US" sz="2700" b="0" i="0" u="none" strike="noStrike" cap="none">
                <a:solidFill>
                  <a:srgbClr val="000000"/>
                </a:solidFill>
                <a:highlight>
                  <a:srgbClr val="8E7CC3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Thanks to RLC, The Paladin, and FUSAB (pending vote) for helping out! It’s gonna be amazing so BE THERE!!</a:t>
            </a:r>
            <a:endParaRPr sz="2700" b="0" i="0" u="none" strike="noStrike" cap="none">
              <a:solidFill>
                <a:srgbClr val="000000"/>
              </a:solidFill>
              <a:highlight>
                <a:srgbClr val="8E7CC3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highlight>
                <a:srgbClr val="8E7CC3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highlight>
                  <a:srgbClr val="8E7CC3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Thanks to those who came to the SGA tailgate! Hoping for another one before the end of the year.</a:t>
            </a:r>
            <a:endParaRPr sz="2700" b="0" i="0" u="none" strike="noStrike" cap="none">
              <a:solidFill>
                <a:srgbClr val="000000"/>
              </a:solidFill>
              <a:highlight>
                <a:srgbClr val="8E7CC3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rgbClr val="000000"/>
              </a:solidFill>
              <a:highlight>
                <a:srgbClr val="8E7CC3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Met with treasurers and advisors of SDC, Religious Council, and Club Sports for a super interesting convo on similarities and differences between the councils!</a:t>
            </a:r>
            <a:endParaRPr sz="27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24" name="Google Shape;12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4638" y="519125"/>
            <a:ext cx="28479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5312" y="2284975"/>
            <a:ext cx="2546627" cy="3395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/>
          <p:nvPr/>
        </p:nvSpPr>
        <p:spPr>
          <a:xfrm>
            <a:off x="6182975" y="-212925"/>
            <a:ext cx="3928662" cy="2178252"/>
          </a:xfrm>
          <a:prstGeom prst="irregularSeal2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MONEY!? WHATS UP WITH THAT??</a:t>
            </a: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Carly Gillis </a:t>
            </a:r>
            <a:endParaRPr/>
          </a:p>
        </p:txBody>
      </p:sp>
      <p:sp>
        <p:nvSpPr>
          <p:cNvPr id="133" name="Google Shape;133;p9"/>
          <p:cNvSpPr txBox="1"/>
          <p:nvPr/>
        </p:nvSpPr>
        <p:spPr>
          <a:xfrm>
            <a:off x="3000800" y="1647900"/>
            <a:ext cx="922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1173500" y="1783250"/>
            <a:ext cx="15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838200" y="1863750"/>
            <a:ext cx="94170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755250" y="1631250"/>
            <a:ext cx="10681500" cy="42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Had the most AMAZING time in </a:t>
            </a:r>
            <a:r>
              <a:rPr lang="en-US" sz="3100" b="1" i="0" u="none" strike="noStrike" cap="none">
                <a:solidFill>
                  <a:srgbClr val="0000FF"/>
                </a:solidFill>
                <a:highlight>
                  <a:srgbClr val="FFFF00"/>
                </a:highlight>
                <a:latin typeface="Press Start 2P"/>
                <a:ea typeface="Press Start 2P"/>
                <a:cs typeface="Press Start 2P"/>
                <a:sym typeface="Press Start 2P"/>
              </a:rPr>
              <a:t>NYC! </a:t>
            </a:r>
            <a:endParaRPr sz="3100" b="1" i="0" u="none" strike="noStrike" cap="none">
              <a:solidFill>
                <a:srgbClr val="0000FF"/>
              </a:solidFill>
              <a:highlight>
                <a:srgbClr val="FFFF00"/>
              </a:highlight>
              <a:latin typeface="Press Start 2P"/>
              <a:ea typeface="Press Start 2P"/>
              <a:cs typeface="Press Start 2P"/>
              <a:sym typeface="Press Start 2P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met with PHOKUS on Wednesday and with a few members of their exec very soon! 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zoom call with WFMH on Friday at 5am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long awaited rep highlights, just had difficulty on organizing as not everyone submitted a rep highlight and it was scattered throughout the classes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HUGE thanks to </a:t>
            </a:r>
            <a:r>
              <a:rPr lang="en-US" sz="2800" b="1" i="0" u="sng" strike="noStrike" cap="none">
                <a:solidFill>
                  <a:schemeClr val="accent2"/>
                </a:solidFill>
                <a:highlight>
                  <a:srgbClr val="FF00FF"/>
                </a:highlight>
                <a:latin typeface="Monoton"/>
                <a:ea typeface="Monoton"/>
                <a:cs typeface="Monoton"/>
                <a:sym typeface="Monoton"/>
              </a:rPr>
              <a:t>Caroline Cox</a:t>
            </a: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for the gameday takeover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37" name="Google Shape;137;p9" descr="RIP. NIKCY, cowboy, and MOATART&#10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1788571" y="3610200"/>
            <a:ext cx="11401651" cy="675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9300"/>
              <a:t>Lydia Mc(pLAYBOI)Carty </a:t>
            </a:r>
            <a:endParaRPr sz="9300"/>
          </a:p>
        </p:txBody>
      </p:sp>
      <p:sp>
        <p:nvSpPr>
          <p:cNvPr id="144" name="Google Shape;144;p10"/>
          <p:cNvSpPr txBox="1"/>
          <p:nvPr/>
        </p:nvSpPr>
        <p:spPr>
          <a:xfrm>
            <a:off x="402325" y="2194575"/>
            <a:ext cx="63642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1" i="0" u="none" strike="noStrike" cap="none">
              <a:solidFill>
                <a:srgbClr val="000000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8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1900"/>
              <a:t>Tatyana Gonzalez</a:t>
            </a:r>
            <a:endParaRPr sz="1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>
            <a:spLocks noGrp="1"/>
          </p:cNvSpPr>
          <p:nvPr>
            <p:ph type="ctrTitle"/>
          </p:nvPr>
        </p:nvSpPr>
        <p:spPr>
          <a:xfrm>
            <a:off x="1524000" y="171851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Representative Reports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555700" cy="1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Sydney Beraho </a:t>
            </a:r>
            <a:endParaRPr/>
          </a:p>
        </p:txBody>
      </p:sp>
      <p:sp>
        <p:nvSpPr>
          <p:cNvPr id="163" name="Google Shape;163;p13"/>
          <p:cNvSpPr txBox="1"/>
          <p:nvPr/>
        </p:nvSpPr>
        <p:spPr>
          <a:xfrm>
            <a:off x="0" y="6591825"/>
            <a:ext cx="4681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lauren says hi from basketball band woohoo roll dins!!!</a:t>
            </a:r>
            <a:endParaRPr sz="1000" b="0" i="0" u="none" strike="noStrike" cap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1296763" y="2869847"/>
            <a:ext cx="95985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Senior Class Gift: 17%!!!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>
            <a:spLocks noGrp="1"/>
          </p:cNvSpPr>
          <p:nvPr>
            <p:ph type="title"/>
          </p:nvPr>
        </p:nvSpPr>
        <p:spPr>
          <a:xfrm>
            <a:off x="601133" y="499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Leah Manning </a:t>
            </a:r>
            <a:endParaRPr/>
          </a:p>
        </p:txBody>
      </p:sp>
      <p:sp>
        <p:nvSpPr>
          <p:cNvPr id="171" name="Google Shape;17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2719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u="sng">
                <a:solidFill>
                  <a:srgbClr val="582C8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Keep those gifts coming!</a:t>
            </a:r>
            <a:r>
              <a:rPr lang="en-US" sz="2400">
                <a:solidFill>
                  <a:srgbClr val="582C83"/>
                </a:solidFill>
              </a:rPr>
              <a:t> </a:t>
            </a:r>
            <a:r>
              <a:rPr lang="en-US" sz="2400"/>
              <a:t>Great work!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Even if you aren’t a senior, be reminding your senior friends about the class gift and perks associated with giving!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/>
              <a:t>$75 by DECEMBER 31 for a personalized brick!!! Don’t miss out!</a:t>
            </a:r>
            <a:endParaRPr sz="2400" b="1"/>
          </a:p>
        </p:txBody>
      </p:sp>
      <p:pic>
        <p:nvPicPr>
          <p:cNvPr id="172" name="Google Shape;17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2500" y="1503300"/>
            <a:ext cx="5777100" cy="38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Alex Murray </a:t>
            </a:r>
            <a:endParaRPr/>
          </a:p>
        </p:txBody>
      </p:sp>
      <p:sp>
        <p:nvSpPr>
          <p:cNvPr id="179" name="Google Shape;17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Kelsey Sumter</a:t>
            </a:r>
            <a:endParaRPr/>
          </a:p>
        </p:txBody>
      </p:sp>
      <p:sp>
        <p:nvSpPr>
          <p:cNvPr id="186" name="Google Shape;186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Mary Boucher 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838200" y="1493750"/>
            <a:ext cx="105156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Libre Franklin"/>
              <a:buChar char="●"/>
            </a:pPr>
            <a:r>
              <a:rPr lang="en-US" sz="3000" b="0" i="0" u="none" strike="noStrike" cap="non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Still need a Freshman and a Sophomore for the used textbook committee!!!</a:t>
            </a:r>
            <a:endParaRPr sz="3000" b="0" i="0" u="none" strike="noStrike" cap="none">
              <a:solidFill>
                <a:schemeClr val="accen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marR="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Libre Franklin"/>
              <a:buChar char="●"/>
            </a:pPr>
            <a:r>
              <a:rPr lang="en-US" sz="3000" b="0" i="0" u="none" strike="noStrike" cap="non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G-Pavillion Music (quiet hours?)</a:t>
            </a:r>
            <a:endParaRPr sz="3000" b="0" i="0" u="none" strike="noStrike" cap="none">
              <a:solidFill>
                <a:schemeClr val="accen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marR="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Libre Franklin"/>
              <a:buChar char="●"/>
            </a:pPr>
            <a:r>
              <a:rPr lang="en-US" sz="3000" b="0" i="0" u="none" strike="noStrike" cap="non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Project idea for someone: talk to someone about getting printers in Furman Hall?</a:t>
            </a:r>
            <a:endParaRPr sz="3000" b="0" i="0" u="none" strike="noStrike" cap="none">
              <a:solidFill>
                <a:schemeClr val="accen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Adara Briceño </a:t>
            </a:r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NEW COFFEE MACHINES OTW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>
            <a:spLocks noGrp="1"/>
          </p:cNvSpPr>
          <p:nvPr>
            <p:ph type="title"/>
          </p:nvPr>
        </p:nvSpPr>
        <p:spPr>
          <a:xfrm>
            <a:off x="352777" y="499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Deen Deovic </a:t>
            </a:r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Jennifer Woollery </a:t>
            </a:r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>
            <a:spLocks noGrp="1"/>
          </p:cNvSpPr>
          <p:nvPr>
            <p:ph type="title"/>
          </p:nvPr>
        </p:nvSpPr>
        <p:spPr>
          <a:xfrm>
            <a:off x="385850" y="-568750"/>
            <a:ext cx="10515600" cy="26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Caroline Cousar 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96100" y="1575875"/>
            <a:ext cx="9528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Happy World Kindness Day!</a:t>
            </a:r>
            <a:endParaRPr sz="21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Updates: </a:t>
            </a:r>
            <a:endParaRPr sz="2100" b="1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-Working with the Asian Studies Department this week on times to open the Place of Peace for student use.</a:t>
            </a:r>
            <a:endParaRPr sz="21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-Lib whiteboard project is underway… working on budgets currently!</a:t>
            </a:r>
            <a:endParaRPr sz="21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Tate Denham </a:t>
            </a:r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628100" cy="41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/>
              <a:t>No big updates - staying safe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-"/>
            </a:pPr>
            <a:r>
              <a:rPr lang="en-US" sz="1900"/>
              <a:t>Kobby &amp; I found the condom box in CMC empty while on rounds… omg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-US" sz="1900"/>
              <a:t>BASKETBALL IS </a:t>
            </a:r>
            <a:r>
              <a:rPr lang="en-US" sz="1900" b="1"/>
              <a:t>CRAY CRAY</a:t>
            </a:r>
            <a:endParaRPr sz="1900" b="1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-US" sz="1900" b="1"/>
              <a:t>yaseen</a:t>
            </a:r>
            <a:endParaRPr sz="1900" b="1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-US" sz="1900"/>
              <a:t>SGA &lt;3 the new microwave in the TCFMF</a:t>
            </a: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/>
              <a:t>FF is chatting/OSI - plan for next semester is in creation</a:t>
            </a: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/>
              <a:t>Paddock Trivia meeting was pushed…</a:t>
            </a: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/>
              <a:t>Swing Set is going through Jberk next…</a:t>
            </a: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Kobby Frempong </a:t>
            </a:r>
            <a:endParaRPr/>
          </a:p>
        </p:txBody>
      </p:sp>
      <p:sp>
        <p:nvSpPr>
          <p:cNvPr id="240" name="Google Shape;240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Mariam Nguyen </a:t>
            </a:r>
            <a:endParaRPr/>
          </a:p>
        </p:txBody>
      </p:sp>
      <p:sp>
        <p:nvSpPr>
          <p:cNvPr id="247" name="Google Shape;24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7317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Shoutout Tate! The condoms have been all used up in Townes!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Ultimate Frisbee on the 29th! I’ll text in our group chat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still meeting with dining staff to discuss vegan ice cream in DH and acai/smoothies in the PDEN! Can’t wait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Libby Adams 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1059225" y="1491575"/>
            <a:ext cx="10560000" cy="46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Follow the freshman Instagram @Sga_Furman_Freshman_27 !!!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14400" marR="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Looking for our first freshman friday highlight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14400" marR="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Rep intros will start soon!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14400" marR="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 form has had a request for period products in SOHO bathrooms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Have a happy thanksgiving break!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Caroline Orr</a:t>
            </a:r>
            <a:endParaRPr/>
          </a:p>
        </p:txBody>
      </p:sp>
      <p:sp>
        <p:nvSpPr>
          <p:cNvPr id="261" name="Google Shape;26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Danyal Sharif</a:t>
            </a:r>
            <a:endParaRPr/>
          </a:p>
        </p:txBody>
      </p:sp>
      <p:sp>
        <p:nvSpPr>
          <p:cNvPr id="268" name="Google Shape;268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Curtis Wilson</a:t>
            </a:r>
            <a:endParaRPr/>
          </a:p>
        </p:txBody>
      </p:sp>
      <p:sp>
        <p:nvSpPr>
          <p:cNvPr id="275" name="Google Shape;275;p28"/>
          <p:cNvSpPr txBox="1">
            <a:spLocks noGrp="1"/>
          </p:cNvSpPr>
          <p:nvPr>
            <p:ph type="body" idx="1"/>
          </p:nvPr>
        </p:nvSpPr>
        <p:spPr>
          <a:xfrm>
            <a:off x="4609950" y="1825625"/>
            <a:ext cx="6743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30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600"/>
              <a:t>SOHO mental health check-in event is going to be hosted the week before finals to ensure students are doing well physically and mentally. Students will have the opportunity to take part in a variety of different activities. We will have therapy dogs, yoga, snacks, and more. Additionally, we are planning to do a give-away during this event. So please share this and encourage your freshman friends to attend this event. </a:t>
            </a:r>
            <a:endParaRPr sz="260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600"/>
          </a:p>
          <a:p>
            <a:pPr marL="457200" lvl="0" indent="-3937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Also check out the new Freshman SGA Instagram that Libby created!</a:t>
            </a:r>
            <a:endParaRPr sz="2600"/>
          </a:p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>
            <a:spLocks noGrp="1"/>
          </p:cNvSpPr>
          <p:nvPr>
            <p:ph type="ctrTitle"/>
          </p:nvPr>
        </p:nvSpPr>
        <p:spPr>
          <a:xfrm>
            <a:off x="1589700" y="158711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At- Large Reports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FUSAB         -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Grayson Taylor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9" name="Google Shape;28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652" y="126927"/>
            <a:ext cx="3841851" cy="161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0"/>
          <p:cNvSpPr txBox="1"/>
          <p:nvPr/>
        </p:nvSpPr>
        <p:spPr>
          <a:xfrm>
            <a:off x="592675" y="1971750"/>
            <a:ext cx="10515600" cy="3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its fusab business season!! 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elections are tomorrow 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we are passing motions soon! 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COMEDY CLUB THIS THURSDAY!!!</a:t>
            </a:r>
            <a:r>
              <a:rPr lang="en-US" sz="32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! </a:t>
            </a:r>
            <a:r>
              <a:rPr lang="en-US" sz="3200" b="1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Ian Lara</a:t>
            </a:r>
            <a:r>
              <a:rPr lang="en-US" sz="32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(as seen on Jimmy Fallon and Comedy Club- so its gonna be electric) </a:t>
            </a:r>
            <a:r>
              <a:rPr lang="en-US" sz="3200" b="1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7PM DANIEL RECITAL HALL</a:t>
            </a:r>
            <a:r>
              <a:rPr lang="en-US" sz="32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and improv club is opening!!</a:t>
            </a:r>
            <a:endParaRPr sz="32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stay tuned for cabin fever (winter wonderland) info soon!! 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838200" y="61385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i="1" u="sng">
                <a:solidFill>
                  <a:srgbClr val="FF0000"/>
                </a:solidFill>
                <a:latin typeface="Butcherman"/>
                <a:ea typeface="Butcherman"/>
                <a:cs typeface="Butcherman"/>
                <a:sym typeface="Butcherman"/>
              </a:rPr>
              <a:t>RLC- Jeff McLane &lt;3</a:t>
            </a:r>
            <a:endParaRPr i="1" u="sng">
              <a:solidFill>
                <a:srgbClr val="FF0000"/>
              </a:solidFill>
              <a:latin typeface="Butcherman"/>
              <a:ea typeface="Butcherman"/>
              <a:cs typeface="Butcherman"/>
              <a:sym typeface="Butcher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>
            <a:spLocks noGrp="1"/>
          </p:cNvSpPr>
          <p:nvPr>
            <p:ph type="title"/>
          </p:nvPr>
        </p:nvSpPr>
        <p:spPr>
          <a:xfrm>
            <a:off x="838200" y="86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Pacifico"/>
                <a:ea typeface="Pacifico"/>
                <a:cs typeface="Pacifico"/>
                <a:sym typeface="Pacifico"/>
              </a:rPr>
              <a:t>Religious Council</a:t>
            </a:r>
            <a:r>
              <a:rPr lang="en-US"/>
              <a:t> - Ruthie Richardson </a:t>
            </a:r>
            <a:endParaRPr/>
          </a:p>
        </p:txBody>
      </p:sp>
      <p:sp>
        <p:nvSpPr>
          <p:cNvPr id="303" name="Google Shape;303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MSA is holding a CLP on the Israeli-Palestinian with Dr. Malici on Nov 14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Campus Rec - </a:t>
            </a:r>
            <a:r>
              <a:rPr lang="en-US" b="1" i="1" u="sng">
                <a:highlight>
                  <a:srgbClr val="FF9900"/>
                </a:highlight>
                <a:latin typeface="Libre Franklin"/>
                <a:ea typeface="Libre Franklin"/>
                <a:cs typeface="Libre Franklin"/>
                <a:sym typeface="Libre Franklin"/>
              </a:rPr>
              <a:t>Eva Brooks </a:t>
            </a:r>
            <a:endParaRPr b="1" i="1" u="sng">
              <a:highlight>
                <a:srgbClr val="FF9900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1810600" y="5614925"/>
            <a:ext cx="291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1" name="Google Shape;311;p33"/>
          <p:cNvSpPr txBox="1"/>
          <p:nvPr/>
        </p:nvSpPr>
        <p:spPr>
          <a:xfrm>
            <a:off x="6597125" y="5614925"/>
            <a:ext cx="401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207250" y="1614625"/>
            <a:ext cx="11726700" cy="44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sng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IM's:</a:t>
            </a:r>
            <a:r>
              <a:rPr lang="en-US" sz="2700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 Table tennis (last weekend)</a:t>
            </a:r>
            <a:endParaRPr sz="2700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*hiring IM officials - apply through IG bio*</a:t>
            </a:r>
            <a:endParaRPr sz="2700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Ultimate Frisbee after Thanksgiving</a:t>
            </a:r>
            <a:endParaRPr sz="2700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sng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Clubs:</a:t>
            </a:r>
            <a:r>
              <a:rPr lang="en-US" sz="2700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Tennis @ Rome, GA (last weekend)</a:t>
            </a:r>
            <a:endParaRPr sz="2700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Equestrian Club Show (last weekend)</a:t>
            </a:r>
            <a:endParaRPr sz="2700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Charles Howden Golf Ntn’l Champ Comp (last weekend)</a:t>
            </a:r>
            <a:endParaRPr sz="2700" b="1" i="0" u="none" strike="noStrike" cap="non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13" name="Google Shape;31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174" y="288925"/>
            <a:ext cx="1734651" cy="173467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3"/>
          <p:cNvSpPr txBox="1"/>
          <p:nvPr/>
        </p:nvSpPr>
        <p:spPr>
          <a:xfrm>
            <a:off x="9355489" y="2099800"/>
            <a:ext cx="31413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2900" b="0" i="0" u="none" strike="noStrike" cap="none">
                <a:solidFill>
                  <a:srgbClr val="4C4D4C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@FurmanCRW</a:t>
            </a:r>
            <a:endParaRPr sz="2900" b="0" i="0" u="none" strike="noStrike" cap="none">
              <a:solidFill>
                <a:srgbClr val="4C4D4C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>
            <a:spLocks noGrp="1"/>
          </p:cNvSpPr>
          <p:nvPr>
            <p:ph type="title"/>
          </p:nvPr>
        </p:nvSpPr>
        <p:spPr>
          <a:xfrm>
            <a:off x="1781100" y="0"/>
            <a:ext cx="8419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500">
                <a:solidFill>
                  <a:schemeClr val="dk1"/>
                </a:solidFill>
                <a:latin typeface="Butcherman"/>
                <a:ea typeface="Butcherman"/>
                <a:cs typeface="Butcherman"/>
                <a:sym typeface="Butcherman"/>
              </a:rPr>
              <a:t> Abijah Leamon &gt;:) </a:t>
            </a:r>
            <a:endParaRPr sz="4500">
              <a:solidFill>
                <a:schemeClr val="dk1"/>
              </a:solidFill>
              <a:latin typeface="Butcherman"/>
              <a:ea typeface="Butcherman"/>
              <a:cs typeface="Butcherman"/>
              <a:sym typeface="Butcherman"/>
            </a:endParaRPr>
          </a:p>
        </p:txBody>
      </p:sp>
      <p:sp>
        <p:nvSpPr>
          <p:cNvPr id="321" name="Google Shape;321;p34"/>
          <p:cNvSpPr txBox="1"/>
          <p:nvPr/>
        </p:nvSpPr>
        <p:spPr>
          <a:xfrm>
            <a:off x="10243875" y="1233600"/>
            <a:ext cx="24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22" name="Google Shape;322;p34" descr="Furman Student Diversity Council - SDC | Faceboo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875" y="64875"/>
            <a:ext cx="1225500" cy="11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i="1">
                <a:solidFill>
                  <a:srgbClr val="EFEFEF"/>
                </a:solidFill>
                <a:latin typeface="Caveat Medium"/>
                <a:ea typeface="Caveat Medium"/>
                <a:cs typeface="Caveat Medium"/>
                <a:sym typeface="Caveat Medium"/>
              </a:rPr>
              <a:t>Panhel - Katherine </a:t>
            </a:r>
            <a:r>
              <a:rPr lang="en-US" i="1">
                <a:solidFill>
                  <a:srgbClr val="FF9900"/>
                </a:solidFill>
                <a:latin typeface="Caveat Medium"/>
                <a:ea typeface="Caveat Medium"/>
                <a:cs typeface="Caveat Medium"/>
                <a:sym typeface="Caveat Medium"/>
              </a:rPr>
              <a:t>Murphy </a:t>
            </a:r>
            <a:endParaRPr i="1">
              <a:solidFill>
                <a:srgbClr val="FF99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329" name="Google Shape;329;p35"/>
          <p:cNvSpPr txBox="1"/>
          <p:nvPr/>
        </p:nvSpPr>
        <p:spPr>
          <a:xfrm>
            <a:off x="988025" y="1511075"/>
            <a:ext cx="385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0" name="Google Shape;330;p35"/>
          <p:cNvSpPr txBox="1"/>
          <p:nvPr/>
        </p:nvSpPr>
        <p:spPr>
          <a:xfrm>
            <a:off x="813200" y="1734825"/>
            <a:ext cx="11222100" cy="3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Super busy Wednesday: 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Tabling outside of Trone from 11:45 am - 1:15 pm to promote recruitment registration. Candy will be available.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-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Pizza and Pickleball at the NV courts starting at 7 pm. 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Also, most chapters have wrapped up their election processes, and Panhel held their interviews this past Sunday. The slate will be presented at the Panhellenic Council meeting this Wednesday, and a vote will be held Wednesday the 22nd via Zoom. 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International Reps</a:t>
            </a:r>
            <a:endParaRPr/>
          </a:p>
        </p:txBody>
      </p:sp>
      <p:sp>
        <p:nvSpPr>
          <p:cNvPr id="337" name="Google Shape;337;p36"/>
          <p:cNvSpPr txBox="1"/>
          <p:nvPr/>
        </p:nvSpPr>
        <p:spPr>
          <a:xfrm>
            <a:off x="988025" y="1511075"/>
            <a:ext cx="385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8" name="Google Shape;338;p36"/>
          <p:cNvSpPr txBox="1"/>
          <p:nvPr/>
        </p:nvSpPr>
        <p:spPr>
          <a:xfrm>
            <a:off x="2912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50800" marR="508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6"/>
          <p:cNvSpPr txBox="1"/>
          <p:nvPr/>
        </p:nvSpPr>
        <p:spPr>
          <a:xfrm>
            <a:off x="444225" y="1511075"/>
            <a:ext cx="105966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★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Dining Hall Food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★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Trivia Night - International Education Week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14400" marR="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entury Schoolbook"/>
              <a:buChar char="○"/>
            </a:pPr>
            <a:r>
              <a:rPr lang="en-US" sz="2800" b="0" i="0" u="none" strike="noStrike" cap="none">
                <a:solidFill>
                  <a:schemeClr val="accent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Nov 15, (7:30-8:30) at Watkins</a:t>
            </a: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accent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40" name="Google Shape;34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3518950"/>
            <a:ext cx="4779709" cy="270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Paladin- Colin Brake </a:t>
            </a:r>
            <a:endParaRPr/>
          </a:p>
        </p:txBody>
      </p:sp>
      <p:sp>
        <p:nvSpPr>
          <p:cNvPr id="354" name="Google Shape;354;p38"/>
          <p:cNvSpPr txBox="1"/>
          <p:nvPr/>
        </p:nvSpPr>
        <p:spPr>
          <a:xfrm>
            <a:off x="810000" y="1764000"/>
            <a:ext cx="1051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sz="3200" b="0" i="0" u="none" strike="noStrike" cap="non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9"/>
          <p:cNvSpPr txBox="1">
            <a:spLocks noGrp="1"/>
          </p:cNvSpPr>
          <p:nvPr>
            <p:ph type="ctrTitle"/>
          </p:nvPr>
        </p:nvSpPr>
        <p:spPr>
          <a:xfrm>
            <a:off x="1524000" y="12586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Committee Reports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0"/>
          <p:cNvSpPr txBox="1">
            <a:spLocks noGrp="1"/>
          </p:cNvSpPr>
          <p:nvPr>
            <p:ph type="ctrTitle"/>
          </p:nvPr>
        </p:nvSpPr>
        <p:spPr>
          <a:xfrm>
            <a:off x="1524000" y="7699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PR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Finance</a:t>
            </a:r>
            <a:endParaRPr/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2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New Business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Old Business</a:t>
            </a:r>
            <a:endParaRPr/>
          </a:p>
        </p:txBody>
      </p:sp>
      <p:sp>
        <p:nvSpPr>
          <p:cNvPr id="386" name="Google Shape;386;p43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4"/>
          <p:cNvSpPr txBox="1">
            <a:spLocks noGrp="1"/>
          </p:cNvSpPr>
          <p:nvPr>
            <p:ph type="ctrTitle"/>
          </p:nvPr>
        </p:nvSpPr>
        <p:spPr>
          <a:xfrm>
            <a:off x="1524000" y="6937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Open Forum</a:t>
            </a:r>
            <a:endParaRPr/>
          </a:p>
        </p:txBody>
      </p:sp>
      <p:sp>
        <p:nvSpPr>
          <p:cNvPr id="393" name="Google Shape;393;p44"/>
          <p:cNvSpPr txBox="1">
            <a:spLocks noGrp="1"/>
          </p:cNvSpPr>
          <p:nvPr>
            <p:ph type="subTitle" idx="1"/>
          </p:nvPr>
        </p:nvSpPr>
        <p:spPr>
          <a:xfrm>
            <a:off x="1524000" y="317341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All the fun stuff: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announcements, discussions, and more!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bedded Diamonds">
  <a:themeElements>
    <a:clrScheme name="Furman">
      <a:dk1>
        <a:srgbClr val="43296D"/>
      </a:dk1>
      <a:lt1>
        <a:srgbClr val="FFFFFF"/>
      </a:lt1>
      <a:dk2>
        <a:srgbClr val="43296D"/>
      </a:dk2>
      <a:lt2>
        <a:srgbClr val="FFFFFF"/>
      </a:lt2>
      <a:accent1>
        <a:srgbClr val="9ED5E0"/>
      </a:accent1>
      <a:accent2>
        <a:srgbClr val="4C4D4C"/>
      </a:accent2>
      <a:accent3>
        <a:srgbClr val="FFFEFE"/>
      </a:accent3>
      <a:accent4>
        <a:srgbClr val="FFFEFE"/>
      </a:accent4>
      <a:accent5>
        <a:srgbClr val="FFFEFE"/>
      </a:accent5>
      <a:accent6>
        <a:srgbClr val="FFFEFE"/>
      </a:accent6>
      <a:hlink>
        <a:srgbClr val="FFFEFE"/>
      </a:hlink>
      <a:folHlink>
        <a:srgbClr val="FFFE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</Words>
  <Application>Microsoft Macintosh PowerPoint</Application>
  <PresentationFormat>Widescreen</PresentationFormat>
  <Paragraphs>182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60" baseType="lpstr">
      <vt:lpstr>Merriweather</vt:lpstr>
      <vt:lpstr>Roboto</vt:lpstr>
      <vt:lpstr>Bodoni Moda</vt:lpstr>
      <vt:lpstr>Comic Sans MS</vt:lpstr>
      <vt:lpstr>Caveat Medium</vt:lpstr>
      <vt:lpstr>Calibri</vt:lpstr>
      <vt:lpstr>Pacifico</vt:lpstr>
      <vt:lpstr>Alegreya</vt:lpstr>
      <vt:lpstr>Century Schoolbook</vt:lpstr>
      <vt:lpstr>Arial</vt:lpstr>
      <vt:lpstr>Press Start 2P</vt:lpstr>
      <vt:lpstr>Great Vibes</vt:lpstr>
      <vt:lpstr>Butcherman</vt:lpstr>
      <vt:lpstr>Libre Franklin Medium</vt:lpstr>
      <vt:lpstr>Libre Franklin</vt:lpstr>
      <vt:lpstr>Monoton</vt:lpstr>
      <vt:lpstr>Embedded Diamonds</vt:lpstr>
      <vt:lpstr>Welcome to SGA!</vt:lpstr>
      <vt:lpstr>Agenda</vt:lpstr>
      <vt:lpstr>Guest Speaker </vt:lpstr>
      <vt:lpstr>Exec Reports</vt:lpstr>
      <vt:lpstr>Dean Cassidy </vt:lpstr>
      <vt:lpstr>Meredith Ervin </vt:lpstr>
      <vt:lpstr>Yaseen Echekki </vt:lpstr>
      <vt:lpstr>Andrew Cooter</vt:lpstr>
      <vt:lpstr>Carly Gillis </vt:lpstr>
      <vt:lpstr>Lydia Mc(pLAYBOI)Carty </vt:lpstr>
      <vt:lpstr>Tatyana Gonzalez</vt:lpstr>
      <vt:lpstr>Representative Reports</vt:lpstr>
      <vt:lpstr> Sydney Beraho </vt:lpstr>
      <vt:lpstr>Leah Manning </vt:lpstr>
      <vt:lpstr>Alex Murray </vt:lpstr>
      <vt:lpstr>Kelsey Sumter</vt:lpstr>
      <vt:lpstr>Mary Boucher </vt:lpstr>
      <vt:lpstr>Adara Briceño </vt:lpstr>
      <vt:lpstr>Deen Deovic </vt:lpstr>
      <vt:lpstr>Jennifer Woollery </vt:lpstr>
      <vt:lpstr>Caroline Cousar </vt:lpstr>
      <vt:lpstr>Tate Denham </vt:lpstr>
      <vt:lpstr>Kobby Frempong </vt:lpstr>
      <vt:lpstr>Mariam Nguyen </vt:lpstr>
      <vt:lpstr>Libby Adams </vt:lpstr>
      <vt:lpstr>Caroline Orr</vt:lpstr>
      <vt:lpstr>Danyal Sharif</vt:lpstr>
      <vt:lpstr>Curtis Wilson</vt:lpstr>
      <vt:lpstr>At- Large Reports</vt:lpstr>
      <vt:lpstr>FUSAB         - Grayson Taylor</vt:lpstr>
      <vt:lpstr>RLC- Jeff McLane &lt;3</vt:lpstr>
      <vt:lpstr>Religious Council - Ruthie Richardson </vt:lpstr>
      <vt:lpstr>Campus Rec - Eva Brooks </vt:lpstr>
      <vt:lpstr> Abijah Leamon &gt;:) </vt:lpstr>
      <vt:lpstr>Panhel - Katherine Murphy </vt:lpstr>
      <vt:lpstr>International Reps</vt:lpstr>
      <vt:lpstr>Paladin- Colin Brake </vt:lpstr>
      <vt:lpstr>Committee Reports</vt:lpstr>
      <vt:lpstr>PR</vt:lpstr>
      <vt:lpstr>Finance</vt:lpstr>
      <vt:lpstr>New Business</vt:lpstr>
      <vt:lpstr>Old Business</vt:lpstr>
      <vt:lpstr>Open Forum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SGA!</dc:title>
  <dc:creator>Kaylee Welgraven</dc:creator>
  <cp:lastModifiedBy>Carly Gillis2-Student</cp:lastModifiedBy>
  <cp:revision>2</cp:revision>
  <dcterms:created xsi:type="dcterms:W3CDTF">2017-10-16T12:38:22Z</dcterms:created>
  <dcterms:modified xsi:type="dcterms:W3CDTF">2024-09-23T13:50:02Z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0x01010064D2884E5B56A24E8EB547943B5579B3</vt:lpwstr>
  </property>
</Properties>
</file>