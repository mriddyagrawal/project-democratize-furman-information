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embeddedFontLst>
    <p:embeddedFont>
      <p:font typeface="Bodoni Moda" pitchFamily="2" charset="77"/>
      <p:regular r:id="rId54"/>
      <p:bold r:id="rId55"/>
      <p:italic r:id="rId56"/>
      <p:boldItalic r:id="rId57"/>
    </p:embeddedFont>
    <p:embeddedFont>
      <p:font typeface="Calibri" panose="020F0502020204030204" pitchFamily="34" charset="0"/>
      <p:regular r:id="rId58"/>
      <p:bold r:id="rId59"/>
      <p:italic r:id="rId60"/>
      <p:boldItalic r:id="rId61"/>
    </p:embeddedFont>
    <p:embeddedFont>
      <p:font typeface="Century Schoolbook" panose="02040604050505020304" pitchFamily="18" charset="0"/>
      <p:regular r:id="rId62"/>
      <p:bold r:id="rId63"/>
      <p:italic r:id="rId64"/>
      <p:boldItalic r:id="rId65"/>
    </p:embeddedFont>
    <p:embeddedFont>
      <p:font typeface="Comic Sans MS" panose="030F0902030302020204" pitchFamily="66" charset="0"/>
      <p:regular r:id="rId66"/>
    </p:embeddedFont>
    <p:embeddedFont>
      <p:font typeface="Georgia" panose="02040502050405020303" pitchFamily="18" charset="0"/>
      <p:regular r:id="rId67"/>
      <p:bold r:id="rId68"/>
      <p:italic r:id="rId69"/>
      <p:boldItalic r:id="rId70"/>
    </p:embeddedFont>
    <p:embeddedFont>
      <p:font typeface="Libre Franklin Medium" panose="020F0502020204030204" pitchFamily="34" charset="0"/>
      <p:regular r:id="rId71"/>
      <p:bold r:id="rId72"/>
      <p:italic r:id="rId73"/>
      <p:boldItalic r:id="rId74"/>
    </p:embeddedFont>
    <p:embeddedFont>
      <p:font typeface="Lobster" pitchFamily="2" charset="77"/>
      <p:regular r:id="rId75"/>
    </p:embeddedFont>
    <p:embeddedFont>
      <p:font typeface="Merriweather" pitchFamily="2" charset="77"/>
      <p:regular r:id="rId76"/>
      <p:bold r:id="rId77"/>
      <p:italic r:id="rId78"/>
      <p:boldItalic r:id="rId79"/>
    </p:embeddedFont>
    <p:embeddedFont>
      <p:font typeface="Pacifico" pitchFamily="2" charset="77"/>
      <p:regular r:id="rId80"/>
    </p:embeddedFont>
    <p:embeddedFont>
      <p:font typeface="Roboto" panose="02000000000000000000" pitchFamily="2"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ib3wEjIrUPn86xFhJYzeV7pzSgQ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3"/>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84" Type="http://schemas.openxmlformats.org/officeDocument/2006/relationships/font" Target="fonts/font31.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font" Target="fonts/font5.fntdata"/><Relationship Id="rId74" Type="http://schemas.openxmlformats.org/officeDocument/2006/relationships/font" Target="fonts/font21.fntdata"/><Relationship Id="rId79" Type="http://schemas.openxmlformats.org/officeDocument/2006/relationships/font" Target="fonts/font26.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9.fntdata"/><Relationship Id="rId80" Type="http://schemas.openxmlformats.org/officeDocument/2006/relationships/font" Target="fonts/font27.fntdata"/><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font" Target="fonts/font22.fntdata"/><Relationship Id="rId83" Type="http://schemas.openxmlformats.org/officeDocument/2006/relationships/font" Target="fonts/font30.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font" Target="fonts/font25.fntdata"/><Relationship Id="rId81" Type="http://schemas.openxmlformats.org/officeDocument/2006/relationships/font" Target="fonts/font28.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6" Type="http://schemas.openxmlformats.org/officeDocument/2006/relationships/font" Target="fonts/font23.fntdata"/><Relationship Id="rId7" Type="http://schemas.openxmlformats.org/officeDocument/2006/relationships/slide" Target="slides/slide6.xml"/><Relationship Id="rId71"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3.fntdata"/><Relationship Id="rId87" Type="http://schemas.openxmlformats.org/officeDocument/2006/relationships/viewProps" Target="viewProps.xml"/><Relationship Id="rId61" Type="http://schemas.openxmlformats.org/officeDocument/2006/relationships/font" Target="fonts/font8.fntdata"/><Relationship Id="rId82" Type="http://schemas.openxmlformats.org/officeDocument/2006/relationships/font" Target="fonts/font29.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7b63af9ae691f6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7b63af9ae691f6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g57b63af9ae691f64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57b63af9ae691f64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57b63af9ae691f64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g57b63af9ae691f64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57b63af9ae691f64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57b63af9ae691f64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g57b63af9ae691f64_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57b63af9ae691f64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57b63af9ae691f64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57b63af9ae691f64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57b63af9ae691f64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57b63af9ae691f64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57b63af9ae691f64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57b63af9ae691f64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57b63af9ae691f64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57b63af9ae691f64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860c129c9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g2860c129c9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g2860c129c9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56c31b72f6_3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6c31b72f6_3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156c31b72f6_3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860beff46b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860beff46b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g2860beff46b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860beff46b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860beff46b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2860beff46b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860beff46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860beff46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2860beff46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860beff46b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860beff46b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2860beff46b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860beff46b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860beff46b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2860beff46b_0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19f5cc7372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119f5cc7372_4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119f5cc7372_4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860beff46b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860beff46b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2860beff46b_0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860beff46b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860beff46b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g2860beff46b_0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860beff46b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860beff46b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g2860beff46b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860beff46b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860beff46b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2860beff46b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52e01f2e5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g152e01f2e5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152e01f2e5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4f24c36a1c9dbd3b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4f24c36a1c9dbd3b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g4f24c36a1c9dbd3b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1" name="Google Shape;441;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2" name="Google Shape;442;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solidFill>
                  <a:srgbClr val="582C8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accent2"/>
              </a:buClr>
              <a:buSzPts val="2400"/>
              <a:buNone/>
              <a:defRPr sz="2400">
                <a:solidFill>
                  <a:schemeClr val="accent2"/>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60"/>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Libre Franklin Medium"/>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1"/>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9"/>
        <p:cNvGrpSpPr/>
        <p:nvPr/>
      </p:nvGrpSpPr>
      <p:grpSpPr>
        <a:xfrm>
          <a:off x="0" y="0"/>
          <a:ext cx="0" cy="0"/>
          <a:chOff x="0" y="0"/>
          <a:chExt cx="0" cy="0"/>
        </a:xfrm>
      </p:grpSpPr>
      <p:sp>
        <p:nvSpPr>
          <p:cNvPr id="30" name="Google Shape;30;p64"/>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31" name="Google Shape;31;p64"/>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2" name="Google Shape;32;p64"/>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3" name="Google Shape;33;p64"/>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4" name="Google Shape;34;p64"/>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5" name="Google Shape;35;p64"/>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6" name="Google Shape;36;p64"/>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7" name="Google Shape;37;p64"/>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8" name="Google Shape;38;p64"/>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9" name="Google Shape;39;p64"/>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0" name="Google Shape;40;p64"/>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1" name="Google Shape;41;p64"/>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2" name="Google Shape;42;p64"/>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3" name="Google Shape;43;p64"/>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4"/>
          <p:cNvCxnSpPr>
            <a:stCxn id="4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45" name="Google Shape;45;p64"/>
          <p:cNvGrpSpPr/>
          <p:nvPr/>
        </p:nvGrpSpPr>
        <p:grpSpPr>
          <a:xfrm>
            <a:off x="1518662" y="5939602"/>
            <a:ext cx="9660958" cy="385590"/>
            <a:chOff x="1139025" y="4454813"/>
            <a:chExt cx="7245900" cy="289200"/>
          </a:xfrm>
        </p:grpSpPr>
        <p:cxnSp>
          <p:nvCxnSpPr>
            <p:cNvPr id="46" name="Google Shape;46;p64"/>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47" name="Google Shape;47;p64"/>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64"/>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4"/>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64"/>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4"/>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4"/>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65"/>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sp>
        <p:nvSpPr>
          <p:cNvPr id="55" name="Google Shape;55;p65"/>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300"/>
              <a:buNone/>
              <a:defRPr sz="2300"/>
            </a:lvl1pPr>
            <a:lvl2pPr lvl="1" algn="ctr">
              <a:lnSpc>
                <a:spcPct val="100000"/>
              </a:lnSpc>
              <a:spcBef>
                <a:spcPts val="500"/>
              </a:spcBef>
              <a:spcAft>
                <a:spcPts val="0"/>
              </a:spcAft>
              <a:buSzPts val="2300"/>
              <a:buNone/>
              <a:defRPr sz="2300"/>
            </a:lvl2pPr>
            <a:lvl3pPr lvl="2" algn="ctr">
              <a:lnSpc>
                <a:spcPct val="100000"/>
              </a:lnSpc>
              <a:spcBef>
                <a:spcPts val="500"/>
              </a:spcBef>
              <a:spcAft>
                <a:spcPts val="0"/>
              </a:spcAft>
              <a:buSzPts val="2300"/>
              <a:buNone/>
              <a:defRPr sz="2300"/>
            </a:lvl3pPr>
            <a:lvl4pPr lvl="3" algn="ctr">
              <a:lnSpc>
                <a:spcPct val="100000"/>
              </a:lnSpc>
              <a:spcBef>
                <a:spcPts val="500"/>
              </a:spcBef>
              <a:spcAft>
                <a:spcPts val="0"/>
              </a:spcAft>
              <a:buSzPts val="2300"/>
              <a:buNone/>
              <a:defRPr sz="2300"/>
            </a:lvl4pPr>
            <a:lvl5pPr lvl="4" algn="ctr">
              <a:lnSpc>
                <a:spcPct val="100000"/>
              </a:lnSpc>
              <a:spcBef>
                <a:spcPts val="500"/>
              </a:spcBef>
              <a:spcAft>
                <a:spcPts val="0"/>
              </a:spcAft>
              <a:buSzPts val="2300"/>
              <a:buNone/>
              <a:defRPr sz="2300"/>
            </a:lvl5pPr>
            <a:lvl6pPr lvl="5" algn="ctr">
              <a:lnSpc>
                <a:spcPct val="100000"/>
              </a:lnSpc>
              <a:spcBef>
                <a:spcPts val="500"/>
              </a:spcBef>
              <a:spcAft>
                <a:spcPts val="0"/>
              </a:spcAft>
              <a:buSzPts val="2300"/>
              <a:buNone/>
              <a:defRPr sz="2300"/>
            </a:lvl6pPr>
            <a:lvl7pPr lvl="6" algn="ctr">
              <a:lnSpc>
                <a:spcPct val="100000"/>
              </a:lnSpc>
              <a:spcBef>
                <a:spcPts val="500"/>
              </a:spcBef>
              <a:spcAft>
                <a:spcPts val="0"/>
              </a:spcAft>
              <a:buSzPts val="2300"/>
              <a:buNone/>
              <a:defRPr sz="2300"/>
            </a:lvl7pPr>
            <a:lvl8pPr lvl="7" algn="ctr">
              <a:lnSpc>
                <a:spcPct val="100000"/>
              </a:lnSpc>
              <a:spcBef>
                <a:spcPts val="500"/>
              </a:spcBef>
              <a:spcAft>
                <a:spcPts val="0"/>
              </a:spcAft>
              <a:buSzPts val="2300"/>
              <a:buNone/>
              <a:defRPr sz="2300"/>
            </a:lvl8pPr>
            <a:lvl9pPr lvl="8" algn="ctr">
              <a:lnSpc>
                <a:spcPct val="100000"/>
              </a:lnSpc>
              <a:spcBef>
                <a:spcPts val="500"/>
              </a:spcBef>
              <a:spcAft>
                <a:spcPts val="0"/>
              </a:spcAft>
              <a:buSzPts val="2300"/>
              <a:buNone/>
              <a:defRPr sz="2300"/>
            </a:lvl9pPr>
          </a:lstStyle>
          <a:p>
            <a:endParaRPr/>
          </a:p>
        </p:txBody>
      </p:sp>
      <p:sp>
        <p:nvSpPr>
          <p:cNvPr id="56" name="Google Shape;56;p65"/>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grpSp>
        <p:nvGrpSpPr>
          <p:cNvPr id="57" name="Google Shape;57;p65"/>
          <p:cNvGrpSpPr/>
          <p:nvPr/>
        </p:nvGrpSpPr>
        <p:grpSpPr>
          <a:xfrm>
            <a:off x="761881" y="720799"/>
            <a:ext cx="3488379" cy="3310684"/>
            <a:chOff x="571425" y="540613"/>
            <a:chExt cx="2616350" cy="2483075"/>
          </a:xfrm>
        </p:grpSpPr>
        <p:sp>
          <p:nvSpPr>
            <p:cNvPr id="58" name="Google Shape;58;p65"/>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59" name="Google Shape;59;p65"/>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5"/>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5"/>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65"/>
          <p:cNvGrpSpPr/>
          <p:nvPr/>
        </p:nvGrpSpPr>
        <p:grpSpPr>
          <a:xfrm>
            <a:off x="9969882" y="4635916"/>
            <a:ext cx="4444239" cy="4444174"/>
            <a:chOff x="-1157850" y="-1175191"/>
            <a:chExt cx="2325853" cy="2325818"/>
          </a:xfrm>
        </p:grpSpPr>
        <p:sp>
          <p:nvSpPr>
            <p:cNvPr id="63" name="Google Shape;63;p65"/>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65"/>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5"/>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65"/>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65"/>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5"/>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drive.google.com/file/d/1zTLFLW8jLzOSdv1LOxo-UuGwPy1PBBhm/view"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hyperlink" Target="http://drive.google.com/file/d/1zTLFLW8jLzOSdv1LOxo-UuGwPy1PBBhm/view"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ctrTitle"/>
          </p:nvPr>
        </p:nvSpPr>
        <p:spPr>
          <a:xfrm>
            <a:off x="1524000" y="24936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582C83"/>
              </a:buClr>
              <a:buSzPts val="6000"/>
              <a:buFont typeface="Libre Franklin Medium"/>
              <a:buNone/>
            </a:pPr>
            <a:r>
              <a:rPr lang="en-US"/>
              <a:t>Welcome to SGA!</a:t>
            </a:r>
            <a:endParaRPr/>
          </a:p>
        </p:txBody>
      </p:sp>
      <p:sp>
        <p:nvSpPr>
          <p:cNvPr id="74" name="Google Shape;74;p1"/>
          <p:cNvSpPr txBox="1">
            <a:spLocks noGrp="1"/>
          </p:cNvSpPr>
          <p:nvPr>
            <p:ph type="subTitle" idx="1"/>
          </p:nvPr>
        </p:nvSpPr>
        <p:spPr>
          <a:xfrm>
            <a:off x="762000" y="4973317"/>
            <a:ext cx="10668000" cy="570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2400"/>
              <a:buNone/>
            </a:pPr>
            <a:r>
              <a:rPr lang="en-US"/>
              <a:t>October 2, 2023 </a:t>
            </a:r>
            <a:endParaRPr/>
          </a:p>
        </p:txBody>
      </p:sp>
      <p:pic>
        <p:nvPicPr>
          <p:cNvPr id="75" name="Google Shape;75;p1"/>
          <p:cNvPicPr preferRelativeResize="0"/>
          <p:nvPr/>
        </p:nvPicPr>
        <p:blipFill rotWithShape="1">
          <a:blip r:embed="rId3">
            <a:alphaModFix/>
          </a:blip>
          <a:srcRect/>
          <a:stretch/>
        </p:blipFill>
        <p:spPr>
          <a:xfrm>
            <a:off x="4286913" y="165550"/>
            <a:ext cx="3618175" cy="3618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Agenda</a:t>
            </a:r>
            <a:endParaRPr/>
          </a:p>
        </p:txBody>
      </p:sp>
      <p:sp>
        <p:nvSpPr>
          <p:cNvPr id="92" name="Google Shape;92;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SzPct val="75630"/>
              <a:buNone/>
            </a:pPr>
            <a:r>
              <a:rPr lang="en-US"/>
              <a:t>Guest speaker(s): Beth Pontari and Connie Carson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Officer, class, &amp; at-large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Committee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Old business: Club Voting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New business</a:t>
            </a:r>
            <a:endParaRPr b="1"/>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Open forum &amp; announcements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ctrTitle"/>
          </p:nvPr>
        </p:nvSpPr>
        <p:spPr>
          <a:xfrm>
            <a:off x="1524000" y="10454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Guest Speakers</a:t>
            </a:r>
            <a:endParaRPr/>
          </a:p>
        </p:txBody>
      </p:sp>
      <p:sp>
        <p:nvSpPr>
          <p:cNvPr id="99" name="Google Shape;99;p3"/>
          <p:cNvSpPr txBox="1">
            <a:spLocks noGrp="1"/>
          </p:cNvSpPr>
          <p:nvPr>
            <p:ph type="subTitle" idx="1"/>
          </p:nvPr>
        </p:nvSpPr>
        <p:spPr>
          <a:xfrm>
            <a:off x="1524000" y="356366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115000"/>
              </a:lnSpc>
              <a:spcBef>
                <a:spcPts val="1200"/>
              </a:spcBef>
              <a:spcAft>
                <a:spcPts val="0"/>
              </a:spcAft>
              <a:buNone/>
            </a:pPr>
            <a:r>
              <a:rPr lang="en-US" sz="1700" b="1">
                <a:solidFill>
                  <a:schemeClr val="accent5"/>
                </a:solidFill>
                <a:latin typeface="Arial"/>
                <a:ea typeface="Arial"/>
                <a:cs typeface="Arial"/>
                <a:sym typeface="Arial"/>
              </a:rPr>
              <a:t>Connie Carson </a:t>
            </a:r>
            <a:endParaRPr sz="1700" b="1">
              <a:solidFill>
                <a:schemeClr val="accent5"/>
              </a:solidFill>
              <a:latin typeface="Arial"/>
              <a:ea typeface="Arial"/>
              <a:cs typeface="Arial"/>
              <a:sym typeface="Arial"/>
            </a:endParaRPr>
          </a:p>
          <a:p>
            <a:pPr marL="0" lvl="0" indent="0" algn="ctr" rtl="0">
              <a:lnSpc>
                <a:spcPct val="115000"/>
              </a:lnSpc>
              <a:spcBef>
                <a:spcPts val="1200"/>
              </a:spcBef>
              <a:spcAft>
                <a:spcPts val="1200"/>
              </a:spcAft>
              <a:buNone/>
            </a:pPr>
            <a:r>
              <a:rPr lang="en-US" sz="1700" b="1">
                <a:solidFill>
                  <a:schemeClr val="accent5"/>
                </a:solidFill>
                <a:latin typeface="Arial"/>
                <a:ea typeface="Arial"/>
                <a:cs typeface="Arial"/>
                <a:sym typeface="Arial"/>
              </a:rPr>
              <a:t>Provost Pontari </a:t>
            </a:r>
            <a:endParaRPr sz="1700" b="1">
              <a:solidFill>
                <a:schemeClr val="accent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ctrTitle"/>
          </p:nvPr>
        </p:nvSpPr>
        <p:spPr>
          <a:xfrm>
            <a:off x="1524000" y="2539344"/>
            <a:ext cx="9144000" cy="1116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Exec Reports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2860c129c93_0_0"/>
          <p:cNvSpPr txBox="1">
            <a:spLocks noGrp="1"/>
          </p:cNvSpPr>
          <p:nvPr>
            <p:ph type="title"/>
          </p:nvPr>
        </p:nvSpPr>
        <p:spPr>
          <a:xfrm>
            <a:off x="74038" y="81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   Dean Cassidy </a:t>
            </a:r>
            <a:endParaRPr/>
          </a:p>
        </p:txBody>
      </p:sp>
      <p:sp>
        <p:nvSpPr>
          <p:cNvPr id="132" name="Google Shape;132;g2860c129c93_0_0"/>
          <p:cNvSpPr txBox="1"/>
          <p:nvPr/>
        </p:nvSpPr>
        <p:spPr>
          <a:xfrm>
            <a:off x="572275" y="1178250"/>
            <a:ext cx="8396700" cy="514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entury Schoolbook"/>
                <a:ea typeface="Century Schoolbook"/>
                <a:cs typeface="Century Schoolbook"/>
                <a:sym typeface="Century Schoolbook"/>
              </a:rPr>
              <a:t>Please join me in welcoming our new associate chaplain, Alexis Carter Thomas. Alexis is an ordained minister and ministry consultant.  She earned a Master of Divinity from the Divinity School at Duke University and a Doctor of Ministry degree with a concentration in Women's Religious Leadership from Drew University Theological School. Alexis’ doctoral research and work bridged the loving and liberating power of womanist theology in the academy with the everyday lives of Black women in the pews. As a 2019 recipient of the Reflective Leadership Grant, awarded through Leadership Education at Duke Divinity, she conducted research on the flourishing of Black clergywomen.</a:t>
            </a: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r>
              <a:rPr lang="en-US">
                <a:latin typeface="Century Schoolbook"/>
                <a:ea typeface="Century Schoolbook"/>
                <a:cs typeface="Century Schoolbook"/>
                <a:sym typeface="Century Schoolbook"/>
              </a:rPr>
              <a:t>Alexis’s professional experience includes work in higher education and congregational ministry.  She has worked on five different college campuses in areas ranging from residential life to student affairs. Previous roles have included: serving as a pastor of discipleship on staff at a congregation while teaching Supervised Ministry at Phillips Theological Seminary in Tulsa, Oklahoma; developing an Introduction to the Hebrew Bible course at Lander University; and working as the Head Manager of Duke Women’s Basketball. Since 2021, Alexis  has served as the Program Director for The Vinery, a Lilly Endowment Thriving Congregations Initiative. She serves as the chair of the board for the Rebuild Women’s Hope Foundation—an organization that seeks to empower and improve the quality of life for women in the Democratic Republic of the Congo through coffee production and entrepreneurship training. She believes that beloved community is possible.</a:t>
            </a: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r>
              <a:rPr lang="en-US">
                <a:latin typeface="Century Schoolbook"/>
                <a:ea typeface="Century Schoolbook"/>
                <a:cs typeface="Century Schoolbook"/>
                <a:sym typeface="Century Schoolbook"/>
              </a:rPr>
              <a:t>You can welcome Alexis directly at Alexis.thomas9@furman.edu. She will began her tenure at Furman on September 25.</a:t>
            </a:r>
            <a:endParaRPr>
              <a:latin typeface="Century Schoolbook"/>
              <a:ea typeface="Century Schoolbook"/>
              <a:cs typeface="Century Schoolbook"/>
              <a:sym typeface="Century Schoolbook"/>
            </a:endParaRPr>
          </a:p>
        </p:txBody>
      </p:sp>
      <p:pic>
        <p:nvPicPr>
          <p:cNvPr id="133" name="Google Shape;133;g2860c129c93_0_0" title="Y2Mate.is - Natasha Bedingfield - Unwritten (US Version) (Official Video)-b7k0a5hYnSI-160k-1659812919893.mp3">
            <a:hlinkClick r:id="rId3"/>
          </p:cNvPr>
          <p:cNvPicPr preferRelativeResize="0"/>
          <p:nvPr/>
        </p:nvPicPr>
        <p:blipFill>
          <a:blip r:embed="rId4">
            <a:alphaModFix/>
          </a:blip>
          <a:stretch>
            <a:fillRect/>
          </a:stretch>
        </p:blipFill>
        <p:spPr>
          <a:xfrm>
            <a:off x="9533713" y="5009975"/>
            <a:ext cx="457200" cy="457200"/>
          </a:xfrm>
          <a:prstGeom prst="rect">
            <a:avLst/>
          </a:prstGeom>
          <a:noFill/>
          <a:ln>
            <a:noFill/>
          </a:ln>
        </p:spPr>
      </p:pic>
      <p:pic>
        <p:nvPicPr>
          <p:cNvPr id="134" name="Google Shape;134;g2860c129c93_0_0"/>
          <p:cNvPicPr preferRelativeResize="0"/>
          <p:nvPr/>
        </p:nvPicPr>
        <p:blipFill>
          <a:blip r:embed="rId5">
            <a:alphaModFix/>
          </a:blip>
          <a:stretch>
            <a:fillRect/>
          </a:stretch>
        </p:blipFill>
        <p:spPr>
          <a:xfrm>
            <a:off x="9038975" y="1514887"/>
            <a:ext cx="2761663" cy="38282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title"/>
          </p:nvPr>
        </p:nvSpPr>
        <p:spPr>
          <a:xfrm>
            <a:off x="74038" y="81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   Meredith Ervin </a:t>
            </a:r>
            <a:endParaRPr/>
          </a:p>
        </p:txBody>
      </p:sp>
      <p:sp>
        <p:nvSpPr>
          <p:cNvPr id="141" name="Google Shape;141;p5"/>
          <p:cNvSpPr txBox="1"/>
          <p:nvPr/>
        </p:nvSpPr>
        <p:spPr>
          <a:xfrm>
            <a:off x="840150" y="1875700"/>
            <a:ext cx="5627100" cy="1015800"/>
          </a:xfrm>
          <a:prstGeom prst="rect">
            <a:avLst/>
          </a:prstGeom>
          <a:noFill/>
          <a:ln>
            <a:noFill/>
          </a:ln>
        </p:spPr>
        <p:txBody>
          <a:bodyPr spcFirstLastPara="1" wrap="square" lIns="91425" tIns="91425" rIns="91425" bIns="91425" anchor="t" anchorCtr="0">
            <a:spAutoFit/>
          </a:bodyPr>
          <a:lstStyle/>
          <a:p>
            <a:pPr marL="457200" lvl="0" indent="-400050" algn="l" rtl="0">
              <a:spcBef>
                <a:spcPts val="0"/>
              </a:spcBef>
              <a:spcAft>
                <a:spcPts val="0"/>
              </a:spcAft>
              <a:buSzPts val="2700"/>
              <a:buFont typeface="Century Schoolbook"/>
              <a:buChar char="-"/>
            </a:pPr>
            <a:endParaRPr sz="2700">
              <a:latin typeface="Century Schoolbook"/>
              <a:ea typeface="Century Schoolbook"/>
              <a:cs typeface="Century Schoolbook"/>
              <a:sym typeface="Century Schoolbook"/>
            </a:endParaRPr>
          </a:p>
          <a:p>
            <a:pPr marL="0" lvl="0" indent="0" algn="l" rtl="0">
              <a:spcBef>
                <a:spcPts val="0"/>
              </a:spcBef>
              <a:spcAft>
                <a:spcPts val="0"/>
              </a:spcAft>
              <a:buNone/>
            </a:pPr>
            <a:endParaRPr sz="2700">
              <a:latin typeface="Century Schoolbook"/>
              <a:ea typeface="Century Schoolbook"/>
              <a:cs typeface="Century Schoolbook"/>
              <a:sym typeface="Century Schoolbook"/>
            </a:endParaRPr>
          </a:p>
        </p:txBody>
      </p:sp>
      <p:pic>
        <p:nvPicPr>
          <p:cNvPr id="142" name="Google Shape;142;p5" title="Y2Mate.is - Natasha Bedingfield - Unwritten (US Version) (Official Video)-b7k0a5hYnSI-160k-1659812919893.mp3">
            <a:hlinkClick r:id="rId3"/>
          </p:cNvPr>
          <p:cNvPicPr preferRelativeResize="0"/>
          <p:nvPr/>
        </p:nvPicPr>
        <p:blipFill>
          <a:blip r:embed="rId4">
            <a:alphaModFix/>
          </a:blip>
          <a:stretch>
            <a:fillRect/>
          </a:stretch>
        </p:blipFill>
        <p:spPr>
          <a:xfrm>
            <a:off x="9533713" y="5009975"/>
            <a:ext cx="457200" cy="457200"/>
          </a:xfrm>
          <a:prstGeom prst="rect">
            <a:avLst/>
          </a:prstGeom>
          <a:noFill/>
          <a:ln>
            <a:noFill/>
          </a:ln>
        </p:spPr>
      </p:pic>
      <p:sp>
        <p:nvSpPr>
          <p:cNvPr id="143" name="Google Shape;143;p5"/>
          <p:cNvSpPr txBox="1"/>
          <p:nvPr/>
        </p:nvSpPr>
        <p:spPr>
          <a:xfrm>
            <a:off x="1453575" y="2528800"/>
            <a:ext cx="90810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Sorry I am missing today, still feeling sick :(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Retreat was wonderful! Thank you so much to everyone for really being engaged! I was told this is SGA’s first off campus retreat in 5 years!</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Our hoco theme is March Madness!!! Please brainstorm ideas!!!</a:t>
            </a:r>
            <a:endParaRPr>
              <a:latin typeface="Century Schoolbook"/>
              <a:ea typeface="Century Schoolbook"/>
              <a:cs typeface="Century Schoolbook"/>
              <a:sym typeface="Century Schoolboo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56c31b72f6_3_1"/>
          <p:cNvSpPr txBox="1"/>
          <p:nvPr/>
        </p:nvSpPr>
        <p:spPr>
          <a:xfrm>
            <a:off x="719125" y="613875"/>
            <a:ext cx="5753100" cy="999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800">
                <a:latin typeface="Century Schoolbook"/>
                <a:ea typeface="Century Schoolbook"/>
                <a:cs typeface="Century Schoolbook"/>
                <a:sym typeface="Century Schoolbook"/>
              </a:rPr>
              <a:t>Yaseen Echekki </a:t>
            </a:r>
            <a:endParaRPr sz="3800">
              <a:latin typeface="Century Schoolbook"/>
              <a:ea typeface="Century Schoolbook"/>
              <a:cs typeface="Century Schoolbook"/>
              <a:sym typeface="Century Schoolboo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sz="2900">
                <a:solidFill>
                  <a:srgbClr val="000000"/>
                </a:solidFill>
                <a:latin typeface="Century Schoolbook"/>
                <a:ea typeface="Century Schoolbook"/>
                <a:cs typeface="Century Schoolbook"/>
                <a:sym typeface="Century Schoolbook"/>
              </a:rPr>
              <a:t>Andrew Cooter </a:t>
            </a:r>
            <a:endParaRPr sz="2900"/>
          </a:p>
        </p:txBody>
      </p:sp>
      <p:sp>
        <p:nvSpPr>
          <p:cNvPr id="156" name="Google Shape;156;p6"/>
          <p:cNvSpPr txBox="1"/>
          <p:nvPr/>
        </p:nvSpPr>
        <p:spPr>
          <a:xfrm>
            <a:off x="4157750" y="545425"/>
            <a:ext cx="274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157" name="Google Shape;157;p6"/>
          <p:cNvSpPr txBox="1"/>
          <p:nvPr/>
        </p:nvSpPr>
        <p:spPr>
          <a:xfrm>
            <a:off x="8462350" y="4745250"/>
            <a:ext cx="3750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158" name="Google Shape;158;p6"/>
          <p:cNvSpPr txBox="1"/>
          <p:nvPr/>
        </p:nvSpPr>
        <p:spPr>
          <a:xfrm>
            <a:off x="838200" y="1898100"/>
            <a:ext cx="10515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200">
              <a:solidFill>
                <a:srgbClr val="262626"/>
              </a:solidFill>
              <a:highlight>
                <a:srgbClr val="FFFFFF"/>
              </a:highlight>
              <a:latin typeface="Century Schoolbook"/>
              <a:ea typeface="Century Schoolbook"/>
              <a:cs typeface="Century Schoolbook"/>
              <a:sym typeface="Century Schoolbook"/>
            </a:endParaRPr>
          </a:p>
        </p:txBody>
      </p:sp>
      <p:sp>
        <p:nvSpPr>
          <p:cNvPr id="159" name="Google Shape;159;p6"/>
          <p:cNvSpPr txBox="1"/>
          <p:nvPr/>
        </p:nvSpPr>
        <p:spPr>
          <a:xfrm>
            <a:off x="838200" y="1563000"/>
            <a:ext cx="10644900" cy="1600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SzPts val="2300"/>
              <a:buFont typeface="Century Schoolbook"/>
              <a:buChar char="●"/>
            </a:pPr>
            <a:r>
              <a:rPr lang="en-US" sz="2300">
                <a:latin typeface="Century Schoolbook"/>
                <a:ea typeface="Century Schoolbook"/>
                <a:cs typeface="Century Schoolbook"/>
                <a:sym typeface="Century Schoolbook"/>
              </a:rPr>
              <a:t>Leslie is working on revising the budget request forms on SyncDin, and I will send out budget emails once that’s done so that there’s no confusion on how the forms work!</a:t>
            </a:r>
            <a:endParaRPr sz="2300">
              <a:latin typeface="Century Schoolbook"/>
              <a:ea typeface="Century Schoolbook"/>
              <a:cs typeface="Century Schoolbook"/>
              <a:sym typeface="Century Schoolbook"/>
            </a:endParaRPr>
          </a:p>
          <a:p>
            <a:pPr marL="457200" lvl="0" indent="-374650" algn="l" rtl="0">
              <a:spcBef>
                <a:spcPts val="0"/>
              </a:spcBef>
              <a:spcAft>
                <a:spcPts val="0"/>
              </a:spcAft>
              <a:buSzPts val="2300"/>
              <a:buFont typeface="Century Schoolbook"/>
              <a:buChar char="●"/>
            </a:pPr>
            <a:r>
              <a:rPr lang="en-US" sz="2300">
                <a:latin typeface="Century Schoolbook"/>
                <a:ea typeface="Century Schoolbook"/>
                <a:cs typeface="Century Schoolbook"/>
                <a:sym typeface="Century Schoolbook"/>
              </a:rPr>
              <a:t>Need folks on Finance and Traffic/Parking committee</a:t>
            </a:r>
            <a:endParaRPr sz="2300">
              <a:latin typeface="Century Schoolbook"/>
              <a:ea typeface="Century Schoolbook"/>
              <a:cs typeface="Century Schoolbook"/>
              <a:sym typeface="Century Schoolboo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 </a:t>
            </a:r>
            <a:endParaRPr/>
          </a:p>
        </p:txBody>
      </p:sp>
      <p:sp>
        <p:nvSpPr>
          <p:cNvPr id="166" name="Google Shape;166;p7"/>
          <p:cNvSpPr txBox="1"/>
          <p:nvPr/>
        </p:nvSpPr>
        <p:spPr>
          <a:xfrm>
            <a:off x="943450" y="1534375"/>
            <a:ext cx="5484000" cy="175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a:latin typeface="Century Schoolbook"/>
                <a:ea typeface="Century Schoolbook"/>
                <a:cs typeface="Century Schoolbook"/>
                <a:sym typeface="Century Schoolbook"/>
              </a:rPr>
              <a:t>gameday series starting this weekend! </a:t>
            </a:r>
            <a:endParaRPr sz="1700">
              <a:latin typeface="Century Schoolbook"/>
              <a:ea typeface="Century Schoolbook"/>
              <a:cs typeface="Century Schoolbook"/>
              <a:sym typeface="Century Schoolbook"/>
            </a:endParaRPr>
          </a:p>
          <a:p>
            <a:pPr marL="0" lvl="0" indent="0" algn="l" rtl="0">
              <a:spcBef>
                <a:spcPts val="0"/>
              </a:spcBef>
              <a:spcAft>
                <a:spcPts val="0"/>
              </a:spcAft>
              <a:buNone/>
            </a:pPr>
            <a:endParaRPr sz="1700">
              <a:latin typeface="Century Schoolbook"/>
              <a:ea typeface="Century Schoolbook"/>
              <a:cs typeface="Century Schoolbook"/>
              <a:sym typeface="Century Schoolbook"/>
            </a:endParaRPr>
          </a:p>
          <a:p>
            <a:pPr marL="0" lvl="0" indent="0" algn="l" rtl="0">
              <a:spcBef>
                <a:spcPts val="0"/>
              </a:spcBef>
              <a:spcAft>
                <a:spcPts val="0"/>
              </a:spcAft>
              <a:buNone/>
            </a:pPr>
            <a:r>
              <a:rPr lang="en-US" sz="1700">
                <a:latin typeface="Century Schoolbook"/>
                <a:ea typeface="Century Schoolbook"/>
                <a:cs typeface="Century Schoolbook"/>
                <a:sym typeface="Century Schoolbook"/>
              </a:rPr>
              <a:t>starting rep highlights, remember to fill out the google doc and send me your preferred picture! </a:t>
            </a:r>
            <a:endParaRPr sz="1700">
              <a:latin typeface="Century Schoolbook"/>
              <a:ea typeface="Century Schoolbook"/>
              <a:cs typeface="Century Schoolbook"/>
              <a:sym typeface="Century Schoolbook"/>
            </a:endParaRPr>
          </a:p>
          <a:p>
            <a:pPr marL="0" lvl="0" indent="0" algn="l" rtl="0">
              <a:spcBef>
                <a:spcPts val="0"/>
              </a:spcBef>
              <a:spcAft>
                <a:spcPts val="0"/>
              </a:spcAft>
              <a:buNone/>
            </a:pPr>
            <a:endParaRPr sz="1700">
              <a:latin typeface="Century Schoolbook"/>
              <a:ea typeface="Century Schoolbook"/>
              <a:cs typeface="Century Schoolbook"/>
              <a:sym typeface="Century Schoolbook"/>
            </a:endParaRPr>
          </a:p>
          <a:p>
            <a:pPr marL="0" lvl="0" indent="0" algn="l" rtl="0">
              <a:spcBef>
                <a:spcPts val="0"/>
              </a:spcBef>
              <a:spcAft>
                <a:spcPts val="0"/>
              </a:spcAft>
              <a:buNone/>
            </a:pPr>
            <a:r>
              <a:rPr lang="en-US" sz="1700">
                <a:latin typeface="Century Schoolbook"/>
                <a:ea typeface="Century Schoolbook"/>
                <a:cs typeface="Century Schoolbook"/>
                <a:sym typeface="Century Schoolbook"/>
              </a:rPr>
              <a:t>club takeover is paladin ink </a:t>
            </a:r>
            <a:endParaRPr sz="1700">
              <a:latin typeface="Century Schoolbook"/>
              <a:ea typeface="Century Schoolbook"/>
              <a:cs typeface="Century Schoolbook"/>
              <a:sym typeface="Century Schoolbook"/>
            </a:endParaRPr>
          </a:p>
        </p:txBody>
      </p:sp>
      <p:sp>
        <p:nvSpPr>
          <p:cNvPr id="167" name="Google Shape;167;p7"/>
          <p:cNvSpPr txBox="1"/>
          <p:nvPr/>
        </p:nvSpPr>
        <p:spPr>
          <a:xfrm>
            <a:off x="9956100" y="2819000"/>
            <a:ext cx="139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Lydia McCarty </a:t>
            </a:r>
            <a:endParaRPr/>
          </a:p>
        </p:txBody>
      </p:sp>
      <p:sp>
        <p:nvSpPr>
          <p:cNvPr id="174" name="Google Shape;174;p8"/>
          <p:cNvSpPr txBox="1"/>
          <p:nvPr/>
        </p:nvSpPr>
        <p:spPr>
          <a:xfrm>
            <a:off x="1167075" y="1648325"/>
            <a:ext cx="7940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175" name="Google Shape;175;p8"/>
          <p:cNvSpPr txBox="1"/>
          <p:nvPr/>
        </p:nvSpPr>
        <p:spPr>
          <a:xfrm>
            <a:off x="5799200" y="1648325"/>
            <a:ext cx="5991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latin typeface="Century Schoolbook"/>
                <a:ea typeface="Century Schoolbook"/>
                <a:cs typeface="Century Schoolbook"/>
                <a:sym typeface="Century Schoolbook"/>
              </a:rPr>
              <a:t>. </a:t>
            </a:r>
            <a:endParaRPr sz="2000">
              <a:latin typeface="Century Schoolbook"/>
              <a:ea typeface="Century Schoolbook"/>
              <a:cs typeface="Century Schoolbook"/>
              <a:sym typeface="Century Schoolboo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2860beff46b_0_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Tatyana Gonzalez </a:t>
            </a:r>
            <a:endParaRPr/>
          </a:p>
        </p:txBody>
      </p:sp>
      <p:sp>
        <p:nvSpPr>
          <p:cNvPr id="182" name="Google Shape;182;g2860beff46b_0_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ctrTitle"/>
          </p:nvPr>
        </p:nvSpPr>
        <p:spPr>
          <a:xfrm>
            <a:off x="1524000" y="17185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Representative Reports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latin typeface="Arial"/>
                <a:ea typeface="Arial"/>
                <a:cs typeface="Arial"/>
                <a:sym typeface="Arial"/>
              </a:rPr>
              <a:t>Sydney Beraho </a:t>
            </a:r>
            <a:endParaRPr>
              <a:latin typeface="Arial"/>
              <a:ea typeface="Arial"/>
              <a:cs typeface="Arial"/>
              <a:sym typeface="Arial"/>
            </a:endParaRPr>
          </a:p>
        </p:txBody>
      </p:sp>
      <p:sp>
        <p:nvSpPr>
          <p:cNvPr id="195" name="Google Shape;195;p12"/>
          <p:cNvSpPr txBox="1"/>
          <p:nvPr/>
        </p:nvSpPr>
        <p:spPr>
          <a:xfrm>
            <a:off x="838200" y="1562812"/>
            <a:ext cx="6100200" cy="20124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400">
                <a:highlight>
                  <a:srgbClr val="B6D7A8"/>
                </a:highlight>
                <a:latin typeface="Georgia"/>
                <a:ea typeface="Georgia"/>
                <a:cs typeface="Georgia"/>
                <a:sym typeface="Georgia"/>
              </a:rPr>
              <a:t>Flu vaccine clinic collaboration with Earle Student Health Center - raffle &amp; increased advertisement </a:t>
            </a:r>
            <a:endParaRPr sz="2400">
              <a:highlight>
                <a:srgbClr val="B6D7A8"/>
              </a:highlight>
              <a:latin typeface="Georgia"/>
              <a:ea typeface="Georgia"/>
              <a:cs typeface="Georgia"/>
              <a:sym typeface="Georgia"/>
            </a:endParaRPr>
          </a:p>
          <a:p>
            <a:pPr marL="457200" lvl="0" indent="0" algn="l" rtl="0">
              <a:spcBef>
                <a:spcPts val="0"/>
              </a:spcBef>
              <a:spcAft>
                <a:spcPts val="0"/>
              </a:spcAft>
              <a:buNone/>
            </a:pPr>
            <a:r>
              <a:rPr lang="en-US" sz="2400">
                <a:highlight>
                  <a:srgbClr val="B6D7A8"/>
                </a:highlight>
                <a:latin typeface="Georgia"/>
                <a:ea typeface="Georgia"/>
                <a:cs typeface="Georgia"/>
                <a:sym typeface="Georgia"/>
              </a:rPr>
              <a:t>Successful Senior Class Gift Program of course :)</a:t>
            </a:r>
            <a:endParaRPr sz="2400">
              <a:highlight>
                <a:srgbClr val="B6D7A8"/>
              </a:highlight>
              <a:latin typeface="Georgia"/>
              <a:ea typeface="Georgia"/>
              <a:cs typeface="Georgia"/>
              <a:sym typeface="Georgia"/>
            </a:endParaRPr>
          </a:p>
        </p:txBody>
      </p:sp>
      <p:sp>
        <p:nvSpPr>
          <p:cNvPr id="196" name="Google Shape;196;p12"/>
          <p:cNvSpPr txBox="1"/>
          <p:nvPr/>
        </p:nvSpPr>
        <p:spPr>
          <a:xfrm>
            <a:off x="6192900" y="1690825"/>
            <a:ext cx="5999100" cy="461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a:p>
            <a:pPr marL="0" lvl="0" indent="0" algn="ctr" rtl="0">
              <a:spcBef>
                <a:spcPts val="0"/>
              </a:spcBef>
              <a:spcAft>
                <a:spcPts val="0"/>
              </a:spcAft>
              <a:buNone/>
            </a:pPr>
            <a:endParaRPr sz="2400">
              <a:latin typeface="Comic Sans MS"/>
              <a:ea typeface="Comic Sans MS"/>
              <a:cs typeface="Comic Sans MS"/>
              <a:sym typeface="Comic Sans MS"/>
            </a:endParaRPr>
          </a:p>
          <a:p>
            <a:pPr marL="0" lvl="0" indent="0" algn="l" rtl="0">
              <a:spcBef>
                <a:spcPts val="0"/>
              </a:spcBef>
              <a:spcAft>
                <a:spcPts val="0"/>
              </a:spcAft>
              <a:buNone/>
            </a:pPr>
            <a:endParaRPr sz="2400">
              <a:latin typeface="Comic Sans MS"/>
              <a:ea typeface="Comic Sans MS"/>
              <a:cs typeface="Comic Sans MS"/>
              <a:sym typeface="Comic Sans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Leah Manning </a:t>
            </a:r>
            <a:endParaRPr/>
          </a:p>
        </p:txBody>
      </p:sp>
      <p:sp>
        <p:nvSpPr>
          <p:cNvPr id="203" name="Google Shape;203;p14"/>
          <p:cNvSpPr txBox="1"/>
          <p:nvPr/>
        </p:nvSpPr>
        <p:spPr>
          <a:xfrm>
            <a:off x="482625" y="1448025"/>
            <a:ext cx="11338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204" name="Google Shape;204;p14"/>
          <p:cNvSpPr txBox="1">
            <a:spLocks noGrp="1"/>
          </p:cNvSpPr>
          <p:nvPr>
            <p:ph type="body" idx="1"/>
          </p:nvPr>
        </p:nvSpPr>
        <p:spPr>
          <a:xfrm>
            <a:off x="838200" y="1825625"/>
            <a:ext cx="5181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1"/>
          <p:cNvSpPr txBox="1">
            <a:spLocks noGrp="1"/>
          </p:cNvSpPr>
          <p:nvPr>
            <p:ph type="title"/>
          </p:nvPr>
        </p:nvSpPr>
        <p:spPr>
          <a:xfrm>
            <a:off x="307375" y="-483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Alex Murray </a:t>
            </a:r>
            <a:endParaRPr/>
          </a:p>
        </p:txBody>
      </p:sp>
      <p:sp>
        <p:nvSpPr>
          <p:cNvPr id="211" name="Google Shape;211;p11"/>
          <p:cNvSpPr txBox="1"/>
          <p:nvPr/>
        </p:nvSpPr>
        <p:spPr>
          <a:xfrm>
            <a:off x="350350" y="1091775"/>
            <a:ext cx="11278200" cy="9081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200">
              <a:latin typeface="Times New Roman"/>
              <a:ea typeface="Times New Roman"/>
              <a:cs typeface="Times New Roman"/>
              <a:sym typeface="Times New Roman"/>
            </a:endParaRPr>
          </a:p>
          <a:p>
            <a:pPr marL="0" lvl="0" indent="0" algn="l" rtl="0">
              <a:spcBef>
                <a:spcPts val="0"/>
              </a:spcBef>
              <a:spcAft>
                <a:spcPts val="0"/>
              </a:spcAft>
              <a:buNone/>
            </a:pPr>
            <a:endParaRPr sz="25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Kelsey Sumter </a:t>
            </a:r>
            <a:endParaRPr/>
          </a:p>
        </p:txBody>
      </p:sp>
      <p:sp>
        <p:nvSpPr>
          <p:cNvPr id="218" name="Google Shape;218;p13"/>
          <p:cNvSpPr txBox="1"/>
          <p:nvPr/>
        </p:nvSpPr>
        <p:spPr>
          <a:xfrm>
            <a:off x="1131900" y="1842125"/>
            <a:ext cx="551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219" name="Google Shape;219;p13"/>
          <p:cNvSpPr txBox="1"/>
          <p:nvPr/>
        </p:nvSpPr>
        <p:spPr>
          <a:xfrm>
            <a:off x="443800" y="1531400"/>
            <a:ext cx="60591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300">
              <a:latin typeface="Century Schoolbook"/>
              <a:ea typeface="Century Schoolbook"/>
              <a:cs typeface="Century Schoolbook"/>
              <a:sym typeface="Century Schoolboo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2860beff46b_0_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Mary Boucher </a:t>
            </a:r>
            <a:endParaRPr/>
          </a:p>
        </p:txBody>
      </p:sp>
      <p:sp>
        <p:nvSpPr>
          <p:cNvPr id="226" name="Google Shape;226;g2860beff46b_0_1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highlight>
                  <a:srgbClr val="00FF00"/>
                </a:highlight>
              </a:rPr>
              <a:t>Creating a platform to buy/sell used textbooks</a:t>
            </a:r>
            <a:endParaRPr>
              <a:highlight>
                <a:srgbClr val="00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2860beff46b_0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Adara Briceño</a:t>
            </a:r>
            <a:endParaRPr/>
          </a:p>
        </p:txBody>
      </p:sp>
      <p:sp>
        <p:nvSpPr>
          <p:cNvPr id="233" name="Google Shape;233;g2860beff46b_0_1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2860beff46b_0_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Deen Deovic </a:t>
            </a:r>
            <a:endParaRPr/>
          </a:p>
        </p:txBody>
      </p:sp>
      <p:sp>
        <p:nvSpPr>
          <p:cNvPr id="240" name="Google Shape;240;g2860beff46b_0_2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solidFill>
                  <a:srgbClr val="00FF00"/>
                </a:solidFill>
              </a:rPr>
              <a:t>Downtown Trolly</a:t>
            </a:r>
            <a:endParaRPr>
              <a:solidFill>
                <a:srgbClr val="00FF00"/>
              </a:solidFill>
            </a:endParaRPr>
          </a:p>
          <a:p>
            <a:pPr marL="0" lvl="0" indent="0" algn="l" rtl="0">
              <a:spcBef>
                <a:spcPts val="1000"/>
              </a:spcBef>
              <a:spcAft>
                <a:spcPts val="0"/>
              </a:spcAft>
              <a:buNone/>
            </a:pPr>
            <a:r>
              <a:rPr lang="en-US">
                <a:solidFill>
                  <a:srgbClr val="00FF00"/>
                </a:solidFill>
              </a:rPr>
              <a:t>Textile Recycling Program</a:t>
            </a:r>
            <a:endParaRPr>
              <a:solidFill>
                <a:srgbClr val="00FF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2860beff46b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Jennifer Woollery </a:t>
            </a:r>
            <a:endParaRPr/>
          </a:p>
        </p:txBody>
      </p:sp>
      <p:sp>
        <p:nvSpPr>
          <p:cNvPr id="247" name="Google Shape;247;g2860beff46b_0_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utilize our athletic teams as a means of promoting unity and participation in our campus community  </a:t>
            </a:r>
            <a:endParaRPr/>
          </a:p>
          <a:p>
            <a:pPr marL="457200" lvl="0" indent="-342900" algn="l" rtl="0">
              <a:spcBef>
                <a:spcPts val="0"/>
              </a:spcBef>
              <a:spcAft>
                <a:spcPts val="0"/>
              </a:spcAft>
              <a:buSzPts val="1800"/>
              <a:buChar char="-"/>
            </a:pPr>
            <a:r>
              <a:rPr lang="en-US">
                <a:highlight>
                  <a:srgbClr val="00FF00"/>
                </a:highlight>
              </a:rPr>
              <a:t>add relevant nutrition information to DH menus</a:t>
            </a:r>
            <a:r>
              <a:rPr lang="en-US"/>
              <a:t>  </a:t>
            </a:r>
            <a:endParaRPr/>
          </a:p>
          <a:p>
            <a:pPr marL="914400" lvl="1" indent="-342900" algn="l" rtl="0">
              <a:spcBef>
                <a:spcPts val="0"/>
              </a:spcBef>
              <a:spcAft>
                <a:spcPts val="0"/>
              </a:spcAft>
              <a:buSzPts val="1800"/>
              <a:buChar char="-"/>
            </a:pPr>
            <a:r>
              <a:rPr lang="en-US"/>
              <a:t>relevant = nutrient density/content and explanation of positive effect on physical wellbeing; collab w/Health Science Dpt. </a:t>
            </a:r>
            <a:endParaRPr/>
          </a:p>
          <a:p>
            <a:pPr marL="457200" lvl="0" indent="-342900" algn="l" rtl="0">
              <a:spcBef>
                <a:spcPts val="0"/>
              </a:spcBef>
              <a:spcAft>
                <a:spcPts val="0"/>
              </a:spcAft>
              <a:buSzPts val="1800"/>
              <a:buChar char="-"/>
            </a:pPr>
            <a:r>
              <a:rPr lang="en-US">
                <a:highlight>
                  <a:srgbClr val="00FF00"/>
                </a:highlight>
              </a:rPr>
              <a:t>make amendments to course registration policy </a:t>
            </a:r>
            <a:r>
              <a:rPr lang="en-US"/>
              <a:t>  </a:t>
            </a:r>
            <a:endParaRPr/>
          </a:p>
          <a:p>
            <a:pPr marL="914400" lvl="1" indent="-342900" algn="l" rtl="0">
              <a:spcBef>
                <a:spcPts val="0"/>
              </a:spcBef>
              <a:spcAft>
                <a:spcPts val="0"/>
              </a:spcAft>
              <a:buSzPts val="1800"/>
              <a:buChar char="-"/>
            </a:pPr>
            <a:r>
              <a:rPr lang="en-US"/>
              <a:t>make contact this semester (I am aware this will probably take more than a few weeks) </a:t>
            </a:r>
            <a:endParaRPr/>
          </a:p>
          <a:p>
            <a:pPr marL="457200" lvl="0" indent="-342900" algn="l" rtl="0">
              <a:spcBef>
                <a:spcPts val="0"/>
              </a:spcBef>
              <a:spcAft>
                <a:spcPts val="0"/>
              </a:spcAft>
              <a:buSzPts val="1800"/>
              <a:buChar char="-"/>
            </a:pPr>
            <a:r>
              <a:rPr lang="en-US"/>
              <a:t>get panini press for gluten free section of DH  </a:t>
            </a:r>
            <a:endParaRPr/>
          </a:p>
          <a:p>
            <a:pPr marL="0" lvl="0" indent="0" algn="l" rtl="0">
              <a:spcBef>
                <a:spcPts val="10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119f5cc7372_4_7"/>
          <p:cNvSpPr txBox="1">
            <a:spLocks noGrp="1"/>
          </p:cNvSpPr>
          <p:nvPr>
            <p:ph type="title"/>
          </p:nvPr>
        </p:nvSpPr>
        <p:spPr>
          <a:xfrm>
            <a:off x="862725" y="273100"/>
            <a:ext cx="10484400" cy="1101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Caroline Cousar</a:t>
            </a:r>
            <a:endParaRPr/>
          </a:p>
        </p:txBody>
      </p:sp>
      <p:sp>
        <p:nvSpPr>
          <p:cNvPr id="254" name="Google Shape;254;g119f5cc7372_4_7"/>
          <p:cNvSpPr txBox="1"/>
          <p:nvPr/>
        </p:nvSpPr>
        <p:spPr>
          <a:xfrm>
            <a:off x="116975" y="1184300"/>
            <a:ext cx="7932000" cy="4694100"/>
          </a:xfrm>
          <a:prstGeom prst="rect">
            <a:avLst/>
          </a:prstGeom>
          <a:solidFill>
            <a:schemeClr val="lt1"/>
          </a:solidFill>
          <a:ln w="9525" cap="flat" cmpd="sng">
            <a:solidFill>
              <a:srgbClr val="26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90000"/>
              </a:lnSpc>
              <a:spcBef>
                <a:spcPts val="1000"/>
              </a:spcBef>
              <a:spcAft>
                <a:spcPts val="0"/>
              </a:spcAft>
              <a:buNone/>
            </a:pPr>
            <a:r>
              <a:rPr lang="en-US" sz="1847" b="1">
                <a:latin typeface="Century Schoolbook"/>
                <a:ea typeface="Century Schoolbook"/>
                <a:cs typeface="Century Schoolbook"/>
                <a:sym typeface="Century Schoolbook"/>
              </a:rPr>
              <a:t>Goals for the semester:</a:t>
            </a:r>
            <a:endParaRPr sz="1847" b="1">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2000" b="1">
                <a:latin typeface="Century Schoolbook"/>
                <a:ea typeface="Century Schoolbook"/>
                <a:cs typeface="Century Schoolbook"/>
                <a:sym typeface="Century Schoolbook"/>
              </a:rPr>
              <a:t>– </a:t>
            </a:r>
            <a:r>
              <a:rPr lang="en-US" sz="1750" b="1">
                <a:highlight>
                  <a:srgbClr val="00FF00"/>
                </a:highlight>
                <a:latin typeface="Century Schoolbook"/>
                <a:ea typeface="Century Schoolbook"/>
                <a:cs typeface="Century Schoolbook"/>
                <a:sym typeface="Century Schoolbook"/>
              </a:rPr>
              <a:t>Small trash cans in dorm restroom stalls for feminine hygiene product disposal.</a:t>
            </a:r>
            <a:endParaRPr sz="1750" b="1">
              <a:highlight>
                <a:srgbClr val="00FF00"/>
              </a:highlight>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1750" b="1">
                <a:highlight>
                  <a:srgbClr val="00FF00"/>
                </a:highlight>
                <a:latin typeface="Century Schoolbook"/>
                <a:ea typeface="Century Schoolbook"/>
                <a:cs typeface="Century Schoolbook"/>
                <a:sym typeface="Century Schoolbook"/>
              </a:rPr>
              <a:t>– Whiteboards faculty/students can checkout from the library for outdoor classes/study sesh with friends.</a:t>
            </a:r>
            <a:endParaRPr sz="1750" b="1">
              <a:highlight>
                <a:srgbClr val="00FF00"/>
              </a:highlight>
              <a:latin typeface="Century Schoolbook"/>
              <a:ea typeface="Century Schoolbook"/>
              <a:cs typeface="Century Schoolbook"/>
              <a:sym typeface="Century Schoolbook"/>
            </a:endParaRPr>
          </a:p>
          <a:p>
            <a:pPr marL="0" lvl="0" indent="0" algn="l" rtl="0">
              <a:lnSpc>
                <a:spcPct val="90000"/>
              </a:lnSpc>
              <a:spcBef>
                <a:spcPts val="1000"/>
              </a:spcBef>
              <a:spcAft>
                <a:spcPts val="0"/>
              </a:spcAft>
              <a:buNone/>
            </a:pPr>
            <a:r>
              <a:rPr lang="en-US" sz="1750" b="1">
                <a:highlight>
                  <a:srgbClr val="00FF00"/>
                </a:highlight>
                <a:latin typeface="Century Schoolbook"/>
                <a:ea typeface="Century Schoolbook"/>
                <a:cs typeface="Century Schoolbook"/>
                <a:sym typeface="Century Schoolbook"/>
              </a:rPr>
              <a:t>– Working with the Asian Studies Department to utilize the Place of Peace as a space “occasioning deep reflection, meditation, calmness, and connection” for students to use &amp; enjoy.</a:t>
            </a:r>
            <a:endParaRPr sz="1750" b="1">
              <a:highlight>
                <a:srgbClr val="00FF00"/>
              </a:highlight>
              <a:latin typeface="Century Schoolbook"/>
              <a:ea typeface="Century Schoolbook"/>
              <a:cs typeface="Century Schoolbook"/>
              <a:sym typeface="Century Schoolbook"/>
            </a:endParaRPr>
          </a:p>
          <a:p>
            <a:pPr marL="0" lvl="0" indent="0" algn="l" rtl="0">
              <a:spcBef>
                <a:spcPts val="0"/>
              </a:spcBef>
              <a:spcAft>
                <a:spcPts val="0"/>
              </a:spcAft>
              <a:buNone/>
            </a:pPr>
            <a:endParaRPr sz="1800">
              <a:highlight>
                <a:srgbClr val="00FF00"/>
              </a:highlight>
              <a:latin typeface="Century Schoolbook"/>
              <a:ea typeface="Century Schoolbook"/>
              <a:cs typeface="Century Schoolbook"/>
              <a:sym typeface="Century Schoolbook"/>
            </a:endParaRPr>
          </a:p>
          <a:p>
            <a:pPr marL="0" lvl="0" indent="0" algn="l" rtl="0">
              <a:spcBef>
                <a:spcPts val="0"/>
              </a:spcBef>
              <a:spcAft>
                <a:spcPts val="0"/>
              </a:spcAft>
              <a:buNone/>
            </a:pPr>
            <a:endParaRPr sz="1800" b="1">
              <a:solidFill>
                <a:srgbClr val="262626"/>
              </a:solidFill>
              <a:latin typeface="Century Schoolbook"/>
              <a:ea typeface="Century Schoolbook"/>
              <a:cs typeface="Century Schoolbook"/>
              <a:sym typeface="Century Schoolbook"/>
            </a:endParaRPr>
          </a:p>
          <a:p>
            <a:pPr marL="0" lvl="0" indent="0" algn="l" rtl="0">
              <a:spcBef>
                <a:spcPts val="0"/>
              </a:spcBef>
              <a:spcAft>
                <a:spcPts val="0"/>
              </a:spcAft>
              <a:buNone/>
            </a:pPr>
            <a:endParaRPr sz="1800">
              <a:solidFill>
                <a:srgbClr val="262626"/>
              </a:solidFill>
              <a:latin typeface="Century Schoolbook"/>
              <a:ea typeface="Century Schoolbook"/>
              <a:cs typeface="Century Schoolbook"/>
              <a:sym typeface="Century Schoolboo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Tate Denham </a:t>
            </a:r>
            <a:endParaRPr/>
          </a:p>
        </p:txBody>
      </p:sp>
      <p:sp>
        <p:nvSpPr>
          <p:cNvPr id="263" name="Google Shape;263;p15"/>
          <p:cNvSpPr txBox="1"/>
          <p:nvPr/>
        </p:nvSpPr>
        <p:spPr>
          <a:xfrm>
            <a:off x="711225" y="1322275"/>
            <a:ext cx="10972800" cy="4617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1800">
              <a:latin typeface="Century Schoolbook"/>
              <a:ea typeface="Century Schoolbook"/>
              <a:cs typeface="Century Schoolbook"/>
              <a:sym typeface="Century Schoolbook"/>
            </a:endParaRPr>
          </a:p>
        </p:txBody>
      </p:sp>
      <p:sp>
        <p:nvSpPr>
          <p:cNvPr id="264" name="Google Shape;264;p15"/>
          <p:cNvSpPr txBox="1"/>
          <p:nvPr/>
        </p:nvSpPr>
        <p:spPr>
          <a:xfrm>
            <a:off x="4743275" y="5855200"/>
            <a:ext cx="3679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265" name="Google Shape;265;p15"/>
          <p:cNvSpPr txBox="1"/>
          <p:nvPr/>
        </p:nvSpPr>
        <p:spPr>
          <a:xfrm>
            <a:off x="573050" y="1322275"/>
            <a:ext cx="5131800" cy="23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a:latin typeface="Times New Roman"/>
                <a:ea typeface="Times New Roman"/>
                <a:cs typeface="Times New Roman"/>
                <a:sym typeface="Times New Roman"/>
              </a:rPr>
              <a:t>Yo yo yo!</a:t>
            </a:r>
            <a:endParaRPr sz="2300">
              <a:latin typeface="Times New Roman"/>
              <a:ea typeface="Times New Roman"/>
              <a:cs typeface="Times New Roman"/>
              <a:sym typeface="Times New Roman"/>
            </a:endParaRPr>
          </a:p>
          <a:p>
            <a:pPr marL="457200" lvl="0" indent="-374650" algn="l" rtl="0">
              <a:spcBef>
                <a:spcPts val="0"/>
              </a:spcBef>
              <a:spcAft>
                <a:spcPts val="0"/>
              </a:spcAft>
              <a:buSzPts val="2300"/>
              <a:buFont typeface="Times New Roman"/>
              <a:buChar char="-"/>
            </a:pPr>
            <a:r>
              <a:rPr lang="en-US" sz="2300">
                <a:latin typeface="Times New Roman"/>
                <a:ea typeface="Times New Roman"/>
                <a:cs typeface="Times New Roman"/>
                <a:sym typeface="Times New Roman"/>
              </a:rPr>
              <a:t>Swingset meeting this week… hopefully</a:t>
            </a:r>
            <a:endParaRPr sz="2300">
              <a:latin typeface="Times New Roman"/>
              <a:ea typeface="Times New Roman"/>
              <a:cs typeface="Times New Roman"/>
              <a:sym typeface="Times New Roman"/>
            </a:endParaRPr>
          </a:p>
          <a:p>
            <a:pPr marL="457200" lvl="0" indent="-374650" algn="l" rtl="0">
              <a:spcBef>
                <a:spcPts val="0"/>
              </a:spcBef>
              <a:spcAft>
                <a:spcPts val="0"/>
              </a:spcAft>
              <a:buSzPts val="2300"/>
              <a:buFont typeface="Times New Roman"/>
              <a:buChar char="-"/>
            </a:pPr>
            <a:r>
              <a:rPr lang="en-US" sz="2300">
                <a:latin typeface="Times New Roman"/>
                <a:ea typeface="Times New Roman"/>
                <a:cs typeface="Times New Roman"/>
                <a:sym typeface="Times New Roman"/>
              </a:rPr>
              <a:t>Sustainability idea came to me… chatting w exec soon!</a:t>
            </a:r>
            <a:endParaRPr sz="2300">
              <a:latin typeface="Times New Roman"/>
              <a:ea typeface="Times New Roman"/>
              <a:cs typeface="Times New Roman"/>
              <a:sym typeface="Times New Roman"/>
            </a:endParaRPr>
          </a:p>
          <a:p>
            <a:pPr marL="0" lvl="0" indent="0" algn="l" rtl="0">
              <a:spcBef>
                <a:spcPts val="0"/>
              </a:spcBef>
              <a:spcAft>
                <a:spcPts val="0"/>
              </a:spcAft>
              <a:buNone/>
            </a:pPr>
            <a:endParaRPr sz="2300">
              <a:latin typeface="Times New Roman"/>
              <a:ea typeface="Times New Roman"/>
              <a:cs typeface="Times New Roman"/>
              <a:sym typeface="Times New Roman"/>
            </a:endParaRPr>
          </a:p>
          <a:p>
            <a:pPr marL="457200" lvl="0" indent="-374650" algn="l" rtl="0">
              <a:spcBef>
                <a:spcPts val="0"/>
              </a:spcBef>
              <a:spcAft>
                <a:spcPts val="0"/>
              </a:spcAft>
              <a:buSzPts val="2300"/>
              <a:buFont typeface="Times New Roman"/>
              <a:buChar char="-"/>
            </a:pPr>
            <a:r>
              <a:rPr lang="en-US" sz="2300">
                <a:latin typeface="Times New Roman"/>
                <a:ea typeface="Times New Roman"/>
                <a:cs typeface="Times New Roman"/>
                <a:sym typeface="Times New Roman"/>
              </a:rPr>
              <a:t>PINS BABEY!!!</a:t>
            </a:r>
            <a:endParaRPr sz="2300">
              <a:latin typeface="Times New Roman"/>
              <a:ea typeface="Times New Roman"/>
              <a:cs typeface="Times New Roman"/>
              <a:sym typeface="Times New Roman"/>
            </a:endParaRPr>
          </a:p>
          <a:p>
            <a:pPr marL="457200" lvl="0" indent="-374650" algn="l" rtl="0">
              <a:spcBef>
                <a:spcPts val="0"/>
              </a:spcBef>
              <a:spcAft>
                <a:spcPts val="0"/>
              </a:spcAft>
              <a:buSzPts val="2300"/>
              <a:buFont typeface="Times New Roman"/>
              <a:buChar char="-"/>
            </a:pPr>
            <a:r>
              <a:rPr lang="en-US" sz="2300">
                <a:latin typeface="Times New Roman"/>
                <a:ea typeface="Times New Roman"/>
                <a:cs typeface="Times New Roman"/>
                <a:sym typeface="Times New Roman"/>
              </a:rPr>
              <a:t>Voting in New Business!</a:t>
            </a:r>
            <a:endParaRPr sz="2300">
              <a:latin typeface="Times New Roman"/>
              <a:ea typeface="Times New Roman"/>
              <a:cs typeface="Times New Roman"/>
              <a:sym typeface="Times New Roman"/>
            </a:endParaRPr>
          </a:p>
          <a:p>
            <a:pPr marL="0" lvl="0" indent="0" algn="l" rtl="0">
              <a:spcBef>
                <a:spcPts val="0"/>
              </a:spcBef>
              <a:spcAft>
                <a:spcPts val="0"/>
              </a:spcAft>
              <a:buNone/>
            </a:pPr>
            <a:endParaRPr sz="2300">
              <a:latin typeface="Times New Roman"/>
              <a:ea typeface="Times New Roman"/>
              <a:cs typeface="Times New Roman"/>
              <a:sym typeface="Times New Roman"/>
            </a:endParaRPr>
          </a:p>
          <a:p>
            <a:pPr marL="457200" lvl="0" indent="-374650" algn="l" rtl="0">
              <a:spcBef>
                <a:spcPts val="0"/>
              </a:spcBef>
              <a:spcAft>
                <a:spcPts val="0"/>
              </a:spcAft>
              <a:buClr>
                <a:srgbClr val="262626"/>
              </a:buClr>
              <a:buSzPts val="2300"/>
              <a:buFont typeface="Times New Roman"/>
              <a:buChar char="-"/>
            </a:pPr>
            <a:r>
              <a:rPr lang="en-US" sz="2300">
                <a:solidFill>
                  <a:srgbClr val="262626"/>
                </a:solidFill>
                <a:highlight>
                  <a:srgbClr val="FFFF00"/>
                </a:highlight>
                <a:latin typeface="Times New Roman"/>
                <a:ea typeface="Times New Roman"/>
                <a:cs typeface="Times New Roman"/>
                <a:sym typeface="Times New Roman"/>
              </a:rPr>
              <a:t>My goal this year: add more outdoor</a:t>
            </a:r>
            <a:endParaRPr sz="2300">
              <a:solidFill>
                <a:srgbClr val="262626"/>
              </a:solidFill>
              <a:highlight>
                <a:srgbClr val="FFFF00"/>
              </a:highlight>
              <a:latin typeface="Times New Roman"/>
              <a:ea typeface="Times New Roman"/>
              <a:cs typeface="Times New Roman"/>
              <a:sym typeface="Times New Roman"/>
            </a:endParaRPr>
          </a:p>
          <a:p>
            <a:pPr marL="457200" lvl="0" indent="0" algn="l" rtl="0">
              <a:spcBef>
                <a:spcPts val="0"/>
              </a:spcBef>
              <a:spcAft>
                <a:spcPts val="0"/>
              </a:spcAft>
              <a:buNone/>
            </a:pPr>
            <a:r>
              <a:rPr lang="en-US" sz="2300">
                <a:solidFill>
                  <a:srgbClr val="262626"/>
                </a:solidFill>
                <a:highlight>
                  <a:srgbClr val="FFFF00"/>
                </a:highlight>
                <a:latin typeface="Times New Roman"/>
                <a:ea typeface="Times New Roman"/>
                <a:cs typeface="Times New Roman"/>
                <a:sym typeface="Times New Roman"/>
              </a:rPr>
              <a:t>fun &amp; create more playtime on</a:t>
            </a:r>
            <a:endParaRPr sz="2300">
              <a:solidFill>
                <a:srgbClr val="262626"/>
              </a:solidFill>
              <a:highlight>
                <a:srgbClr val="FFFF00"/>
              </a:highlight>
              <a:latin typeface="Times New Roman"/>
              <a:ea typeface="Times New Roman"/>
              <a:cs typeface="Times New Roman"/>
              <a:sym typeface="Times New Roman"/>
            </a:endParaRPr>
          </a:p>
          <a:p>
            <a:pPr marL="457200" lvl="0" indent="0" algn="l" rtl="0">
              <a:spcBef>
                <a:spcPts val="0"/>
              </a:spcBef>
              <a:spcAft>
                <a:spcPts val="0"/>
              </a:spcAft>
              <a:buNone/>
            </a:pPr>
            <a:r>
              <a:rPr lang="en-US" sz="2300">
                <a:solidFill>
                  <a:srgbClr val="262626"/>
                </a:solidFill>
                <a:highlight>
                  <a:srgbClr val="FFFF00"/>
                </a:highlight>
                <a:latin typeface="Times New Roman"/>
                <a:ea typeface="Times New Roman"/>
                <a:cs typeface="Times New Roman"/>
                <a:sym typeface="Times New Roman"/>
              </a:rPr>
              <a:t>Furman campus. </a:t>
            </a:r>
            <a:endParaRPr sz="2300">
              <a:solidFill>
                <a:srgbClr val="262626"/>
              </a:solidFill>
              <a:highlight>
                <a:srgbClr val="FFFF00"/>
              </a:highlight>
              <a:latin typeface="Times New Roman"/>
              <a:ea typeface="Times New Roman"/>
              <a:cs typeface="Times New Roman"/>
              <a:sym typeface="Times New Roman"/>
            </a:endParaRPr>
          </a:p>
          <a:p>
            <a:pPr marL="0" lvl="0" indent="0" algn="l" rtl="0">
              <a:spcBef>
                <a:spcPts val="0"/>
              </a:spcBef>
              <a:spcAft>
                <a:spcPts val="0"/>
              </a:spcAft>
              <a:buNone/>
            </a:pPr>
            <a:endParaRPr sz="2300">
              <a:latin typeface="Times New Roman"/>
              <a:ea typeface="Times New Roman"/>
              <a:cs typeface="Times New Roman"/>
              <a:sym typeface="Times New Roman"/>
            </a:endParaRPr>
          </a:p>
          <a:p>
            <a:pPr marL="0" lvl="0" indent="0" algn="l" rtl="0">
              <a:spcBef>
                <a:spcPts val="0"/>
              </a:spcBef>
              <a:spcAft>
                <a:spcPts val="0"/>
              </a:spcAft>
              <a:buNone/>
            </a:pPr>
            <a:endParaRPr sz="23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Kobby Frempong </a:t>
            </a:r>
            <a:endParaRPr/>
          </a:p>
        </p:txBody>
      </p:sp>
      <p:sp>
        <p:nvSpPr>
          <p:cNvPr id="275" name="Google Shape;275;p16"/>
          <p:cNvSpPr txBox="1"/>
          <p:nvPr/>
        </p:nvSpPr>
        <p:spPr>
          <a:xfrm>
            <a:off x="353800" y="1265475"/>
            <a:ext cx="6408900" cy="18708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1200"/>
              </a:spcBef>
              <a:spcAft>
                <a:spcPts val="0"/>
              </a:spcAft>
              <a:buSzPts val="1900"/>
              <a:buChar char="●"/>
            </a:pPr>
            <a:endParaRPr sz="1900"/>
          </a:p>
          <a:p>
            <a:pPr marL="0" lvl="0" indent="0" algn="l" rtl="0">
              <a:lnSpc>
                <a:spcPct val="115000"/>
              </a:lnSpc>
              <a:spcBef>
                <a:spcPts val="1200"/>
              </a:spcBef>
              <a:spcAft>
                <a:spcPts val="0"/>
              </a:spcAft>
              <a:buNone/>
            </a:pPr>
            <a:endParaRPr sz="1900"/>
          </a:p>
          <a:p>
            <a:pPr marL="0" lvl="0" indent="0" algn="l" rtl="0">
              <a:lnSpc>
                <a:spcPct val="115000"/>
              </a:lnSpc>
              <a:spcBef>
                <a:spcPts val="1200"/>
              </a:spcBef>
              <a:spcAft>
                <a:spcPts val="0"/>
              </a:spcAft>
              <a:buNone/>
            </a:pPr>
            <a:endParaRPr sz="1900"/>
          </a:p>
          <a:p>
            <a:pPr marL="0" lvl="0" indent="0" algn="l" rtl="0">
              <a:spcBef>
                <a:spcPts val="1200"/>
              </a:spcBef>
              <a:spcAft>
                <a:spcPts val="0"/>
              </a:spcAft>
              <a:buNone/>
            </a:pPr>
            <a:endParaRPr>
              <a:latin typeface="Century Schoolbook"/>
              <a:ea typeface="Century Schoolbook"/>
              <a:cs typeface="Century Schoolbook"/>
              <a:sym typeface="Century Schoolbook"/>
            </a:endParaRPr>
          </a:p>
        </p:txBody>
      </p:sp>
      <p:sp>
        <p:nvSpPr>
          <p:cNvPr id="276" name="Google Shape;276;p16"/>
          <p:cNvSpPr txBox="1"/>
          <p:nvPr/>
        </p:nvSpPr>
        <p:spPr>
          <a:xfrm>
            <a:off x="7173550" y="4626425"/>
            <a:ext cx="409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
        <p:nvSpPr>
          <p:cNvPr id="277" name="Google Shape;277;p16"/>
          <p:cNvSpPr txBox="1"/>
          <p:nvPr/>
        </p:nvSpPr>
        <p:spPr>
          <a:xfrm>
            <a:off x="8196925" y="5180800"/>
            <a:ext cx="132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Mariam Nguyen </a:t>
            </a:r>
            <a:endParaRPr/>
          </a:p>
        </p:txBody>
      </p:sp>
      <p:sp>
        <p:nvSpPr>
          <p:cNvPr id="284" name="Google Shape;284;p17"/>
          <p:cNvSpPr txBox="1"/>
          <p:nvPr/>
        </p:nvSpPr>
        <p:spPr>
          <a:xfrm>
            <a:off x="903175" y="1653275"/>
            <a:ext cx="7409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latin typeface="Century Schoolbook"/>
              <a:ea typeface="Century Schoolbook"/>
              <a:cs typeface="Century Schoolbook"/>
              <a:sym typeface="Century Schoolbook"/>
            </a:endParaRPr>
          </a:p>
        </p:txBody>
      </p:sp>
      <p:sp>
        <p:nvSpPr>
          <p:cNvPr id="285" name="Google Shape;285;p17"/>
          <p:cNvSpPr txBox="1"/>
          <p:nvPr/>
        </p:nvSpPr>
        <p:spPr>
          <a:xfrm>
            <a:off x="8212738" y="627775"/>
            <a:ext cx="3774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
        <p:nvSpPr>
          <p:cNvPr id="286" name="Google Shape;286;p17"/>
          <p:cNvSpPr txBox="1"/>
          <p:nvPr/>
        </p:nvSpPr>
        <p:spPr>
          <a:xfrm>
            <a:off x="838200" y="1653275"/>
            <a:ext cx="5509200" cy="3130200"/>
          </a:xfrm>
          <a:prstGeom prst="rect">
            <a:avLst/>
          </a:prstGeom>
          <a:noFill/>
          <a:ln>
            <a:noFill/>
          </a:ln>
        </p:spPr>
        <p:txBody>
          <a:bodyPr spcFirstLastPara="1" wrap="square" lIns="91425" tIns="91425" rIns="91425" bIns="91425" anchor="t" anchorCtr="0">
            <a:noAutofit/>
          </a:bodyPr>
          <a:lstStyle/>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follow up meeting with Tony McGuirt (vegan ice cream and soft serve)</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SGA in co-ed intramurals? </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Planning SGA shirts with new logos to wear to our events/future tailgates! Thoughts?</a:t>
            </a:r>
            <a:endParaRPr sz="2500">
              <a:latin typeface="Century Schoolbook"/>
              <a:ea typeface="Century Schoolbook"/>
              <a:cs typeface="Century Schoolbook"/>
              <a:sym typeface="Century Schoolbook"/>
            </a:endParaRPr>
          </a:p>
          <a:p>
            <a:pPr marL="0" lvl="0" indent="0" algn="l" rtl="0">
              <a:spcBef>
                <a:spcPts val="0"/>
              </a:spcBef>
              <a:spcAft>
                <a:spcPts val="0"/>
              </a:spcAft>
              <a:buNone/>
            </a:pPr>
            <a:r>
              <a:rPr lang="en-US" sz="2500">
                <a:highlight>
                  <a:srgbClr val="B6D7A8"/>
                </a:highlight>
                <a:latin typeface="Century Schoolbook"/>
                <a:ea typeface="Century Schoolbook"/>
                <a:cs typeface="Century Schoolbook"/>
                <a:sym typeface="Century Schoolbook"/>
              </a:rPr>
              <a:t>My goal for this year is to benefit student health/wellness by making food/housing cater student needs</a:t>
            </a:r>
            <a:endParaRPr sz="2500">
              <a:highlight>
                <a:srgbClr val="B6D7A8"/>
              </a:highlight>
              <a:latin typeface="Century Schoolbook"/>
              <a:ea typeface="Century Schoolbook"/>
              <a:cs typeface="Century Schoolbook"/>
              <a:sym typeface="Century Schoolbook"/>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2860beff46b_0_3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Libby Adams </a:t>
            </a:r>
            <a:endParaRPr/>
          </a:p>
        </p:txBody>
      </p:sp>
      <p:sp>
        <p:nvSpPr>
          <p:cNvPr id="294" name="Google Shape;294;g2860beff46b_0_3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highlight>
                  <a:srgbClr val="38761D"/>
                </a:highlight>
              </a:rPr>
              <a:t>Find a way for sick students to get food to their dorms while they are under the weather/quarentined</a:t>
            </a:r>
            <a:endParaRPr>
              <a:highlight>
                <a:srgbClr val="38761D"/>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2860beff46b_0_4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Orr</a:t>
            </a:r>
            <a:endParaRPr/>
          </a:p>
        </p:txBody>
      </p:sp>
      <p:sp>
        <p:nvSpPr>
          <p:cNvPr id="301" name="Google Shape;301;g2860beff46b_0_4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2860beff46b_0_4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Danyal Sharif</a:t>
            </a:r>
            <a:endParaRPr/>
          </a:p>
        </p:txBody>
      </p:sp>
      <p:sp>
        <p:nvSpPr>
          <p:cNvPr id="308" name="Google Shape;308;g2860beff46b_0_4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860beff46b_0_5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Curtis Wilson </a:t>
            </a:r>
            <a:endParaRPr/>
          </a:p>
        </p:txBody>
      </p:sp>
      <p:sp>
        <p:nvSpPr>
          <p:cNvPr id="315" name="Google Shape;315;g2860beff46b_0_5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“Don’t give up. The beginning is always the hardest. Life rewards those who work hard at it.” – Unknown</a:t>
            </a:r>
            <a:endParaRPr/>
          </a:p>
          <a:p>
            <a:pPr marL="457200" lvl="0" indent="0" algn="l" rtl="0">
              <a:spcBef>
                <a:spcPts val="1000"/>
              </a:spcBef>
              <a:spcAft>
                <a:spcPts val="0"/>
              </a:spcAft>
              <a:buNone/>
            </a:pPr>
            <a:endParaRPr/>
          </a:p>
          <a:p>
            <a:pPr marL="457200" lvl="0" indent="-342900" algn="l" rtl="0">
              <a:spcBef>
                <a:spcPts val="1000"/>
              </a:spcBef>
              <a:spcAft>
                <a:spcPts val="0"/>
              </a:spcAft>
              <a:buSzPts val="1800"/>
              <a:buChar char="•"/>
            </a:pPr>
            <a:r>
              <a:rPr lang="en-US"/>
              <a:t>No updates from me! </a:t>
            </a:r>
            <a:endParaRPr/>
          </a:p>
          <a:p>
            <a:pPr marL="457200" lvl="0" indent="0" algn="l" rtl="0">
              <a:spcBef>
                <a:spcPts val="1000"/>
              </a:spcBef>
              <a:spcAft>
                <a:spcPts val="0"/>
              </a:spcAft>
              <a:buNone/>
            </a:pPr>
            <a:endParaRPr/>
          </a:p>
          <a:p>
            <a:pPr marL="457200" lvl="0" indent="-342900" algn="l" rtl="0">
              <a:spcBef>
                <a:spcPts val="1000"/>
              </a:spcBef>
              <a:spcAft>
                <a:spcPts val="0"/>
              </a:spcAft>
              <a:buSzPts val="1800"/>
              <a:buChar char="•"/>
            </a:pPr>
            <a:r>
              <a:rPr lang="en-US"/>
              <a:t>I am still currently working on goals set at the beginning of the academic year</a:t>
            </a:r>
            <a:endParaRPr/>
          </a:p>
          <a:p>
            <a:pPr marL="457200" lvl="0" indent="0" algn="l" rtl="0">
              <a:spcBef>
                <a:spcPts val="100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7"/>
          <p:cNvSpPr txBox="1">
            <a:spLocks noGrp="1"/>
          </p:cNvSpPr>
          <p:nvPr>
            <p:ph type="ctrTitle"/>
          </p:nvPr>
        </p:nvSpPr>
        <p:spPr>
          <a:xfrm>
            <a:off x="1589700" y="15871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At- Large Reports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FUSAB          Grayson Taylor </a:t>
            </a:r>
            <a:endParaRPr>
              <a:latin typeface="Roboto"/>
              <a:ea typeface="Roboto"/>
              <a:cs typeface="Roboto"/>
              <a:sym typeface="Roboto"/>
            </a:endParaRPr>
          </a:p>
        </p:txBody>
      </p:sp>
      <p:pic>
        <p:nvPicPr>
          <p:cNvPr id="328" name="Google Shape;328;p28"/>
          <p:cNvPicPr preferRelativeResize="0"/>
          <p:nvPr/>
        </p:nvPicPr>
        <p:blipFill rotWithShape="1">
          <a:blip r:embed="rId3">
            <a:alphaModFix/>
          </a:blip>
          <a:srcRect/>
          <a:stretch/>
        </p:blipFill>
        <p:spPr>
          <a:xfrm>
            <a:off x="147652" y="126927"/>
            <a:ext cx="3841851" cy="1611725"/>
          </a:xfrm>
          <a:prstGeom prst="rect">
            <a:avLst/>
          </a:prstGeom>
          <a:noFill/>
          <a:ln>
            <a:noFill/>
          </a:ln>
        </p:spPr>
      </p:pic>
      <p:sp>
        <p:nvSpPr>
          <p:cNvPr id="329" name="Google Shape;329;p28"/>
          <p:cNvSpPr txBox="1"/>
          <p:nvPr/>
        </p:nvSpPr>
        <p:spPr>
          <a:xfrm>
            <a:off x="483575" y="2198075"/>
            <a:ext cx="10870200" cy="3586500"/>
          </a:xfrm>
          <a:prstGeom prst="rect">
            <a:avLst/>
          </a:prstGeom>
          <a:noFill/>
          <a:ln>
            <a:noFill/>
          </a:ln>
        </p:spPr>
        <p:txBody>
          <a:bodyPr spcFirstLastPara="1" wrap="square" lIns="91425" tIns="91425" rIns="91425" bIns="91425" anchor="t" anchorCtr="0">
            <a:spAutoFit/>
          </a:bodyPr>
          <a:lstStyle/>
          <a:p>
            <a:pPr marL="457200" lvl="0" indent="-393700" algn="l" rtl="0">
              <a:lnSpc>
                <a:spcPct val="150000"/>
              </a:lnSpc>
              <a:spcBef>
                <a:spcPts val="0"/>
              </a:spcBef>
              <a:spcAft>
                <a:spcPts val="0"/>
              </a:spcAft>
              <a:buSzPts val="2600"/>
              <a:buFont typeface="Merriweather"/>
              <a:buChar char="-"/>
            </a:pPr>
            <a:r>
              <a:rPr lang="en-US" sz="2600">
                <a:latin typeface="Merriweather"/>
                <a:ea typeface="Merriweather"/>
                <a:cs typeface="Merriweather"/>
                <a:sym typeface="Merriweather"/>
              </a:rPr>
              <a:t>FUSAB’s Vice President of Administration, Russell Richards, is here on my behalf!</a:t>
            </a:r>
            <a:endParaRPr sz="2600">
              <a:latin typeface="Merriweather"/>
              <a:ea typeface="Merriweather"/>
              <a:cs typeface="Merriweather"/>
              <a:sym typeface="Merriweather"/>
            </a:endParaRPr>
          </a:p>
          <a:p>
            <a:pPr marL="457200" lvl="0" indent="-393700" algn="l" rtl="0">
              <a:lnSpc>
                <a:spcPct val="150000"/>
              </a:lnSpc>
              <a:spcBef>
                <a:spcPts val="0"/>
              </a:spcBef>
              <a:spcAft>
                <a:spcPts val="0"/>
              </a:spcAft>
              <a:buSzPts val="2600"/>
              <a:buFont typeface="Merriweather"/>
              <a:buChar char="-"/>
            </a:pPr>
            <a:r>
              <a:rPr lang="en-US" sz="2600">
                <a:latin typeface="Merriweather"/>
                <a:ea typeface="Merriweather"/>
                <a:cs typeface="Merriweather"/>
                <a:sym typeface="Merriweather"/>
              </a:rPr>
              <a:t>HAVOC APPS ARE OPEN ON SYNCDIN!!!!!! Happening week of October 22-27 (also Homecoming week so stay tuned for those events!!) </a:t>
            </a:r>
            <a:endParaRPr sz="2600">
              <a:latin typeface="Merriweather"/>
              <a:ea typeface="Merriweather"/>
              <a:cs typeface="Merriweather"/>
              <a:sym typeface="Merriweather"/>
            </a:endParaRPr>
          </a:p>
          <a:p>
            <a:pPr marL="457200" lvl="0" indent="-393700" algn="l" rtl="0">
              <a:lnSpc>
                <a:spcPct val="150000"/>
              </a:lnSpc>
              <a:spcBef>
                <a:spcPts val="0"/>
              </a:spcBef>
              <a:spcAft>
                <a:spcPts val="0"/>
              </a:spcAft>
              <a:buSzPts val="2600"/>
              <a:buFont typeface="Merriweather"/>
              <a:buChar char="-"/>
            </a:pPr>
            <a:r>
              <a:rPr lang="en-US" sz="2600">
                <a:latin typeface="Merriweather"/>
                <a:ea typeface="Merriweather"/>
                <a:cs typeface="Merriweather"/>
                <a:sym typeface="Merriweather"/>
              </a:rPr>
              <a:t>Haunted Trail is October 20!! Stay tuned for theme :)</a:t>
            </a:r>
            <a:endParaRPr sz="2600">
              <a:latin typeface="Merriweather"/>
              <a:ea typeface="Merriweather"/>
              <a:cs typeface="Merriweather"/>
              <a:sym typeface="Merriweath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RLC- Jeff McLane </a:t>
            </a:r>
            <a:endParaRPr/>
          </a:p>
        </p:txBody>
      </p:sp>
      <p:sp>
        <p:nvSpPr>
          <p:cNvPr id="336" name="Google Shape;336;p29"/>
          <p:cNvSpPr txBox="1"/>
          <p:nvPr/>
        </p:nvSpPr>
        <p:spPr>
          <a:xfrm>
            <a:off x="830900" y="1835425"/>
            <a:ext cx="6560400" cy="10005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500">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37" name="Google Shape;337;p29"/>
          <p:cNvSpPr txBox="1"/>
          <p:nvPr/>
        </p:nvSpPr>
        <p:spPr>
          <a:xfrm>
            <a:off x="8222150" y="3906450"/>
            <a:ext cx="31317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900">
              <a:latin typeface="Century Schoolbook"/>
              <a:ea typeface="Century Schoolbook"/>
              <a:cs typeface="Century Schoolbook"/>
              <a:sym typeface="Century Schoolbook"/>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0"/>
          <p:cNvSpPr txBox="1">
            <a:spLocks noGrp="1"/>
          </p:cNvSpPr>
          <p:nvPr>
            <p:ph type="title"/>
          </p:nvPr>
        </p:nvSpPr>
        <p:spPr>
          <a:xfrm>
            <a:off x="838200" y="869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Religious Council - Ruthie Richardson</a:t>
            </a:r>
            <a:endParaRPr/>
          </a:p>
        </p:txBody>
      </p:sp>
      <p:sp>
        <p:nvSpPr>
          <p:cNvPr id="344" name="Google Shape;344;p30"/>
          <p:cNvSpPr txBox="1"/>
          <p:nvPr/>
        </p:nvSpPr>
        <p:spPr>
          <a:xfrm>
            <a:off x="3813475" y="1632100"/>
            <a:ext cx="1412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45" name="Google Shape;345;p30"/>
          <p:cNvSpPr txBox="1"/>
          <p:nvPr/>
        </p:nvSpPr>
        <p:spPr>
          <a:xfrm>
            <a:off x="6755038" y="1718025"/>
            <a:ext cx="1412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46" name="Google Shape;346;p30"/>
          <p:cNvSpPr txBox="1"/>
          <p:nvPr/>
        </p:nvSpPr>
        <p:spPr>
          <a:xfrm>
            <a:off x="9897575" y="1632100"/>
            <a:ext cx="1056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47" name="Google Shape;347;p30"/>
          <p:cNvSpPr txBox="1"/>
          <p:nvPr/>
        </p:nvSpPr>
        <p:spPr>
          <a:xfrm>
            <a:off x="929900" y="1544275"/>
            <a:ext cx="6006900" cy="18009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The Office of Spiritual Life has hired a new Associate Chaplain, Alexis Carter Thomas</a:t>
            </a:r>
            <a:endParaRPr sz="2100">
              <a:latin typeface="Century Schoolbook"/>
              <a:ea typeface="Century Schoolbook"/>
              <a:cs typeface="Century Schoolbook"/>
              <a:sym typeface="Century Schoolbook"/>
            </a:endParaRPr>
          </a:p>
          <a:p>
            <a:pPr marL="1371600" lvl="1"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She’s super nice and everyone is happy she’s here :)</a:t>
            </a:r>
            <a:endParaRPr sz="2100">
              <a:latin typeface="Century Schoolbook"/>
              <a:ea typeface="Century Schoolbook"/>
              <a:cs typeface="Century Schoolbook"/>
              <a:sym typeface="Century Schoolbook"/>
            </a:endParaRPr>
          </a:p>
          <a:p>
            <a:pPr marL="0" lvl="0" indent="0" algn="l" rtl="0">
              <a:spcBef>
                <a:spcPts val="0"/>
              </a:spcBef>
              <a:spcAft>
                <a:spcPts val="0"/>
              </a:spcAft>
              <a:buNone/>
            </a:pPr>
            <a:endParaRPr sz="2100">
              <a:latin typeface="Century Schoolbook"/>
              <a:ea typeface="Century Schoolbook"/>
              <a:cs typeface="Century Schoolbook"/>
              <a:sym typeface="Century Schoolbook"/>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Campus Rec - Eva Brooks</a:t>
            </a:r>
            <a:endParaRPr/>
          </a:p>
        </p:txBody>
      </p:sp>
      <p:sp>
        <p:nvSpPr>
          <p:cNvPr id="354" name="Google Shape;354;p31"/>
          <p:cNvSpPr txBox="1"/>
          <p:nvPr/>
        </p:nvSpPr>
        <p:spPr>
          <a:xfrm>
            <a:off x="152400" y="5281675"/>
            <a:ext cx="4360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355" name="Google Shape;355;p31"/>
          <p:cNvSpPr txBox="1"/>
          <p:nvPr/>
        </p:nvSpPr>
        <p:spPr>
          <a:xfrm>
            <a:off x="7638200" y="5281675"/>
            <a:ext cx="4360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356" name="Google Shape;356;p31"/>
          <p:cNvSpPr txBox="1"/>
          <p:nvPr/>
        </p:nvSpPr>
        <p:spPr>
          <a:xfrm>
            <a:off x="2825388" y="5389375"/>
            <a:ext cx="4360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357" name="Google Shape;357;p31"/>
          <p:cNvSpPr txBox="1"/>
          <p:nvPr/>
        </p:nvSpPr>
        <p:spPr>
          <a:xfrm>
            <a:off x="8200025" y="584575"/>
            <a:ext cx="35133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500">
              <a:latin typeface="Pacifico"/>
              <a:ea typeface="Pacifico"/>
              <a:cs typeface="Pacifico"/>
              <a:sym typeface="Pacific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2"/>
          <p:cNvSpPr txBox="1">
            <a:spLocks noGrp="1"/>
          </p:cNvSpPr>
          <p:nvPr>
            <p:ph type="title"/>
          </p:nvPr>
        </p:nvSpPr>
        <p:spPr>
          <a:xfrm>
            <a:off x="816575" y="202875"/>
            <a:ext cx="841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SDC- Abijah Leamon </a:t>
            </a:r>
            <a:endParaRPr sz="6000">
              <a:latin typeface="Lobster"/>
              <a:ea typeface="Lobster"/>
              <a:cs typeface="Lobster"/>
              <a:sym typeface="Lobster"/>
            </a:endParaRPr>
          </a:p>
        </p:txBody>
      </p:sp>
      <p:sp>
        <p:nvSpPr>
          <p:cNvPr id="364" name="Google Shape;364;p32"/>
          <p:cNvSpPr txBox="1"/>
          <p:nvPr/>
        </p:nvSpPr>
        <p:spPr>
          <a:xfrm>
            <a:off x="903250" y="1597275"/>
            <a:ext cx="6570000" cy="8619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Century Schoolbook"/>
              <a:buChar char="-"/>
            </a:pPr>
            <a:endParaRPr sz="1600">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Panhel - Katherine Murphy </a:t>
            </a:r>
            <a:endParaRPr/>
          </a:p>
        </p:txBody>
      </p:sp>
      <p:sp>
        <p:nvSpPr>
          <p:cNvPr id="371" name="Google Shape;371;p34"/>
          <p:cNvSpPr txBox="1"/>
          <p:nvPr/>
        </p:nvSpPr>
        <p:spPr>
          <a:xfrm>
            <a:off x="929900" y="1544275"/>
            <a:ext cx="6006900" cy="11544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Fall Philanthropy Festival is October 5th from 5-7 pm on the mall</a:t>
            </a:r>
            <a:endParaRPr sz="2100">
              <a:latin typeface="Century Schoolbook"/>
              <a:ea typeface="Century Schoolbook"/>
              <a:cs typeface="Century Schoolbook"/>
              <a:sym typeface="Century Schoolbook"/>
            </a:endParaRPr>
          </a:p>
          <a:p>
            <a:pPr marL="0" lvl="0" indent="0" algn="l" rtl="0">
              <a:spcBef>
                <a:spcPts val="0"/>
              </a:spcBef>
              <a:spcAft>
                <a:spcPts val="0"/>
              </a:spcAft>
              <a:buNone/>
            </a:pPr>
            <a:endParaRPr sz="2100">
              <a:latin typeface="Century Schoolbook"/>
              <a:ea typeface="Century Schoolbook"/>
              <a:cs typeface="Century Schoolbook"/>
              <a:sym typeface="Century Schoolbook"/>
            </a:endParaRPr>
          </a:p>
        </p:txBody>
      </p:sp>
      <p:pic>
        <p:nvPicPr>
          <p:cNvPr id="372" name="Google Shape;372;p34" descr="PC.png"/>
          <p:cNvPicPr preferRelativeResize="0"/>
          <p:nvPr/>
        </p:nvPicPr>
        <p:blipFill>
          <a:blip r:embed="rId3">
            <a:alphaModFix/>
          </a:blip>
          <a:stretch>
            <a:fillRect/>
          </a:stretch>
        </p:blipFill>
        <p:spPr>
          <a:xfrm>
            <a:off x="9488075" y="220250"/>
            <a:ext cx="2309988" cy="2478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6"/>
          <p:cNvSpPr txBox="1">
            <a:spLocks noGrp="1"/>
          </p:cNvSpPr>
          <p:nvPr>
            <p:ph type="title"/>
          </p:nvPr>
        </p:nvSpPr>
        <p:spPr>
          <a:xfrm>
            <a:off x="838200" y="3323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ROTC- Luke Stewart </a:t>
            </a:r>
            <a:endParaRPr/>
          </a:p>
        </p:txBody>
      </p:sp>
      <p:sp>
        <p:nvSpPr>
          <p:cNvPr id="379" name="Google Shape;379;p36"/>
          <p:cNvSpPr txBox="1"/>
          <p:nvPr/>
        </p:nvSpPr>
        <p:spPr>
          <a:xfrm>
            <a:off x="102350" y="1543050"/>
            <a:ext cx="57429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endParaRPr>
              <a:latin typeface="Century Schoolbook"/>
              <a:ea typeface="Century Schoolbook"/>
              <a:cs typeface="Century Schoolbook"/>
              <a:sym typeface="Century Schoolbook"/>
            </a:endParaRPr>
          </a:p>
        </p:txBody>
      </p:sp>
      <p:sp>
        <p:nvSpPr>
          <p:cNvPr id="380" name="Google Shape;380;p36"/>
          <p:cNvSpPr txBox="1"/>
          <p:nvPr/>
        </p:nvSpPr>
        <p:spPr>
          <a:xfrm>
            <a:off x="631425" y="1195250"/>
            <a:ext cx="505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81" name="Google Shape;381;p36"/>
          <p:cNvSpPr txBox="1"/>
          <p:nvPr/>
        </p:nvSpPr>
        <p:spPr>
          <a:xfrm>
            <a:off x="6926750" y="795050"/>
            <a:ext cx="621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82" name="Google Shape;382;p36"/>
          <p:cNvSpPr/>
          <p:nvPr/>
        </p:nvSpPr>
        <p:spPr>
          <a:xfrm>
            <a:off x="11783000" y="6068700"/>
            <a:ext cx="297300" cy="789300"/>
          </a:xfrm>
          <a:prstGeom prst="rect">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txBox="1"/>
          <p:nvPr/>
        </p:nvSpPr>
        <p:spPr>
          <a:xfrm>
            <a:off x="6434749" y="1496575"/>
            <a:ext cx="27144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
        <p:nvSpPr>
          <p:cNvPr id="384" name="Google Shape;384;p36"/>
          <p:cNvSpPr txBox="1"/>
          <p:nvPr/>
        </p:nvSpPr>
        <p:spPr>
          <a:xfrm>
            <a:off x="9980475" y="1701025"/>
            <a:ext cx="15333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
        <p:nvSpPr>
          <p:cNvPr id="385" name="Google Shape;385;p36"/>
          <p:cNvSpPr txBox="1"/>
          <p:nvPr/>
        </p:nvSpPr>
        <p:spPr>
          <a:xfrm>
            <a:off x="5960313" y="4153300"/>
            <a:ext cx="18027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
        <p:nvSpPr>
          <p:cNvPr id="386" name="Google Shape;386;p36"/>
          <p:cNvSpPr txBox="1"/>
          <p:nvPr/>
        </p:nvSpPr>
        <p:spPr>
          <a:xfrm>
            <a:off x="7931375" y="3317925"/>
            <a:ext cx="17655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
        <p:nvSpPr>
          <p:cNvPr id="387" name="Google Shape;387;p36"/>
          <p:cNvSpPr txBox="1"/>
          <p:nvPr/>
        </p:nvSpPr>
        <p:spPr>
          <a:xfrm>
            <a:off x="8051313" y="4963800"/>
            <a:ext cx="15846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
        <p:nvSpPr>
          <p:cNvPr id="388" name="Google Shape;388;p36"/>
          <p:cNvSpPr txBox="1"/>
          <p:nvPr/>
        </p:nvSpPr>
        <p:spPr>
          <a:xfrm>
            <a:off x="9891525" y="4074400"/>
            <a:ext cx="1672500" cy="354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Century Schoolbook"/>
              <a:ea typeface="Century Schoolbook"/>
              <a:cs typeface="Century Schoolbook"/>
              <a:sym typeface="Century Schoolbook"/>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152e01f2e5c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FUOC- Adrian Gonzalez</a:t>
            </a:r>
            <a:endParaRPr/>
          </a:p>
        </p:txBody>
      </p:sp>
      <p:sp>
        <p:nvSpPr>
          <p:cNvPr id="395" name="Google Shape;395;g152e01f2e5c_0_5"/>
          <p:cNvSpPr txBox="1">
            <a:spLocks noGrp="1"/>
          </p:cNvSpPr>
          <p:nvPr>
            <p:ph type="body" idx="1"/>
          </p:nvPr>
        </p:nvSpPr>
        <p:spPr>
          <a:xfrm>
            <a:off x="838200" y="1825625"/>
            <a:ext cx="5181600" cy="4351200"/>
          </a:xfrm>
          <a:prstGeom prst="rect">
            <a:avLst/>
          </a:prstGeom>
        </p:spPr>
        <p:txBody>
          <a:bodyPr spcFirstLastPara="1" wrap="square" lIns="91425" tIns="45700" rIns="91425" bIns="45700" anchor="t" anchorCtr="0">
            <a:normAutofit/>
          </a:bodyPr>
          <a:lstStyle/>
          <a:p>
            <a:pPr marL="457200" lvl="0" indent="0" algn="l" rtl="0">
              <a:spcBef>
                <a:spcPts val="1000"/>
              </a:spcBef>
              <a:spcAft>
                <a:spcPts val="0"/>
              </a:spcAft>
              <a:buNone/>
            </a:pPr>
            <a:endParaRPr/>
          </a:p>
        </p:txBody>
      </p:sp>
      <p:sp>
        <p:nvSpPr>
          <p:cNvPr id="396" name="Google Shape;396;g152e01f2e5c_0_5"/>
          <p:cNvSpPr txBox="1">
            <a:spLocks noGrp="1"/>
          </p:cNvSpPr>
          <p:nvPr>
            <p:ph type="body" idx="2"/>
          </p:nvPr>
        </p:nvSpPr>
        <p:spPr>
          <a:xfrm>
            <a:off x="6172200" y="1825625"/>
            <a:ext cx="5181600" cy="22719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
        <p:nvSpPr>
          <p:cNvPr id="397" name="Google Shape;397;g152e01f2e5c_0_5"/>
          <p:cNvSpPr txBox="1"/>
          <p:nvPr/>
        </p:nvSpPr>
        <p:spPr>
          <a:xfrm>
            <a:off x="6379800" y="3608325"/>
            <a:ext cx="5181600" cy="378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endParaRPr>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7"/>
                                        </p:tgtEl>
                                        <p:attrNameLst>
                                          <p:attrName>style.visibility</p:attrName>
                                        </p:attrNameLst>
                                      </p:cBhvr>
                                      <p:to>
                                        <p:strVal val="visible"/>
                                      </p:to>
                                    </p:set>
                                    <p:animEffect transition="in" filter="fade">
                                      <p:cBhvr>
                                        <p:cTn id="7" dur="1000"/>
                                        <p:tgtEl>
                                          <p:spTgt spid="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4f24c36a1c9dbd3b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rgbClr val="000000"/>
              </a:buClr>
              <a:buSzPts val="1800"/>
              <a:buFont typeface="Arial"/>
              <a:buNone/>
            </a:pPr>
            <a:r>
              <a:rPr lang="en-US"/>
              <a:t>Paladin- Colin Brake </a:t>
            </a:r>
            <a:endParaRPr/>
          </a:p>
        </p:txBody>
      </p:sp>
      <p:sp>
        <p:nvSpPr>
          <p:cNvPr id="404" name="Google Shape;404;g4f24c36a1c9dbd3b_0"/>
          <p:cNvSpPr txBox="1">
            <a:spLocks noGrp="1"/>
          </p:cNvSpPr>
          <p:nvPr>
            <p:ph type="body" idx="1"/>
          </p:nvPr>
        </p:nvSpPr>
        <p:spPr>
          <a:xfrm>
            <a:off x="902025" y="1213350"/>
            <a:ext cx="5791800" cy="4662600"/>
          </a:xfrm>
          <a:prstGeom prst="rect">
            <a:avLst/>
          </a:prstGeom>
          <a:solidFill>
            <a:schemeClr val="lt1"/>
          </a:solidFill>
        </p:spPr>
        <p:txBody>
          <a:bodyPr spcFirstLastPara="1" wrap="square" lIns="91425" tIns="45700" rIns="91425" bIns="45700" anchor="t" anchorCtr="0">
            <a:normAutofit/>
          </a:bodyPr>
          <a:lstStyle/>
          <a:p>
            <a:pPr marL="457200" lvl="0" indent="0" algn="l" rtl="0">
              <a:lnSpc>
                <a:spcPct val="115000"/>
              </a:lnSpc>
              <a:spcBef>
                <a:spcPts val="0"/>
              </a:spcBef>
              <a:spcAft>
                <a:spcPts val="0"/>
              </a:spcAft>
              <a:buNone/>
            </a:pPr>
            <a:endParaRPr sz="1800">
              <a:solidFill>
                <a:srgbClr val="201F1E"/>
              </a:solidFill>
              <a:highlight>
                <a:schemeClr val="lt2"/>
              </a:highlight>
            </a:endParaRPr>
          </a:p>
          <a:p>
            <a:pPr marL="0" lvl="0" indent="0" algn="l" rtl="0">
              <a:lnSpc>
                <a:spcPct val="115000"/>
              </a:lnSpc>
              <a:spcBef>
                <a:spcPts val="0"/>
              </a:spcBef>
              <a:spcAft>
                <a:spcPts val="0"/>
              </a:spcAft>
              <a:buNone/>
            </a:pPr>
            <a:endParaRPr sz="1000">
              <a:solidFill>
                <a:srgbClr val="201F1E"/>
              </a:solidFill>
              <a:highlight>
                <a:schemeClr val="lt2"/>
              </a:highlight>
              <a:latin typeface="Arial"/>
              <a:ea typeface="Arial"/>
              <a:cs typeface="Arial"/>
              <a:sym typeface="Arial"/>
            </a:endParaRPr>
          </a:p>
          <a:p>
            <a:pPr marL="457200" lvl="0" indent="0" algn="l" rtl="0">
              <a:lnSpc>
                <a:spcPct val="115000"/>
              </a:lnSpc>
              <a:spcBef>
                <a:spcPts val="1200"/>
              </a:spcBef>
              <a:spcAft>
                <a:spcPts val="0"/>
              </a:spcAft>
              <a:buNone/>
            </a:pPr>
            <a:endParaRPr sz="1000">
              <a:solidFill>
                <a:srgbClr val="201F1E"/>
              </a:solidFill>
              <a:highlight>
                <a:schemeClr val="lt2"/>
              </a:highlight>
              <a:latin typeface="Arial"/>
              <a:ea typeface="Arial"/>
              <a:cs typeface="Arial"/>
              <a:sym typeface="Arial"/>
            </a:endParaRPr>
          </a:p>
          <a:p>
            <a:pPr marL="0" lvl="0" indent="0" algn="l" rtl="0">
              <a:spcBef>
                <a:spcPts val="120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7"/>
          <p:cNvSpPr txBox="1">
            <a:spLocks noGrp="1"/>
          </p:cNvSpPr>
          <p:nvPr>
            <p:ph type="ctrTitle"/>
          </p:nvPr>
        </p:nvSpPr>
        <p:spPr>
          <a:xfrm>
            <a:off x="1524000" y="1258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Committee Reports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JEDI</a:t>
            </a:r>
            <a:endParaRPr/>
          </a:p>
        </p:txBody>
      </p:sp>
      <p:sp>
        <p:nvSpPr>
          <p:cNvPr id="417" name="Google Shape;417;p3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9"/>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Finance</a:t>
            </a:r>
            <a:endParaRPr/>
          </a:p>
        </p:txBody>
      </p:sp>
      <p:sp>
        <p:nvSpPr>
          <p:cNvPr id="424" name="Google Shape;424;p39"/>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1000"/>
              </a:spcBef>
              <a:spcAft>
                <a:spcPts val="0"/>
              </a:spcAft>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PR </a:t>
            </a:r>
            <a:endParaRPr/>
          </a:p>
        </p:txBody>
      </p:sp>
      <p:sp>
        <p:nvSpPr>
          <p:cNvPr id="431" name="Google Shape;431;p4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7"/>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New Business</a:t>
            </a:r>
            <a:endParaRPr/>
          </a:p>
        </p:txBody>
      </p:sp>
      <p:sp>
        <p:nvSpPr>
          <p:cNvPr id="438" name="Google Shape;438;p47"/>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240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6"/>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Old Business</a:t>
            </a:r>
            <a:endParaRPr/>
          </a:p>
        </p:txBody>
      </p:sp>
      <p:sp>
        <p:nvSpPr>
          <p:cNvPr id="445" name="Google Shape;445;p46"/>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2400"/>
              <a:buNone/>
            </a:pPr>
            <a:r>
              <a:rPr lang="en-US"/>
              <a:t>Voting on our three new clubs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Open Forum</a:t>
            </a:r>
            <a:endParaRPr/>
          </a:p>
        </p:txBody>
      </p:sp>
      <p:sp>
        <p:nvSpPr>
          <p:cNvPr id="452" name="Google Shape;452;p4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All the fun stuff: </a:t>
            </a:r>
            <a:endParaRPr/>
          </a:p>
          <a:p>
            <a:pPr marL="0" lvl="0" indent="0" algn="ctr" rtl="0">
              <a:lnSpc>
                <a:spcPct val="90000"/>
              </a:lnSpc>
              <a:spcBef>
                <a:spcPts val="1000"/>
              </a:spcBef>
              <a:spcAft>
                <a:spcPts val="0"/>
              </a:spcAft>
              <a:buSzPts val="2400"/>
              <a:buNone/>
            </a:pPr>
            <a:r>
              <a:rPr lang="en-US"/>
              <a:t>announcements, discussions, and more!</a:t>
            </a:r>
            <a:endParaRPr/>
          </a:p>
        </p:txBody>
      </p:sp>
    </p:spTree>
  </p:cSld>
  <p:clrMapOvr>
    <a:masterClrMapping/>
  </p:clrMapOvr>
</p:sld>
</file>

<file path=ppt/theme/theme1.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1063</Words>
  <Application>Microsoft Macintosh PowerPoint</Application>
  <PresentationFormat>Widescreen</PresentationFormat>
  <Paragraphs>188</Paragraphs>
  <Slides>51</Slides>
  <Notes>51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Lobster</vt:lpstr>
      <vt:lpstr>Merriweather</vt:lpstr>
      <vt:lpstr>Roboto</vt:lpstr>
      <vt:lpstr>Bodoni Moda</vt:lpstr>
      <vt:lpstr>Comic Sans MS</vt:lpstr>
      <vt:lpstr>Calibri</vt:lpstr>
      <vt:lpstr>Pacifico</vt:lpstr>
      <vt:lpstr>Century Schoolbook</vt:lpstr>
      <vt:lpstr>Times New Roman</vt:lpstr>
      <vt:lpstr>Arial</vt:lpstr>
      <vt:lpstr>Libre Franklin Medium</vt:lpstr>
      <vt:lpstr>Georgia</vt:lpstr>
      <vt:lpstr>Embedded Diamonds</vt:lpstr>
      <vt:lpstr>Welcome to SGA!</vt:lpstr>
      <vt:lpstr>PowerPoint Presentation</vt:lpstr>
      <vt:lpstr>PowerPoint Presentation</vt:lpstr>
      <vt:lpstr>Agenda</vt:lpstr>
      <vt:lpstr>Guest Speakers</vt:lpstr>
      <vt:lpstr>PowerPoint Presentation</vt:lpstr>
      <vt:lpstr>Exec Reports</vt:lpstr>
      <vt:lpstr>PowerPoint Presentation</vt:lpstr>
      <vt:lpstr>PowerPoint Presentation</vt:lpstr>
      <vt:lpstr>PowerPoint Presentation</vt:lpstr>
      <vt:lpstr>   Dean Cassidy </vt:lpstr>
      <vt:lpstr>   Meredith Ervin </vt:lpstr>
      <vt:lpstr>PowerPoint Presentation</vt:lpstr>
      <vt:lpstr>Andrew Cooter </vt:lpstr>
      <vt:lpstr>Carly Gillis </vt:lpstr>
      <vt:lpstr>Lydia McCarty </vt:lpstr>
      <vt:lpstr>Tatyana Gonzalez </vt:lpstr>
      <vt:lpstr>Representative Reports</vt:lpstr>
      <vt:lpstr>Sydney Beraho </vt:lpstr>
      <vt:lpstr>Leah Manning </vt:lpstr>
      <vt:lpstr>Alex Murray </vt:lpstr>
      <vt:lpstr>Kelsey Sumter </vt:lpstr>
      <vt:lpstr>Mary Boucher </vt:lpstr>
      <vt:lpstr>Adara Briceño</vt:lpstr>
      <vt:lpstr>Deen Deovic </vt:lpstr>
      <vt:lpstr>Jennifer Woollery </vt:lpstr>
      <vt:lpstr>Caroline Cousar</vt:lpstr>
      <vt:lpstr>Tate Denham </vt:lpstr>
      <vt:lpstr>Kobby Frempong </vt:lpstr>
      <vt:lpstr>Mariam Nguyen </vt:lpstr>
      <vt:lpstr>Libby Adams </vt:lpstr>
      <vt:lpstr>Caroline Orr</vt:lpstr>
      <vt:lpstr>Danyal Sharif</vt:lpstr>
      <vt:lpstr>Curtis Wilson </vt:lpstr>
      <vt:lpstr>At- Large Reports</vt:lpstr>
      <vt:lpstr>FUSAB          Grayson Taylor </vt:lpstr>
      <vt:lpstr>RLC- Jeff McLane </vt:lpstr>
      <vt:lpstr>Religious Council - Ruthie Richardson</vt:lpstr>
      <vt:lpstr>Campus Rec - Eva Brooks</vt:lpstr>
      <vt:lpstr>SDC- Abijah Leamon </vt:lpstr>
      <vt:lpstr>Panhel - Katherine Murphy </vt:lpstr>
      <vt:lpstr>ROTC- Luke Stewart </vt:lpstr>
      <vt:lpstr>FUOC- Adrian Gonzalez</vt:lpstr>
      <vt:lpstr>Paladin- Colin Brake </vt:lpstr>
      <vt:lpstr>Committee Reports</vt:lpstr>
      <vt:lpstr>JEDI</vt:lpstr>
      <vt:lpstr>Finance</vt:lpstr>
      <vt:lpstr>PR </vt:lpstr>
      <vt:lpstr>New Business</vt:lpstr>
      <vt:lpstr>Old Business</vt:lpstr>
      <vt:lpstr>Open Forum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SGA!</dc:title>
  <dc:creator>Kaylee Welgraven</dc:creator>
  <cp:lastModifiedBy>Carly Gillis2-Student</cp:lastModifiedBy>
  <cp:revision>2</cp:revision>
  <dcterms:created xsi:type="dcterms:W3CDTF">2017-10-16T12:38:22Z</dcterms:created>
  <dcterms:modified xsi:type="dcterms:W3CDTF">2024-09-23T13:39:52Z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0x01010064D2884E5B56A24E8EB547943B5579B3</vt:lpwstr>
  </property>
</Properties>
</file>