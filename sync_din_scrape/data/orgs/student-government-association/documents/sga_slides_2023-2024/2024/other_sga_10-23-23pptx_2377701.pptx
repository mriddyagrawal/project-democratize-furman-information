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embeddedFontLst>
    <p:embeddedFont>
      <p:font typeface="Bangers" pitchFamily="2" charset="77"/>
      <p:regular r:id="rId47"/>
    </p:embeddedFont>
    <p:embeddedFont>
      <p:font typeface="Bodoni Moda" pitchFamily="2" charset="77"/>
      <p:regular r:id="rId48"/>
      <p:bold r:id="rId49"/>
      <p:italic r:id="rId50"/>
      <p:boldItalic r:id="rId51"/>
    </p:embeddedFont>
    <p:embeddedFont>
      <p:font typeface="Calibri" panose="020F0502020204030204" pitchFamily="34" charset="0"/>
      <p:regular r:id="rId52"/>
      <p:bold r:id="rId53"/>
      <p:italic r:id="rId54"/>
      <p:boldItalic r:id="rId55"/>
    </p:embeddedFont>
    <p:embeddedFont>
      <p:font typeface="Century Schoolbook" panose="02040604050505020304" pitchFamily="18" charset="0"/>
      <p:regular r:id="rId56"/>
      <p:bold r:id="rId57"/>
      <p:italic r:id="rId58"/>
      <p:boldItalic r:id="rId59"/>
    </p:embeddedFont>
    <p:embeddedFont>
      <p:font typeface="Comic Sans MS" panose="030F0902030302020204" pitchFamily="66" charset="0"/>
      <p:regular r:id="rId60"/>
    </p:embeddedFont>
    <p:embeddedFont>
      <p:font typeface="Libre Franklin" pitchFamily="2" charset="77"/>
      <p:regular r:id="rId61"/>
      <p:bold r:id="rId62"/>
      <p:italic r:id="rId63"/>
      <p:boldItalic r:id="rId64"/>
    </p:embeddedFont>
    <p:embeddedFont>
      <p:font typeface="Libre Franklin Medium" panose="020F0502020204030204" pitchFamily="34" charset="0"/>
      <p:regular r:id="rId65"/>
      <p:bold r:id="rId66"/>
      <p:italic r:id="rId67"/>
      <p:boldItalic r:id="rId68"/>
    </p:embeddedFont>
    <p:embeddedFont>
      <p:font typeface="Lobster" pitchFamily="2" charset="77"/>
      <p:regular r:id="rId69"/>
    </p:embeddedFont>
    <p:embeddedFont>
      <p:font typeface="Merriweather" pitchFamily="2" charset="77"/>
      <p:regular r:id="rId70"/>
      <p:bold r:id="rId71"/>
      <p:italic r:id="rId72"/>
      <p:boldItalic r:id="rId73"/>
    </p:embeddedFont>
    <p:embeddedFont>
      <p:font typeface="Roboto" panose="02000000000000000000" pitchFamily="2"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ip5Xc57OvcriRMzgzMhfi7z0Jud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6"/>
  </p:normalViewPr>
  <p:slideViewPr>
    <p:cSldViewPr snapToGrid="0">
      <p:cViewPr varScale="1">
        <p:scale>
          <a:sx n="106" d="100"/>
          <a:sy n="106" d="100"/>
        </p:scale>
        <p:origin x="7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7.fntdata"/><Relationship Id="rId58" Type="http://schemas.openxmlformats.org/officeDocument/2006/relationships/font" Target="fonts/font12.fntdata"/><Relationship Id="rId74" Type="http://schemas.openxmlformats.org/officeDocument/2006/relationships/font" Target="fonts/font28.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5.fntdata"/><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77" Type="http://schemas.openxmlformats.org/officeDocument/2006/relationships/font" Target="fonts/font31.fntdata"/><Relationship Id="rId8" Type="http://schemas.openxmlformats.org/officeDocument/2006/relationships/slide" Target="slides/slide7.xml"/><Relationship Id="rId51" Type="http://schemas.openxmlformats.org/officeDocument/2006/relationships/font" Target="fonts/font5.fntdata"/><Relationship Id="rId72" Type="http://schemas.openxmlformats.org/officeDocument/2006/relationships/font" Target="fonts/font26.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font" Target="fonts/font2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font" Target="fonts/font27.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font" Target="fonts/font30.fntdata"/><Relationship Id="rId7" Type="http://schemas.openxmlformats.org/officeDocument/2006/relationships/slide" Target="slides/slide6.xml"/><Relationship Id="rId71" Type="http://schemas.openxmlformats.org/officeDocument/2006/relationships/font" Target="fonts/font2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6c945ed901_3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6c945ed901_3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16c945ed901_3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6c3647e48c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6c3647e48c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16c3647e48c_0_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6c3647e48c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6c3647e48c_0_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16c3647e48c_0_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6c3647e48c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6c3647e48c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16c3647e48c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6c3647e48c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6c3647e48c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g16c3647e48c_0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6c3647e48c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6c3647e48c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16c3647e48c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6c3647e48c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16c3647e48c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g16c3647e48c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19f5cc7372_4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119f5cc7372_4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119f5cc7372_4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6c3647e48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6c3647e48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16c3647e48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fffc5f384c_2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fffc5f384c_2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gfffc5f384c_2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6c3647e48c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16c3647e48c_0_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16c3647e48c_0_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6c3647e48c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16c3647e48c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g16c3647e48c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52e01f2e5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152e01f2e5c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g152e01f2e5c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9135bb4826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9135bb4826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g29135bb4826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 name="Google Shape;379;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ew Section Slide" type="title">
  <p:cSld name="TITL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5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solidFill>
                  <a:srgbClr val="582C8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accent2"/>
              </a:buClr>
              <a:buSzPts val="2400"/>
              <a:buNone/>
              <a:defRPr sz="2400">
                <a:solidFill>
                  <a:schemeClr val="accent2"/>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Purple">
  <p:cSld name="Title Slide-Purple">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60"/>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Libre Franklin Medium"/>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0"/>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1"/>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White">
  <p:cSld name="Title Slide-White">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9"/>
        <p:cNvGrpSpPr/>
        <p:nvPr/>
      </p:nvGrpSpPr>
      <p:grpSpPr>
        <a:xfrm>
          <a:off x="0" y="0"/>
          <a:ext cx="0" cy="0"/>
          <a:chOff x="0" y="0"/>
          <a:chExt cx="0" cy="0"/>
        </a:xfrm>
      </p:grpSpPr>
      <p:sp>
        <p:nvSpPr>
          <p:cNvPr id="30" name="Google Shape;30;p64"/>
          <p:cNvSpPr txBox="1">
            <a:spLocks noGrp="1"/>
          </p:cNvSpPr>
          <p:nvPr>
            <p:ph type="title"/>
          </p:nvPr>
        </p:nvSpPr>
        <p:spPr>
          <a:xfrm>
            <a:off x="950967" y="719367"/>
            <a:ext cx="10290000" cy="6375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4400"/>
              <a:buFont typeface="Bodoni Moda"/>
              <a:buNone/>
              <a:defRPr>
                <a:latin typeface="Bodoni Moda"/>
                <a:ea typeface="Bodoni Moda"/>
                <a:cs typeface="Bodoni Moda"/>
                <a:sym typeface="Bodoni Moda"/>
              </a:defRPr>
            </a:lvl1pPr>
            <a:lvl2pPr lvl="1" algn="l">
              <a:lnSpc>
                <a:spcPct val="100000"/>
              </a:lnSpc>
              <a:spcBef>
                <a:spcPts val="0"/>
              </a:spcBef>
              <a:spcAft>
                <a:spcPts val="0"/>
              </a:spcAft>
              <a:buSzPts val="1400"/>
              <a:buFont typeface="Bodoni Moda"/>
              <a:buNone/>
              <a:defRPr>
                <a:latin typeface="Bodoni Moda"/>
                <a:ea typeface="Bodoni Moda"/>
                <a:cs typeface="Bodoni Moda"/>
                <a:sym typeface="Bodoni Moda"/>
              </a:defRPr>
            </a:lvl2pPr>
            <a:lvl3pPr lvl="2" algn="l">
              <a:lnSpc>
                <a:spcPct val="100000"/>
              </a:lnSpc>
              <a:spcBef>
                <a:spcPts val="0"/>
              </a:spcBef>
              <a:spcAft>
                <a:spcPts val="0"/>
              </a:spcAft>
              <a:buSzPts val="1400"/>
              <a:buFont typeface="Bodoni Moda"/>
              <a:buNone/>
              <a:defRPr>
                <a:latin typeface="Bodoni Moda"/>
                <a:ea typeface="Bodoni Moda"/>
                <a:cs typeface="Bodoni Moda"/>
                <a:sym typeface="Bodoni Moda"/>
              </a:defRPr>
            </a:lvl3pPr>
            <a:lvl4pPr lvl="3" algn="l">
              <a:lnSpc>
                <a:spcPct val="100000"/>
              </a:lnSpc>
              <a:spcBef>
                <a:spcPts val="0"/>
              </a:spcBef>
              <a:spcAft>
                <a:spcPts val="0"/>
              </a:spcAft>
              <a:buSzPts val="1400"/>
              <a:buFont typeface="Bodoni Moda"/>
              <a:buNone/>
              <a:defRPr>
                <a:latin typeface="Bodoni Moda"/>
                <a:ea typeface="Bodoni Moda"/>
                <a:cs typeface="Bodoni Moda"/>
                <a:sym typeface="Bodoni Moda"/>
              </a:defRPr>
            </a:lvl4pPr>
            <a:lvl5pPr lvl="4" algn="l">
              <a:lnSpc>
                <a:spcPct val="100000"/>
              </a:lnSpc>
              <a:spcBef>
                <a:spcPts val="0"/>
              </a:spcBef>
              <a:spcAft>
                <a:spcPts val="0"/>
              </a:spcAft>
              <a:buSzPts val="1400"/>
              <a:buFont typeface="Bodoni Moda"/>
              <a:buNone/>
              <a:defRPr>
                <a:latin typeface="Bodoni Moda"/>
                <a:ea typeface="Bodoni Moda"/>
                <a:cs typeface="Bodoni Moda"/>
                <a:sym typeface="Bodoni Moda"/>
              </a:defRPr>
            </a:lvl5pPr>
            <a:lvl6pPr lvl="5" algn="l">
              <a:lnSpc>
                <a:spcPct val="100000"/>
              </a:lnSpc>
              <a:spcBef>
                <a:spcPts val="0"/>
              </a:spcBef>
              <a:spcAft>
                <a:spcPts val="0"/>
              </a:spcAft>
              <a:buSzPts val="1400"/>
              <a:buFont typeface="Bodoni Moda"/>
              <a:buNone/>
              <a:defRPr>
                <a:latin typeface="Bodoni Moda"/>
                <a:ea typeface="Bodoni Moda"/>
                <a:cs typeface="Bodoni Moda"/>
                <a:sym typeface="Bodoni Moda"/>
              </a:defRPr>
            </a:lvl6pPr>
            <a:lvl7pPr lvl="6" algn="l">
              <a:lnSpc>
                <a:spcPct val="100000"/>
              </a:lnSpc>
              <a:spcBef>
                <a:spcPts val="0"/>
              </a:spcBef>
              <a:spcAft>
                <a:spcPts val="0"/>
              </a:spcAft>
              <a:buSzPts val="1400"/>
              <a:buFont typeface="Bodoni Moda"/>
              <a:buNone/>
              <a:defRPr>
                <a:latin typeface="Bodoni Moda"/>
                <a:ea typeface="Bodoni Moda"/>
                <a:cs typeface="Bodoni Moda"/>
                <a:sym typeface="Bodoni Moda"/>
              </a:defRPr>
            </a:lvl7pPr>
            <a:lvl8pPr lvl="7" algn="l">
              <a:lnSpc>
                <a:spcPct val="100000"/>
              </a:lnSpc>
              <a:spcBef>
                <a:spcPts val="0"/>
              </a:spcBef>
              <a:spcAft>
                <a:spcPts val="0"/>
              </a:spcAft>
              <a:buSzPts val="1400"/>
              <a:buFont typeface="Bodoni Moda"/>
              <a:buNone/>
              <a:defRPr>
                <a:latin typeface="Bodoni Moda"/>
                <a:ea typeface="Bodoni Moda"/>
                <a:cs typeface="Bodoni Moda"/>
                <a:sym typeface="Bodoni Moda"/>
              </a:defRPr>
            </a:lvl8pPr>
            <a:lvl9pPr lvl="8" algn="l">
              <a:lnSpc>
                <a:spcPct val="100000"/>
              </a:lnSpc>
              <a:spcBef>
                <a:spcPts val="0"/>
              </a:spcBef>
              <a:spcAft>
                <a:spcPts val="0"/>
              </a:spcAft>
              <a:buSzPts val="1400"/>
              <a:buFont typeface="Bodoni Moda"/>
              <a:buNone/>
              <a:defRPr>
                <a:latin typeface="Bodoni Moda"/>
                <a:ea typeface="Bodoni Moda"/>
                <a:cs typeface="Bodoni Moda"/>
                <a:sym typeface="Bodoni Moda"/>
              </a:defRPr>
            </a:lvl9pPr>
          </a:lstStyle>
          <a:p>
            <a:endParaRPr/>
          </a:p>
        </p:txBody>
      </p:sp>
      <p:sp>
        <p:nvSpPr>
          <p:cNvPr id="31" name="Google Shape;31;p64"/>
          <p:cNvSpPr txBox="1">
            <a:spLocks noGrp="1"/>
          </p:cNvSpPr>
          <p:nvPr>
            <p:ph type="subTitle" idx="1"/>
          </p:nvPr>
        </p:nvSpPr>
        <p:spPr>
          <a:xfrm>
            <a:off x="2673667"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2" name="Google Shape;32;p64"/>
          <p:cNvSpPr txBox="1">
            <a:spLocks noGrp="1"/>
          </p:cNvSpPr>
          <p:nvPr>
            <p:ph type="subTitle" idx="2"/>
          </p:nvPr>
        </p:nvSpPr>
        <p:spPr>
          <a:xfrm>
            <a:off x="2673667"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3" name="Google Shape;33;p64"/>
          <p:cNvSpPr txBox="1">
            <a:spLocks noGrp="1"/>
          </p:cNvSpPr>
          <p:nvPr>
            <p:ph type="subTitle" idx="3"/>
          </p:nvPr>
        </p:nvSpPr>
        <p:spPr>
          <a:xfrm>
            <a:off x="2673667"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4" name="Google Shape;34;p64"/>
          <p:cNvSpPr txBox="1">
            <a:spLocks noGrp="1"/>
          </p:cNvSpPr>
          <p:nvPr>
            <p:ph type="subTitle" idx="4"/>
          </p:nvPr>
        </p:nvSpPr>
        <p:spPr>
          <a:xfrm>
            <a:off x="2673667"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5" name="Google Shape;35;p64"/>
          <p:cNvSpPr txBox="1">
            <a:spLocks noGrp="1"/>
          </p:cNvSpPr>
          <p:nvPr>
            <p:ph type="subTitle" idx="5"/>
          </p:nvPr>
        </p:nvSpPr>
        <p:spPr>
          <a:xfrm>
            <a:off x="7864400"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6" name="Google Shape;36;p64"/>
          <p:cNvSpPr txBox="1">
            <a:spLocks noGrp="1"/>
          </p:cNvSpPr>
          <p:nvPr>
            <p:ph type="subTitle" idx="6"/>
          </p:nvPr>
        </p:nvSpPr>
        <p:spPr>
          <a:xfrm>
            <a:off x="7864400"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7" name="Google Shape;37;p64"/>
          <p:cNvSpPr txBox="1">
            <a:spLocks noGrp="1"/>
          </p:cNvSpPr>
          <p:nvPr>
            <p:ph type="subTitle" idx="7"/>
          </p:nvPr>
        </p:nvSpPr>
        <p:spPr>
          <a:xfrm>
            <a:off x="7864400"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8" name="Google Shape;38;p64"/>
          <p:cNvSpPr txBox="1">
            <a:spLocks noGrp="1"/>
          </p:cNvSpPr>
          <p:nvPr>
            <p:ph type="subTitle" idx="8"/>
          </p:nvPr>
        </p:nvSpPr>
        <p:spPr>
          <a:xfrm>
            <a:off x="7864400"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9" name="Google Shape;39;p64"/>
          <p:cNvSpPr txBox="1">
            <a:spLocks noGrp="1"/>
          </p:cNvSpPr>
          <p:nvPr>
            <p:ph type="title" idx="9"/>
          </p:nvPr>
        </p:nvSpPr>
        <p:spPr>
          <a:xfrm>
            <a:off x="1507000"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0" name="Google Shape;40;p64"/>
          <p:cNvSpPr txBox="1">
            <a:spLocks noGrp="1"/>
          </p:cNvSpPr>
          <p:nvPr>
            <p:ph type="title" idx="13"/>
          </p:nvPr>
        </p:nvSpPr>
        <p:spPr>
          <a:xfrm>
            <a:off x="1507000"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1" name="Google Shape;41;p64"/>
          <p:cNvSpPr txBox="1">
            <a:spLocks noGrp="1"/>
          </p:cNvSpPr>
          <p:nvPr>
            <p:ph type="title" idx="14"/>
          </p:nvPr>
        </p:nvSpPr>
        <p:spPr>
          <a:xfrm>
            <a:off x="6697733"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2" name="Google Shape;42;p64"/>
          <p:cNvSpPr txBox="1">
            <a:spLocks noGrp="1"/>
          </p:cNvSpPr>
          <p:nvPr>
            <p:ph type="title" idx="15"/>
          </p:nvPr>
        </p:nvSpPr>
        <p:spPr>
          <a:xfrm>
            <a:off x="6697733"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3" name="Google Shape;43;p64"/>
          <p:cNvSpPr/>
          <p:nvPr/>
        </p:nvSpPr>
        <p:spPr>
          <a:xfrm>
            <a:off x="414967" y="501133"/>
            <a:ext cx="1071900" cy="1071900"/>
          </a:xfrm>
          <a:prstGeom prst="star8">
            <a:avLst>
              <a:gd name="adj" fmla="val 24675"/>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4"/>
          <p:cNvCxnSpPr>
            <a:stCxn id="43" idx="2"/>
          </p:cNvCxnSpPr>
          <p:nvPr/>
        </p:nvCxnSpPr>
        <p:spPr>
          <a:xfrm>
            <a:off x="950917" y="1573033"/>
            <a:ext cx="0" cy="5460300"/>
          </a:xfrm>
          <a:prstGeom prst="straightConnector1">
            <a:avLst/>
          </a:prstGeom>
          <a:noFill/>
          <a:ln w="19050" cap="flat" cmpd="sng">
            <a:solidFill>
              <a:schemeClr val="accent1"/>
            </a:solidFill>
            <a:prstDash val="solid"/>
            <a:round/>
            <a:headEnd type="none" w="sm" len="sm"/>
            <a:tailEnd type="none" w="sm" len="sm"/>
          </a:ln>
        </p:spPr>
      </p:cxnSp>
      <p:grpSp>
        <p:nvGrpSpPr>
          <p:cNvPr id="45" name="Google Shape;45;p64"/>
          <p:cNvGrpSpPr/>
          <p:nvPr/>
        </p:nvGrpSpPr>
        <p:grpSpPr>
          <a:xfrm>
            <a:off x="1518662" y="5939602"/>
            <a:ext cx="9660958" cy="385590"/>
            <a:chOff x="1139025" y="4454813"/>
            <a:chExt cx="7245900" cy="289200"/>
          </a:xfrm>
        </p:grpSpPr>
        <p:cxnSp>
          <p:nvCxnSpPr>
            <p:cNvPr id="46" name="Google Shape;46;p64"/>
            <p:cNvCxnSpPr/>
            <p:nvPr/>
          </p:nvCxnSpPr>
          <p:spPr>
            <a:xfrm>
              <a:off x="1139025" y="4599425"/>
              <a:ext cx="7245900" cy="0"/>
            </a:xfrm>
            <a:prstGeom prst="straightConnector1">
              <a:avLst/>
            </a:prstGeom>
            <a:noFill/>
            <a:ln w="19050" cap="flat" cmpd="sng">
              <a:solidFill>
                <a:schemeClr val="accent1"/>
              </a:solidFill>
              <a:prstDash val="solid"/>
              <a:round/>
              <a:headEnd type="none" w="sm" len="sm"/>
              <a:tailEnd type="none" w="sm" len="sm"/>
            </a:ln>
          </p:spPr>
        </p:cxnSp>
        <p:sp>
          <p:nvSpPr>
            <p:cNvPr id="47" name="Google Shape;47;p64"/>
            <p:cNvSpPr/>
            <p:nvPr/>
          </p:nvSpPr>
          <p:spPr>
            <a:xfrm rot="5400000">
              <a:off x="75077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64"/>
            <p:cNvSpPr/>
            <p:nvPr/>
          </p:nvSpPr>
          <p:spPr>
            <a:xfrm rot="5400000">
              <a:off x="782805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64"/>
            <p:cNvSpPr/>
            <p:nvPr/>
          </p:nvSpPr>
          <p:spPr>
            <a:xfrm rot="5400000">
              <a:off x="81483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64"/>
            <p:cNvSpPr/>
            <p:nvPr/>
          </p:nvSpPr>
          <p:spPr>
            <a:xfrm rot="5400000">
              <a:off x="41071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4"/>
            <p:cNvSpPr/>
            <p:nvPr/>
          </p:nvSpPr>
          <p:spPr>
            <a:xfrm rot="5400000">
              <a:off x="442740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64"/>
            <p:cNvSpPr/>
            <p:nvPr/>
          </p:nvSpPr>
          <p:spPr>
            <a:xfrm rot="5400000">
              <a:off x="47476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65"/>
          <p:cNvSpPr txBox="1">
            <a:spLocks noGrp="1"/>
          </p:cNvSpPr>
          <p:nvPr>
            <p:ph type="title"/>
          </p:nvPr>
        </p:nvSpPr>
        <p:spPr>
          <a:xfrm>
            <a:off x="3056600" y="3275967"/>
            <a:ext cx="6078900" cy="908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sp>
        <p:nvSpPr>
          <p:cNvPr id="55" name="Google Shape;55;p65"/>
          <p:cNvSpPr txBox="1">
            <a:spLocks noGrp="1"/>
          </p:cNvSpPr>
          <p:nvPr>
            <p:ph type="subTitle" idx="1"/>
          </p:nvPr>
        </p:nvSpPr>
        <p:spPr>
          <a:xfrm>
            <a:off x="4144200" y="4410633"/>
            <a:ext cx="3903600" cy="9273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300"/>
              <a:buNone/>
              <a:defRPr sz="2300"/>
            </a:lvl1pPr>
            <a:lvl2pPr lvl="1" algn="ctr">
              <a:lnSpc>
                <a:spcPct val="100000"/>
              </a:lnSpc>
              <a:spcBef>
                <a:spcPts val="500"/>
              </a:spcBef>
              <a:spcAft>
                <a:spcPts val="0"/>
              </a:spcAft>
              <a:buSzPts val="2300"/>
              <a:buNone/>
              <a:defRPr sz="2300"/>
            </a:lvl2pPr>
            <a:lvl3pPr lvl="2" algn="ctr">
              <a:lnSpc>
                <a:spcPct val="100000"/>
              </a:lnSpc>
              <a:spcBef>
                <a:spcPts val="500"/>
              </a:spcBef>
              <a:spcAft>
                <a:spcPts val="0"/>
              </a:spcAft>
              <a:buSzPts val="2300"/>
              <a:buNone/>
              <a:defRPr sz="2300"/>
            </a:lvl3pPr>
            <a:lvl4pPr lvl="3" algn="ctr">
              <a:lnSpc>
                <a:spcPct val="100000"/>
              </a:lnSpc>
              <a:spcBef>
                <a:spcPts val="500"/>
              </a:spcBef>
              <a:spcAft>
                <a:spcPts val="0"/>
              </a:spcAft>
              <a:buSzPts val="2300"/>
              <a:buNone/>
              <a:defRPr sz="2300"/>
            </a:lvl4pPr>
            <a:lvl5pPr lvl="4" algn="ctr">
              <a:lnSpc>
                <a:spcPct val="100000"/>
              </a:lnSpc>
              <a:spcBef>
                <a:spcPts val="500"/>
              </a:spcBef>
              <a:spcAft>
                <a:spcPts val="0"/>
              </a:spcAft>
              <a:buSzPts val="2300"/>
              <a:buNone/>
              <a:defRPr sz="2300"/>
            </a:lvl5pPr>
            <a:lvl6pPr lvl="5" algn="ctr">
              <a:lnSpc>
                <a:spcPct val="100000"/>
              </a:lnSpc>
              <a:spcBef>
                <a:spcPts val="500"/>
              </a:spcBef>
              <a:spcAft>
                <a:spcPts val="0"/>
              </a:spcAft>
              <a:buSzPts val="2300"/>
              <a:buNone/>
              <a:defRPr sz="2300"/>
            </a:lvl6pPr>
            <a:lvl7pPr lvl="6" algn="ctr">
              <a:lnSpc>
                <a:spcPct val="100000"/>
              </a:lnSpc>
              <a:spcBef>
                <a:spcPts val="500"/>
              </a:spcBef>
              <a:spcAft>
                <a:spcPts val="0"/>
              </a:spcAft>
              <a:buSzPts val="2300"/>
              <a:buNone/>
              <a:defRPr sz="2300"/>
            </a:lvl7pPr>
            <a:lvl8pPr lvl="7" algn="ctr">
              <a:lnSpc>
                <a:spcPct val="100000"/>
              </a:lnSpc>
              <a:spcBef>
                <a:spcPts val="500"/>
              </a:spcBef>
              <a:spcAft>
                <a:spcPts val="0"/>
              </a:spcAft>
              <a:buSzPts val="2300"/>
              <a:buNone/>
              <a:defRPr sz="2300"/>
            </a:lvl8pPr>
            <a:lvl9pPr lvl="8" algn="ctr">
              <a:lnSpc>
                <a:spcPct val="100000"/>
              </a:lnSpc>
              <a:spcBef>
                <a:spcPts val="500"/>
              </a:spcBef>
              <a:spcAft>
                <a:spcPts val="0"/>
              </a:spcAft>
              <a:buSzPts val="2300"/>
              <a:buNone/>
              <a:defRPr sz="2300"/>
            </a:lvl9pPr>
          </a:lstStyle>
          <a:p>
            <a:endParaRPr/>
          </a:p>
        </p:txBody>
      </p:sp>
      <p:sp>
        <p:nvSpPr>
          <p:cNvPr id="56" name="Google Shape;56;p65"/>
          <p:cNvSpPr txBox="1">
            <a:spLocks noGrp="1"/>
          </p:cNvSpPr>
          <p:nvPr>
            <p:ph type="title" idx="2"/>
          </p:nvPr>
        </p:nvSpPr>
        <p:spPr>
          <a:xfrm>
            <a:off x="5355400" y="1481256"/>
            <a:ext cx="1481100" cy="14820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grpSp>
        <p:nvGrpSpPr>
          <p:cNvPr id="57" name="Google Shape;57;p65"/>
          <p:cNvGrpSpPr/>
          <p:nvPr/>
        </p:nvGrpSpPr>
        <p:grpSpPr>
          <a:xfrm>
            <a:off x="761881" y="720799"/>
            <a:ext cx="3488379" cy="3310684"/>
            <a:chOff x="571425" y="540613"/>
            <a:chExt cx="2616350" cy="2483075"/>
          </a:xfrm>
        </p:grpSpPr>
        <p:sp>
          <p:nvSpPr>
            <p:cNvPr id="58" name="Google Shape;58;p65"/>
            <p:cNvSpPr/>
            <p:nvPr/>
          </p:nvSpPr>
          <p:spPr>
            <a:xfrm>
              <a:off x="717275" y="540613"/>
              <a:ext cx="2470500" cy="2483075"/>
            </a:xfrm>
            <a:custGeom>
              <a:avLst/>
              <a:gdLst/>
              <a:ahLst/>
              <a:cxnLst/>
              <a:rect l="l" t="t" r="r" b="b"/>
              <a:pathLst>
                <a:path w="98820" h="99323" extrusionOk="0">
                  <a:moveTo>
                    <a:pt x="0" y="99323"/>
                  </a:moveTo>
                  <a:lnTo>
                    <a:pt x="0" y="0"/>
                  </a:lnTo>
                  <a:lnTo>
                    <a:pt x="98820" y="0"/>
                  </a:lnTo>
                </a:path>
              </a:pathLst>
            </a:custGeom>
            <a:noFill/>
            <a:ln w="19050" cap="flat" cmpd="sng">
              <a:solidFill>
                <a:schemeClr val="accent1"/>
              </a:solidFill>
              <a:prstDash val="solid"/>
              <a:round/>
              <a:headEnd type="none" w="sm" len="sm"/>
              <a:tailEnd type="none" w="sm" len="sm"/>
            </a:ln>
          </p:spPr>
        </p:sp>
        <p:sp>
          <p:nvSpPr>
            <p:cNvPr id="59" name="Google Shape;59;p65"/>
            <p:cNvSpPr/>
            <p:nvPr/>
          </p:nvSpPr>
          <p:spPr>
            <a:xfrm>
              <a:off x="583350" y="201047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5"/>
            <p:cNvSpPr/>
            <p:nvPr/>
          </p:nvSpPr>
          <p:spPr>
            <a:xfrm>
              <a:off x="583350" y="1690200"/>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5"/>
            <p:cNvSpPr/>
            <p:nvPr/>
          </p:nvSpPr>
          <p:spPr>
            <a:xfrm>
              <a:off x="571425" y="136992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65"/>
          <p:cNvGrpSpPr/>
          <p:nvPr/>
        </p:nvGrpSpPr>
        <p:grpSpPr>
          <a:xfrm>
            <a:off x="9969882" y="4635916"/>
            <a:ext cx="4444239" cy="4444174"/>
            <a:chOff x="-1157850" y="-1175191"/>
            <a:chExt cx="2325853" cy="2325818"/>
          </a:xfrm>
        </p:grpSpPr>
        <p:sp>
          <p:nvSpPr>
            <p:cNvPr id="63" name="Google Shape;63;p65"/>
            <p:cNvSpPr/>
            <p:nvPr/>
          </p:nvSpPr>
          <p:spPr>
            <a:xfrm>
              <a:off x="-1157850" y="-1175191"/>
              <a:ext cx="2325853" cy="2325818"/>
            </a:xfrm>
            <a:custGeom>
              <a:avLst/>
              <a:gdLst/>
              <a:ahLst/>
              <a:cxnLst/>
              <a:rect l="l" t="t" r="r" b="b"/>
              <a:pathLst>
                <a:path w="67819" h="67818" fill="none" extrusionOk="0">
                  <a:moveTo>
                    <a:pt x="55741" y="12077"/>
                  </a:moveTo>
                  <a:cubicBezTo>
                    <a:pt x="67818" y="24133"/>
                    <a:pt x="67818" y="43684"/>
                    <a:pt x="55741" y="55741"/>
                  </a:cubicBezTo>
                  <a:cubicBezTo>
                    <a:pt x="43685" y="67818"/>
                    <a:pt x="24134" y="67818"/>
                    <a:pt x="12078" y="55741"/>
                  </a:cubicBezTo>
                  <a:cubicBezTo>
                    <a:pt x="1" y="43684"/>
                    <a:pt x="1" y="24133"/>
                    <a:pt x="12078" y="12077"/>
                  </a:cubicBezTo>
                  <a:cubicBezTo>
                    <a:pt x="24134" y="0"/>
                    <a:pt x="43685" y="0"/>
                    <a:pt x="55741" y="120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65"/>
            <p:cNvSpPr/>
            <p:nvPr/>
          </p:nvSpPr>
          <p:spPr>
            <a:xfrm>
              <a:off x="-969954" y="-987329"/>
              <a:ext cx="1950048" cy="1950082"/>
            </a:xfrm>
            <a:custGeom>
              <a:avLst/>
              <a:gdLst/>
              <a:ahLst/>
              <a:cxnLst/>
              <a:rect l="l" t="t" r="r" b="b"/>
              <a:pathLst>
                <a:path w="56861" h="56862" fill="none" extrusionOk="0">
                  <a:moveTo>
                    <a:pt x="46739" y="10122"/>
                  </a:moveTo>
                  <a:cubicBezTo>
                    <a:pt x="56861" y="20224"/>
                    <a:pt x="56861" y="36638"/>
                    <a:pt x="46739" y="46740"/>
                  </a:cubicBezTo>
                  <a:cubicBezTo>
                    <a:pt x="36638" y="56861"/>
                    <a:pt x="20223" y="56861"/>
                    <a:pt x="10122" y="46740"/>
                  </a:cubicBezTo>
                  <a:cubicBezTo>
                    <a:pt x="0" y="36638"/>
                    <a:pt x="0" y="20224"/>
                    <a:pt x="10122" y="10122"/>
                  </a:cubicBezTo>
                  <a:cubicBezTo>
                    <a:pt x="20223" y="1"/>
                    <a:pt x="36638" y="1"/>
                    <a:pt x="46739" y="10122"/>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5"/>
            <p:cNvSpPr/>
            <p:nvPr/>
          </p:nvSpPr>
          <p:spPr>
            <a:xfrm>
              <a:off x="-782092" y="-799467"/>
              <a:ext cx="1574312" cy="1574312"/>
            </a:xfrm>
            <a:custGeom>
              <a:avLst/>
              <a:gdLst/>
              <a:ahLst/>
              <a:cxnLst/>
              <a:rect l="l" t="t" r="r" b="b"/>
              <a:pathLst>
                <a:path w="45905" h="45905" fill="none" extrusionOk="0">
                  <a:moveTo>
                    <a:pt x="37738" y="8167"/>
                  </a:moveTo>
                  <a:cubicBezTo>
                    <a:pt x="45905" y="16334"/>
                    <a:pt x="45905" y="29572"/>
                    <a:pt x="37738" y="37738"/>
                  </a:cubicBezTo>
                  <a:cubicBezTo>
                    <a:pt x="29571" y="45905"/>
                    <a:pt x="16334" y="45905"/>
                    <a:pt x="8167" y="37738"/>
                  </a:cubicBezTo>
                  <a:cubicBezTo>
                    <a:pt x="0" y="29572"/>
                    <a:pt x="0" y="16334"/>
                    <a:pt x="8167" y="8167"/>
                  </a:cubicBezTo>
                  <a:cubicBezTo>
                    <a:pt x="16334" y="1"/>
                    <a:pt x="29571" y="1"/>
                    <a:pt x="37738" y="816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65"/>
            <p:cNvSpPr/>
            <p:nvPr/>
          </p:nvSpPr>
          <p:spPr>
            <a:xfrm>
              <a:off x="-617962" y="-636023"/>
              <a:ext cx="1246760" cy="1247446"/>
            </a:xfrm>
            <a:custGeom>
              <a:avLst/>
              <a:gdLst/>
              <a:ahLst/>
              <a:cxnLst/>
              <a:rect l="l" t="t" r="r" b="b"/>
              <a:pathLst>
                <a:path w="36354" h="36374" fill="none" extrusionOk="0">
                  <a:moveTo>
                    <a:pt x="25926" y="4277"/>
                  </a:moveTo>
                  <a:cubicBezTo>
                    <a:pt x="33604" y="8554"/>
                    <a:pt x="36353" y="18248"/>
                    <a:pt x="32076" y="25926"/>
                  </a:cubicBezTo>
                  <a:cubicBezTo>
                    <a:pt x="27799" y="33624"/>
                    <a:pt x="18105" y="36373"/>
                    <a:pt x="10428" y="32097"/>
                  </a:cubicBezTo>
                  <a:cubicBezTo>
                    <a:pt x="2750" y="27799"/>
                    <a:pt x="0" y="18105"/>
                    <a:pt x="4277" y="10428"/>
                  </a:cubicBezTo>
                  <a:cubicBezTo>
                    <a:pt x="8554" y="2750"/>
                    <a:pt x="18248" y="0"/>
                    <a:pt x="25926" y="42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65"/>
            <p:cNvSpPr/>
            <p:nvPr/>
          </p:nvSpPr>
          <p:spPr>
            <a:xfrm>
              <a:off x="-423104" y="-440479"/>
              <a:ext cx="856312" cy="856312"/>
            </a:xfrm>
            <a:custGeom>
              <a:avLst/>
              <a:gdLst/>
              <a:ahLst/>
              <a:cxnLst/>
              <a:rect l="l" t="t" r="r" b="b"/>
              <a:pathLst>
                <a:path w="24969" h="24969" fill="none" extrusionOk="0">
                  <a:moveTo>
                    <a:pt x="17861" y="2974"/>
                  </a:moveTo>
                  <a:cubicBezTo>
                    <a:pt x="23115" y="5948"/>
                    <a:pt x="24969" y="12607"/>
                    <a:pt x="21995" y="17861"/>
                  </a:cubicBezTo>
                  <a:cubicBezTo>
                    <a:pt x="19042" y="23116"/>
                    <a:pt x="12362" y="24969"/>
                    <a:pt x="7108" y="21996"/>
                  </a:cubicBezTo>
                  <a:cubicBezTo>
                    <a:pt x="1854" y="19022"/>
                    <a:pt x="0" y="12363"/>
                    <a:pt x="2974" y="7108"/>
                  </a:cubicBezTo>
                  <a:cubicBezTo>
                    <a:pt x="5947" y="1854"/>
                    <a:pt x="12607" y="1"/>
                    <a:pt x="17861" y="2974"/>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65"/>
            <p:cNvSpPr/>
            <p:nvPr/>
          </p:nvSpPr>
          <p:spPr>
            <a:xfrm>
              <a:off x="-226155" y="-243530"/>
              <a:ext cx="463085" cy="462399"/>
            </a:xfrm>
            <a:custGeom>
              <a:avLst/>
              <a:gdLst/>
              <a:ahLst/>
              <a:cxnLst/>
              <a:rect l="l" t="t" r="r" b="b"/>
              <a:pathLst>
                <a:path w="13503" h="13483" fill="none" extrusionOk="0">
                  <a:moveTo>
                    <a:pt x="11609" y="3341"/>
                  </a:moveTo>
                  <a:cubicBezTo>
                    <a:pt x="13503" y="6029"/>
                    <a:pt x="12851" y="9736"/>
                    <a:pt x="10163" y="11609"/>
                  </a:cubicBezTo>
                  <a:cubicBezTo>
                    <a:pt x="7475" y="13483"/>
                    <a:pt x="3768" y="12831"/>
                    <a:pt x="1895" y="10143"/>
                  </a:cubicBezTo>
                  <a:cubicBezTo>
                    <a:pt x="0" y="7455"/>
                    <a:pt x="652" y="3769"/>
                    <a:pt x="3340" y="1875"/>
                  </a:cubicBezTo>
                  <a:cubicBezTo>
                    <a:pt x="6029" y="1"/>
                    <a:pt x="9735" y="653"/>
                    <a:pt x="11609" y="3341"/>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82C83"/>
              </a:buClr>
              <a:buSzPts val="4400"/>
              <a:buFont typeface="Libre Franklin Medium"/>
              <a:buNone/>
              <a:defRPr sz="4400" b="0" i="0" u="none" strike="noStrike" cap="none">
                <a:solidFill>
                  <a:srgbClr val="582C8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accent2"/>
                </a:solidFill>
                <a:latin typeface="Century Schoolbook"/>
                <a:ea typeface="Century Schoolbook"/>
                <a:cs typeface="Century Schoolbook"/>
                <a:sym typeface="Century Schoolbook"/>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accent2"/>
                </a:solidFill>
                <a:latin typeface="Century Schoolbook"/>
                <a:ea typeface="Century Schoolbook"/>
                <a:cs typeface="Century Schoolbook"/>
                <a:sym typeface="Century Schoolbook"/>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accent2"/>
                </a:solidFill>
                <a:latin typeface="Century Schoolbook"/>
                <a:ea typeface="Century Schoolbook"/>
                <a:cs typeface="Century Schoolbook"/>
                <a:sym typeface="Century Schoolbook"/>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mailto:DonorRelations@furman.edu"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ivecampus.com/schools/FurmanUniversity/class-of-2024-senior-class-gif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
          <p:cNvSpPr txBox="1">
            <a:spLocks noGrp="1"/>
          </p:cNvSpPr>
          <p:nvPr>
            <p:ph type="ctrTitle"/>
          </p:nvPr>
        </p:nvSpPr>
        <p:spPr>
          <a:xfrm>
            <a:off x="1524000" y="24936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582C83"/>
              </a:buClr>
              <a:buSzPts val="6000"/>
              <a:buFont typeface="Libre Franklin Medium"/>
              <a:buNone/>
            </a:pPr>
            <a:r>
              <a:rPr lang="en-US"/>
              <a:t>Welcome to SGA!</a:t>
            </a:r>
            <a:endParaRPr/>
          </a:p>
        </p:txBody>
      </p:sp>
      <p:sp>
        <p:nvSpPr>
          <p:cNvPr id="74" name="Google Shape;74;p1"/>
          <p:cNvSpPr txBox="1">
            <a:spLocks noGrp="1"/>
          </p:cNvSpPr>
          <p:nvPr>
            <p:ph type="subTitle" idx="1"/>
          </p:nvPr>
        </p:nvSpPr>
        <p:spPr>
          <a:xfrm>
            <a:off x="762000" y="4973317"/>
            <a:ext cx="10668000" cy="570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2400"/>
              <a:buNone/>
            </a:pPr>
            <a:r>
              <a:rPr lang="en-US"/>
              <a:t>October 23, 2023 </a:t>
            </a:r>
            <a:endParaRPr/>
          </a:p>
        </p:txBody>
      </p:sp>
      <p:pic>
        <p:nvPicPr>
          <p:cNvPr id="75" name="Google Shape;75;p1"/>
          <p:cNvPicPr preferRelativeResize="0"/>
          <p:nvPr/>
        </p:nvPicPr>
        <p:blipFill rotWithShape="1">
          <a:blip r:embed="rId3">
            <a:alphaModFix/>
          </a:blip>
          <a:srcRect/>
          <a:stretch/>
        </p:blipFill>
        <p:spPr>
          <a:xfrm>
            <a:off x="4286913" y="165550"/>
            <a:ext cx="3618175" cy="3618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Agenda</a:t>
            </a:r>
            <a:endParaRPr/>
          </a:p>
        </p:txBody>
      </p:sp>
      <p:sp>
        <p:nvSpPr>
          <p:cNvPr id="82" name="Google Shape;82;p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1000"/>
              </a:spcBef>
              <a:spcAft>
                <a:spcPts val="0"/>
              </a:spcAft>
              <a:buSzPct val="75630"/>
              <a:buNone/>
            </a:pPr>
            <a:r>
              <a:rPr lang="en-US"/>
              <a:t>Guest speaker(s): Ron Thompson and Curtis Nash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Officer, class, &amp; at-large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Committee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Old business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New business</a:t>
            </a:r>
            <a:endParaRPr b="1"/>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Open forum &amp; 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3"/>
          <p:cNvSpPr txBox="1">
            <a:spLocks noGrp="1"/>
          </p:cNvSpPr>
          <p:nvPr>
            <p:ph type="ctrTitle"/>
          </p:nvPr>
        </p:nvSpPr>
        <p:spPr>
          <a:xfrm>
            <a:off x="1015375" y="14190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Guest Speaker</a:t>
            </a:r>
            <a:endParaRPr/>
          </a:p>
          <a:p>
            <a:pPr marL="0" lvl="0" indent="0" algn="l" rtl="0">
              <a:lnSpc>
                <a:spcPct val="90000"/>
              </a:lnSpc>
              <a:spcBef>
                <a:spcPts val="0"/>
              </a:spcBef>
              <a:spcAft>
                <a:spcPts val="0"/>
              </a:spcAft>
              <a:buSzPts val="6000"/>
              <a:buNone/>
            </a:pPr>
            <a:endParaRPr/>
          </a:p>
        </p:txBody>
      </p:sp>
      <p:sp>
        <p:nvSpPr>
          <p:cNvPr id="89" name="Google Shape;89;p3"/>
          <p:cNvSpPr txBox="1">
            <a:spLocks noGrp="1"/>
          </p:cNvSpPr>
          <p:nvPr>
            <p:ph type="subTitle" idx="1"/>
          </p:nvPr>
        </p:nvSpPr>
        <p:spPr>
          <a:xfrm>
            <a:off x="2870475" y="2982400"/>
            <a:ext cx="11022300" cy="1655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SzPts val="2400"/>
              <a:buNone/>
            </a:pPr>
            <a:endParaRPr sz="3000"/>
          </a:p>
          <a:p>
            <a:pPr marL="0" lvl="0" indent="0" algn="l" rtl="0">
              <a:lnSpc>
                <a:spcPct val="90000"/>
              </a:lnSpc>
              <a:spcBef>
                <a:spcPts val="1200"/>
              </a:spcBef>
              <a:spcAft>
                <a:spcPts val="0"/>
              </a:spcAft>
              <a:buSzPts val="2400"/>
              <a:buNone/>
            </a:pPr>
            <a:r>
              <a:rPr lang="en-US"/>
              <a:t>Allison Diaz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
          <p:cNvSpPr txBox="1">
            <a:spLocks noGrp="1"/>
          </p:cNvSpPr>
          <p:nvPr>
            <p:ph type="ctrTitle"/>
          </p:nvPr>
        </p:nvSpPr>
        <p:spPr>
          <a:xfrm>
            <a:off x="1524000" y="2870694"/>
            <a:ext cx="9144000" cy="1116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Exec Reports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5"/>
          <p:cNvSpPr txBox="1">
            <a:spLocks noGrp="1"/>
          </p:cNvSpPr>
          <p:nvPr>
            <p:ph type="title"/>
          </p:nvPr>
        </p:nvSpPr>
        <p:spPr>
          <a:xfrm>
            <a:off x="477438" y="1162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Dean Cassidy </a:t>
            </a:r>
            <a:endParaRPr/>
          </a:p>
        </p:txBody>
      </p:sp>
      <p:sp>
        <p:nvSpPr>
          <p:cNvPr id="102" name="Google Shape;102;p5"/>
          <p:cNvSpPr txBox="1"/>
          <p:nvPr/>
        </p:nvSpPr>
        <p:spPr>
          <a:xfrm rot="962127">
            <a:off x="9280771" y="1387252"/>
            <a:ext cx="2071084" cy="5387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300">
              <a:latin typeface="Century Schoolbook"/>
              <a:ea typeface="Century Schoolbook"/>
              <a:cs typeface="Century Schoolbook"/>
              <a:sym typeface="Century Schoolbook"/>
            </a:endParaRPr>
          </a:p>
        </p:txBody>
      </p:sp>
      <p:sp>
        <p:nvSpPr>
          <p:cNvPr id="103" name="Google Shape;103;p5"/>
          <p:cNvSpPr txBox="1"/>
          <p:nvPr/>
        </p:nvSpPr>
        <p:spPr>
          <a:xfrm>
            <a:off x="838200" y="1646150"/>
            <a:ext cx="10515600" cy="40329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0"/>
              </a:spcBef>
              <a:spcAft>
                <a:spcPts val="0"/>
              </a:spcAft>
              <a:buClr>
                <a:srgbClr val="000000"/>
              </a:buClr>
              <a:buSzPts val="2000"/>
              <a:buChar char="●"/>
            </a:pPr>
            <a:r>
              <a:rPr lang="en-US" sz="2000"/>
              <a:t>I hope everyone had a terrific Fall Break!</a:t>
            </a:r>
            <a:endParaRPr sz="2000"/>
          </a:p>
          <a:p>
            <a:pPr marL="457200" lvl="0" indent="-355600" algn="l" rtl="0">
              <a:lnSpc>
                <a:spcPct val="115000"/>
              </a:lnSpc>
              <a:spcBef>
                <a:spcPts val="0"/>
              </a:spcBef>
              <a:spcAft>
                <a:spcPts val="0"/>
              </a:spcAft>
              <a:buClr>
                <a:schemeClr val="lt2"/>
              </a:buClr>
              <a:buSzPts val="2000"/>
              <a:buChar char="●"/>
            </a:pPr>
            <a:endParaRPr sz="2000">
              <a:solidFill>
                <a:schemeClr val="lt2"/>
              </a:solidFill>
            </a:endParaRPr>
          </a:p>
          <a:p>
            <a:pPr marL="457200" lvl="0" indent="-355600" algn="l" rtl="0">
              <a:lnSpc>
                <a:spcPct val="115000"/>
              </a:lnSpc>
              <a:spcBef>
                <a:spcPts val="0"/>
              </a:spcBef>
              <a:spcAft>
                <a:spcPts val="0"/>
              </a:spcAft>
              <a:buClr>
                <a:srgbClr val="000000"/>
              </a:buClr>
              <a:buSzPts val="2000"/>
              <a:buChar char="●"/>
            </a:pPr>
            <a:r>
              <a:rPr lang="en-US" sz="2000"/>
              <a:t>Encourage your peers to complete the Gallup Student Survey. Takes about 12 minutes to complete and students get $5. This data is used to inform decisions.</a:t>
            </a:r>
            <a:endParaRPr sz="2000"/>
          </a:p>
          <a:p>
            <a:pPr marL="457200" lvl="0" indent="-355600" algn="l" rtl="0">
              <a:lnSpc>
                <a:spcPct val="115000"/>
              </a:lnSpc>
              <a:spcBef>
                <a:spcPts val="0"/>
              </a:spcBef>
              <a:spcAft>
                <a:spcPts val="0"/>
              </a:spcAft>
              <a:buClr>
                <a:schemeClr val="lt1"/>
              </a:buClr>
              <a:buSzPts val="2000"/>
              <a:buChar char="●"/>
            </a:pPr>
            <a:endParaRPr sz="2000">
              <a:solidFill>
                <a:schemeClr val="lt1"/>
              </a:solidFill>
            </a:endParaRPr>
          </a:p>
          <a:p>
            <a:pPr marL="457200" lvl="0" indent="-355600" algn="l" rtl="0">
              <a:lnSpc>
                <a:spcPct val="115000"/>
              </a:lnSpc>
              <a:spcBef>
                <a:spcPts val="0"/>
              </a:spcBef>
              <a:spcAft>
                <a:spcPts val="0"/>
              </a:spcAft>
              <a:buClr>
                <a:srgbClr val="000000"/>
              </a:buClr>
              <a:buSzPts val="2000"/>
              <a:buChar char="●"/>
            </a:pPr>
            <a:r>
              <a:rPr lang="en-US" sz="2000"/>
              <a:t>Another flu shot clinic is scheduled for Tuesday, Oct. 31, 12-3 p.m. DH upstairs.</a:t>
            </a:r>
            <a:endParaRPr sz="2000"/>
          </a:p>
          <a:p>
            <a:pPr marL="457200" lvl="0" indent="-355600" algn="l" rtl="0">
              <a:lnSpc>
                <a:spcPct val="115000"/>
              </a:lnSpc>
              <a:spcBef>
                <a:spcPts val="0"/>
              </a:spcBef>
              <a:spcAft>
                <a:spcPts val="0"/>
              </a:spcAft>
              <a:buClr>
                <a:schemeClr val="lt1"/>
              </a:buClr>
              <a:buSzPts val="2000"/>
              <a:buChar char="●"/>
            </a:pPr>
            <a:endParaRPr sz="2000">
              <a:solidFill>
                <a:schemeClr val="lt1"/>
              </a:solidFill>
            </a:endParaRPr>
          </a:p>
          <a:p>
            <a:pPr marL="457200" lvl="0" indent="-355600" algn="l" rtl="0">
              <a:lnSpc>
                <a:spcPct val="115000"/>
              </a:lnSpc>
              <a:spcBef>
                <a:spcPts val="0"/>
              </a:spcBef>
              <a:spcAft>
                <a:spcPts val="0"/>
              </a:spcAft>
              <a:buClr>
                <a:srgbClr val="000000"/>
              </a:buClr>
              <a:buSzPts val="2000"/>
              <a:buChar char="●"/>
            </a:pPr>
            <a:r>
              <a:rPr lang="en-US" sz="2000"/>
              <a:t>Trone Center for Mental Fitness dedication is Saturday, Nov. 11 @ 10:30 a.m. Please RSVP by Nov. 1 at </a:t>
            </a:r>
            <a:r>
              <a:rPr lang="en-US" sz="2000" u="sng">
                <a:solidFill>
                  <a:srgbClr val="0000FF"/>
                </a:solidFill>
                <a:hlinkClick r:id="rId3">
                  <a:extLst>
                    <a:ext uri="{A12FA001-AC4F-418D-AE19-62706E023703}">
                      <ahyp:hlinkClr xmlns:ahyp="http://schemas.microsoft.com/office/drawing/2018/hyperlinkcolor" val="tx"/>
                    </a:ext>
                  </a:extLst>
                </a:hlinkClick>
              </a:rPr>
              <a:t>DonorRelations@furman.edu</a:t>
            </a:r>
            <a:r>
              <a:rPr lang="en-US" sz="2000"/>
              <a:t>. </a:t>
            </a:r>
            <a:endParaRPr sz="2000"/>
          </a:p>
          <a:p>
            <a:pPr marL="457200" lvl="0" indent="-355600" algn="l" rtl="0">
              <a:lnSpc>
                <a:spcPct val="115000"/>
              </a:lnSpc>
              <a:spcBef>
                <a:spcPts val="0"/>
              </a:spcBef>
              <a:spcAft>
                <a:spcPts val="0"/>
              </a:spcAft>
              <a:buClr>
                <a:schemeClr val="lt1"/>
              </a:buClr>
              <a:buSzPts val="2000"/>
              <a:buChar char="●"/>
            </a:pPr>
            <a:endParaRPr sz="2000">
              <a:solidFill>
                <a:schemeClr val="lt1"/>
              </a:solidFill>
            </a:endParaRPr>
          </a:p>
          <a:p>
            <a:pPr marL="457200" lvl="0" indent="-355600" algn="l" rtl="0">
              <a:lnSpc>
                <a:spcPct val="115000"/>
              </a:lnSpc>
              <a:spcBef>
                <a:spcPts val="0"/>
              </a:spcBef>
              <a:spcAft>
                <a:spcPts val="0"/>
              </a:spcAft>
              <a:buClr>
                <a:srgbClr val="000000"/>
              </a:buClr>
              <a:buSzPts val="2000"/>
              <a:buChar char="●"/>
            </a:pPr>
            <a:r>
              <a:rPr lang="en-US" sz="2000"/>
              <a:t>Happy Homecoming Week!</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16c945ed901_3_1"/>
          <p:cNvSpPr txBox="1"/>
          <p:nvPr/>
        </p:nvSpPr>
        <p:spPr>
          <a:xfrm>
            <a:off x="403400" y="385875"/>
            <a:ext cx="4490100" cy="114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000">
                <a:latin typeface="Century Schoolbook"/>
                <a:ea typeface="Century Schoolbook"/>
                <a:cs typeface="Century Schoolbook"/>
                <a:sym typeface="Century Schoolbook"/>
              </a:rPr>
              <a:t>Meredith Ervin </a:t>
            </a:r>
            <a:endParaRPr sz="4000">
              <a:latin typeface="Century Schoolbook"/>
              <a:ea typeface="Century Schoolbook"/>
              <a:cs typeface="Century Schoolbook"/>
              <a:sym typeface="Century Schoolbook"/>
            </a:endParaRPr>
          </a:p>
        </p:txBody>
      </p:sp>
      <p:sp>
        <p:nvSpPr>
          <p:cNvPr id="110" name="Google Shape;110;g16c945ed901_3_1"/>
          <p:cNvSpPr txBox="1"/>
          <p:nvPr/>
        </p:nvSpPr>
        <p:spPr>
          <a:xfrm>
            <a:off x="1313700" y="1999250"/>
            <a:ext cx="9564600" cy="3632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It’s HOCO Week!!! Super excited! Banner Painting Monday night after council!</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Please support Andrew and Lydia during HAVOC! It is truly admirable &lt;3</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Class email decision: A LOT of conversation has been going on about what the best option is. We have been trying to decide on a new plan, but as a result the SB has not been getting emails. (Side note: SGA is funding SyncDin which should have all the info we send in class emails anyways). Exec would still like to transition to a better system/solution, but for now, Carly will send weekly emails to the SB. Class reps still are able to send emails to their class when needed, but hopefully this will make things a bit easier/more structured. I appreciate y’all’s feedback on this. I know great things are coming, we just need to work out some of the logistics first!</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After this crazy week I would like to have a few things happen: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AutoNum type="arabicPeriod"/>
            </a:pPr>
            <a:r>
              <a:rPr lang="en-US">
                <a:latin typeface="Century Schoolbook"/>
                <a:ea typeface="Century Schoolbook"/>
                <a:cs typeface="Century Schoolbook"/>
                <a:sym typeface="Century Schoolbook"/>
              </a:rPr>
              <a:t>A strengths session for exec and each group of class reps. Shoutout to Tate for helping SGA with this.</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AutoNum type="arabicPeriod"/>
            </a:pPr>
            <a:r>
              <a:rPr lang="en-US">
                <a:latin typeface="Century Schoolbook"/>
                <a:ea typeface="Century Schoolbook"/>
                <a:cs typeface="Century Schoolbook"/>
                <a:sym typeface="Century Schoolbook"/>
              </a:rPr>
              <a:t>A fun/bonding event/night. I sent a poll in our meme chat about some ideas, but will definitely talk some more about this later too. If you have additional ideas, feel free to text them to me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AutoNum type="arabicPeriod"/>
            </a:pPr>
            <a:r>
              <a:rPr lang="en-US">
                <a:latin typeface="Century Schoolbook"/>
                <a:ea typeface="Century Schoolbook"/>
                <a:cs typeface="Century Schoolbook"/>
                <a:sym typeface="Century Schoolbook"/>
              </a:rPr>
              <a:t>Since we are about halfway through the semester, I would like to hear in more detail how everyone is doing with their individual projects/goals. I will likely be reaching out next week to offer to call/meet up to help in any way I can. I’m so proud of the hard work I’m seeing!</a:t>
            </a:r>
            <a:endParaRPr>
              <a:latin typeface="Century Schoolbook"/>
              <a:ea typeface="Century Schoolbook"/>
              <a:cs typeface="Century Schoolbook"/>
              <a:sym typeface="Century Schoolboo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Yaseen Echekki - VeePee</a:t>
            </a:r>
            <a:endParaRPr/>
          </a:p>
        </p:txBody>
      </p:sp>
      <p:sp>
        <p:nvSpPr>
          <p:cNvPr id="117" name="Google Shape;117;p6"/>
          <p:cNvSpPr txBox="1"/>
          <p:nvPr/>
        </p:nvSpPr>
        <p:spPr>
          <a:xfrm>
            <a:off x="838200" y="1886825"/>
            <a:ext cx="10515600" cy="4926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000">
              <a:latin typeface="Century Schoolbook"/>
              <a:ea typeface="Century Schoolbook"/>
              <a:cs typeface="Century Schoolbook"/>
              <a:sym typeface="Century Schoolbook"/>
            </a:endParaRPr>
          </a:p>
        </p:txBody>
      </p:sp>
      <p:sp>
        <p:nvSpPr>
          <p:cNvPr id="118" name="Google Shape;118;p6"/>
          <p:cNvSpPr txBox="1"/>
          <p:nvPr/>
        </p:nvSpPr>
        <p:spPr>
          <a:xfrm>
            <a:off x="618300" y="1764125"/>
            <a:ext cx="11010300" cy="42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latin typeface="Century Schoolbook"/>
                <a:ea typeface="Century Schoolbook"/>
                <a:cs typeface="Century Schoolbook"/>
                <a:sym typeface="Century Schoolbook"/>
              </a:rPr>
              <a:t>BOT Meeting: Student Experience and Outcomes</a:t>
            </a:r>
            <a:endParaRPr sz="2400">
              <a:latin typeface="Century Schoolbook"/>
              <a:ea typeface="Century Schoolbook"/>
              <a:cs typeface="Century Schoolbook"/>
              <a:sym typeface="Century Schoolbook"/>
            </a:endParaRPr>
          </a:p>
          <a:p>
            <a:pPr marL="457200" lvl="0" indent="-381000" algn="l" rtl="0">
              <a:spcBef>
                <a:spcPts val="0"/>
              </a:spcBef>
              <a:spcAft>
                <a:spcPts val="0"/>
              </a:spcAft>
              <a:buSzPts val="2400"/>
              <a:buFont typeface="Century Schoolbook"/>
              <a:buChar char="-"/>
            </a:pPr>
            <a:r>
              <a:rPr lang="en-US" sz="2400">
                <a:latin typeface="Century Schoolbook"/>
                <a:ea typeface="Century Schoolbook"/>
                <a:cs typeface="Century Schoolbook"/>
                <a:sym typeface="Century Schoolbook"/>
              </a:rPr>
              <a:t>Some things we talked about: Pathways, Greek Life, Play at Furman, Covid and Student Orgs, Gallup Surveys, Belonging @Furman</a:t>
            </a:r>
            <a:endParaRPr sz="2400">
              <a:latin typeface="Century Schoolbook"/>
              <a:ea typeface="Century Schoolbook"/>
              <a:cs typeface="Century Schoolbook"/>
              <a:sym typeface="Century Schoolbook"/>
            </a:endParaRPr>
          </a:p>
          <a:p>
            <a:pPr marL="457200" lvl="0" indent="-381000" algn="l" rtl="0">
              <a:spcBef>
                <a:spcPts val="0"/>
              </a:spcBef>
              <a:spcAft>
                <a:spcPts val="0"/>
              </a:spcAft>
              <a:buSzPts val="2400"/>
              <a:buFont typeface="Century Schoolbook"/>
              <a:buChar char="-"/>
            </a:pPr>
            <a:r>
              <a:rPr lang="en-US" sz="2400">
                <a:latin typeface="Century Schoolbook"/>
                <a:ea typeface="Century Schoolbook"/>
                <a:cs typeface="Century Schoolbook"/>
                <a:sym typeface="Century Schoolbook"/>
              </a:rPr>
              <a:t>Welcoming Experience</a:t>
            </a:r>
            <a:endParaRPr sz="2400">
              <a:latin typeface="Century Schoolbook"/>
              <a:ea typeface="Century Schoolbook"/>
              <a:cs typeface="Century Schoolbook"/>
              <a:sym typeface="Century Schoolbook"/>
            </a:endParaRPr>
          </a:p>
          <a:p>
            <a:pPr marL="0" lvl="0" indent="0" algn="l" rtl="0">
              <a:spcBef>
                <a:spcPts val="0"/>
              </a:spcBef>
              <a:spcAft>
                <a:spcPts val="0"/>
              </a:spcAft>
              <a:buNone/>
            </a:pPr>
            <a:endParaRPr sz="2400">
              <a:latin typeface="Century Schoolbook"/>
              <a:ea typeface="Century Schoolbook"/>
              <a:cs typeface="Century Schoolbook"/>
              <a:sym typeface="Century Schoolbook"/>
            </a:endParaRPr>
          </a:p>
          <a:p>
            <a:pPr marL="0" lvl="0" indent="0" algn="l" rtl="0">
              <a:spcBef>
                <a:spcPts val="0"/>
              </a:spcBef>
              <a:spcAft>
                <a:spcPts val="0"/>
              </a:spcAft>
              <a:buNone/>
            </a:pPr>
            <a:endParaRPr sz="2400">
              <a:latin typeface="Century Schoolbook"/>
              <a:ea typeface="Century Schoolbook"/>
              <a:cs typeface="Century Schoolbook"/>
              <a:sym typeface="Century Schoolbook"/>
            </a:endParaRPr>
          </a:p>
          <a:p>
            <a:pPr marL="0" lvl="0" indent="0" algn="l" rtl="0">
              <a:spcBef>
                <a:spcPts val="0"/>
              </a:spcBef>
              <a:spcAft>
                <a:spcPts val="0"/>
              </a:spcAft>
              <a:buNone/>
            </a:pPr>
            <a:r>
              <a:rPr lang="en-US" sz="2400">
                <a:latin typeface="Century Schoolbook"/>
                <a:ea typeface="Century Schoolbook"/>
                <a:cs typeface="Century Schoolbook"/>
                <a:sym typeface="Century Schoolbook"/>
              </a:rPr>
              <a:t>Happy HoCo Week!</a:t>
            </a:r>
            <a:endParaRPr sz="2400">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Andrew Cooter </a:t>
            </a:r>
            <a:endParaRPr/>
          </a:p>
        </p:txBody>
      </p:sp>
      <p:sp>
        <p:nvSpPr>
          <p:cNvPr id="125" name="Google Shape;125;p7"/>
          <p:cNvSpPr txBox="1"/>
          <p:nvPr/>
        </p:nvSpPr>
        <p:spPr>
          <a:xfrm>
            <a:off x="1043925" y="1812375"/>
            <a:ext cx="5472900" cy="4340700"/>
          </a:xfrm>
          <a:prstGeom prst="rect">
            <a:avLst/>
          </a:prstGeom>
          <a:noFill/>
          <a:ln>
            <a:noFill/>
          </a:ln>
        </p:spPr>
        <p:txBody>
          <a:bodyPr spcFirstLastPara="1" wrap="square" lIns="91425" tIns="91425" rIns="91425" bIns="91425" anchor="t" anchorCtr="0">
            <a:spAutoFit/>
          </a:bodyPr>
          <a:lstStyle/>
          <a:p>
            <a:pPr marL="457200" lvl="0" indent="-400050" algn="l" rtl="0">
              <a:spcBef>
                <a:spcPts val="0"/>
              </a:spcBef>
              <a:spcAft>
                <a:spcPts val="0"/>
              </a:spcAft>
              <a:buSzPts val="2700"/>
              <a:buFont typeface="Century Schoolbook"/>
              <a:buChar char="●"/>
            </a:pPr>
            <a:r>
              <a:rPr lang="en-US" sz="2700">
                <a:latin typeface="Century Schoolbook"/>
                <a:ea typeface="Century Schoolbook"/>
                <a:cs typeface="Century Schoolbook"/>
                <a:sym typeface="Century Schoolbook"/>
              </a:rPr>
              <a:t>Financial Health BOT meeting was cool</a:t>
            </a:r>
            <a:endParaRPr sz="2700">
              <a:latin typeface="Century Schoolbook"/>
              <a:ea typeface="Century Schoolbook"/>
              <a:cs typeface="Century Schoolbook"/>
              <a:sym typeface="Century Schoolbook"/>
            </a:endParaRPr>
          </a:p>
          <a:p>
            <a:pPr marL="457200" lvl="0" indent="-400050" algn="l" rtl="0">
              <a:spcBef>
                <a:spcPts val="0"/>
              </a:spcBef>
              <a:spcAft>
                <a:spcPts val="0"/>
              </a:spcAft>
              <a:buSzPts val="2700"/>
              <a:buFont typeface="Century Schoolbook"/>
              <a:buChar char="●"/>
            </a:pPr>
            <a:r>
              <a:rPr lang="en-US" sz="2700">
                <a:latin typeface="Century Schoolbook"/>
                <a:ea typeface="Century Schoolbook"/>
                <a:cs typeface="Century Schoolbook"/>
                <a:sym typeface="Century Schoolbook"/>
              </a:rPr>
              <a:t>Working on finding a way to get more funding to groups outside of SGA (i.e. club sports)</a:t>
            </a:r>
            <a:endParaRPr sz="2700">
              <a:latin typeface="Century Schoolbook"/>
              <a:ea typeface="Century Schoolbook"/>
              <a:cs typeface="Century Schoolbook"/>
              <a:sym typeface="Century Schoolbook"/>
            </a:endParaRPr>
          </a:p>
          <a:p>
            <a:pPr marL="457200" lvl="0" indent="-400050" algn="l" rtl="0">
              <a:spcBef>
                <a:spcPts val="0"/>
              </a:spcBef>
              <a:spcAft>
                <a:spcPts val="0"/>
              </a:spcAft>
              <a:buSzPts val="2700"/>
              <a:buFont typeface="Century Schoolbook"/>
              <a:buChar char="●"/>
            </a:pPr>
            <a:r>
              <a:rPr lang="en-US" sz="2700">
                <a:latin typeface="Century Schoolbook"/>
                <a:ea typeface="Century Schoolbook"/>
                <a:cs typeface="Century Schoolbook"/>
                <a:sym typeface="Century Schoolbook"/>
              </a:rPr>
              <a:t>Raising money for Greenville Humane Society - would appreciate any and every donation! </a:t>
            </a:r>
            <a:endParaRPr sz="2700">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Carly Gillis </a:t>
            </a:r>
            <a:endParaRPr/>
          </a:p>
        </p:txBody>
      </p:sp>
      <p:sp>
        <p:nvSpPr>
          <p:cNvPr id="133" name="Google Shape;133;p8"/>
          <p:cNvSpPr txBox="1"/>
          <p:nvPr/>
        </p:nvSpPr>
        <p:spPr>
          <a:xfrm>
            <a:off x="3000800" y="1647900"/>
            <a:ext cx="922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34" name="Google Shape;134;p8"/>
          <p:cNvSpPr txBox="1"/>
          <p:nvPr/>
        </p:nvSpPr>
        <p:spPr>
          <a:xfrm>
            <a:off x="1173500" y="1783250"/>
            <a:ext cx="155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135" name="Google Shape;135;p8"/>
          <p:cNvSpPr txBox="1"/>
          <p:nvPr/>
        </p:nvSpPr>
        <p:spPr>
          <a:xfrm>
            <a:off x="406475" y="1783250"/>
            <a:ext cx="8121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b="1">
              <a:latin typeface="Century Schoolbook"/>
              <a:ea typeface="Century Schoolbook"/>
              <a:cs typeface="Century Schoolbook"/>
              <a:sym typeface="Century Schoolbook"/>
            </a:endParaRPr>
          </a:p>
        </p:txBody>
      </p:sp>
      <p:sp>
        <p:nvSpPr>
          <p:cNvPr id="136" name="Google Shape;136;p8"/>
          <p:cNvSpPr txBox="1"/>
          <p:nvPr/>
        </p:nvSpPr>
        <p:spPr>
          <a:xfrm>
            <a:off x="921750" y="1639950"/>
            <a:ext cx="10348500" cy="3578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enjoyed the external affairs BOT meeting, things that came up were outreach to potential students, sense of belonging, and the Furman image. Jason Donnelley gave a great presentation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starting rep highlights next week on the Instagram. I am a perfectionist and it must be perfect :’)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sending out emails, one with the HOCO schedule before 10am Monday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NEDA DH alert system was scratched, RIP! but we adjust and adapt! Hoping to meet with Tony McGuirt to discuss body/food positive language in the next two weeks. Operation sticky note in NV next week. Not going to NYC NEDA gala but in lieu hoping to do a little tabling event!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Also only one club has done the social media interest form after sending it out again (very sad :( so I’m just picking clubs at this point that are smaller-ish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Hoping to get Jason Donnelly to come and speak but we have some more senior administration members coming in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SECRET SANTA?????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Cheer for gameday series part two!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will be taking lots of videos for HOCO week!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r>
              <a:rPr lang="en-US">
                <a:latin typeface="Century Schoolbook"/>
                <a:ea typeface="Century Schoolbook"/>
                <a:cs typeface="Century Schoolbook"/>
                <a:sym typeface="Century Schoolbook"/>
              </a:rPr>
              <a:t>SUPPORT ANDREW AND LYDIA!!!!!!!!!!!! </a:t>
            </a:r>
            <a:endParaRPr>
              <a:latin typeface="Century Schoolbook"/>
              <a:ea typeface="Century Schoolbook"/>
              <a:cs typeface="Century Schoolbook"/>
              <a:sym typeface="Century Schoolbook"/>
            </a:endParaRPr>
          </a:p>
          <a:p>
            <a:pPr marL="457200" lvl="0" indent="-317500" algn="l" rtl="0">
              <a:spcBef>
                <a:spcPts val="0"/>
              </a:spcBef>
              <a:spcAft>
                <a:spcPts val="0"/>
              </a:spcAft>
              <a:buSzPts val="1400"/>
              <a:buFont typeface="Century Schoolbook"/>
              <a:buChar char="-"/>
            </a:pPr>
            <a:endParaRPr>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16c3647e48c_0_5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Lydia McCarty </a:t>
            </a:r>
            <a:endParaRPr/>
          </a:p>
        </p:txBody>
      </p:sp>
      <p:sp>
        <p:nvSpPr>
          <p:cNvPr id="143" name="Google Shape;143;g16c3647e48c_0_56"/>
          <p:cNvSpPr txBox="1">
            <a:spLocks noGrp="1"/>
          </p:cNvSpPr>
          <p:nvPr>
            <p:ph type="body" idx="1"/>
          </p:nvPr>
        </p:nvSpPr>
        <p:spPr>
          <a:xfrm>
            <a:off x="163776" y="1690825"/>
            <a:ext cx="58947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Board of Trustees Investment Committee meeting: Why should students care about how the endowment is being managed? </a:t>
            </a:r>
            <a:endParaRPr/>
          </a:p>
          <a:p>
            <a:pPr marL="457200" lvl="0" indent="-342900" algn="l" rtl="0">
              <a:spcBef>
                <a:spcPts val="1000"/>
              </a:spcBef>
              <a:spcAft>
                <a:spcPts val="0"/>
              </a:spcAft>
              <a:buSzPts val="1800"/>
              <a:buChar char="•"/>
            </a:pPr>
            <a:r>
              <a:rPr lang="en-US"/>
              <a:t>Much of the revenue goes to student scholarships. </a:t>
            </a:r>
            <a:endParaRPr/>
          </a:p>
          <a:p>
            <a:pPr marL="457200" lvl="0" indent="-342900" algn="l" rtl="0">
              <a:spcBef>
                <a:spcPts val="0"/>
              </a:spcBef>
              <a:spcAft>
                <a:spcPts val="0"/>
              </a:spcAft>
              <a:buSzPts val="1800"/>
              <a:buChar char="•"/>
            </a:pPr>
            <a:r>
              <a:rPr lang="en-US"/>
              <a:t>Interesting information: the committee is projecting the endowment will reach $1 billion between 2033 and 2037</a:t>
            </a:r>
            <a:endParaRPr/>
          </a:p>
        </p:txBody>
      </p:sp>
      <p:sp>
        <p:nvSpPr>
          <p:cNvPr id="144" name="Google Shape;144;g16c3647e48c_0_56"/>
          <p:cNvSpPr txBox="1"/>
          <p:nvPr/>
        </p:nvSpPr>
        <p:spPr>
          <a:xfrm>
            <a:off x="6339800" y="1697950"/>
            <a:ext cx="5424600" cy="427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accent2"/>
                </a:solidFill>
                <a:latin typeface="Century Schoolbook"/>
                <a:ea typeface="Century Schoolbook"/>
                <a:cs typeface="Century Schoolbook"/>
                <a:sym typeface="Century Schoolbook"/>
              </a:rPr>
              <a:t>Personal News</a:t>
            </a:r>
            <a:endParaRPr sz="2400">
              <a:solidFill>
                <a:schemeClr val="accent2"/>
              </a:solidFill>
              <a:latin typeface="Century Schoolbook"/>
              <a:ea typeface="Century Schoolbook"/>
              <a:cs typeface="Century Schoolbook"/>
              <a:sym typeface="Century Schoolbook"/>
            </a:endParaRPr>
          </a:p>
          <a:p>
            <a:pPr marL="457200" lvl="0" indent="-381000" algn="l" rtl="0">
              <a:spcBef>
                <a:spcPts val="0"/>
              </a:spcBef>
              <a:spcAft>
                <a:spcPts val="0"/>
              </a:spcAft>
              <a:buClr>
                <a:schemeClr val="accent2"/>
              </a:buClr>
              <a:buSzPts val="2400"/>
              <a:buFont typeface="Century Schoolbook"/>
              <a:buChar char="●"/>
            </a:pPr>
            <a:r>
              <a:rPr lang="en-US" sz="2400">
                <a:solidFill>
                  <a:schemeClr val="accent2"/>
                </a:solidFill>
                <a:latin typeface="Century Schoolbook"/>
                <a:ea typeface="Century Schoolbook"/>
                <a:cs typeface="Century Schoolbook"/>
                <a:sym typeface="Century Schoolbook"/>
              </a:rPr>
              <a:t>I am participating in HAVOC and would appreciate your support! I am raising money for the High Atlas Foundation, specifically to provide relief from the earthquake in Morocco, where I spent the summer. </a:t>
            </a:r>
            <a:endParaRPr sz="2400">
              <a:solidFill>
                <a:schemeClr val="accent2"/>
              </a:solidFill>
              <a:latin typeface="Century Schoolbook"/>
              <a:ea typeface="Century Schoolbook"/>
              <a:cs typeface="Century Schoolbook"/>
              <a:sym typeface="Century Schoolbook"/>
            </a:endParaRPr>
          </a:p>
          <a:p>
            <a:pPr marL="457200" lvl="0" indent="-381000" algn="l" rtl="0">
              <a:spcBef>
                <a:spcPts val="0"/>
              </a:spcBef>
              <a:spcAft>
                <a:spcPts val="0"/>
              </a:spcAft>
              <a:buClr>
                <a:schemeClr val="accent2"/>
              </a:buClr>
              <a:buSzPts val="2400"/>
              <a:buFont typeface="Century Schoolbook"/>
              <a:buChar char="●"/>
            </a:pPr>
            <a:r>
              <a:rPr lang="en-US" sz="2400">
                <a:solidFill>
                  <a:schemeClr val="accent2"/>
                </a:solidFill>
                <a:latin typeface="Century Schoolbook"/>
                <a:ea typeface="Century Schoolbook"/>
                <a:cs typeface="Century Schoolbook"/>
                <a:sym typeface="Century Schoolbook"/>
              </a:rPr>
              <a:t>I will be accepting cash donations as well as donations via Venmo Lydia-McCarty-1</a:t>
            </a:r>
            <a:endParaRPr sz="2400">
              <a:solidFill>
                <a:schemeClr val="accent2"/>
              </a:solidFill>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16c3647e48c_0_6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Tatyana Gonzalez </a:t>
            </a:r>
            <a:endParaRPr/>
          </a:p>
        </p:txBody>
      </p:sp>
      <p:sp>
        <p:nvSpPr>
          <p:cNvPr id="151" name="Google Shape;151;g16c3647e48c_0_62"/>
          <p:cNvSpPr txBox="1">
            <a:spLocks noGrp="1"/>
          </p:cNvSpPr>
          <p:nvPr>
            <p:ph type="body" idx="1"/>
          </p:nvPr>
        </p:nvSpPr>
        <p:spPr>
          <a:xfrm>
            <a:off x="838200" y="1832600"/>
            <a:ext cx="105156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endParaRPr sz="2654"/>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ctrTitle"/>
          </p:nvPr>
        </p:nvSpPr>
        <p:spPr>
          <a:xfrm>
            <a:off x="1524000" y="14203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Representative Reports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166250" y="1092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latin typeface="Comic Sans MS"/>
                <a:ea typeface="Comic Sans MS"/>
                <a:cs typeface="Comic Sans MS"/>
                <a:sym typeface="Comic Sans MS"/>
              </a:rPr>
              <a:t> </a:t>
            </a:r>
            <a:r>
              <a:rPr lang="en-US">
                <a:latin typeface="Libre Franklin"/>
                <a:ea typeface="Libre Franklin"/>
                <a:cs typeface="Libre Franklin"/>
                <a:sym typeface="Libre Franklin"/>
              </a:rPr>
              <a:t>Sydney Beraho </a:t>
            </a:r>
            <a:endParaRPr>
              <a:latin typeface="Libre Franklin"/>
              <a:ea typeface="Libre Franklin"/>
              <a:cs typeface="Libre Franklin"/>
              <a:sym typeface="Libre Franklin"/>
            </a:endParaRPr>
          </a:p>
        </p:txBody>
      </p:sp>
      <p:sp>
        <p:nvSpPr>
          <p:cNvPr id="164" name="Google Shape;164;p12"/>
          <p:cNvSpPr txBox="1"/>
          <p:nvPr/>
        </p:nvSpPr>
        <p:spPr>
          <a:xfrm>
            <a:off x="166250" y="1434975"/>
            <a:ext cx="4627500" cy="4926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000">
              <a:latin typeface="Comic Sans MS"/>
              <a:ea typeface="Comic Sans MS"/>
              <a:cs typeface="Comic Sans MS"/>
              <a:sym typeface="Comic Sans MS"/>
            </a:endParaRPr>
          </a:p>
        </p:txBody>
      </p:sp>
      <p:sp>
        <p:nvSpPr>
          <p:cNvPr id="165" name="Google Shape;165;p12"/>
          <p:cNvSpPr txBox="1"/>
          <p:nvPr/>
        </p:nvSpPr>
        <p:spPr>
          <a:xfrm>
            <a:off x="4710650" y="3851575"/>
            <a:ext cx="2885400" cy="2175300"/>
          </a:xfrm>
          <a:prstGeom prst="rect">
            <a:avLst/>
          </a:prstGeom>
          <a:noFill/>
          <a:ln>
            <a:noFill/>
          </a:ln>
        </p:spPr>
        <p:txBody>
          <a:bodyPr spcFirstLastPara="1" wrap="square" lIns="91425" tIns="91425" rIns="91425" bIns="91425" anchor="ctr" anchorCtr="0">
            <a:noAutofit/>
          </a:bodyPr>
          <a:lstStyle/>
          <a:p>
            <a:pPr marL="457200" lvl="0" indent="0" algn="l" rtl="0">
              <a:lnSpc>
                <a:spcPct val="115000"/>
              </a:lnSpc>
              <a:spcBef>
                <a:spcPts val="0"/>
              </a:spcBef>
              <a:spcAft>
                <a:spcPts val="0"/>
              </a:spcAft>
              <a:buNone/>
            </a:pPr>
            <a:endParaRPr sz="1600">
              <a:solidFill>
                <a:srgbClr val="582C83"/>
              </a:solidFill>
              <a:latin typeface="Comic Sans MS"/>
              <a:ea typeface="Comic Sans MS"/>
              <a:cs typeface="Comic Sans MS"/>
              <a:sym typeface="Comic Sans MS"/>
            </a:endParaRPr>
          </a:p>
        </p:txBody>
      </p:sp>
      <p:sp>
        <p:nvSpPr>
          <p:cNvPr id="166" name="Google Shape;166;p12"/>
          <p:cNvSpPr txBox="1"/>
          <p:nvPr/>
        </p:nvSpPr>
        <p:spPr>
          <a:xfrm>
            <a:off x="964800" y="1553450"/>
            <a:ext cx="7509900" cy="36018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Flu Shot Clinics were a success!</a:t>
            </a:r>
            <a:endParaRPr sz="2600">
              <a:latin typeface="Century Schoolbook"/>
              <a:ea typeface="Century Schoolbook"/>
              <a:cs typeface="Century Schoolbook"/>
              <a:sym typeface="Century Schoolbook"/>
            </a:endParaRPr>
          </a:p>
          <a:p>
            <a:pPr marL="914400" lvl="1"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200+ people </a:t>
            </a:r>
            <a:endParaRPr sz="2600">
              <a:latin typeface="Century Schoolbook"/>
              <a:ea typeface="Century Schoolbook"/>
              <a:cs typeface="Century Schoolbook"/>
              <a:sym typeface="Century Schoolbook"/>
            </a:endParaRPr>
          </a:p>
          <a:p>
            <a:pPr marL="914400" lvl="1"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Thank you Lindsay Swaim ‘24 for the graphic and support</a:t>
            </a:r>
            <a:endParaRPr sz="2600">
              <a:latin typeface="Century Schoolbook"/>
              <a:ea typeface="Century Schoolbook"/>
              <a:cs typeface="Century Schoolbook"/>
              <a:sym typeface="Century Schoolbook"/>
            </a:endParaRPr>
          </a:p>
          <a:p>
            <a:pPr marL="914400" lvl="1"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All prizes have arrived - Raffle Winners picked soon</a:t>
            </a:r>
            <a:endParaRPr sz="2600">
              <a:latin typeface="Century Schoolbook"/>
              <a:ea typeface="Century Schoolbook"/>
              <a:cs typeface="Century Schoolbook"/>
              <a:sym typeface="Century Schoolbook"/>
            </a:endParaRPr>
          </a:p>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Senior Class Gift Launch Party was also a success!</a:t>
            </a:r>
            <a:endParaRPr sz="2600">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Leah Manning </a:t>
            </a:r>
            <a:endParaRPr/>
          </a:p>
        </p:txBody>
      </p:sp>
      <p:sp>
        <p:nvSpPr>
          <p:cNvPr id="173" name="Google Shape;173;p14"/>
          <p:cNvSpPr txBox="1">
            <a:spLocks noGrp="1"/>
          </p:cNvSpPr>
          <p:nvPr>
            <p:ph type="body" idx="1"/>
          </p:nvPr>
        </p:nvSpPr>
        <p:spPr>
          <a:xfrm>
            <a:off x="838200" y="1690825"/>
            <a:ext cx="10515600" cy="4624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Senior Class Gift Launch Party! :)</a:t>
            </a:r>
            <a:endParaRPr/>
          </a:p>
          <a:p>
            <a:pPr marL="0" lvl="0" indent="0" algn="l" rtl="0">
              <a:spcBef>
                <a:spcPts val="1000"/>
              </a:spcBef>
              <a:spcAft>
                <a:spcPts val="0"/>
              </a:spcAft>
              <a:buNone/>
            </a:pPr>
            <a:endParaRPr/>
          </a:p>
          <a:p>
            <a:pPr marL="0" lvl="0" indent="0" algn="l" rtl="0">
              <a:spcBef>
                <a:spcPts val="1000"/>
              </a:spcBef>
              <a:spcAft>
                <a:spcPts val="0"/>
              </a:spcAft>
              <a:buNone/>
            </a:pPr>
            <a:r>
              <a:rPr lang="en-US"/>
              <a:t>As of Sunday morning: 36 Donors (12% of 300 donor goal)</a:t>
            </a:r>
            <a:endParaRPr/>
          </a:p>
          <a:p>
            <a:pPr marL="0" lvl="0" indent="0" algn="l" rtl="0">
              <a:spcBef>
                <a:spcPts val="1000"/>
              </a:spcBef>
              <a:spcAft>
                <a:spcPts val="0"/>
              </a:spcAft>
              <a:buNone/>
            </a:pPr>
            <a:r>
              <a:rPr lang="en-US" b="1" u="sng">
                <a:solidFill>
                  <a:schemeClr val="dk1"/>
                </a:solidFill>
              </a:rPr>
              <a:t>Let’s beat the class of 2023!!!</a:t>
            </a:r>
            <a:r>
              <a:rPr lang="en-US"/>
              <a:t> (54% participation)</a:t>
            </a:r>
            <a:endParaRPr/>
          </a:p>
          <a:p>
            <a:pPr marL="0" lvl="0" indent="0" algn="l" rtl="0">
              <a:spcBef>
                <a:spcPts val="1000"/>
              </a:spcBef>
              <a:spcAft>
                <a:spcPts val="0"/>
              </a:spcAft>
              <a:buNone/>
            </a:pPr>
            <a:endParaRPr/>
          </a:p>
          <a:p>
            <a:pPr marL="0" lvl="0" indent="0" algn="l" rtl="0">
              <a:spcBef>
                <a:spcPts val="1000"/>
              </a:spcBef>
              <a:spcAft>
                <a:spcPts val="0"/>
              </a:spcAft>
              <a:buNone/>
            </a:pPr>
            <a:r>
              <a:rPr lang="en-US"/>
              <a:t>Give a total of $75 by December 31, 2023 and have brick by the Bell Tower by commencement</a:t>
            </a:r>
            <a:endParaRPr/>
          </a:p>
          <a:p>
            <a:pPr marL="0" lvl="0" indent="0" algn="l" rtl="0">
              <a:spcBef>
                <a:spcPts val="1000"/>
              </a:spcBef>
              <a:spcAft>
                <a:spcPts val="0"/>
              </a:spcAft>
              <a:buNone/>
            </a:pPr>
            <a:endParaRPr/>
          </a:p>
          <a:p>
            <a:pPr marL="0" lvl="0" indent="0" algn="l" rtl="0">
              <a:spcBef>
                <a:spcPts val="1000"/>
              </a:spcBef>
              <a:spcAft>
                <a:spcPts val="0"/>
              </a:spcAft>
              <a:buNone/>
            </a:pPr>
            <a:r>
              <a:rPr lang="en-US"/>
              <a:t>Click </a:t>
            </a:r>
            <a:r>
              <a:rPr lang="en-US" b="1" i="1" u="sng">
                <a:solidFill>
                  <a:schemeClr val="dk1"/>
                </a:solidFill>
                <a:hlinkClick r:id="rId3">
                  <a:extLst>
                    <a:ext uri="{A12FA001-AC4F-418D-AE19-62706E023703}">
                      <ahyp:hlinkClr xmlns:ahyp="http://schemas.microsoft.com/office/drawing/2018/hyperlinkcolor" val="tx"/>
                    </a:ext>
                  </a:extLst>
                </a:hlinkClick>
              </a:rPr>
              <a:t>here</a:t>
            </a:r>
            <a:r>
              <a:rPr lang="en-US"/>
              <a:t> to give! </a:t>
            </a:r>
            <a:r>
              <a:rPr lang="en-US" b="1" u="sng"/>
              <a:t>You</a:t>
            </a:r>
            <a:r>
              <a:rPr lang="en-US" b="1"/>
              <a:t> </a:t>
            </a:r>
            <a:r>
              <a:rPr lang="en-US"/>
              <a:t>choose where your money goes!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txBox="1">
            <a:spLocks noGrp="1"/>
          </p:cNvSpPr>
          <p:nvPr>
            <p:ph type="title"/>
          </p:nvPr>
        </p:nvSpPr>
        <p:spPr>
          <a:xfrm>
            <a:off x="202200" y="1107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Alex Murray </a:t>
            </a:r>
            <a:endParaRPr/>
          </a:p>
        </p:txBody>
      </p:sp>
      <p:sp>
        <p:nvSpPr>
          <p:cNvPr id="180" name="Google Shape;180;p11"/>
          <p:cNvSpPr txBox="1"/>
          <p:nvPr/>
        </p:nvSpPr>
        <p:spPr>
          <a:xfrm>
            <a:off x="244550" y="1314350"/>
            <a:ext cx="6823800" cy="431100"/>
          </a:xfrm>
          <a:prstGeom prst="rect">
            <a:avLst/>
          </a:prstGeom>
          <a:noFill/>
          <a:ln>
            <a:noFill/>
          </a:ln>
        </p:spPr>
        <p:txBody>
          <a:bodyPr spcFirstLastPara="1" wrap="square" lIns="91425" tIns="91425" rIns="91425" bIns="91425" anchor="t" anchorCtr="0">
            <a:spAutoFit/>
          </a:bodyPr>
          <a:lstStyle/>
          <a:p>
            <a:pPr marL="914400" lvl="0" indent="0" algn="l" rtl="0">
              <a:spcBef>
                <a:spcPts val="0"/>
              </a:spcBef>
              <a:spcAft>
                <a:spcPts val="0"/>
              </a:spcAft>
              <a:buNone/>
            </a:pPr>
            <a:endParaRPr sz="1600">
              <a:latin typeface="Century Schoolbook"/>
              <a:ea typeface="Century Schoolbook"/>
              <a:cs typeface="Century Schoolbook"/>
              <a:sym typeface="Century Schoolboo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3"/>
          <p:cNvSpPr txBox="1">
            <a:spLocks noGrp="1"/>
          </p:cNvSpPr>
          <p:nvPr>
            <p:ph type="title"/>
          </p:nvPr>
        </p:nvSpPr>
        <p:spPr>
          <a:xfrm>
            <a:off x="459225" y="3529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sz="3600" b="1">
                <a:solidFill>
                  <a:srgbClr val="582C83"/>
                </a:solidFill>
                <a:latin typeface="Century Schoolbook"/>
                <a:ea typeface="Century Schoolbook"/>
                <a:cs typeface="Century Schoolbook"/>
                <a:sym typeface="Century Schoolbook"/>
              </a:rPr>
              <a:t>Kelsey Sumter </a:t>
            </a:r>
            <a:endParaRPr sz="3600">
              <a:solidFill>
                <a:srgbClr val="582C83"/>
              </a:solidFill>
            </a:endParaRPr>
          </a:p>
        </p:txBody>
      </p:sp>
      <p:sp>
        <p:nvSpPr>
          <p:cNvPr id="187" name="Google Shape;187;p13"/>
          <p:cNvSpPr txBox="1"/>
          <p:nvPr/>
        </p:nvSpPr>
        <p:spPr>
          <a:xfrm>
            <a:off x="459225" y="1786625"/>
            <a:ext cx="7912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latin typeface="Century Schoolbook"/>
              <a:ea typeface="Century Schoolbook"/>
              <a:cs typeface="Century Schoolbook"/>
              <a:sym typeface="Century Schoolbook"/>
            </a:endParaRPr>
          </a:p>
        </p:txBody>
      </p:sp>
      <p:sp>
        <p:nvSpPr>
          <p:cNvPr id="188" name="Google Shape;188;p13"/>
          <p:cNvSpPr txBox="1"/>
          <p:nvPr/>
        </p:nvSpPr>
        <p:spPr>
          <a:xfrm>
            <a:off x="8404163" y="644825"/>
            <a:ext cx="3554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500" b="1" i="1">
              <a:latin typeface="Century Schoolbook"/>
              <a:ea typeface="Century Schoolbook"/>
              <a:cs typeface="Century Schoolbook"/>
              <a:sym typeface="Century Schoolboo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16c3647e48c_0_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lnSpc>
                <a:spcPct val="115000"/>
              </a:lnSpc>
              <a:spcBef>
                <a:spcPts val="1200"/>
              </a:spcBef>
              <a:spcAft>
                <a:spcPts val="1200"/>
              </a:spcAft>
              <a:buNone/>
            </a:pPr>
            <a:r>
              <a:rPr lang="en-US">
                <a:latin typeface="Arial"/>
                <a:ea typeface="Arial"/>
                <a:cs typeface="Arial"/>
                <a:sym typeface="Arial"/>
              </a:rPr>
              <a:t>Mary Boucher </a:t>
            </a:r>
            <a:endParaRPr>
              <a:solidFill>
                <a:srgbClr val="582C83"/>
              </a:solidFill>
            </a:endParaRPr>
          </a:p>
        </p:txBody>
      </p:sp>
      <p:sp>
        <p:nvSpPr>
          <p:cNvPr id="195" name="Google Shape;195;g16c3647e48c_0_3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92500" lnSpcReduction="10000"/>
          </a:bodyPr>
          <a:lstStyle/>
          <a:p>
            <a:pPr marL="0" lvl="0" indent="0" algn="l" rtl="0">
              <a:lnSpc>
                <a:spcPct val="115000"/>
              </a:lnSpc>
              <a:spcBef>
                <a:spcPts val="1000"/>
              </a:spcBef>
              <a:spcAft>
                <a:spcPts val="0"/>
              </a:spcAft>
              <a:buNone/>
            </a:pPr>
            <a:r>
              <a:rPr lang="en-US">
                <a:latin typeface="Arial"/>
                <a:ea typeface="Arial"/>
                <a:cs typeface="Arial"/>
                <a:sym typeface="Arial"/>
              </a:rPr>
              <a:t>Still working on trying to get in contact with someone in student life to work on getting the used textbook thingy on Syncdin or something similar to Facebook, where students can post their listings in ISO </a:t>
            </a:r>
            <a:endParaRPr>
              <a:latin typeface="Arial"/>
              <a:ea typeface="Arial"/>
              <a:cs typeface="Arial"/>
              <a:sym typeface="Arial"/>
            </a:endParaRPr>
          </a:p>
          <a:p>
            <a:pPr marL="0" lvl="0" indent="0" algn="l" rtl="0">
              <a:lnSpc>
                <a:spcPct val="115000"/>
              </a:lnSpc>
              <a:spcBef>
                <a:spcPts val="1000"/>
              </a:spcBef>
              <a:spcAft>
                <a:spcPts val="0"/>
              </a:spcAft>
              <a:buNone/>
            </a:pPr>
            <a:r>
              <a:rPr lang="en-US">
                <a:latin typeface="Arial"/>
                <a:ea typeface="Arial"/>
                <a:cs typeface="Arial"/>
                <a:sym typeface="Arial"/>
              </a:rPr>
              <a:t>(Do you guys think students use Facebook enough to make a page to sell textbooks?)</a:t>
            </a:r>
            <a:endParaRPr>
              <a:latin typeface="Arial"/>
              <a:ea typeface="Arial"/>
              <a:cs typeface="Arial"/>
              <a:sym typeface="Arial"/>
            </a:endParaRPr>
          </a:p>
          <a:p>
            <a:pPr marL="0" lvl="0" indent="0" algn="l" rtl="0">
              <a:lnSpc>
                <a:spcPct val="115000"/>
              </a:lnSpc>
              <a:spcBef>
                <a:spcPts val="1000"/>
              </a:spcBef>
              <a:spcAft>
                <a:spcPts val="0"/>
              </a:spcAft>
              <a:buNone/>
            </a:pPr>
            <a:r>
              <a:rPr lang="en-US">
                <a:latin typeface="Arial"/>
                <a:ea typeface="Arial"/>
                <a:cs typeface="Arial"/>
                <a:sym typeface="Arial"/>
              </a:rPr>
              <a:t>Comment for Class E-Mails: can we make sure in the email from carly to link SyncDin? This is a HUGE cost for SGA and students aren't really using it… I think linking it in the emails will help, as well as encouraging orgs to post their events! </a:t>
            </a:r>
            <a:endParaRPr>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16c3647e48c_0_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lnSpc>
                <a:spcPct val="115000"/>
              </a:lnSpc>
              <a:spcBef>
                <a:spcPts val="1200"/>
              </a:spcBef>
              <a:spcAft>
                <a:spcPts val="1200"/>
              </a:spcAft>
              <a:buNone/>
            </a:pPr>
            <a:r>
              <a:rPr lang="en-US">
                <a:solidFill>
                  <a:schemeClr val="dk1"/>
                </a:solidFill>
                <a:latin typeface="Libre Franklin"/>
                <a:ea typeface="Libre Franklin"/>
                <a:cs typeface="Libre Franklin"/>
                <a:sym typeface="Libre Franklin"/>
              </a:rPr>
              <a:t>Adara Briceño</a:t>
            </a:r>
            <a:endParaRPr>
              <a:solidFill>
                <a:schemeClr val="dk1"/>
              </a:solidFill>
            </a:endParaRPr>
          </a:p>
        </p:txBody>
      </p:sp>
      <p:sp>
        <p:nvSpPr>
          <p:cNvPr id="202" name="Google Shape;202;g16c3647e48c_0_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16c3647e48c_0_24"/>
          <p:cNvSpPr txBox="1">
            <a:spLocks noGrp="1"/>
          </p:cNvSpPr>
          <p:nvPr>
            <p:ph type="title"/>
          </p:nvPr>
        </p:nvSpPr>
        <p:spPr>
          <a:xfrm>
            <a:off x="409425" y="499925"/>
            <a:ext cx="10515600" cy="1325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1200"/>
              </a:spcBef>
              <a:spcAft>
                <a:spcPts val="0"/>
              </a:spcAft>
              <a:buNone/>
            </a:pPr>
            <a:endParaRPr sz="4850">
              <a:latin typeface="Arial"/>
              <a:ea typeface="Arial"/>
              <a:cs typeface="Arial"/>
              <a:sym typeface="Arial"/>
            </a:endParaRPr>
          </a:p>
          <a:p>
            <a:pPr marL="0" lvl="0" indent="0" algn="l" rtl="0">
              <a:lnSpc>
                <a:spcPct val="115000"/>
              </a:lnSpc>
              <a:spcBef>
                <a:spcPts val="1200"/>
              </a:spcBef>
              <a:spcAft>
                <a:spcPts val="0"/>
              </a:spcAft>
              <a:buNone/>
            </a:pPr>
            <a:r>
              <a:rPr lang="en-US" sz="4850">
                <a:latin typeface="Arial"/>
                <a:ea typeface="Arial"/>
                <a:cs typeface="Arial"/>
                <a:sym typeface="Arial"/>
              </a:rPr>
              <a:t>Deen Deovic </a:t>
            </a:r>
            <a:r>
              <a:rPr lang="en-US" sz="4850">
                <a:solidFill>
                  <a:srgbClr val="582C83"/>
                </a:solidFill>
                <a:latin typeface="Arial"/>
                <a:ea typeface="Arial"/>
                <a:cs typeface="Arial"/>
                <a:sym typeface="Arial"/>
              </a:rPr>
              <a:t> </a:t>
            </a:r>
            <a:endParaRPr sz="4850">
              <a:solidFill>
                <a:srgbClr val="582C83"/>
              </a:solidFill>
              <a:latin typeface="Arial"/>
              <a:ea typeface="Arial"/>
              <a:cs typeface="Arial"/>
              <a:sym typeface="Arial"/>
            </a:endParaRPr>
          </a:p>
          <a:p>
            <a:pPr marL="0" lvl="0" indent="0" algn="l" rtl="0">
              <a:lnSpc>
                <a:spcPct val="115000"/>
              </a:lnSpc>
              <a:spcBef>
                <a:spcPts val="1200"/>
              </a:spcBef>
              <a:spcAft>
                <a:spcPts val="0"/>
              </a:spcAft>
              <a:buNone/>
            </a:pPr>
            <a:endParaRPr sz="1100" b="1">
              <a:solidFill>
                <a:srgbClr val="000000"/>
              </a:solidFill>
              <a:latin typeface="Arial"/>
              <a:ea typeface="Arial"/>
              <a:cs typeface="Arial"/>
              <a:sym typeface="Arial"/>
            </a:endParaRPr>
          </a:p>
          <a:p>
            <a:pPr marL="0" lvl="0" indent="0" algn="l" rtl="0">
              <a:spcBef>
                <a:spcPts val="1200"/>
              </a:spcBef>
              <a:spcAft>
                <a:spcPts val="0"/>
              </a:spcAft>
              <a:buNone/>
            </a:pPr>
            <a:endParaRPr/>
          </a:p>
        </p:txBody>
      </p:sp>
      <p:sp>
        <p:nvSpPr>
          <p:cNvPr id="209" name="Google Shape;209;g16c3647e48c_0_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0" algn="l" rtl="0">
              <a:lnSpc>
                <a:spcPct val="150000"/>
              </a:lnSpc>
              <a:spcBef>
                <a:spcPts val="10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16c3647e48c_0_4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lnSpc>
                <a:spcPct val="115000"/>
              </a:lnSpc>
              <a:spcBef>
                <a:spcPts val="1200"/>
              </a:spcBef>
              <a:spcAft>
                <a:spcPts val="1200"/>
              </a:spcAft>
              <a:buNone/>
            </a:pPr>
            <a:r>
              <a:rPr lang="en-US">
                <a:latin typeface="Libre Franklin"/>
                <a:ea typeface="Libre Franklin"/>
                <a:cs typeface="Libre Franklin"/>
                <a:sym typeface="Libre Franklin"/>
              </a:rPr>
              <a:t>Jennifer Woollery </a:t>
            </a:r>
            <a:endParaRPr>
              <a:solidFill>
                <a:srgbClr val="582C83"/>
              </a:solidFill>
            </a:endParaRPr>
          </a:p>
        </p:txBody>
      </p:sp>
      <p:sp>
        <p:nvSpPr>
          <p:cNvPr id="216" name="Google Shape;216;g16c3647e48c_0_4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in contact w/Andrea Byrd about potential change to course registration policy </a:t>
            </a:r>
            <a:endParaRPr/>
          </a:p>
          <a:p>
            <a:pPr marL="457200" lvl="0" indent="-342900" algn="l" rtl="0">
              <a:spcBef>
                <a:spcPts val="0"/>
              </a:spcBef>
              <a:spcAft>
                <a:spcPts val="0"/>
              </a:spcAft>
              <a:buSzPts val="1800"/>
              <a:buChar char="•"/>
            </a:pPr>
            <a:r>
              <a:rPr lang="en-US"/>
              <a:t>planning to meet w/Health Science dpt. about helping provide accurate nutrition information to dh menu items  </a:t>
            </a:r>
            <a:endParaRPr/>
          </a:p>
          <a:p>
            <a:pPr marL="457200" lvl="0" indent="-342900" algn="l" rtl="0">
              <a:spcBef>
                <a:spcPts val="0"/>
              </a:spcBef>
              <a:spcAft>
                <a:spcPts val="0"/>
              </a:spcAft>
              <a:buSzPts val="1800"/>
              <a:buChar char="•"/>
            </a:pPr>
            <a:r>
              <a:rPr lang="en-US"/>
              <a:t>yay  </a:t>
            </a:r>
            <a:endParaRPr/>
          </a:p>
          <a:p>
            <a:pPr marL="457200" lvl="0" indent="-342900" algn="l" rtl="0">
              <a:spcBef>
                <a:spcPts val="0"/>
              </a:spcBef>
              <a:spcAft>
                <a:spcPts val="0"/>
              </a:spcAft>
              <a:buSzPts val="1800"/>
              <a:buChar char="•"/>
            </a:pPr>
            <a:r>
              <a:rPr lang="en-US"/>
              <a:t>working w/Tate on condoms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119f5cc7372_4_7"/>
          <p:cNvSpPr txBox="1">
            <a:spLocks noGrp="1"/>
          </p:cNvSpPr>
          <p:nvPr>
            <p:ph type="title"/>
          </p:nvPr>
        </p:nvSpPr>
        <p:spPr>
          <a:xfrm>
            <a:off x="0" y="-73450"/>
            <a:ext cx="5097000" cy="5583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0909"/>
              <a:buNone/>
            </a:pPr>
            <a:endParaRPr/>
          </a:p>
          <a:p>
            <a:pPr marL="0" lvl="0" indent="0" algn="l" rtl="0">
              <a:lnSpc>
                <a:spcPct val="90000"/>
              </a:lnSpc>
              <a:spcBef>
                <a:spcPts val="0"/>
              </a:spcBef>
              <a:spcAft>
                <a:spcPts val="0"/>
              </a:spcAft>
              <a:buSzPct val="40909"/>
              <a:buNone/>
            </a:pPr>
            <a:r>
              <a:rPr lang="en-US"/>
              <a:t>Caroline Cousar </a:t>
            </a:r>
            <a:endParaRPr/>
          </a:p>
        </p:txBody>
      </p:sp>
      <p:sp>
        <p:nvSpPr>
          <p:cNvPr id="223" name="Google Shape;223;g119f5cc7372_4_7"/>
          <p:cNvSpPr txBox="1"/>
          <p:nvPr/>
        </p:nvSpPr>
        <p:spPr>
          <a:xfrm>
            <a:off x="235025" y="851975"/>
            <a:ext cx="7300500" cy="19395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Century Schoolbook"/>
              <a:buChar char="-"/>
            </a:pPr>
            <a:r>
              <a:rPr lang="en-US" sz="1900">
                <a:latin typeface="Century Schoolbook"/>
                <a:ea typeface="Century Schoolbook"/>
                <a:cs typeface="Century Schoolbook"/>
                <a:sym typeface="Century Schoolbook"/>
              </a:rPr>
              <a:t>Instead of buying more whiteboards for the lib, thoughts about adding adhesive whiteboard paper to a few tables in the lib???</a:t>
            </a:r>
            <a:endParaRPr sz="1900">
              <a:latin typeface="Century Schoolbook"/>
              <a:ea typeface="Century Schoolbook"/>
              <a:cs typeface="Century Schoolbook"/>
              <a:sym typeface="Century Schoolbook"/>
            </a:endParaRPr>
          </a:p>
          <a:p>
            <a:pPr marL="457200" lvl="0" indent="-349250" algn="l" rtl="0">
              <a:spcBef>
                <a:spcPts val="0"/>
              </a:spcBef>
              <a:spcAft>
                <a:spcPts val="0"/>
              </a:spcAft>
              <a:buSzPts val="1900"/>
              <a:buFont typeface="Century Schoolbook"/>
              <a:buChar char="-"/>
            </a:pPr>
            <a:r>
              <a:rPr lang="en-US" sz="1900">
                <a:latin typeface="Century Schoolbook"/>
                <a:ea typeface="Century Schoolbook"/>
                <a:cs typeface="Century Schoolbook"/>
                <a:sym typeface="Century Schoolbook"/>
              </a:rPr>
              <a:t>Come learn more about the doctors who take care of your pets at the veterinary CLP I’ve been planning! It’s this Tuesday at 6:30 p.m. in Patrick Hall!</a:t>
            </a:r>
            <a:endParaRPr sz="1900">
              <a:latin typeface="Century Schoolbook"/>
              <a:ea typeface="Century Schoolbook"/>
              <a:cs typeface="Century Schoolbook"/>
              <a:sym typeface="Century Schoolboo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Tate Denham </a:t>
            </a:r>
            <a:endParaRPr/>
          </a:p>
        </p:txBody>
      </p:sp>
      <p:sp>
        <p:nvSpPr>
          <p:cNvPr id="233" name="Google Shape;233;p15"/>
          <p:cNvSpPr txBox="1"/>
          <p:nvPr/>
        </p:nvSpPr>
        <p:spPr>
          <a:xfrm>
            <a:off x="1019400" y="1431125"/>
            <a:ext cx="4191600" cy="448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latin typeface="Century Schoolbook"/>
                <a:ea typeface="Century Schoolbook"/>
                <a:cs typeface="Century Schoolbook"/>
                <a:sym typeface="Century Schoolbook"/>
              </a:rPr>
              <a:t>Condoms are AGO!</a:t>
            </a: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Met w Matt Riddle for like an hour. He rocks!</a:t>
            </a: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D200, Manly base, and Townes!</a:t>
            </a: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(at one point I had 700 condoms in my possession)</a:t>
            </a:r>
            <a:endParaRPr sz="2000">
              <a:latin typeface="Century Schoolbook"/>
              <a:ea typeface="Century Schoolbook"/>
              <a:cs typeface="Century Schoolbook"/>
              <a:sym typeface="Century Schoolbook"/>
            </a:endParaRPr>
          </a:p>
          <a:p>
            <a:pPr marL="0" lvl="0" indent="0" algn="l" rtl="0">
              <a:spcBef>
                <a:spcPts val="0"/>
              </a:spcBef>
              <a:spcAft>
                <a:spcPts val="0"/>
              </a:spcAft>
              <a:buNone/>
            </a:pP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HOCO IS AGO GO!</a:t>
            </a: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so excited. PLEASE HELP.</a:t>
            </a:r>
            <a:endParaRPr sz="2000">
              <a:latin typeface="Century Schoolbook"/>
              <a:ea typeface="Century Schoolbook"/>
              <a:cs typeface="Century Schoolbook"/>
              <a:sym typeface="Century Schoolbook"/>
            </a:endParaRPr>
          </a:p>
          <a:p>
            <a:pPr marL="0" lvl="0" indent="0" algn="l" rtl="0">
              <a:spcBef>
                <a:spcPts val="0"/>
              </a:spcBef>
              <a:spcAft>
                <a:spcPts val="0"/>
              </a:spcAft>
              <a:buNone/>
            </a:pPr>
            <a:endParaRPr sz="2000">
              <a:latin typeface="Century Schoolbook"/>
              <a:ea typeface="Century Schoolbook"/>
              <a:cs typeface="Century Schoolbook"/>
              <a:sym typeface="Century Schoolbook"/>
            </a:endParaRPr>
          </a:p>
          <a:p>
            <a:pPr marL="0" lvl="0" indent="0" algn="l" rtl="0">
              <a:spcBef>
                <a:spcPts val="0"/>
              </a:spcBef>
              <a:spcAft>
                <a:spcPts val="0"/>
              </a:spcAft>
              <a:buNone/>
            </a:pPr>
            <a:r>
              <a:rPr lang="en-US" sz="2000">
                <a:latin typeface="Century Schoolbook"/>
                <a:ea typeface="Century Schoolbook"/>
                <a:cs typeface="Century Schoolbook"/>
                <a:sym typeface="Century Schoolbook"/>
              </a:rPr>
              <a:t>Gauge Interest - Strengths session for SGA? </a:t>
            </a:r>
            <a:endParaRPr sz="2000">
              <a:latin typeface="Century Schoolbook"/>
              <a:ea typeface="Century Schoolbook"/>
              <a:cs typeface="Century Schoolbook"/>
              <a:sym typeface="Century Schoolboo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Kobby Frempong </a:t>
            </a:r>
            <a:endParaRPr/>
          </a:p>
        </p:txBody>
      </p:sp>
      <p:sp>
        <p:nvSpPr>
          <p:cNvPr id="240" name="Google Shape;240;p16"/>
          <p:cNvSpPr txBox="1"/>
          <p:nvPr/>
        </p:nvSpPr>
        <p:spPr>
          <a:xfrm>
            <a:off x="707575" y="1483175"/>
            <a:ext cx="73887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9600">
              <a:latin typeface="Bangers"/>
              <a:ea typeface="Bangers"/>
              <a:cs typeface="Bangers"/>
              <a:sym typeface="Bangers"/>
            </a:endParaRPr>
          </a:p>
        </p:txBody>
      </p:sp>
      <p:sp>
        <p:nvSpPr>
          <p:cNvPr id="241" name="Google Shape;241;p16"/>
          <p:cNvSpPr txBox="1"/>
          <p:nvPr/>
        </p:nvSpPr>
        <p:spPr>
          <a:xfrm>
            <a:off x="1387925" y="1685800"/>
            <a:ext cx="9172800" cy="25242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Century Schoolbook"/>
              <a:buChar char="-"/>
            </a:pPr>
            <a:r>
              <a:rPr lang="en-US" sz="1900">
                <a:latin typeface="Century Schoolbook"/>
                <a:ea typeface="Century Schoolbook"/>
                <a:cs typeface="Century Schoolbook"/>
                <a:sym typeface="Century Schoolbook"/>
              </a:rPr>
              <a:t>Waiting on response emails from Dean Boyd and Dr Ron Thompson on collaborations for a better student support system for educational needs and providing detergents in the laundry room, respectively.</a:t>
            </a:r>
            <a:endParaRPr sz="1900">
              <a:latin typeface="Century Schoolbook"/>
              <a:ea typeface="Century Schoolbook"/>
              <a:cs typeface="Century Schoolbook"/>
              <a:sym typeface="Century Schoolbook"/>
            </a:endParaRPr>
          </a:p>
          <a:p>
            <a:pPr marL="457200" lvl="0" indent="-349250" algn="l" rtl="0">
              <a:spcBef>
                <a:spcPts val="0"/>
              </a:spcBef>
              <a:spcAft>
                <a:spcPts val="0"/>
              </a:spcAft>
              <a:buSzPts val="1900"/>
              <a:buFont typeface="Century Schoolbook"/>
              <a:buChar char="-"/>
            </a:pPr>
            <a:r>
              <a:rPr lang="en-US" sz="1900">
                <a:latin typeface="Century Schoolbook"/>
                <a:ea typeface="Century Schoolbook"/>
                <a:cs typeface="Century Schoolbook"/>
                <a:sym typeface="Century Schoolbook"/>
              </a:rPr>
              <a:t>Clothes Drive is still ongoing. Please donate any old clothes you have for the homeless community.</a:t>
            </a:r>
            <a:endParaRPr sz="1900">
              <a:latin typeface="Century Schoolbook"/>
              <a:ea typeface="Century Schoolbook"/>
              <a:cs typeface="Century Schoolbook"/>
              <a:sym typeface="Century Schoolbook"/>
            </a:endParaRPr>
          </a:p>
          <a:p>
            <a:pPr marL="457200" lvl="0" indent="-349250" algn="l" rtl="0">
              <a:spcBef>
                <a:spcPts val="0"/>
              </a:spcBef>
              <a:spcAft>
                <a:spcPts val="0"/>
              </a:spcAft>
              <a:buSzPts val="1900"/>
              <a:buFont typeface="Century Schoolbook"/>
              <a:buChar char="-"/>
            </a:pPr>
            <a:r>
              <a:rPr lang="en-US" sz="1900">
                <a:latin typeface="Century Schoolbook"/>
                <a:ea typeface="Century Schoolbook"/>
                <a:cs typeface="Century Schoolbook"/>
                <a:sym typeface="Century Schoolbook"/>
              </a:rPr>
              <a:t>Tuesdays free coffee in the library??</a:t>
            </a:r>
            <a:endParaRPr sz="1900">
              <a:latin typeface="Century Schoolbook"/>
              <a:ea typeface="Century Schoolbook"/>
              <a:cs typeface="Century Schoolbook"/>
              <a:sym typeface="Century Schoolbook"/>
            </a:endParaRPr>
          </a:p>
          <a:p>
            <a:pPr marL="457200" lvl="0" indent="-349250" algn="l" rtl="0">
              <a:spcBef>
                <a:spcPts val="0"/>
              </a:spcBef>
              <a:spcAft>
                <a:spcPts val="0"/>
              </a:spcAft>
              <a:buSzPts val="1900"/>
              <a:buFont typeface="Century Schoolbook"/>
              <a:buChar char="-"/>
            </a:pPr>
            <a:r>
              <a:rPr lang="en-US" sz="1900">
                <a:latin typeface="Century Schoolbook"/>
                <a:ea typeface="Century Schoolbook"/>
                <a:cs typeface="Century Schoolbook"/>
                <a:sym typeface="Century Schoolbook"/>
              </a:rPr>
              <a:t>Is there a system at Barnes &amp; Nobles that provides kids with affordable Furman shirts to purchase?</a:t>
            </a:r>
            <a:endParaRPr sz="1900">
              <a:latin typeface="Century Schoolbook"/>
              <a:ea typeface="Century Schoolbook"/>
              <a:cs typeface="Century Schoolbook"/>
              <a:sym typeface="Century Schoolboo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Mariam Nguyen </a:t>
            </a:r>
            <a:endParaRPr/>
          </a:p>
        </p:txBody>
      </p:sp>
      <p:sp>
        <p:nvSpPr>
          <p:cNvPr id="249" name="Google Shape;249;p17"/>
          <p:cNvSpPr txBox="1"/>
          <p:nvPr/>
        </p:nvSpPr>
        <p:spPr>
          <a:xfrm>
            <a:off x="826625" y="1515500"/>
            <a:ext cx="3689700" cy="5850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600">
              <a:latin typeface="Century Schoolbook"/>
              <a:ea typeface="Century Schoolbook"/>
              <a:cs typeface="Century Schoolbook"/>
              <a:sym typeface="Century Schoolbook"/>
            </a:endParaRPr>
          </a:p>
        </p:txBody>
      </p:sp>
      <p:sp>
        <p:nvSpPr>
          <p:cNvPr id="250" name="Google Shape;250;p17"/>
          <p:cNvSpPr txBox="1"/>
          <p:nvPr/>
        </p:nvSpPr>
        <p:spPr>
          <a:xfrm>
            <a:off x="7590113" y="474625"/>
            <a:ext cx="38376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22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16c3647e48c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Libby Adams </a:t>
            </a:r>
            <a:endParaRPr/>
          </a:p>
        </p:txBody>
      </p:sp>
      <p:sp>
        <p:nvSpPr>
          <p:cNvPr id="257" name="Google Shape;257;g16c3647e48c_0_0"/>
          <p:cNvSpPr txBox="1">
            <a:spLocks noGrp="1"/>
          </p:cNvSpPr>
          <p:nvPr>
            <p:ph type="body" idx="1"/>
          </p:nvPr>
        </p:nvSpPr>
        <p:spPr>
          <a:xfrm>
            <a:off x="648300" y="1487650"/>
            <a:ext cx="10515600" cy="4689300"/>
          </a:xfrm>
          <a:prstGeom prst="rect">
            <a:avLst/>
          </a:prstGeom>
        </p:spPr>
        <p:txBody>
          <a:bodyPr spcFirstLastPara="1" wrap="square" lIns="91425" tIns="45700" rIns="91425" bIns="45700" anchor="t" anchorCtr="0">
            <a:normAutofit/>
          </a:bodyPr>
          <a:lstStyle/>
          <a:p>
            <a:pPr marL="457200" lvl="0" indent="-342900" algn="l" rtl="0">
              <a:lnSpc>
                <a:spcPct val="120000"/>
              </a:lnSpc>
              <a:spcBef>
                <a:spcPts val="1000"/>
              </a:spcBef>
              <a:spcAft>
                <a:spcPts val="0"/>
              </a:spcAft>
              <a:buSzPts val="1800"/>
              <a:buChar char="-"/>
            </a:pP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fffc5f384c_2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Caroline Orr</a:t>
            </a:r>
            <a:endParaRPr/>
          </a:p>
        </p:txBody>
      </p:sp>
      <p:sp>
        <p:nvSpPr>
          <p:cNvPr id="264" name="Google Shape;264;gfffc5f384c_20_0"/>
          <p:cNvSpPr txBox="1">
            <a:spLocks noGrp="1"/>
          </p:cNvSpPr>
          <p:nvPr>
            <p:ph type="body" idx="1"/>
          </p:nvPr>
        </p:nvSpPr>
        <p:spPr>
          <a:xfrm>
            <a:off x="838200" y="1838575"/>
            <a:ext cx="4686900" cy="4351200"/>
          </a:xfrm>
          <a:prstGeom prst="rect">
            <a:avLst/>
          </a:prstGeom>
        </p:spPr>
        <p:txBody>
          <a:bodyPr spcFirstLastPara="1" wrap="square" lIns="91425" tIns="45700" rIns="91425" bIns="45700" anchor="t" anchorCtr="0">
            <a:normAutofit/>
          </a:bodyPr>
          <a:lstStyle/>
          <a:p>
            <a:pPr marL="457200" lvl="0" indent="-406400" algn="l" rtl="0">
              <a:lnSpc>
                <a:spcPct val="140000"/>
              </a:lnSpc>
              <a:spcBef>
                <a:spcPts val="800"/>
              </a:spcBef>
              <a:spcAft>
                <a:spcPts val="0"/>
              </a:spcAft>
              <a:buSzPts val="2800"/>
              <a:buFont typeface="Century Schoolbook"/>
              <a:buChar char="•"/>
            </a:pPr>
            <a:endParaRPr>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16c3647e48c_0_6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Danyaal Sharif </a:t>
            </a:r>
            <a:endParaRPr/>
          </a:p>
        </p:txBody>
      </p:sp>
      <p:sp>
        <p:nvSpPr>
          <p:cNvPr id="271" name="Google Shape;271;g16c3647e48c_0_6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16c3647e48c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Curtis Wilson</a:t>
            </a:r>
            <a:endParaRPr/>
          </a:p>
        </p:txBody>
      </p:sp>
      <p:sp>
        <p:nvSpPr>
          <p:cNvPr id="278" name="Google Shape;278;g16c3647e48c_0_6"/>
          <p:cNvSpPr txBox="1">
            <a:spLocks noGrp="1"/>
          </p:cNvSpPr>
          <p:nvPr>
            <p:ph type="body" idx="1"/>
          </p:nvPr>
        </p:nvSpPr>
        <p:spPr>
          <a:xfrm>
            <a:off x="838200" y="181527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Still in the process of working on logistics of the </a:t>
            </a:r>
            <a:endParaRPr/>
          </a:p>
          <a:p>
            <a:pPr marL="0" lvl="0" indent="0" algn="l" rtl="0">
              <a:spcBef>
                <a:spcPts val="1000"/>
              </a:spcBef>
              <a:spcAft>
                <a:spcPts val="0"/>
              </a:spcAft>
              <a:buNone/>
            </a:pPr>
            <a:r>
              <a:rPr lang="en-US"/>
              <a:t> “SOHO Mental Health Check In”</a:t>
            </a:r>
            <a:endParaRPr/>
          </a:p>
          <a:p>
            <a:pPr marL="457200" lvl="0" indent="-342900" algn="l" rtl="0">
              <a:spcBef>
                <a:spcPts val="1000"/>
              </a:spcBef>
              <a:spcAft>
                <a:spcPts val="0"/>
              </a:spcAft>
              <a:buSzPts val="1800"/>
              <a:buChar char="•"/>
            </a:pPr>
            <a:r>
              <a:rPr lang="en-US"/>
              <a:t>Happy HOCO</a:t>
            </a:r>
            <a:endParaRPr/>
          </a:p>
          <a:p>
            <a:pPr marL="45720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7"/>
          <p:cNvSpPr txBox="1">
            <a:spLocks noGrp="1"/>
          </p:cNvSpPr>
          <p:nvPr>
            <p:ph type="ctrTitle"/>
          </p:nvPr>
        </p:nvSpPr>
        <p:spPr>
          <a:xfrm>
            <a:off x="1589700" y="15871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At- Large Reports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FUSAB         - Grayson Taylor </a:t>
            </a:r>
            <a:endParaRPr>
              <a:latin typeface="Roboto"/>
              <a:ea typeface="Roboto"/>
              <a:cs typeface="Roboto"/>
              <a:sym typeface="Roboto"/>
            </a:endParaRPr>
          </a:p>
        </p:txBody>
      </p:sp>
      <p:pic>
        <p:nvPicPr>
          <p:cNvPr id="291" name="Google Shape;291;p28"/>
          <p:cNvPicPr preferRelativeResize="0"/>
          <p:nvPr/>
        </p:nvPicPr>
        <p:blipFill rotWithShape="1">
          <a:blip r:embed="rId3">
            <a:alphaModFix/>
          </a:blip>
          <a:srcRect/>
          <a:stretch/>
        </p:blipFill>
        <p:spPr>
          <a:xfrm>
            <a:off x="147652" y="126927"/>
            <a:ext cx="3841851" cy="1611725"/>
          </a:xfrm>
          <a:prstGeom prst="rect">
            <a:avLst/>
          </a:prstGeom>
          <a:noFill/>
          <a:ln>
            <a:noFill/>
          </a:ln>
        </p:spPr>
      </p:pic>
      <p:sp>
        <p:nvSpPr>
          <p:cNvPr id="292" name="Google Shape;292;p28"/>
          <p:cNvSpPr txBox="1"/>
          <p:nvPr/>
        </p:nvSpPr>
        <p:spPr>
          <a:xfrm>
            <a:off x="395650" y="2231050"/>
            <a:ext cx="3539400" cy="5694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500">
              <a:latin typeface="Libre Franklin"/>
              <a:ea typeface="Libre Franklin"/>
              <a:cs typeface="Libre Franklin"/>
              <a:sym typeface="Libre Franklin"/>
            </a:endParaRPr>
          </a:p>
        </p:txBody>
      </p:sp>
      <p:pic>
        <p:nvPicPr>
          <p:cNvPr id="293" name="Google Shape;293;p28"/>
          <p:cNvPicPr preferRelativeResize="0"/>
          <p:nvPr/>
        </p:nvPicPr>
        <p:blipFill>
          <a:blip r:embed="rId4">
            <a:alphaModFix/>
          </a:blip>
          <a:stretch>
            <a:fillRect/>
          </a:stretch>
        </p:blipFill>
        <p:spPr>
          <a:xfrm>
            <a:off x="13521" y="-1"/>
            <a:ext cx="12164964" cy="68580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RLC- Jeff Mclane </a:t>
            </a:r>
            <a:endParaRPr/>
          </a:p>
        </p:txBody>
      </p:sp>
      <p:pic>
        <p:nvPicPr>
          <p:cNvPr id="300" name="Google Shape;300;p29"/>
          <p:cNvPicPr preferRelativeResize="0"/>
          <p:nvPr/>
        </p:nvPicPr>
        <p:blipFill>
          <a:blip r:embed="rId3">
            <a:alphaModFix/>
          </a:blip>
          <a:stretch>
            <a:fillRect/>
          </a:stretch>
        </p:blipFill>
        <p:spPr>
          <a:xfrm>
            <a:off x="8232925" y="365125"/>
            <a:ext cx="3655851" cy="3084351"/>
          </a:xfrm>
          <a:prstGeom prst="rect">
            <a:avLst/>
          </a:prstGeom>
          <a:noFill/>
          <a:ln>
            <a:noFill/>
          </a:ln>
        </p:spPr>
      </p:pic>
      <p:sp>
        <p:nvSpPr>
          <p:cNvPr id="301" name="Google Shape;301;p29"/>
          <p:cNvSpPr txBox="1"/>
          <p:nvPr/>
        </p:nvSpPr>
        <p:spPr>
          <a:xfrm>
            <a:off x="474600" y="1771850"/>
            <a:ext cx="7356300" cy="408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endParaRPr sz="2800">
              <a:latin typeface="Century Schoolbook"/>
              <a:ea typeface="Century Schoolbook"/>
              <a:cs typeface="Century Schoolbook"/>
              <a:sym typeface="Century Schoolbook"/>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0"/>
          <p:cNvSpPr txBox="1">
            <a:spLocks noGrp="1"/>
          </p:cNvSpPr>
          <p:nvPr>
            <p:ph type="title"/>
          </p:nvPr>
        </p:nvSpPr>
        <p:spPr>
          <a:xfrm>
            <a:off x="838200" y="869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Religious Council - Ruthie Richardson </a:t>
            </a:r>
            <a:endParaRPr/>
          </a:p>
        </p:txBody>
      </p:sp>
      <p:sp>
        <p:nvSpPr>
          <p:cNvPr id="308" name="Google Shape;308;p30"/>
          <p:cNvSpPr txBox="1"/>
          <p:nvPr/>
        </p:nvSpPr>
        <p:spPr>
          <a:xfrm>
            <a:off x="1019400" y="1431125"/>
            <a:ext cx="6675600" cy="44892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Theological Education Fair on Nov. 2 from 12-4pm in the Watkins Room</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endParaRPr sz="2000">
              <a:latin typeface="Century Schoolbook"/>
              <a:ea typeface="Century Schoolbook"/>
              <a:cs typeface="Century Schoolbook"/>
              <a:sym typeface="Century Schoolbook"/>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Campus Rec - Eva Brooks</a:t>
            </a:r>
            <a:endParaRPr/>
          </a:p>
        </p:txBody>
      </p:sp>
      <p:sp>
        <p:nvSpPr>
          <p:cNvPr id="315" name="Google Shape;315;p31"/>
          <p:cNvSpPr txBox="1"/>
          <p:nvPr/>
        </p:nvSpPr>
        <p:spPr>
          <a:xfrm>
            <a:off x="812800" y="1591725"/>
            <a:ext cx="10515600" cy="4902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3500" b="1">
                <a:latin typeface="Merriweather"/>
                <a:ea typeface="Merriweather"/>
                <a:cs typeface="Merriweather"/>
                <a:sym typeface="Merriweather"/>
              </a:rPr>
              <a:t>IM's - Soccer regular season ends today. Playoffs start Wednesday.</a:t>
            </a:r>
            <a:endParaRPr sz="3500" b="1">
              <a:latin typeface="Merriweather"/>
              <a:ea typeface="Merriweather"/>
              <a:cs typeface="Merriweather"/>
              <a:sym typeface="Merriweather"/>
            </a:endParaRPr>
          </a:p>
          <a:p>
            <a:pPr marL="0" lvl="0" indent="0" algn="l" rtl="0">
              <a:lnSpc>
                <a:spcPct val="115000"/>
              </a:lnSpc>
              <a:spcBef>
                <a:spcPts val="1200"/>
              </a:spcBef>
              <a:spcAft>
                <a:spcPts val="0"/>
              </a:spcAft>
              <a:buNone/>
            </a:pPr>
            <a:endParaRPr sz="3500" b="1">
              <a:latin typeface="Merriweather"/>
              <a:ea typeface="Merriweather"/>
              <a:cs typeface="Merriweather"/>
              <a:sym typeface="Merriweather"/>
            </a:endParaRPr>
          </a:p>
          <a:p>
            <a:pPr marL="0" lvl="0" indent="0" algn="l" rtl="0">
              <a:lnSpc>
                <a:spcPct val="115000"/>
              </a:lnSpc>
              <a:spcBef>
                <a:spcPts val="1200"/>
              </a:spcBef>
              <a:spcAft>
                <a:spcPts val="0"/>
              </a:spcAft>
              <a:buNone/>
            </a:pPr>
            <a:r>
              <a:rPr lang="en-US" sz="3500" b="1">
                <a:latin typeface="Merriweather"/>
                <a:ea typeface="Merriweather"/>
                <a:cs typeface="Merriweather"/>
                <a:sym typeface="Merriweather"/>
              </a:rPr>
              <a:t>Clubs - Rugby went to Charleston, no update. Ultimate went to Boone, no update. Men's volleyball went to Duke, no update.</a:t>
            </a:r>
            <a:endParaRPr sz="3500" b="1">
              <a:latin typeface="Merriweather"/>
              <a:ea typeface="Merriweather"/>
              <a:cs typeface="Merriweather"/>
              <a:sym typeface="Merriweather"/>
            </a:endParaRPr>
          </a:p>
          <a:p>
            <a:pPr marL="0" marR="0" lvl="0" indent="0" algn="ctr" rtl="0">
              <a:lnSpc>
                <a:spcPct val="100000"/>
              </a:lnSpc>
              <a:spcBef>
                <a:spcPts val="1200"/>
              </a:spcBef>
              <a:spcAft>
                <a:spcPts val="0"/>
              </a:spcAft>
              <a:buClr>
                <a:srgbClr val="000000"/>
              </a:buClr>
              <a:buSzPts val="4200"/>
              <a:buFont typeface="Arial"/>
              <a:buNone/>
            </a:pPr>
            <a:endParaRPr sz="3500" b="1">
              <a:latin typeface="Merriweather"/>
              <a:ea typeface="Merriweather"/>
              <a:cs typeface="Merriweather"/>
              <a:sym typeface="Merriweather"/>
            </a:endParaRPr>
          </a:p>
        </p:txBody>
      </p:sp>
      <p:sp>
        <p:nvSpPr>
          <p:cNvPr id="316" name="Google Shape;316;p31"/>
          <p:cNvSpPr txBox="1"/>
          <p:nvPr/>
        </p:nvSpPr>
        <p:spPr>
          <a:xfrm>
            <a:off x="1810600" y="5614925"/>
            <a:ext cx="2918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317" name="Google Shape;317;p31"/>
          <p:cNvSpPr txBox="1"/>
          <p:nvPr/>
        </p:nvSpPr>
        <p:spPr>
          <a:xfrm>
            <a:off x="6597125" y="5614925"/>
            <a:ext cx="40125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2"/>
          <p:cNvSpPr txBox="1">
            <a:spLocks noGrp="1"/>
          </p:cNvSpPr>
          <p:nvPr>
            <p:ph type="title"/>
          </p:nvPr>
        </p:nvSpPr>
        <p:spPr>
          <a:xfrm>
            <a:off x="1781100" y="0"/>
            <a:ext cx="8419500" cy="1325700"/>
          </a:xfrm>
          <a:prstGeom prst="rect">
            <a:avLst/>
          </a:prstGeom>
          <a:noFill/>
          <a:ln>
            <a:noFill/>
          </a:ln>
        </p:spPr>
        <p:txBody>
          <a:bodyPr spcFirstLastPara="1" wrap="square" lIns="91425" tIns="45700" rIns="91425" bIns="45700" anchor="ctr" anchorCtr="0">
            <a:normAutofit/>
          </a:bodyPr>
          <a:lstStyle/>
          <a:p>
            <a:pPr marL="457200" lvl="0" indent="-704850" algn="l" rtl="0">
              <a:lnSpc>
                <a:spcPct val="90000"/>
              </a:lnSpc>
              <a:spcBef>
                <a:spcPts val="0"/>
              </a:spcBef>
              <a:spcAft>
                <a:spcPts val="0"/>
              </a:spcAft>
              <a:buClr>
                <a:schemeClr val="dk1"/>
              </a:buClr>
              <a:buSzPts val="7500"/>
              <a:buFont typeface="Lobster"/>
              <a:buChar char="-"/>
            </a:pPr>
            <a:r>
              <a:rPr lang="en-US" sz="3600">
                <a:solidFill>
                  <a:schemeClr val="dk1"/>
                </a:solidFill>
                <a:highlight>
                  <a:srgbClr val="FFFFFF"/>
                </a:highlight>
                <a:latin typeface="Roboto"/>
                <a:ea typeface="Roboto"/>
                <a:cs typeface="Roboto"/>
                <a:sym typeface="Roboto"/>
              </a:rPr>
              <a:t>Abijah Leamon </a:t>
            </a:r>
            <a:endParaRPr sz="7500">
              <a:solidFill>
                <a:schemeClr val="dk1"/>
              </a:solidFill>
              <a:latin typeface="Lobster"/>
              <a:ea typeface="Lobster"/>
              <a:cs typeface="Lobster"/>
              <a:sym typeface="Lobster"/>
            </a:endParaRPr>
          </a:p>
        </p:txBody>
      </p:sp>
      <p:sp>
        <p:nvSpPr>
          <p:cNvPr id="324" name="Google Shape;324;p32"/>
          <p:cNvSpPr txBox="1"/>
          <p:nvPr/>
        </p:nvSpPr>
        <p:spPr>
          <a:xfrm>
            <a:off x="10243875" y="1233600"/>
            <a:ext cx="2401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325" name="Google Shape;325;p32"/>
          <p:cNvSpPr txBox="1"/>
          <p:nvPr/>
        </p:nvSpPr>
        <p:spPr>
          <a:xfrm>
            <a:off x="8318450" y="1828550"/>
            <a:ext cx="3342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pic>
        <p:nvPicPr>
          <p:cNvPr id="326" name="Google Shape;326;p32" descr="Furman Student Diversity Council - SDC | Facebook"/>
          <p:cNvPicPr preferRelativeResize="0"/>
          <p:nvPr/>
        </p:nvPicPr>
        <p:blipFill>
          <a:blip r:embed="rId3">
            <a:alphaModFix/>
          </a:blip>
          <a:stretch>
            <a:fillRect/>
          </a:stretch>
        </p:blipFill>
        <p:spPr>
          <a:xfrm>
            <a:off x="605875" y="64875"/>
            <a:ext cx="1225500" cy="1125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Panhel - Katherine Murphy </a:t>
            </a:r>
            <a:endParaRPr/>
          </a:p>
        </p:txBody>
      </p:sp>
      <p:sp>
        <p:nvSpPr>
          <p:cNvPr id="333" name="Google Shape;333;p34"/>
          <p:cNvSpPr txBox="1"/>
          <p:nvPr/>
        </p:nvSpPr>
        <p:spPr>
          <a:xfrm>
            <a:off x="988025" y="1511075"/>
            <a:ext cx="3850500" cy="5232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200">
              <a:latin typeface="Century Schoolbook"/>
              <a:ea typeface="Century Schoolbook"/>
              <a:cs typeface="Century Schoolbook"/>
              <a:sym typeface="Century Schoolbook"/>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6"/>
          <p:cNvSpPr txBox="1">
            <a:spLocks noGrp="1"/>
          </p:cNvSpPr>
          <p:nvPr>
            <p:ph type="title"/>
          </p:nvPr>
        </p:nvSpPr>
        <p:spPr>
          <a:xfrm>
            <a:off x="263100" y="333250"/>
            <a:ext cx="5603700" cy="667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40909"/>
              <a:buNone/>
            </a:pPr>
            <a:r>
              <a:rPr lang="en-US"/>
              <a:t>ROTC- Luke Stewart </a:t>
            </a:r>
            <a:endParaRPr/>
          </a:p>
        </p:txBody>
      </p:sp>
      <p:sp>
        <p:nvSpPr>
          <p:cNvPr id="340" name="Google Shape;340;p36"/>
          <p:cNvSpPr txBox="1"/>
          <p:nvPr/>
        </p:nvSpPr>
        <p:spPr>
          <a:xfrm>
            <a:off x="97500" y="1533750"/>
            <a:ext cx="11997000" cy="446400"/>
          </a:xfrm>
          <a:prstGeom prst="rect">
            <a:avLst/>
          </a:prstGeom>
          <a:noFill/>
          <a:ln>
            <a:noFill/>
          </a:ln>
        </p:spPr>
        <p:txBody>
          <a:bodyPr spcFirstLastPara="1" wrap="square" lIns="91425" tIns="91425" rIns="91425" bIns="91425" anchor="t" anchorCtr="0">
            <a:spAutoFit/>
          </a:bodyPr>
          <a:lstStyle/>
          <a:p>
            <a:pPr marL="457200" lvl="0" indent="-336550" algn="l" rtl="0">
              <a:spcBef>
                <a:spcPts val="0"/>
              </a:spcBef>
              <a:spcAft>
                <a:spcPts val="0"/>
              </a:spcAft>
              <a:buSzPts val="1700"/>
              <a:buFont typeface="Century Schoolbook"/>
              <a:buChar char="●"/>
            </a:pPr>
            <a:r>
              <a:rPr lang="en-US" sz="1700">
                <a:latin typeface="Century Schoolbook"/>
                <a:ea typeface="Century Schoolbook"/>
                <a:cs typeface="Century Schoolbook"/>
                <a:sym typeface="Century Schoolbook"/>
              </a:rPr>
              <a:t>Ranger Challenge</a:t>
            </a:r>
            <a:endParaRPr sz="1700">
              <a:latin typeface="Century Schoolbook"/>
              <a:ea typeface="Century Schoolbook"/>
              <a:cs typeface="Century Schoolbook"/>
              <a:sym typeface="Century Schoolbook"/>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g152e01f2e5c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FUOC- Adrian Gonzalez</a:t>
            </a:r>
            <a:endParaRPr/>
          </a:p>
        </p:txBody>
      </p:sp>
      <p:sp>
        <p:nvSpPr>
          <p:cNvPr id="348" name="Google Shape;348;g152e01f2e5c_0_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New Officer interviews</a:t>
            </a:r>
            <a:endParaRPr/>
          </a:p>
          <a:p>
            <a:pPr marL="457200" lvl="0" indent="-342900" algn="l" rtl="0">
              <a:spcBef>
                <a:spcPts val="0"/>
              </a:spcBef>
              <a:spcAft>
                <a:spcPts val="0"/>
              </a:spcAft>
              <a:buSzPts val="1800"/>
              <a:buChar char="•"/>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29135bb4826_0_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Paladin - Colin Brake </a:t>
            </a:r>
            <a:endParaRPr/>
          </a:p>
        </p:txBody>
      </p:sp>
      <p:sp>
        <p:nvSpPr>
          <p:cNvPr id="355" name="Google Shape;355;g29135bb4826_0_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7"/>
          <p:cNvSpPr txBox="1">
            <a:spLocks noGrp="1"/>
          </p:cNvSpPr>
          <p:nvPr>
            <p:ph type="ctrTitle"/>
          </p:nvPr>
        </p:nvSpPr>
        <p:spPr>
          <a:xfrm>
            <a:off x="1524000" y="125868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Committee Reports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9"/>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Finance</a:t>
            </a:r>
            <a:endParaRPr/>
          </a:p>
        </p:txBody>
      </p:sp>
      <p:sp>
        <p:nvSpPr>
          <p:cNvPr id="368" name="Google Shape;368;p39"/>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1000"/>
              </a:spcBef>
              <a:spcAft>
                <a:spcPts val="0"/>
              </a:spcAft>
              <a:buSzPts val="2400"/>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PR</a:t>
            </a:r>
            <a:endParaRPr/>
          </a:p>
        </p:txBody>
      </p:sp>
      <p:sp>
        <p:nvSpPr>
          <p:cNvPr id="375" name="Google Shape;375;p4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7"/>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New Business</a:t>
            </a:r>
            <a:endParaRPr/>
          </a:p>
        </p:txBody>
      </p:sp>
      <p:sp>
        <p:nvSpPr>
          <p:cNvPr id="382" name="Google Shape;382;p47"/>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r>
              <a:rPr lang="en-US"/>
              <a:t>Library Patio Outlet Proposal</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6"/>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Old Business</a:t>
            </a:r>
            <a:endParaRPr/>
          </a:p>
        </p:txBody>
      </p:sp>
      <p:sp>
        <p:nvSpPr>
          <p:cNvPr id="389" name="Google Shape;389;p46"/>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r>
              <a:rPr lang="en-US"/>
              <a:t>FU MENA Voting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Open Forum</a:t>
            </a:r>
            <a:endParaRPr/>
          </a:p>
        </p:txBody>
      </p:sp>
      <p:sp>
        <p:nvSpPr>
          <p:cNvPr id="396" name="Google Shape;396;p4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All the fun stuff: </a:t>
            </a:r>
            <a:endParaRPr/>
          </a:p>
          <a:p>
            <a:pPr marL="0" lvl="0" indent="0" algn="ctr" rtl="0">
              <a:lnSpc>
                <a:spcPct val="90000"/>
              </a:lnSpc>
              <a:spcBef>
                <a:spcPts val="1000"/>
              </a:spcBef>
              <a:spcAft>
                <a:spcPts val="0"/>
              </a:spcAft>
              <a:buSzPts val="2400"/>
              <a:buNone/>
            </a:pPr>
            <a:r>
              <a:rPr lang="en-US"/>
              <a:t>announcements, discussions, and more!</a:t>
            </a:r>
            <a:endParaRPr/>
          </a:p>
        </p:txBody>
      </p:sp>
    </p:spTree>
  </p:cSld>
  <p:clrMapOvr>
    <a:masterClrMapping/>
  </p:clrMapOvr>
</p:sld>
</file>

<file path=ppt/theme/theme1.xml><?xml version="1.0" encoding="utf-8"?>
<a:theme xmlns:a="http://schemas.openxmlformats.org/drawingml/2006/main" name="Embedded Diamonds">
  <a:themeElements>
    <a:clrScheme name="Furman">
      <a:dk1>
        <a:srgbClr val="43296D"/>
      </a:dk1>
      <a:lt1>
        <a:srgbClr val="FFFFFF"/>
      </a:lt1>
      <a:dk2>
        <a:srgbClr val="43296D"/>
      </a:dk2>
      <a:lt2>
        <a:srgbClr val="FFFFFF"/>
      </a:lt2>
      <a:accent1>
        <a:srgbClr val="9ED5E0"/>
      </a:accent1>
      <a:accent2>
        <a:srgbClr val="4C4D4C"/>
      </a:accent2>
      <a:accent3>
        <a:srgbClr val="FFFEFE"/>
      </a:accent3>
      <a:accent4>
        <a:srgbClr val="FFFEFE"/>
      </a:accent4>
      <a:accent5>
        <a:srgbClr val="FFFEFE"/>
      </a:accent5>
      <a:accent6>
        <a:srgbClr val="FFFEFE"/>
      </a:accent6>
      <a:hlink>
        <a:srgbClr val="FFFEFE"/>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1498</Words>
  <Application>Microsoft Macintosh PowerPoint</Application>
  <PresentationFormat>Widescreen</PresentationFormat>
  <Paragraphs>193</Paragraphs>
  <Slides>44</Slides>
  <Notes>44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Bangers</vt:lpstr>
      <vt:lpstr>Century Schoolbook</vt:lpstr>
      <vt:lpstr>Comic Sans MS</vt:lpstr>
      <vt:lpstr>Arial</vt:lpstr>
      <vt:lpstr>Merriweather</vt:lpstr>
      <vt:lpstr>Calibri</vt:lpstr>
      <vt:lpstr>Libre Franklin Medium</vt:lpstr>
      <vt:lpstr>Libre Franklin</vt:lpstr>
      <vt:lpstr>Roboto</vt:lpstr>
      <vt:lpstr>Bodoni Moda</vt:lpstr>
      <vt:lpstr>Lobster</vt:lpstr>
      <vt:lpstr>Embedded Diamonds</vt:lpstr>
      <vt:lpstr>Welcome to SGA!</vt:lpstr>
      <vt:lpstr>Agenda</vt:lpstr>
      <vt:lpstr>Guest Speaker </vt:lpstr>
      <vt:lpstr>Exec Reports</vt:lpstr>
      <vt:lpstr>Dean Cassidy </vt:lpstr>
      <vt:lpstr>PowerPoint Presentation</vt:lpstr>
      <vt:lpstr>Yaseen Echekki - VeePee</vt:lpstr>
      <vt:lpstr>Andrew Cooter </vt:lpstr>
      <vt:lpstr>Carly Gillis </vt:lpstr>
      <vt:lpstr>Lydia McCarty </vt:lpstr>
      <vt:lpstr>Tatyana Gonzalez </vt:lpstr>
      <vt:lpstr>Representative Reports</vt:lpstr>
      <vt:lpstr> Sydney Beraho </vt:lpstr>
      <vt:lpstr>Leah Manning </vt:lpstr>
      <vt:lpstr>Alex Murray </vt:lpstr>
      <vt:lpstr>Kelsey Sumter </vt:lpstr>
      <vt:lpstr>Mary Boucher </vt:lpstr>
      <vt:lpstr>Adara Briceño</vt:lpstr>
      <vt:lpstr> Deen Deovic    </vt:lpstr>
      <vt:lpstr>Jennifer Woollery </vt:lpstr>
      <vt:lpstr> Caroline Cousar </vt:lpstr>
      <vt:lpstr>Tate Denham </vt:lpstr>
      <vt:lpstr>Kobby Frempong </vt:lpstr>
      <vt:lpstr>Mariam Nguyen </vt:lpstr>
      <vt:lpstr>Libby Adams </vt:lpstr>
      <vt:lpstr>Caroline Orr</vt:lpstr>
      <vt:lpstr>Danyaal Sharif </vt:lpstr>
      <vt:lpstr>Curtis Wilson</vt:lpstr>
      <vt:lpstr>At- Large Reports</vt:lpstr>
      <vt:lpstr>FUSAB         - Grayson Taylor </vt:lpstr>
      <vt:lpstr>RLC- Jeff Mclane </vt:lpstr>
      <vt:lpstr>Religious Council - Ruthie Richardson </vt:lpstr>
      <vt:lpstr>Campus Rec - Eva Brooks</vt:lpstr>
      <vt:lpstr>Abijah Leamon </vt:lpstr>
      <vt:lpstr>Panhel - Katherine Murphy </vt:lpstr>
      <vt:lpstr>ROTC- Luke Stewart </vt:lpstr>
      <vt:lpstr>FUOC- Adrian Gonzalez</vt:lpstr>
      <vt:lpstr>Paladin - Colin Brake </vt:lpstr>
      <vt:lpstr>Committee Reports</vt:lpstr>
      <vt:lpstr>Finance</vt:lpstr>
      <vt:lpstr>PR</vt:lpstr>
      <vt:lpstr>New Business</vt:lpstr>
      <vt:lpstr>Old Business</vt:lpstr>
      <vt:lpstr>Open Forum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SGA!</dc:title>
  <dc:creator>Kaylee Welgraven</dc:creator>
  <cp:lastModifiedBy>Carly Gillis2-Student</cp:lastModifiedBy>
  <cp:revision>1</cp:revision>
  <dcterms:created xsi:type="dcterms:W3CDTF">2017-10-16T12:38:22Z</dcterms:created>
  <dcterms:modified xsi:type="dcterms:W3CDTF">2024-09-23T13:42:42Z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0x01010064D2884E5B56A24E8EB547943B5579B3</vt:lpwstr>
  </property>
</Properties>
</file>