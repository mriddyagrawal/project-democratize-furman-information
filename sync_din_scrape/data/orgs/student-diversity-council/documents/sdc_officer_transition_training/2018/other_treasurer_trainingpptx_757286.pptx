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78" r:id="rId3"/>
    <p:sldId id="279" r:id="rId4"/>
    <p:sldId id="280" r:id="rId5"/>
    <p:sldId id="281" r:id="rId6"/>
    <p:sldId id="282" r:id="rId7"/>
    <p:sldId id="284" r:id="rId8"/>
    <p:sldId id="283" r:id="rId9"/>
    <p:sldId id="285" r:id="rId10"/>
    <p:sldId id="287" r:id="rId11"/>
    <p:sldId id="288" r:id="rId12"/>
    <p:sldId id="289" r:id="rId13"/>
    <p:sldId id="29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291" autoAdjust="0"/>
  </p:normalViewPr>
  <p:slideViewPr>
    <p:cSldViewPr snapToGrid="0">
      <p:cViewPr varScale="1">
        <p:scale>
          <a:sx n="115" d="100"/>
          <a:sy n="115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57F45-9D36-4BDC-B79F-6AE4977D173A}" type="datetimeFigureOut">
              <a:rPr lang="en-US" smtClean="0"/>
              <a:t>4/20/2018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98F3D2-6CA0-4CDC-BAA3-8F1D56F4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644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98F3D2-6CA0-4CDC-BAA3-8F1D56F477B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64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98F3D2-6CA0-4CDC-BAA3-8F1D56F477B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75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98F3D2-6CA0-4CDC-BAA3-8F1D56F477B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018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98F3D2-6CA0-4CDC-BAA3-8F1D56F477B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845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98F3D2-6CA0-4CDC-BAA3-8F1D56F477B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340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Checks can also be mailed to your speaker or performer. Just let them know when they can expect payment.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98F3D2-6CA0-4CDC-BAA3-8F1D56F477B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91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98F3D2-6CA0-4CDC-BAA3-8F1D56F477B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47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98F3D2-6CA0-4CDC-BAA3-8F1D56F477B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452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4/20/2018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4/20/2018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34E0-ADD4-441B-8325-AFA2B9DF22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SDC</a:t>
            </a:r>
            <a:r>
              <a:rPr lang="en-US" dirty="0"/>
              <a:t> Officer Transition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79669-7D55-44AF-BE10-6D7D9D15CB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2018-2019 Officer Preparation</a:t>
            </a:r>
          </a:p>
        </p:txBody>
      </p:sp>
    </p:spTree>
    <p:extLst>
      <p:ext uri="{BB962C8B-B14F-4D97-AF65-F5344CB8AC3E}">
        <p14:creationId xmlns:p14="http://schemas.microsoft.com/office/powerpoint/2010/main" val="359632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8BC38-7279-4DF5-AF4D-6CADA8E02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7FE9C-51A8-42F6-AB15-C8DB5C253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9:00A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- </a:t>
            </a:r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9:30A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-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Coffee &amp; Donuts (Provided by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SDC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)</a:t>
            </a:r>
          </a:p>
          <a:p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9:30A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- </a:t>
            </a:r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10:45A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-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President &amp; Vice President Position Training</a:t>
            </a:r>
          </a:p>
          <a:p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10:45A-11A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-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Short Break</a:t>
            </a:r>
          </a:p>
          <a:p>
            <a:r>
              <a:rPr lang="en-US" b="1" dirty="0" err="1"/>
              <a:t>11A</a:t>
            </a:r>
            <a:r>
              <a:rPr lang="en-US" b="1" dirty="0"/>
              <a:t>- </a:t>
            </a:r>
            <a:r>
              <a:rPr lang="en-US" b="1" dirty="0" err="1"/>
              <a:t>12:15P</a:t>
            </a:r>
            <a:r>
              <a:rPr lang="en-US" b="1" dirty="0"/>
              <a:t>- </a:t>
            </a:r>
            <a:r>
              <a:rPr lang="en-US" dirty="0"/>
              <a:t>Treasurer Position Training</a:t>
            </a:r>
          </a:p>
          <a:p>
            <a:r>
              <a:rPr lang="en-US" b="1" dirty="0" err="1"/>
              <a:t>12:15P-1:15P</a:t>
            </a:r>
            <a:r>
              <a:rPr lang="en-US" b="1" dirty="0"/>
              <a:t>-</a:t>
            </a:r>
            <a:r>
              <a:rPr lang="en-US" dirty="0"/>
              <a:t> Lunch (Not Provided by </a:t>
            </a:r>
            <a:r>
              <a:rPr lang="en-US" dirty="0" err="1"/>
              <a:t>SDC</a:t>
            </a:r>
            <a:r>
              <a:rPr lang="en-US" dirty="0"/>
              <a:t>)</a:t>
            </a:r>
          </a:p>
          <a:p>
            <a:r>
              <a:rPr lang="en-US" b="1" dirty="0" err="1"/>
              <a:t>1:20P-2:20P</a:t>
            </a:r>
            <a:r>
              <a:rPr lang="en-US" b="1" dirty="0"/>
              <a:t>- </a:t>
            </a:r>
            <a:r>
              <a:rPr lang="en-US" dirty="0"/>
              <a:t>Secretary &amp; </a:t>
            </a:r>
            <a:r>
              <a:rPr lang="en-US" dirty="0" err="1"/>
              <a:t>SDC</a:t>
            </a:r>
            <a:r>
              <a:rPr lang="en-US" dirty="0"/>
              <a:t> Representative Training</a:t>
            </a:r>
          </a:p>
          <a:p>
            <a:r>
              <a:rPr lang="en-US" b="1" dirty="0" err="1"/>
              <a:t>2:30P-3:45P</a:t>
            </a:r>
            <a:r>
              <a:rPr lang="en-US" b="1" dirty="0"/>
              <a:t>- </a:t>
            </a:r>
            <a:r>
              <a:rPr lang="en-US" dirty="0"/>
              <a:t>Historian, Public Relations, Creativity Chair Position Training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909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E389-321F-48CB-BD8A-974E31F99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Background: Student Diversity Council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97952-A602-44AC-BC15-828519C54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What is the Student Diversity Council?</a:t>
            </a:r>
          </a:p>
          <a:p>
            <a:pPr marL="0" indent="0">
              <a:buNone/>
            </a:pPr>
            <a:r>
              <a:rPr lang="en-US" b="1" dirty="0"/>
              <a:t>The Student Diversity Council (</a:t>
            </a:r>
            <a:r>
              <a:rPr lang="en-US" b="1" dirty="0" err="1"/>
              <a:t>SDC</a:t>
            </a:r>
            <a:r>
              <a:rPr lang="en-US" b="1" dirty="0"/>
              <a:t>) is the umbrella organization for student groups on campus that are focused on issues of racial, cultural, sexual, and/ or gender diversity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Mission Statement: </a:t>
            </a:r>
            <a:r>
              <a:rPr lang="en-US" b="1" dirty="0"/>
              <a:t>The mission of the Student Diversity Council (</a:t>
            </a:r>
            <a:r>
              <a:rPr lang="en-US" b="1" dirty="0" err="1"/>
              <a:t>SDC</a:t>
            </a:r>
            <a:r>
              <a:rPr lang="en-US" b="1" dirty="0"/>
              <a:t>) is to educate Furman- affiliated individuals and the Greenville community on topics of cultural diversity while advocating for cultural understanding, awareness, and equality.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Vision Statement: </a:t>
            </a:r>
            <a:r>
              <a:rPr lang="en-US" b="1" dirty="0"/>
              <a:t>As the umbrella organization for multicultural organizations on campus, the Student Diversity Council (</a:t>
            </a:r>
            <a:r>
              <a:rPr lang="en-US" b="1" dirty="0" err="1"/>
              <a:t>SDC</a:t>
            </a:r>
            <a:r>
              <a:rPr lang="en-US" b="1" dirty="0"/>
              <a:t>) seeks to share the responsibility of promoting and sustaining diversity at Furman to campus- wide entities through two-way dialogue, co-sponsorships, and collaboration with the Greenville community.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527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939FA-8935-49F4-AFBE-670830B84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SDC</a:t>
            </a:r>
            <a:r>
              <a:rPr lang="en-US" dirty="0"/>
              <a:t> Organization Affiliation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AD972-9084-44F5-A845-BF99BF60B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687" y="2411896"/>
            <a:ext cx="10204174" cy="3657600"/>
          </a:xfrm>
        </p:spPr>
        <p:txBody>
          <a:bodyPr>
            <a:normAutofit fontScale="55000" lnSpcReduction="20000"/>
          </a:bodyPr>
          <a:lstStyle/>
          <a:p>
            <a:r>
              <a:rPr lang="en-US" sz="3300" b="1" dirty="0">
                <a:solidFill>
                  <a:srgbClr val="92D050"/>
                </a:solidFill>
              </a:rPr>
              <a:t>Association of Students Interested in Asia (ASIA)</a:t>
            </a:r>
          </a:p>
          <a:p>
            <a:r>
              <a:rPr lang="en-US" sz="3300" b="1" dirty="0">
                <a:solidFill>
                  <a:srgbClr val="FF0000"/>
                </a:solidFill>
              </a:rPr>
              <a:t>Chinese Student Association (CSA)</a:t>
            </a:r>
          </a:p>
          <a:p>
            <a:r>
              <a:rPr lang="en-US" sz="3300" b="1" dirty="0">
                <a:solidFill>
                  <a:srgbClr val="00B0F0"/>
                </a:solidFill>
              </a:rPr>
              <a:t>Furman Pride Alliance (</a:t>
            </a:r>
            <a:r>
              <a:rPr lang="en-US" sz="3300" b="1" dirty="0" err="1">
                <a:solidFill>
                  <a:srgbClr val="00B0F0"/>
                </a:solidFill>
              </a:rPr>
              <a:t>FPA</a:t>
            </a:r>
            <a:r>
              <a:rPr lang="en-US" sz="3300" b="1" dirty="0">
                <a:solidFill>
                  <a:srgbClr val="00B0F0"/>
                </a:solidFill>
              </a:rPr>
              <a:t>)</a:t>
            </a:r>
          </a:p>
          <a:p>
            <a:r>
              <a:rPr lang="en-US" sz="3300" b="1" dirty="0">
                <a:solidFill>
                  <a:srgbClr val="7030A0"/>
                </a:solidFill>
              </a:rPr>
              <a:t>Hispanic Outreach and Latinx Awareness (</a:t>
            </a:r>
            <a:r>
              <a:rPr lang="en-US" sz="3300" b="1" dirty="0" err="1">
                <a:solidFill>
                  <a:srgbClr val="7030A0"/>
                </a:solidFill>
              </a:rPr>
              <a:t>HOLA</a:t>
            </a:r>
            <a:r>
              <a:rPr lang="en-US" sz="3300" b="1" dirty="0">
                <a:solidFill>
                  <a:srgbClr val="7030A0"/>
                </a:solidFill>
              </a:rPr>
              <a:t>)</a:t>
            </a:r>
          </a:p>
          <a:p>
            <a:r>
              <a:rPr lang="en-US" sz="3300" b="1" dirty="0">
                <a:solidFill>
                  <a:srgbClr val="002060"/>
                </a:solidFill>
              </a:rPr>
              <a:t>Furman National Association for the Advancement of Colored People (NAACP)</a:t>
            </a:r>
          </a:p>
          <a:p>
            <a:r>
              <a:rPr lang="en-US" sz="3300" b="1" dirty="0">
                <a:solidFill>
                  <a:srgbClr val="00B050"/>
                </a:solidFill>
              </a:rPr>
              <a:t>Student League for Black Culture (</a:t>
            </a:r>
            <a:r>
              <a:rPr lang="en-US" sz="3300" b="1" dirty="0" err="1">
                <a:solidFill>
                  <a:srgbClr val="00B050"/>
                </a:solidFill>
              </a:rPr>
              <a:t>SLBC</a:t>
            </a:r>
            <a:r>
              <a:rPr lang="en-US" sz="3300" b="1" dirty="0">
                <a:solidFill>
                  <a:srgbClr val="00B050"/>
                </a:solidFill>
              </a:rPr>
              <a:t>)</a:t>
            </a:r>
          </a:p>
          <a:p>
            <a:r>
              <a:rPr lang="en-US" sz="3300" b="1" dirty="0">
                <a:solidFill>
                  <a:srgbClr val="FF6600"/>
                </a:solidFill>
              </a:rPr>
              <a:t>Furman University International Student Association (</a:t>
            </a:r>
            <a:r>
              <a:rPr lang="en-US" sz="3300" b="1" dirty="0" err="1">
                <a:solidFill>
                  <a:srgbClr val="FF6600"/>
                </a:solidFill>
              </a:rPr>
              <a:t>FUISA</a:t>
            </a:r>
            <a:r>
              <a:rPr lang="en-US" sz="3300" b="1" dirty="0">
                <a:solidFill>
                  <a:srgbClr val="FF6600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3300" b="1" dirty="0"/>
              <a:t>Past Organizations:</a:t>
            </a:r>
          </a:p>
          <a:p>
            <a:r>
              <a:rPr lang="en-US" sz="3300" b="1" dirty="0"/>
              <a:t>BABA Africa</a:t>
            </a:r>
          </a:p>
          <a:p>
            <a:r>
              <a:rPr lang="en-US" sz="3300" b="1" dirty="0"/>
              <a:t>Pathways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26353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930D5-59FC-4BA6-8D71-FA0470FA9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Treasurer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1D924-5E77-450C-A2D5-488BE265A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Record all bank statements and be responsible for keeping a record of all funds and expenditure of the Student Diversity Council.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Submit to the council an oral report of the state of the treasury at every meeting.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Prepare written financial reports for the Student Diversity Council upon request.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Maintain communication with the treasurers of member organization and monitor their spending.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Approve all budgeted check requests.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90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29B15-8F0B-492D-946F-F3945B624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B7873-A88B-4349-9CFE-35B67BB25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Create a Budget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Maintain a Budget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Submit a Credit Card Request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Submit a Check Request</a:t>
            </a:r>
          </a:p>
        </p:txBody>
      </p:sp>
    </p:spTree>
    <p:extLst>
      <p:ext uri="{BB962C8B-B14F-4D97-AF65-F5344CB8AC3E}">
        <p14:creationId xmlns:p14="http://schemas.microsoft.com/office/powerpoint/2010/main" val="909919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01221D-74CB-489D-BF0A-DAC23878C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291" y="2486721"/>
            <a:ext cx="8671417" cy="319319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CF8BA18-30C1-468B-9B59-39F17CA4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Budget</a:t>
            </a:r>
          </a:p>
        </p:txBody>
      </p:sp>
    </p:spTree>
    <p:extLst>
      <p:ext uri="{BB962C8B-B14F-4D97-AF65-F5344CB8AC3E}">
        <p14:creationId xmlns:p14="http://schemas.microsoft.com/office/powerpoint/2010/main" val="2070666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428E1-1242-412D-8D50-0E74EE9A3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Maintaining a Budget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78054-FB34-4746-8E70-ABABF7208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Ensure that you are aware of all money requests.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You will receive emails when a check request or credit card request has been made allowing you to keep your organization budget up to date.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Be intentional in your spending.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dirty="0" err="1"/>
              <a:t>SDC</a:t>
            </a:r>
            <a:r>
              <a:rPr lang="en-US" dirty="0"/>
              <a:t> Treasurer will send out an email on the 1</a:t>
            </a:r>
            <a:r>
              <a:rPr lang="en-US" baseline="30000" dirty="0"/>
              <a:t>st</a:t>
            </a:r>
            <a:r>
              <a:rPr lang="en-US" dirty="0"/>
              <a:t> of each month letting you know the amount left in your organization account.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Collection of student organization fees.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Issuing receipts.</a:t>
            </a:r>
          </a:p>
        </p:txBody>
      </p:sp>
    </p:spTree>
    <p:extLst>
      <p:ext uri="{BB962C8B-B14F-4D97-AF65-F5344CB8AC3E}">
        <p14:creationId xmlns:p14="http://schemas.microsoft.com/office/powerpoint/2010/main" val="2658855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5742C-E701-475E-BCAE-6E40044F6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Submit a Credit Card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6CB95-0B41-4BF9-A845-54BE05903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Visit Student Diversity Council </a:t>
            </a:r>
            <a:r>
              <a:rPr lang="en-US" dirty="0" err="1"/>
              <a:t>SyncDIN</a:t>
            </a:r>
            <a:r>
              <a:rPr lang="en-US" dirty="0"/>
              <a:t> Page.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Go to forms.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Click Credit Card Request.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Fill out the form including the amount and organization at least 2 days before you need the credit card.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WAIT UNTIL YOU RECEIVE APPROVAL FROM THE </a:t>
            </a:r>
            <a:r>
              <a:rPr lang="en-US" b="1" dirty="0" err="1">
                <a:solidFill>
                  <a:srgbClr val="FF0000"/>
                </a:solidFill>
              </a:rPr>
              <a:t>SDC</a:t>
            </a:r>
            <a:r>
              <a:rPr lang="en-US" b="1" dirty="0">
                <a:solidFill>
                  <a:srgbClr val="FF0000"/>
                </a:solidFill>
              </a:rPr>
              <a:t> TREASURER.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Pick up the credit card and leave a from of ID.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Make your purchase.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Keep the receipt from your purchase.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Turn in the credit card with receipt.</a:t>
            </a:r>
          </a:p>
        </p:txBody>
      </p:sp>
    </p:spTree>
    <p:extLst>
      <p:ext uri="{BB962C8B-B14F-4D97-AF65-F5344CB8AC3E}">
        <p14:creationId xmlns:p14="http://schemas.microsoft.com/office/powerpoint/2010/main" val="3013010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5742C-E701-475E-BCAE-6E40044F6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Submit a Check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6CB95-0B41-4BF9-A845-54BE05903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Visit the Student Diversity Council </a:t>
            </a:r>
            <a:r>
              <a:rPr lang="en-US" dirty="0" err="1"/>
              <a:t>SyncDIN</a:t>
            </a:r>
            <a:r>
              <a:rPr lang="en-US" dirty="0"/>
              <a:t> Page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Go to forms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Click Check Request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Fill out the form including the amount and organization at least 2 weeks before you need the check. You will also need the W-9 form and contract for a check request. ***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WAIT UNTIL YOU RECEIVE APPROVAL FROM THE </a:t>
            </a:r>
            <a:r>
              <a:rPr lang="en-US" b="1" dirty="0" err="1">
                <a:solidFill>
                  <a:srgbClr val="FF0000"/>
                </a:solidFill>
              </a:rPr>
              <a:t>SDC</a:t>
            </a:r>
            <a:r>
              <a:rPr lang="en-US" b="1" dirty="0">
                <a:solidFill>
                  <a:srgbClr val="FF0000"/>
                </a:solidFill>
              </a:rPr>
              <a:t> TREASURER.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The check will come into Queen Deb or Mrs. Dianne and you can pick it up on the day of the event.</a:t>
            </a:r>
          </a:p>
        </p:txBody>
      </p:sp>
    </p:spTree>
    <p:extLst>
      <p:ext uri="{BB962C8B-B14F-4D97-AF65-F5344CB8AC3E}">
        <p14:creationId xmlns:p14="http://schemas.microsoft.com/office/powerpoint/2010/main" val="690811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DE392-52F5-46DC-B436-7D9A98BBA0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690564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D0FC8-5093-42B9-B109-63F03CF57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229B1-EB69-4AFA-84ED-07E2B853A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event with a speaker is occurring next week, but your organization members forgot to submit a check request. What should you do?</a:t>
            </a:r>
          </a:p>
          <a:p>
            <a:r>
              <a:rPr lang="en-US" dirty="0"/>
              <a:t>After a close examination of your budget, you realize that your organization has overspent its budget by $1,000 and it is April of 2019 (one month of classes left). What should you do?</a:t>
            </a:r>
          </a:p>
          <a:p>
            <a:r>
              <a:rPr lang="en-US" dirty="0"/>
              <a:t>You have collected $300, in cash, for dues for your organization and you have given your members their receipts. What is your next step?</a:t>
            </a:r>
          </a:p>
        </p:txBody>
      </p:sp>
    </p:spTree>
    <p:extLst>
      <p:ext uri="{BB962C8B-B14F-4D97-AF65-F5344CB8AC3E}">
        <p14:creationId xmlns:p14="http://schemas.microsoft.com/office/powerpoint/2010/main" val="624622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34E0-ADD4-441B-8325-AFA2B9DF22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SDC</a:t>
            </a:r>
            <a:r>
              <a:rPr lang="en-US" dirty="0"/>
              <a:t> Officer Transition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79669-7D55-44AF-BE10-6D7D9D15CB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2018-2019 Officer Preparation</a:t>
            </a:r>
          </a:p>
        </p:txBody>
      </p:sp>
    </p:spTree>
    <p:extLst>
      <p:ext uri="{BB962C8B-B14F-4D97-AF65-F5344CB8AC3E}">
        <p14:creationId xmlns:p14="http://schemas.microsoft.com/office/powerpoint/2010/main" val="22990001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329</TotalTime>
  <Words>728</Words>
  <Application>Microsoft Office PowerPoint</Application>
  <PresentationFormat>Widescreen</PresentationFormat>
  <Paragraphs>78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Garamond</vt:lpstr>
      <vt:lpstr>Organic</vt:lpstr>
      <vt:lpstr>SDC Officer Transition Training</vt:lpstr>
      <vt:lpstr>Training Agenda</vt:lpstr>
      <vt:lpstr>Background: Student Diversity Council</vt:lpstr>
      <vt:lpstr>SDC Organization Affiliation</vt:lpstr>
      <vt:lpstr>Treasurer</vt:lpstr>
      <vt:lpstr>How To</vt:lpstr>
      <vt:lpstr>Creating a Budget</vt:lpstr>
      <vt:lpstr>Maintaining a Budget</vt:lpstr>
      <vt:lpstr>Submit a Credit Card Request</vt:lpstr>
      <vt:lpstr>Submit a Check Request</vt:lpstr>
      <vt:lpstr>Questions?</vt:lpstr>
      <vt:lpstr>Simulations</vt:lpstr>
      <vt:lpstr>SDC Officer Transition Training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SDC Officer Transition Training</dc:title>
  <dc:creator>Chelsea Joseph-Student</dc:creator>
  <cp:lastModifiedBy>Chelsea Joseph-Student</cp:lastModifiedBy>
  <cp:revision>38</cp:revision>
  <cp:lastPrinted>2018-04-07T10:00:05Z</cp:lastPrinted>
  <dcterms:created xsi:type="dcterms:W3CDTF">2018-04-07T05:56:01Z</dcterms:created>
  <dcterms:modified xsi:type="dcterms:W3CDTF">2018-04-20T15:43:54Z</dcterms:modified>
</cp:coreProperties>
</file>