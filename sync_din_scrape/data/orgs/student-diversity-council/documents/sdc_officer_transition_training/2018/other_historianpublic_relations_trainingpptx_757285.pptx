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2"/>
  </p:notesMasterIdLst>
  <p:sldIdLst>
    <p:sldId id="256" r:id="rId2"/>
    <p:sldId id="305" r:id="rId3"/>
    <p:sldId id="306" r:id="rId4"/>
    <p:sldId id="307" r:id="rId5"/>
    <p:sldId id="311" r:id="rId6"/>
    <p:sldId id="310" r:id="rId7"/>
    <p:sldId id="309" r:id="rId8"/>
    <p:sldId id="312" r:id="rId9"/>
    <p:sldId id="313" r:id="rId10"/>
    <p:sldId id="31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291" autoAdjust="0"/>
  </p:normalViewPr>
  <p:slideViewPr>
    <p:cSldViewPr snapToGrid="0">
      <p:cViewPr varScale="1">
        <p:scale>
          <a:sx n="115" d="100"/>
          <a:sy n="115" d="100"/>
        </p:scale>
        <p:origin x="43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257F45-9D36-4BDC-B79F-6AE4977D173A}" type="datetimeFigureOut">
              <a:rPr lang="en-US" smtClean="0"/>
              <a:t>4/20/2018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98F3D2-6CA0-4CDC-BAA3-8F1D56F47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644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98F3D2-6CA0-4CDC-BAA3-8F1D56F477B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6758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98F3D2-6CA0-4CDC-BAA3-8F1D56F477B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5979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98F3D2-6CA0-4CDC-BAA3-8F1D56F477B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345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88825" cy="6872226"/>
            <a:chOff x="0" y="0"/>
            <a:chExt cx="12188825" cy="6872226"/>
          </a:xfrm>
        </p:grpSpPr>
        <p:pic>
          <p:nvPicPr>
            <p:cNvPr id="9" name="Picture 8" descr="HD-PanelTitle-V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" r="47673"/>
            <a:stretch/>
          </p:blipFill>
          <p:spPr>
            <a:xfrm rot="5400000">
              <a:off x="5245268" y="530352"/>
              <a:ext cx="1673352" cy="612648"/>
            </a:xfrm>
            <a:prstGeom prst="rect">
              <a:avLst/>
            </a:prstGeom>
          </p:spPr>
        </p:pic>
        <p:pic>
          <p:nvPicPr>
            <p:cNvPr id="18" name="Picture 17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8819"/>
            <a:stretch/>
          </p:blipFill>
          <p:spPr>
            <a:xfrm rot="5400000">
              <a:off x="5263556" y="5747514"/>
              <a:ext cx="1636776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4/20/2018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4/20/2018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4/20/2018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4/20/2018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4/20/2018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4/20/2018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4/20/2018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4/20/2018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4/20/2018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88825" cy="6856215"/>
            <a:chOff x="0" y="0"/>
            <a:chExt cx="12188825" cy="6856215"/>
          </a:xfrm>
        </p:grpSpPr>
        <p:pic>
          <p:nvPicPr>
            <p:cNvPr id="8" name="Picture 7" descr="HD-PanelContent-V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1" y="76265"/>
              <a:ext cx="758952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0" y="6173526"/>
              <a:ext cx="758952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4/20/2018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34E0-ADD4-441B-8325-AFA2B9DF22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SDC</a:t>
            </a:r>
            <a:r>
              <a:rPr lang="en-US" dirty="0"/>
              <a:t> Officer Transition Training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979669-7D55-44AF-BE10-6D7D9D15CB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2018-2019 Officer Preparation</a:t>
            </a:r>
          </a:p>
        </p:txBody>
      </p:sp>
    </p:spTree>
    <p:extLst>
      <p:ext uri="{BB962C8B-B14F-4D97-AF65-F5344CB8AC3E}">
        <p14:creationId xmlns:p14="http://schemas.microsoft.com/office/powerpoint/2010/main" val="3596327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8BC38-7279-4DF5-AF4D-6CADA8E02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7FE9C-51A8-42F6-AB15-C8DB5C253B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 err="1">
                <a:solidFill>
                  <a:schemeClr val="bg1">
                    <a:lumMod val="85000"/>
                  </a:schemeClr>
                </a:solidFill>
              </a:rPr>
              <a:t>9:00A</a:t>
            </a:r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- </a:t>
            </a:r>
            <a:r>
              <a:rPr lang="en-US" b="1" dirty="0" err="1">
                <a:solidFill>
                  <a:schemeClr val="bg1">
                    <a:lumMod val="85000"/>
                  </a:schemeClr>
                </a:solidFill>
              </a:rPr>
              <a:t>9:30A</a:t>
            </a:r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- 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Coffee &amp; Donuts (Provided by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</a:rPr>
              <a:t>SDC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)</a:t>
            </a:r>
          </a:p>
          <a:p>
            <a:r>
              <a:rPr lang="en-US" b="1" dirty="0" err="1">
                <a:solidFill>
                  <a:schemeClr val="bg1">
                    <a:lumMod val="85000"/>
                  </a:schemeClr>
                </a:solidFill>
              </a:rPr>
              <a:t>9:30A</a:t>
            </a:r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- </a:t>
            </a:r>
            <a:r>
              <a:rPr lang="en-US" b="1" dirty="0" err="1">
                <a:solidFill>
                  <a:schemeClr val="bg1">
                    <a:lumMod val="85000"/>
                  </a:schemeClr>
                </a:solidFill>
              </a:rPr>
              <a:t>10:45A</a:t>
            </a:r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- 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President &amp; Vice President Position Training</a:t>
            </a:r>
          </a:p>
          <a:p>
            <a:r>
              <a:rPr lang="en-US" b="1" dirty="0" err="1">
                <a:solidFill>
                  <a:schemeClr val="bg1">
                    <a:lumMod val="85000"/>
                  </a:schemeClr>
                </a:solidFill>
              </a:rPr>
              <a:t>10:45A-11A</a:t>
            </a:r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- 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Short Break</a:t>
            </a:r>
          </a:p>
          <a:p>
            <a:r>
              <a:rPr lang="en-US" b="1" dirty="0" err="1">
                <a:solidFill>
                  <a:schemeClr val="bg1">
                    <a:lumMod val="85000"/>
                  </a:schemeClr>
                </a:solidFill>
              </a:rPr>
              <a:t>11A</a:t>
            </a:r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- </a:t>
            </a:r>
            <a:r>
              <a:rPr lang="en-US" b="1" dirty="0" err="1">
                <a:solidFill>
                  <a:schemeClr val="bg1">
                    <a:lumMod val="85000"/>
                  </a:schemeClr>
                </a:solidFill>
              </a:rPr>
              <a:t>12:15P</a:t>
            </a:r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- 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Treasurer Position Training</a:t>
            </a:r>
          </a:p>
          <a:p>
            <a:r>
              <a:rPr lang="en-US" b="1" dirty="0" err="1">
                <a:solidFill>
                  <a:schemeClr val="bg1">
                    <a:lumMod val="85000"/>
                  </a:schemeClr>
                </a:solidFill>
              </a:rPr>
              <a:t>12:15P-1:15P</a:t>
            </a:r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-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Lunch (Not Provided by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</a:rPr>
              <a:t>SDC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)</a:t>
            </a:r>
          </a:p>
          <a:p>
            <a:r>
              <a:rPr lang="en-US" b="1" dirty="0" err="1">
                <a:solidFill>
                  <a:schemeClr val="bg1">
                    <a:lumMod val="85000"/>
                  </a:schemeClr>
                </a:solidFill>
              </a:rPr>
              <a:t>1:20P-2:20P</a:t>
            </a:r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- 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Secretary &amp;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</a:rPr>
              <a:t>SDC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Representative Training</a:t>
            </a:r>
          </a:p>
          <a:p>
            <a:r>
              <a:rPr lang="en-US" b="1" dirty="0" err="1"/>
              <a:t>2:30P-3:45P</a:t>
            </a:r>
            <a:r>
              <a:rPr lang="en-US" b="1" dirty="0"/>
              <a:t>- </a:t>
            </a:r>
            <a:r>
              <a:rPr lang="en-US" dirty="0"/>
              <a:t>Historian, Public Relations, Creativity Chair Position Training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5922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7E389-321F-48CB-BD8A-974E31F99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Background: Student Diversity Council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D97952-A602-44AC-BC15-828519C54A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</a:rPr>
              <a:t>What is the Student Diversity Council?</a:t>
            </a:r>
          </a:p>
          <a:p>
            <a:pPr marL="0" indent="0">
              <a:buNone/>
            </a:pPr>
            <a:r>
              <a:rPr lang="en-US" b="1" dirty="0"/>
              <a:t>The Student Diversity Council (</a:t>
            </a:r>
            <a:r>
              <a:rPr lang="en-US" b="1" dirty="0" err="1"/>
              <a:t>SDC</a:t>
            </a:r>
            <a:r>
              <a:rPr lang="en-US" b="1" dirty="0"/>
              <a:t>) is the umbrella organization for student groups on campus that are focused on issues of racial, cultural, sexual, and/ or gender diversity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</a:rPr>
              <a:t>Mission Statement: </a:t>
            </a:r>
            <a:r>
              <a:rPr lang="en-US" b="1" dirty="0"/>
              <a:t>The mission of the Student Diversity Council (</a:t>
            </a:r>
            <a:r>
              <a:rPr lang="en-US" b="1" dirty="0" err="1"/>
              <a:t>SDC</a:t>
            </a:r>
            <a:r>
              <a:rPr lang="en-US" b="1" dirty="0"/>
              <a:t>) is to educate Furman- affiliated individuals and the Greenville community on topics of cultural diversity while advocating for cultural understanding, awareness, and equality.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</a:rPr>
              <a:t>Vision Statement: </a:t>
            </a:r>
            <a:r>
              <a:rPr lang="en-US" b="1" dirty="0"/>
              <a:t>As the umbrella organization for multicultural organizations on campus, the Student Diversity Council (</a:t>
            </a:r>
            <a:r>
              <a:rPr lang="en-US" b="1" dirty="0" err="1"/>
              <a:t>SDC</a:t>
            </a:r>
            <a:r>
              <a:rPr lang="en-US" b="1" dirty="0"/>
              <a:t>) seeks to share the responsibility of promoting and sustaining diversity at Furman to campus- wide entities through two-way dialogue, co-sponsorships, and collaboration with the Greenville community.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014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939FA-8935-49F4-AFBE-670830B84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SDC</a:t>
            </a:r>
            <a:r>
              <a:rPr lang="en-US" dirty="0"/>
              <a:t> Organization Affiliation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7AD972-9084-44F5-A845-BF99BF60B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9687" y="2411896"/>
            <a:ext cx="10204174" cy="3657600"/>
          </a:xfrm>
        </p:spPr>
        <p:txBody>
          <a:bodyPr>
            <a:normAutofit fontScale="55000" lnSpcReduction="20000"/>
          </a:bodyPr>
          <a:lstStyle/>
          <a:p>
            <a:r>
              <a:rPr lang="en-US" sz="3300" b="1" dirty="0">
                <a:solidFill>
                  <a:srgbClr val="92D050"/>
                </a:solidFill>
              </a:rPr>
              <a:t>Association of Students Interested in Asia (ASIA)</a:t>
            </a:r>
          </a:p>
          <a:p>
            <a:r>
              <a:rPr lang="en-US" sz="3300" b="1" dirty="0">
                <a:solidFill>
                  <a:srgbClr val="FF0000"/>
                </a:solidFill>
              </a:rPr>
              <a:t>Chinese Student Association (CSA)</a:t>
            </a:r>
          </a:p>
          <a:p>
            <a:r>
              <a:rPr lang="en-US" sz="3300" b="1" dirty="0">
                <a:solidFill>
                  <a:srgbClr val="00B0F0"/>
                </a:solidFill>
              </a:rPr>
              <a:t>Furman Pride Alliance (</a:t>
            </a:r>
            <a:r>
              <a:rPr lang="en-US" sz="3300" b="1" dirty="0" err="1">
                <a:solidFill>
                  <a:srgbClr val="00B0F0"/>
                </a:solidFill>
              </a:rPr>
              <a:t>FPA</a:t>
            </a:r>
            <a:r>
              <a:rPr lang="en-US" sz="3300" b="1" dirty="0">
                <a:solidFill>
                  <a:srgbClr val="00B0F0"/>
                </a:solidFill>
              </a:rPr>
              <a:t>)</a:t>
            </a:r>
          </a:p>
          <a:p>
            <a:r>
              <a:rPr lang="en-US" sz="3300" b="1" dirty="0">
                <a:solidFill>
                  <a:srgbClr val="7030A0"/>
                </a:solidFill>
              </a:rPr>
              <a:t>Hispanic Outreach and Latinx Awareness (</a:t>
            </a:r>
            <a:r>
              <a:rPr lang="en-US" sz="3300" b="1" dirty="0" err="1">
                <a:solidFill>
                  <a:srgbClr val="7030A0"/>
                </a:solidFill>
              </a:rPr>
              <a:t>HOLA</a:t>
            </a:r>
            <a:r>
              <a:rPr lang="en-US" sz="3300" b="1" dirty="0">
                <a:solidFill>
                  <a:srgbClr val="7030A0"/>
                </a:solidFill>
              </a:rPr>
              <a:t>)</a:t>
            </a:r>
          </a:p>
          <a:p>
            <a:r>
              <a:rPr lang="en-US" sz="3300" b="1" dirty="0">
                <a:solidFill>
                  <a:srgbClr val="002060"/>
                </a:solidFill>
              </a:rPr>
              <a:t>Furman National Association for the Advancement of Colored People (NAACP)</a:t>
            </a:r>
          </a:p>
          <a:p>
            <a:r>
              <a:rPr lang="en-US" sz="3300" b="1" dirty="0">
                <a:solidFill>
                  <a:srgbClr val="00B050"/>
                </a:solidFill>
              </a:rPr>
              <a:t>Student League for Black Culture (</a:t>
            </a:r>
            <a:r>
              <a:rPr lang="en-US" sz="3300" b="1" dirty="0" err="1">
                <a:solidFill>
                  <a:srgbClr val="00B050"/>
                </a:solidFill>
              </a:rPr>
              <a:t>SLBC</a:t>
            </a:r>
            <a:r>
              <a:rPr lang="en-US" sz="3300" b="1" dirty="0">
                <a:solidFill>
                  <a:srgbClr val="00B050"/>
                </a:solidFill>
              </a:rPr>
              <a:t>)</a:t>
            </a:r>
          </a:p>
          <a:p>
            <a:r>
              <a:rPr lang="en-US" sz="3300" b="1" dirty="0">
                <a:solidFill>
                  <a:srgbClr val="FF6600"/>
                </a:solidFill>
              </a:rPr>
              <a:t>Furman University International Student Association (</a:t>
            </a:r>
            <a:r>
              <a:rPr lang="en-US" sz="3300" b="1" dirty="0" err="1">
                <a:solidFill>
                  <a:srgbClr val="FF6600"/>
                </a:solidFill>
              </a:rPr>
              <a:t>FUISA</a:t>
            </a:r>
            <a:r>
              <a:rPr lang="en-US" sz="3300" b="1" dirty="0">
                <a:solidFill>
                  <a:srgbClr val="FF6600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3300" b="1" dirty="0"/>
              <a:t>Past Organizations:</a:t>
            </a:r>
          </a:p>
          <a:p>
            <a:r>
              <a:rPr lang="en-US" sz="3300" b="1" dirty="0"/>
              <a:t>BABA Africa</a:t>
            </a:r>
          </a:p>
          <a:p>
            <a:r>
              <a:rPr lang="en-US" sz="3300" b="1" dirty="0"/>
              <a:t>Pathways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14096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7E3DF-0675-4F65-B2E9-63FE7F526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Historian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AD777-42D3-42E3-A5E1-94105BA4EB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Keep a detailed record of the Student Diversity Council’s accomplishments and activities for the current academic year.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Take pictures and recordings of Student Diversity Council activities.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Collect items such as pictures, news clippings, videos, flyers, shirts, and merchandise that showcase the current organizations that make up </a:t>
            </a:r>
            <a:r>
              <a:rPr lang="en-US" dirty="0" err="1"/>
              <a:t>SDC</a:t>
            </a:r>
            <a:r>
              <a:rPr lang="en-US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Organize a hard copy of the Historian book that will tell the organization’s story for the year as well as an electronic copy.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Create an end of the year mini-film that tells the Council’s story to be viewed at the End of the Year Banquet.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Share the mini-film with external sources on campus to serve as a thank you to all allies that supported the efforts of the Student Diversity Council throughout the academic year.</a:t>
            </a:r>
          </a:p>
        </p:txBody>
      </p:sp>
    </p:spTree>
    <p:extLst>
      <p:ext uri="{BB962C8B-B14F-4D97-AF65-F5344CB8AC3E}">
        <p14:creationId xmlns:p14="http://schemas.microsoft.com/office/powerpoint/2010/main" val="2965599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4B839-3CED-408C-968D-B954BA168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4BAED4-8663-4837-A61A-EDD39FE561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Compile event flyers, photos, and videos.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Google Drive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Make a video or PPT.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Make a scrapbook.</a:t>
            </a:r>
          </a:p>
        </p:txBody>
      </p:sp>
    </p:spTree>
    <p:extLst>
      <p:ext uri="{BB962C8B-B14F-4D97-AF65-F5344CB8AC3E}">
        <p14:creationId xmlns:p14="http://schemas.microsoft.com/office/powerpoint/2010/main" val="1763927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7E3DF-0675-4F65-B2E9-63FE7F526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Public Relations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AD777-42D3-42E3-A5E1-94105BA4EB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n-US" dirty="0"/>
              <a:t>Manage </a:t>
            </a:r>
            <a:r>
              <a:rPr lang="en-US" dirty="0" err="1"/>
              <a:t>SDC's</a:t>
            </a:r>
            <a:r>
              <a:rPr lang="en-US" dirty="0"/>
              <a:t> social media (Facebook, Instagram, and Twitter.)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dirty="0"/>
              <a:t>Design posters, flyers, t-shirts and digital graphics for publicity purposes for </a:t>
            </a:r>
            <a:r>
              <a:rPr lang="en-US" dirty="0" err="1"/>
              <a:t>SDC</a:t>
            </a:r>
            <a:r>
              <a:rPr lang="en-US" dirty="0"/>
              <a:t>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dirty="0"/>
              <a:t>Manage the branding of </a:t>
            </a:r>
            <a:r>
              <a:rPr lang="en-US" dirty="0" err="1"/>
              <a:t>SDC</a:t>
            </a:r>
            <a:r>
              <a:rPr lang="en-US" dirty="0"/>
              <a:t>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dirty="0"/>
              <a:t>Help the </a:t>
            </a:r>
            <a:r>
              <a:rPr lang="en-US" dirty="0" err="1"/>
              <a:t>SDC</a:t>
            </a:r>
            <a:r>
              <a:rPr lang="en-US" dirty="0"/>
              <a:t> group maintain the </a:t>
            </a:r>
            <a:r>
              <a:rPr lang="en-US" dirty="0" err="1"/>
              <a:t>SDC</a:t>
            </a:r>
            <a:r>
              <a:rPr lang="en-US" dirty="0"/>
              <a:t> scrapbook.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dirty="0"/>
              <a:t>Manage the </a:t>
            </a:r>
            <a:r>
              <a:rPr lang="en-US" dirty="0" err="1"/>
              <a:t>SDC</a:t>
            </a:r>
            <a:r>
              <a:rPr lang="en-US" dirty="0"/>
              <a:t> Facebook group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dirty="0"/>
              <a:t>Promote events that the </a:t>
            </a:r>
            <a:r>
              <a:rPr lang="en-US" dirty="0" err="1"/>
              <a:t>SDC</a:t>
            </a:r>
            <a:r>
              <a:rPr lang="en-US" dirty="0"/>
              <a:t> groups organize.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7334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EF6C8-1706-4499-A349-F0706E707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F8E861-9A7E-4CFE-9F22-053113CD5B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Gain access to your organizations Facebook page or group.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Create an Event Flyer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Create a Facebook Event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Create a </a:t>
            </a:r>
            <a:r>
              <a:rPr lang="en-US" dirty="0" err="1"/>
              <a:t>SyncDIN</a:t>
            </a:r>
            <a:r>
              <a:rPr lang="en-US" dirty="0"/>
              <a:t> event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Dins Digest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Furman University Instagram Story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Digital Screens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err="1"/>
              <a:t>P2X</a:t>
            </a:r>
            <a:r>
              <a:rPr lang="en-US" dirty="0"/>
              <a:t> Printing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Campus Announcements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err="1"/>
              <a:t>SyncDIN</a:t>
            </a:r>
            <a:r>
              <a:rPr lang="en-US" dirty="0"/>
              <a:t> Newsletter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7815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DE392-52F5-46DC-B436-7D9A98BBA0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40467490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34E0-ADD4-441B-8325-AFA2B9DF22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SDC</a:t>
            </a:r>
            <a:r>
              <a:rPr lang="en-US" dirty="0"/>
              <a:t> Officer Transition Training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979669-7D55-44AF-BE10-6D7D9D15CB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2018-2019 Officer Preparation</a:t>
            </a:r>
          </a:p>
        </p:txBody>
      </p:sp>
    </p:spTree>
    <p:extLst>
      <p:ext uri="{BB962C8B-B14F-4D97-AF65-F5344CB8AC3E}">
        <p14:creationId xmlns:p14="http://schemas.microsoft.com/office/powerpoint/2010/main" val="29282735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B15E28"/>
      </a:accent1>
      <a:accent2>
        <a:srgbClr val="B13228"/>
      </a:accent2>
      <a:accent3>
        <a:srgbClr val="8B7B56"/>
      </a:accent3>
      <a:accent4>
        <a:srgbClr val="E09C41"/>
      </a:accent4>
      <a:accent5>
        <a:srgbClr val="9EAE51"/>
      </a:accent5>
      <a:accent6>
        <a:srgbClr val="6E7355"/>
      </a:accent6>
      <a:hlink>
        <a:srgbClr val="D37A21"/>
      </a:hlink>
      <a:folHlink>
        <a:srgbClr val="CA8F55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039A4B3-0617-4CFC-B614-27363ECC28A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329</TotalTime>
  <Words>524</Words>
  <Application>Microsoft Office PowerPoint</Application>
  <PresentationFormat>Widescreen</PresentationFormat>
  <Paragraphs>63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Garamond</vt:lpstr>
      <vt:lpstr>Organic</vt:lpstr>
      <vt:lpstr>SDC Officer Transition Training</vt:lpstr>
      <vt:lpstr>Training Agenda</vt:lpstr>
      <vt:lpstr>Background: Student Diversity Council</vt:lpstr>
      <vt:lpstr>SDC Organization Affiliation</vt:lpstr>
      <vt:lpstr>Historian</vt:lpstr>
      <vt:lpstr>How To</vt:lpstr>
      <vt:lpstr>Public Relations</vt:lpstr>
      <vt:lpstr>How To</vt:lpstr>
      <vt:lpstr>Questions?</vt:lpstr>
      <vt:lpstr>SDC Officer Transition Training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SDC Officer Transition Training</dc:title>
  <dc:creator>Chelsea Joseph-Student</dc:creator>
  <cp:lastModifiedBy>Chelsea Joseph-Student</cp:lastModifiedBy>
  <cp:revision>38</cp:revision>
  <cp:lastPrinted>2018-04-07T10:00:05Z</cp:lastPrinted>
  <dcterms:created xsi:type="dcterms:W3CDTF">2018-04-07T05:56:01Z</dcterms:created>
  <dcterms:modified xsi:type="dcterms:W3CDTF">2018-04-20T15:48:07Z</dcterms:modified>
</cp:coreProperties>
</file>