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4"/>
  </p:notesMasterIdLst>
  <p:sldIdLst>
    <p:sldId id="256" r:id="rId2"/>
    <p:sldId id="257" r:id="rId3"/>
    <p:sldId id="258" r:id="rId4"/>
    <p:sldId id="259" r:id="rId5"/>
    <p:sldId id="261" r:id="rId6"/>
    <p:sldId id="262" r:id="rId7"/>
    <p:sldId id="260" r:id="rId8"/>
    <p:sldId id="264" r:id="rId9"/>
    <p:sldId id="263" r:id="rId10"/>
    <p:sldId id="265" r:id="rId11"/>
    <p:sldId id="268" r:id="rId12"/>
    <p:sldId id="266" r:id="rId13"/>
    <p:sldId id="270" r:id="rId14"/>
    <p:sldId id="271" r:id="rId15"/>
    <p:sldId id="269" r:id="rId16"/>
    <p:sldId id="267" r:id="rId17"/>
    <p:sldId id="272" r:id="rId18"/>
    <p:sldId id="273" r:id="rId19"/>
    <p:sldId id="275" r:id="rId20"/>
    <p:sldId id="274"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291" autoAdjust="0"/>
  </p:normalViewPr>
  <p:slideViewPr>
    <p:cSldViewPr snapToGrid="0">
      <p:cViewPr varScale="1">
        <p:scale>
          <a:sx n="115" d="100"/>
          <a:sy n="115" d="100"/>
        </p:scale>
        <p:origin x="43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257F45-9D36-4BDC-B79F-6AE4977D173A}" type="datetimeFigureOut">
              <a:rPr lang="en-US" smtClean="0"/>
              <a:t>4/20/2018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98F3D2-6CA0-4CDC-BAA3-8F1D56F477B2}" type="slidenum">
              <a:rPr lang="en-US" smtClean="0"/>
              <a:t>‹#›</a:t>
            </a:fld>
            <a:endParaRPr lang="en-US"/>
          </a:p>
        </p:txBody>
      </p:sp>
    </p:spTree>
    <p:extLst>
      <p:ext uri="{BB962C8B-B14F-4D97-AF65-F5344CB8AC3E}">
        <p14:creationId xmlns:p14="http://schemas.microsoft.com/office/powerpoint/2010/main" val="1867644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a retreat</a:t>
            </a:r>
          </a:p>
          <a:p>
            <a:r>
              <a:rPr lang="en-US" dirty="0"/>
              <a:t>Plan a social event</a:t>
            </a:r>
          </a:p>
          <a:p>
            <a:r>
              <a:rPr lang="en-US" dirty="0"/>
              <a:t>Facilitate Panel Discussions/ Open Forums</a:t>
            </a:r>
          </a:p>
          <a:p>
            <a:r>
              <a:rPr lang="en-US" dirty="0"/>
              <a:t>Conference Attendance</a:t>
            </a:r>
          </a:p>
        </p:txBody>
      </p:sp>
      <p:sp>
        <p:nvSpPr>
          <p:cNvPr id="4" name="Slide Number Placeholder 3"/>
          <p:cNvSpPr>
            <a:spLocks noGrp="1"/>
          </p:cNvSpPr>
          <p:nvPr>
            <p:ph type="sldNum" sz="quarter" idx="10"/>
          </p:nvPr>
        </p:nvSpPr>
        <p:spPr/>
        <p:txBody>
          <a:bodyPr/>
          <a:lstStyle/>
          <a:p>
            <a:fld id="{5698F3D2-6CA0-4CDC-BAA3-8F1D56F477B2}" type="slidenum">
              <a:rPr lang="en-US" smtClean="0"/>
              <a:t>9</a:t>
            </a:fld>
            <a:endParaRPr lang="en-US"/>
          </a:p>
        </p:txBody>
      </p:sp>
    </p:spTree>
    <p:extLst>
      <p:ext uri="{BB962C8B-B14F-4D97-AF65-F5344CB8AC3E}">
        <p14:creationId xmlns:p14="http://schemas.microsoft.com/office/powerpoint/2010/main" val="4090751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Feminism: Past to Present</a:t>
            </a:r>
          </a:p>
          <a:p>
            <a:r>
              <a:rPr lang="en-US" dirty="0"/>
              <a:t>Author, Professor, Local Activist, National Activist, etc. (Google Search) For Heritage Months look at programs that other colleges have done (UNC Chapel Hill &amp; Elizabeth Acevedo, Message in the Music: Hip Hop I wrote a final paper on 10 recurring themes in Hip Hop using a book titled Message in the Music and we brought the author of the book to campus) African American Studies Programs, Modern Language Departments, Indian Studies Minor and Majors are also a good source.</a:t>
            </a:r>
          </a:p>
          <a:p>
            <a:endParaRPr lang="en-US" dirty="0"/>
          </a:p>
          <a:p>
            <a:r>
              <a:rPr lang="en-US" dirty="0"/>
              <a:t>25 Live- Registrar</a:t>
            </a:r>
          </a:p>
          <a:p>
            <a:r>
              <a:rPr lang="en-US" dirty="0"/>
              <a:t>FUR 214 McEachern Lecture Hall</a:t>
            </a:r>
          </a:p>
          <a:p>
            <a:r>
              <a:rPr lang="en-US" dirty="0" err="1"/>
              <a:t>PYR</a:t>
            </a:r>
            <a:r>
              <a:rPr lang="en-US" dirty="0"/>
              <a:t> 126 Patrick Lecture Hall</a:t>
            </a:r>
          </a:p>
          <a:p>
            <a:r>
              <a:rPr lang="en-US" dirty="0" err="1"/>
              <a:t>JHN</a:t>
            </a:r>
            <a:r>
              <a:rPr lang="en-US" dirty="0"/>
              <a:t> 101 Johns Hall 101</a:t>
            </a:r>
          </a:p>
          <a:p>
            <a:r>
              <a:rPr lang="en-US" dirty="0"/>
              <a:t>RLY 109 Riley Hall 109</a:t>
            </a:r>
          </a:p>
          <a:p>
            <a:r>
              <a:rPr lang="en-US" dirty="0"/>
              <a:t>PAC 116 </a:t>
            </a:r>
          </a:p>
          <a:p>
            <a:r>
              <a:rPr lang="en-US" dirty="0"/>
              <a:t>Daniel Recital Hall</a:t>
            </a:r>
          </a:p>
          <a:p>
            <a:r>
              <a:rPr lang="en-US" dirty="0"/>
              <a:t>McAlister</a:t>
            </a:r>
          </a:p>
          <a:p>
            <a:endParaRPr lang="en-US" dirty="0"/>
          </a:p>
          <a:p>
            <a:r>
              <a:rPr lang="en-US" dirty="0" err="1"/>
              <a:t>Trone</a:t>
            </a:r>
            <a:r>
              <a:rPr lang="en-US" dirty="0"/>
              <a:t> Spaces via </a:t>
            </a:r>
            <a:r>
              <a:rPr lang="en-US" dirty="0" err="1"/>
              <a:t>SyncDIN</a:t>
            </a:r>
            <a:endParaRPr lang="en-US" dirty="0"/>
          </a:p>
          <a:p>
            <a:r>
              <a:rPr lang="en-US" dirty="0"/>
              <a:t>Burgiss</a:t>
            </a:r>
          </a:p>
          <a:p>
            <a:r>
              <a:rPr lang="en-US" dirty="0"/>
              <a:t>Watkins</a:t>
            </a:r>
          </a:p>
          <a:p>
            <a:r>
              <a:rPr lang="en-US" dirty="0" err="1"/>
              <a:t>Trone</a:t>
            </a:r>
            <a:r>
              <a:rPr lang="en-US" dirty="0"/>
              <a:t> 208</a:t>
            </a:r>
          </a:p>
          <a:p>
            <a:endParaRPr lang="en-US" dirty="0"/>
          </a:p>
          <a:p>
            <a:r>
              <a:rPr lang="en-US" dirty="0" err="1"/>
              <a:t>MyFurman</a:t>
            </a:r>
            <a:r>
              <a:rPr lang="en-US" dirty="0"/>
              <a:t>, Room Reservation, Check Availability (Location Search), New Event</a:t>
            </a:r>
          </a:p>
          <a:p>
            <a:endParaRPr lang="en-US" dirty="0"/>
          </a:p>
          <a:p>
            <a:endParaRPr lang="en-US" dirty="0"/>
          </a:p>
          <a:p>
            <a:r>
              <a:rPr lang="en-US" dirty="0"/>
              <a:t>https://25live.collegenet.com/furman/</a:t>
            </a:r>
          </a:p>
        </p:txBody>
      </p:sp>
      <p:sp>
        <p:nvSpPr>
          <p:cNvPr id="4" name="Slide Number Placeholder 3"/>
          <p:cNvSpPr>
            <a:spLocks noGrp="1"/>
          </p:cNvSpPr>
          <p:nvPr>
            <p:ph type="sldNum" sz="quarter" idx="10"/>
          </p:nvPr>
        </p:nvSpPr>
        <p:spPr/>
        <p:txBody>
          <a:bodyPr/>
          <a:lstStyle/>
          <a:p>
            <a:fld id="{5698F3D2-6CA0-4CDC-BAA3-8F1D56F477B2}" type="slidenum">
              <a:rPr lang="en-US" smtClean="0"/>
              <a:t>10</a:t>
            </a:fld>
            <a:endParaRPr lang="en-US"/>
          </a:p>
        </p:txBody>
      </p:sp>
    </p:spTree>
    <p:extLst>
      <p:ext uri="{BB962C8B-B14F-4D97-AF65-F5344CB8AC3E}">
        <p14:creationId xmlns:p14="http://schemas.microsoft.com/office/powerpoint/2010/main" val="3402279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Reimbursement by car is done by mileage $0.50/ mile roundtrip 400 miles roundtrip reimbursement of $200</a:t>
            </a:r>
          </a:p>
          <a:p>
            <a:r>
              <a:rPr lang="en-US" dirty="0"/>
              <a:t>Reimbursement by plane is one done through one economy ticket price of the speakers choosing</a:t>
            </a:r>
          </a:p>
          <a:p>
            <a:r>
              <a:rPr lang="en-US" dirty="0"/>
              <a:t>Air Travel (Arrange Ground Transportation Airport to Hotel, Hotel to Campus, Campus to Hotel, Hotel to Airport)</a:t>
            </a:r>
          </a:p>
          <a:p>
            <a:r>
              <a:rPr lang="en-US" dirty="0"/>
              <a:t>Lodging of your choosing (Holiday Inn DT or Hilton DT)</a:t>
            </a:r>
          </a:p>
          <a:p>
            <a:endParaRPr lang="en-US" dirty="0"/>
          </a:p>
          <a:p>
            <a:r>
              <a:rPr lang="en-US" dirty="0"/>
              <a:t>Send the contract and tell them to send their W-9 to Jessica Berkey and Mrs. Deborah ONLY not you. The W-9 form contains their social security number. Once the W-9  and contract are received your treasurer will submit a check request immediately for the amount via </a:t>
            </a:r>
            <a:r>
              <a:rPr lang="en-US" dirty="0" err="1"/>
              <a:t>SyncDIN</a:t>
            </a:r>
            <a:r>
              <a:rPr lang="en-US" dirty="0"/>
              <a:t>.</a:t>
            </a:r>
          </a:p>
        </p:txBody>
      </p:sp>
      <p:sp>
        <p:nvSpPr>
          <p:cNvPr id="4" name="Slide Number Placeholder 3"/>
          <p:cNvSpPr>
            <a:spLocks noGrp="1"/>
          </p:cNvSpPr>
          <p:nvPr>
            <p:ph type="sldNum" sz="quarter" idx="10"/>
          </p:nvPr>
        </p:nvSpPr>
        <p:spPr/>
        <p:txBody>
          <a:bodyPr/>
          <a:lstStyle/>
          <a:p>
            <a:fld id="{5698F3D2-6CA0-4CDC-BAA3-8F1D56F477B2}" type="slidenum">
              <a:rPr lang="en-US" smtClean="0"/>
              <a:t>12</a:t>
            </a:fld>
            <a:endParaRPr lang="en-US"/>
          </a:p>
        </p:txBody>
      </p:sp>
    </p:spTree>
    <p:extLst>
      <p:ext uri="{BB962C8B-B14F-4D97-AF65-F5344CB8AC3E}">
        <p14:creationId xmlns:p14="http://schemas.microsoft.com/office/powerpoint/2010/main" val="3807915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banquet tables with 6 seats at each table white linen table cloths</a:t>
            </a:r>
          </a:p>
          <a:p>
            <a:r>
              <a:rPr lang="en-US" dirty="0"/>
              <a:t>2 tables for food buffet and 1 table for dessert</a:t>
            </a:r>
          </a:p>
          <a:p>
            <a:r>
              <a:rPr lang="en-US" dirty="0"/>
              <a:t>1 podium with podium mic</a:t>
            </a:r>
            <a:br>
              <a:rPr lang="en-US" dirty="0"/>
            </a:br>
            <a:endParaRPr lang="en-US" dirty="0"/>
          </a:p>
          <a:p>
            <a:r>
              <a:rPr lang="en-US" dirty="0"/>
              <a:t>Invocation. Dr. </a:t>
            </a:r>
            <a:r>
              <a:rPr lang="en-US" dirty="0" err="1"/>
              <a:t>Inabinet</a:t>
            </a:r>
            <a:r>
              <a:rPr lang="en-US" dirty="0"/>
              <a:t>, Communications or Kate Taber Chaplains Office</a:t>
            </a:r>
          </a:p>
          <a:p>
            <a:endParaRPr lang="en-US" dirty="0"/>
          </a:p>
        </p:txBody>
      </p:sp>
      <p:sp>
        <p:nvSpPr>
          <p:cNvPr id="4" name="Slide Number Placeholder 3"/>
          <p:cNvSpPr>
            <a:spLocks noGrp="1"/>
          </p:cNvSpPr>
          <p:nvPr>
            <p:ph type="sldNum" sz="quarter" idx="10"/>
          </p:nvPr>
        </p:nvSpPr>
        <p:spPr/>
        <p:txBody>
          <a:bodyPr/>
          <a:lstStyle/>
          <a:p>
            <a:fld id="{5698F3D2-6CA0-4CDC-BAA3-8F1D56F477B2}" type="slidenum">
              <a:rPr lang="en-US" smtClean="0"/>
              <a:t>16</a:t>
            </a:fld>
            <a:endParaRPr lang="en-US"/>
          </a:p>
        </p:txBody>
      </p:sp>
    </p:spTree>
    <p:extLst>
      <p:ext uri="{BB962C8B-B14F-4D97-AF65-F5344CB8AC3E}">
        <p14:creationId xmlns:p14="http://schemas.microsoft.com/office/powerpoint/2010/main" val="27663158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98F3D2-6CA0-4CDC-BAA3-8F1D56F477B2}" type="slidenum">
              <a:rPr lang="en-US" smtClean="0"/>
              <a:t>17</a:t>
            </a:fld>
            <a:endParaRPr lang="en-US"/>
          </a:p>
        </p:txBody>
      </p:sp>
    </p:spTree>
    <p:extLst>
      <p:ext uri="{BB962C8B-B14F-4D97-AF65-F5344CB8AC3E}">
        <p14:creationId xmlns:p14="http://schemas.microsoft.com/office/powerpoint/2010/main" val="13655088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9"/>
          <p:cNvGrpSpPr/>
          <p:nvPr/>
        </p:nvGrpSpPr>
        <p:grpSpPr>
          <a:xfrm>
            <a:off x="0" y="0"/>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673"/>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r="48819"/>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4/20/2018</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FA754-D5C3-4E66-96A6-867B257F58DC}" type="datetimeFigureOut">
              <a:rPr lang="en-US" dirty="0"/>
              <a:t>4/20/2018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4/20/2018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8825" cy="6856215"/>
            <a:chOff x="0" y="0"/>
            <a:chExt cx="12188825" cy="6856215"/>
          </a:xfrm>
        </p:grpSpPr>
        <p:pic>
          <p:nvPicPr>
            <p:cNvPr id="8" name="Picture 7" descr="H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4/20/2018</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34E0-ADD4-441B-8325-AFA2B9DF22AA}"/>
              </a:ext>
            </a:extLst>
          </p:cNvPr>
          <p:cNvSpPr>
            <a:spLocks noGrp="1"/>
          </p:cNvSpPr>
          <p:nvPr>
            <p:ph type="ctrTitle"/>
          </p:nvPr>
        </p:nvSpPr>
        <p:spPr/>
        <p:txBody>
          <a:bodyPr/>
          <a:lstStyle/>
          <a:p>
            <a:r>
              <a:rPr lang="en-US" dirty="0" err="1"/>
              <a:t>SDC</a:t>
            </a:r>
            <a:r>
              <a:rPr lang="en-US" dirty="0"/>
              <a:t> Officer Transition Training</a:t>
            </a:r>
          </a:p>
        </p:txBody>
      </p:sp>
      <p:sp>
        <p:nvSpPr>
          <p:cNvPr id="3" name="Subtitle 2">
            <a:extLst>
              <a:ext uri="{FF2B5EF4-FFF2-40B4-BE49-F238E27FC236}">
                <a16:creationId xmlns:a16="http://schemas.microsoft.com/office/drawing/2014/main" id="{D1979669-7D55-44AF-BE10-6D7D9D15CB98}"/>
              </a:ext>
            </a:extLst>
          </p:cNvPr>
          <p:cNvSpPr>
            <a:spLocks noGrp="1"/>
          </p:cNvSpPr>
          <p:nvPr>
            <p:ph type="subTitle" idx="1"/>
          </p:nvPr>
        </p:nvSpPr>
        <p:spPr/>
        <p:txBody>
          <a:bodyPr/>
          <a:lstStyle/>
          <a:p>
            <a:r>
              <a:rPr lang="en-US" dirty="0"/>
              <a:t>2018-2019 Officer Preparation</a:t>
            </a:r>
          </a:p>
        </p:txBody>
      </p:sp>
    </p:spTree>
    <p:extLst>
      <p:ext uri="{BB962C8B-B14F-4D97-AF65-F5344CB8AC3E}">
        <p14:creationId xmlns:p14="http://schemas.microsoft.com/office/powerpoint/2010/main" val="3596327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8BC38-7279-4DF5-AF4D-6CADA8E0205F}"/>
              </a:ext>
            </a:extLst>
          </p:cNvPr>
          <p:cNvSpPr>
            <a:spLocks noGrp="1"/>
          </p:cNvSpPr>
          <p:nvPr>
            <p:ph type="title"/>
          </p:nvPr>
        </p:nvSpPr>
        <p:spPr/>
        <p:txBody>
          <a:bodyPr/>
          <a:lstStyle/>
          <a:p>
            <a:r>
              <a:rPr lang="en-US" dirty="0"/>
              <a:t>Training Agenda</a:t>
            </a:r>
          </a:p>
        </p:txBody>
      </p:sp>
      <p:sp>
        <p:nvSpPr>
          <p:cNvPr id="3" name="Content Placeholder 2">
            <a:extLst>
              <a:ext uri="{FF2B5EF4-FFF2-40B4-BE49-F238E27FC236}">
                <a16:creationId xmlns:a16="http://schemas.microsoft.com/office/drawing/2014/main" id="{BA67FE9C-51A8-42F6-AB15-C8DB5C253B7F}"/>
              </a:ext>
            </a:extLst>
          </p:cNvPr>
          <p:cNvSpPr>
            <a:spLocks noGrp="1"/>
          </p:cNvSpPr>
          <p:nvPr>
            <p:ph idx="1"/>
          </p:nvPr>
        </p:nvSpPr>
        <p:spPr/>
        <p:txBody>
          <a:bodyPr>
            <a:normAutofit fontScale="92500" lnSpcReduction="10000"/>
          </a:bodyPr>
          <a:lstStyle/>
          <a:p>
            <a:r>
              <a:rPr lang="en-US" b="1" dirty="0" err="1">
                <a:solidFill>
                  <a:schemeClr val="bg1">
                    <a:lumMod val="85000"/>
                  </a:schemeClr>
                </a:solidFill>
              </a:rPr>
              <a:t>9:00A</a:t>
            </a:r>
            <a:r>
              <a:rPr lang="en-US" b="1" dirty="0">
                <a:solidFill>
                  <a:schemeClr val="bg1">
                    <a:lumMod val="85000"/>
                  </a:schemeClr>
                </a:solidFill>
              </a:rPr>
              <a:t>- </a:t>
            </a:r>
            <a:r>
              <a:rPr lang="en-US" b="1" dirty="0" err="1">
                <a:solidFill>
                  <a:schemeClr val="bg1">
                    <a:lumMod val="85000"/>
                  </a:schemeClr>
                </a:solidFill>
              </a:rPr>
              <a:t>9:30A</a:t>
            </a:r>
            <a:r>
              <a:rPr lang="en-US" b="1" dirty="0">
                <a:solidFill>
                  <a:schemeClr val="bg1">
                    <a:lumMod val="85000"/>
                  </a:schemeClr>
                </a:solidFill>
              </a:rPr>
              <a:t>- </a:t>
            </a:r>
            <a:r>
              <a:rPr lang="en-US" dirty="0">
                <a:solidFill>
                  <a:schemeClr val="bg1">
                    <a:lumMod val="85000"/>
                  </a:schemeClr>
                </a:solidFill>
              </a:rPr>
              <a:t>Coffee &amp; Donuts (Provided by </a:t>
            </a:r>
            <a:r>
              <a:rPr lang="en-US" dirty="0" err="1">
                <a:solidFill>
                  <a:schemeClr val="bg1">
                    <a:lumMod val="85000"/>
                  </a:schemeClr>
                </a:solidFill>
              </a:rPr>
              <a:t>SDC</a:t>
            </a:r>
            <a:r>
              <a:rPr lang="en-US" dirty="0">
                <a:solidFill>
                  <a:schemeClr val="bg1">
                    <a:lumMod val="85000"/>
                  </a:schemeClr>
                </a:solidFill>
              </a:rPr>
              <a:t>)</a:t>
            </a:r>
          </a:p>
          <a:p>
            <a:r>
              <a:rPr lang="en-US" b="1" dirty="0" err="1"/>
              <a:t>9:30A</a:t>
            </a:r>
            <a:r>
              <a:rPr lang="en-US" b="1" dirty="0"/>
              <a:t>- </a:t>
            </a:r>
            <a:r>
              <a:rPr lang="en-US" b="1" dirty="0" err="1"/>
              <a:t>10:45A</a:t>
            </a:r>
            <a:r>
              <a:rPr lang="en-US" b="1" dirty="0"/>
              <a:t>- </a:t>
            </a:r>
            <a:r>
              <a:rPr lang="en-US" dirty="0"/>
              <a:t>President &amp; Vice President Position Training</a:t>
            </a:r>
          </a:p>
          <a:p>
            <a:r>
              <a:rPr lang="en-US" b="1" dirty="0" err="1"/>
              <a:t>10:45A-11A</a:t>
            </a:r>
            <a:r>
              <a:rPr lang="en-US" b="1" dirty="0"/>
              <a:t>- </a:t>
            </a:r>
            <a:r>
              <a:rPr lang="en-US" dirty="0"/>
              <a:t>Short Break</a:t>
            </a:r>
          </a:p>
          <a:p>
            <a:r>
              <a:rPr lang="en-US" b="1" dirty="0" err="1"/>
              <a:t>11A</a:t>
            </a:r>
            <a:r>
              <a:rPr lang="en-US" b="1" dirty="0"/>
              <a:t>- </a:t>
            </a:r>
            <a:r>
              <a:rPr lang="en-US" b="1" dirty="0" err="1"/>
              <a:t>12:15P</a:t>
            </a:r>
            <a:r>
              <a:rPr lang="en-US" b="1" dirty="0"/>
              <a:t>- </a:t>
            </a:r>
            <a:r>
              <a:rPr lang="en-US" dirty="0"/>
              <a:t>Treasurer Position Training</a:t>
            </a:r>
          </a:p>
          <a:p>
            <a:r>
              <a:rPr lang="en-US" b="1" dirty="0" err="1"/>
              <a:t>12:15P-1:15P</a:t>
            </a:r>
            <a:r>
              <a:rPr lang="en-US" b="1" dirty="0"/>
              <a:t>-</a:t>
            </a:r>
            <a:r>
              <a:rPr lang="en-US" dirty="0"/>
              <a:t> Lunch (Not Provided by </a:t>
            </a:r>
            <a:r>
              <a:rPr lang="en-US" dirty="0" err="1"/>
              <a:t>SDC</a:t>
            </a:r>
            <a:r>
              <a:rPr lang="en-US" dirty="0"/>
              <a:t>)</a:t>
            </a:r>
          </a:p>
          <a:p>
            <a:r>
              <a:rPr lang="en-US" b="1" dirty="0" err="1"/>
              <a:t>1:20P-2:20P</a:t>
            </a:r>
            <a:r>
              <a:rPr lang="en-US" b="1" dirty="0"/>
              <a:t>- </a:t>
            </a:r>
            <a:r>
              <a:rPr lang="en-US" dirty="0"/>
              <a:t>Secretary &amp; </a:t>
            </a:r>
            <a:r>
              <a:rPr lang="en-US" dirty="0" err="1"/>
              <a:t>SDC</a:t>
            </a:r>
            <a:r>
              <a:rPr lang="en-US" dirty="0"/>
              <a:t> Representative Training</a:t>
            </a:r>
          </a:p>
          <a:p>
            <a:r>
              <a:rPr lang="en-US" b="1" dirty="0" err="1"/>
              <a:t>2:30P-3:45P</a:t>
            </a:r>
            <a:r>
              <a:rPr lang="en-US" b="1" dirty="0"/>
              <a:t>- </a:t>
            </a:r>
            <a:r>
              <a:rPr lang="en-US" dirty="0"/>
              <a:t>Historian, Public Relations, Creativity Chair Position Training</a:t>
            </a:r>
          </a:p>
          <a:p>
            <a:endParaRPr lang="en-US" dirty="0"/>
          </a:p>
        </p:txBody>
      </p:sp>
    </p:spTree>
    <p:extLst>
      <p:ext uri="{BB962C8B-B14F-4D97-AF65-F5344CB8AC3E}">
        <p14:creationId xmlns:p14="http://schemas.microsoft.com/office/powerpoint/2010/main" val="2247547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7E389-321F-48CB-BD8A-974E31F99A2B}"/>
              </a:ext>
            </a:extLst>
          </p:cNvPr>
          <p:cNvSpPr>
            <a:spLocks noGrp="1"/>
          </p:cNvSpPr>
          <p:nvPr>
            <p:ph type="title"/>
          </p:nvPr>
        </p:nvSpPr>
        <p:spPr/>
        <p:txBody>
          <a:bodyPr>
            <a:normAutofit/>
          </a:bodyPr>
          <a:lstStyle/>
          <a:p>
            <a:r>
              <a:rPr lang="en-US" dirty="0"/>
              <a:t>Background: Student Diversity Council</a:t>
            </a:r>
          </a:p>
        </p:txBody>
      </p:sp>
      <p:sp>
        <p:nvSpPr>
          <p:cNvPr id="3" name="Content Placeholder 2">
            <a:extLst>
              <a:ext uri="{FF2B5EF4-FFF2-40B4-BE49-F238E27FC236}">
                <a16:creationId xmlns:a16="http://schemas.microsoft.com/office/drawing/2014/main" id="{FFD97952-A602-44AC-BC15-828519C54A26}"/>
              </a:ext>
            </a:extLst>
          </p:cNvPr>
          <p:cNvSpPr>
            <a:spLocks noGrp="1"/>
          </p:cNvSpPr>
          <p:nvPr>
            <p:ph idx="1"/>
          </p:nvPr>
        </p:nvSpPr>
        <p:spPr/>
        <p:txBody>
          <a:bodyPr>
            <a:normAutofit fontScale="85000" lnSpcReduction="20000"/>
          </a:bodyPr>
          <a:lstStyle/>
          <a:p>
            <a:pPr marL="0" indent="0">
              <a:buNone/>
            </a:pPr>
            <a:r>
              <a:rPr lang="en-US" b="1" dirty="0">
                <a:solidFill>
                  <a:srgbClr val="7030A0"/>
                </a:solidFill>
              </a:rPr>
              <a:t>What is the Student Diversity Council?</a:t>
            </a:r>
          </a:p>
          <a:p>
            <a:pPr marL="0" indent="0">
              <a:buNone/>
            </a:pPr>
            <a:r>
              <a:rPr lang="en-US" b="1" dirty="0"/>
              <a:t>The Student Diversity Council (</a:t>
            </a:r>
            <a:r>
              <a:rPr lang="en-US" b="1" dirty="0" err="1"/>
              <a:t>SDC</a:t>
            </a:r>
            <a:r>
              <a:rPr lang="en-US" b="1" dirty="0"/>
              <a:t>) is the umbrella organization for student groups on campus that are focused on issues of racial, cultural, sexual, and/ or gender diversity</a:t>
            </a:r>
            <a:r>
              <a:rPr lang="en-US" dirty="0"/>
              <a:t>.</a:t>
            </a:r>
          </a:p>
          <a:p>
            <a:pPr marL="0" indent="0">
              <a:buNone/>
            </a:pPr>
            <a:r>
              <a:rPr lang="en-US" b="1" dirty="0">
                <a:solidFill>
                  <a:srgbClr val="7030A0"/>
                </a:solidFill>
              </a:rPr>
              <a:t>Mission Statement: </a:t>
            </a:r>
            <a:r>
              <a:rPr lang="en-US" b="1" dirty="0"/>
              <a:t>The mission of the Student Diversity Council (</a:t>
            </a:r>
            <a:r>
              <a:rPr lang="en-US" b="1" dirty="0" err="1"/>
              <a:t>SDC</a:t>
            </a:r>
            <a:r>
              <a:rPr lang="en-US" b="1" dirty="0"/>
              <a:t>) is to educate Furman- affiliated individuals and the Greenville community on topics of cultural diversity while advocating for cultural understanding, awareness, and equality.</a:t>
            </a:r>
          </a:p>
          <a:p>
            <a:pPr marL="0" indent="0">
              <a:buNone/>
            </a:pPr>
            <a:r>
              <a:rPr lang="en-US" b="1" dirty="0">
                <a:solidFill>
                  <a:srgbClr val="7030A0"/>
                </a:solidFill>
              </a:rPr>
              <a:t>Vision Statement: </a:t>
            </a:r>
            <a:r>
              <a:rPr lang="en-US" b="1" dirty="0"/>
              <a:t>As the umbrella organization for multicultural organizations on campus, the Student Diversity Council (</a:t>
            </a:r>
            <a:r>
              <a:rPr lang="en-US" b="1" dirty="0" err="1"/>
              <a:t>SDC</a:t>
            </a:r>
            <a:r>
              <a:rPr lang="en-US" b="1" dirty="0"/>
              <a:t>) seeks to share the responsibility of promoting and sustaining diversity at Furman to campus- wide entities through two-way dialogue, co-sponsorships, and collaboration with the Greenville community.</a:t>
            </a:r>
          </a:p>
          <a:p>
            <a:pPr marL="0" indent="0">
              <a:buNone/>
            </a:pPr>
            <a:endParaRPr lang="en-US" dirty="0"/>
          </a:p>
        </p:txBody>
      </p:sp>
    </p:spTree>
    <p:extLst>
      <p:ext uri="{BB962C8B-B14F-4D97-AF65-F5344CB8AC3E}">
        <p14:creationId xmlns:p14="http://schemas.microsoft.com/office/powerpoint/2010/main" val="2904547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939FA-8935-49F4-AFBE-670830B84F36}"/>
              </a:ext>
            </a:extLst>
          </p:cNvPr>
          <p:cNvSpPr>
            <a:spLocks noGrp="1"/>
          </p:cNvSpPr>
          <p:nvPr>
            <p:ph type="title"/>
          </p:nvPr>
        </p:nvSpPr>
        <p:spPr/>
        <p:txBody>
          <a:bodyPr/>
          <a:lstStyle/>
          <a:p>
            <a:r>
              <a:rPr lang="en-US" dirty="0" err="1"/>
              <a:t>SDC</a:t>
            </a:r>
            <a:r>
              <a:rPr lang="en-US" dirty="0"/>
              <a:t> Organization Affiliation</a:t>
            </a:r>
          </a:p>
        </p:txBody>
      </p:sp>
      <p:sp>
        <p:nvSpPr>
          <p:cNvPr id="3" name="Content Placeholder 2">
            <a:extLst>
              <a:ext uri="{FF2B5EF4-FFF2-40B4-BE49-F238E27FC236}">
                <a16:creationId xmlns:a16="http://schemas.microsoft.com/office/drawing/2014/main" id="{967AD972-9084-44F5-A845-BF99BF60B04F}"/>
              </a:ext>
            </a:extLst>
          </p:cNvPr>
          <p:cNvSpPr>
            <a:spLocks noGrp="1"/>
          </p:cNvSpPr>
          <p:nvPr>
            <p:ph idx="1"/>
          </p:nvPr>
        </p:nvSpPr>
        <p:spPr>
          <a:xfrm>
            <a:off x="1139687" y="2411896"/>
            <a:ext cx="10204174" cy="3657600"/>
          </a:xfrm>
        </p:spPr>
        <p:txBody>
          <a:bodyPr>
            <a:normAutofit fontScale="55000" lnSpcReduction="20000"/>
          </a:bodyPr>
          <a:lstStyle/>
          <a:p>
            <a:r>
              <a:rPr lang="en-US" sz="3300" b="1" dirty="0">
                <a:solidFill>
                  <a:srgbClr val="92D050"/>
                </a:solidFill>
              </a:rPr>
              <a:t>Association of Students Interested in Asia (ASIA)</a:t>
            </a:r>
          </a:p>
          <a:p>
            <a:r>
              <a:rPr lang="en-US" sz="3300" b="1" dirty="0">
                <a:solidFill>
                  <a:srgbClr val="FF0000"/>
                </a:solidFill>
              </a:rPr>
              <a:t>Chinese Student Association (CSA)</a:t>
            </a:r>
          </a:p>
          <a:p>
            <a:r>
              <a:rPr lang="en-US" sz="3300" b="1" dirty="0">
                <a:solidFill>
                  <a:srgbClr val="00B0F0"/>
                </a:solidFill>
              </a:rPr>
              <a:t>Furman Pride Alliance (</a:t>
            </a:r>
            <a:r>
              <a:rPr lang="en-US" sz="3300" b="1" dirty="0" err="1">
                <a:solidFill>
                  <a:srgbClr val="00B0F0"/>
                </a:solidFill>
              </a:rPr>
              <a:t>FPA</a:t>
            </a:r>
            <a:r>
              <a:rPr lang="en-US" sz="3300" b="1" dirty="0">
                <a:solidFill>
                  <a:srgbClr val="00B0F0"/>
                </a:solidFill>
              </a:rPr>
              <a:t>)</a:t>
            </a:r>
          </a:p>
          <a:p>
            <a:r>
              <a:rPr lang="en-US" sz="3300" b="1" dirty="0">
                <a:solidFill>
                  <a:srgbClr val="7030A0"/>
                </a:solidFill>
              </a:rPr>
              <a:t>Hispanic Outreach and Latinx Awareness (</a:t>
            </a:r>
            <a:r>
              <a:rPr lang="en-US" sz="3300" b="1" dirty="0" err="1">
                <a:solidFill>
                  <a:srgbClr val="7030A0"/>
                </a:solidFill>
              </a:rPr>
              <a:t>HOLA</a:t>
            </a:r>
            <a:r>
              <a:rPr lang="en-US" sz="3300" b="1" dirty="0">
                <a:solidFill>
                  <a:srgbClr val="7030A0"/>
                </a:solidFill>
              </a:rPr>
              <a:t>)</a:t>
            </a:r>
          </a:p>
          <a:p>
            <a:r>
              <a:rPr lang="en-US" sz="3300" b="1" dirty="0">
                <a:solidFill>
                  <a:srgbClr val="002060"/>
                </a:solidFill>
              </a:rPr>
              <a:t>Furman National Association for the Advancement of Colored People (NAACP)</a:t>
            </a:r>
          </a:p>
          <a:p>
            <a:r>
              <a:rPr lang="en-US" sz="3300" b="1" dirty="0">
                <a:solidFill>
                  <a:srgbClr val="00B050"/>
                </a:solidFill>
              </a:rPr>
              <a:t>Student League for Black Culture (</a:t>
            </a:r>
            <a:r>
              <a:rPr lang="en-US" sz="3300" b="1" dirty="0" err="1">
                <a:solidFill>
                  <a:srgbClr val="00B050"/>
                </a:solidFill>
              </a:rPr>
              <a:t>SLBC</a:t>
            </a:r>
            <a:r>
              <a:rPr lang="en-US" sz="3300" b="1" dirty="0">
                <a:solidFill>
                  <a:srgbClr val="00B050"/>
                </a:solidFill>
              </a:rPr>
              <a:t>)</a:t>
            </a:r>
          </a:p>
          <a:p>
            <a:r>
              <a:rPr lang="en-US" sz="3300" b="1" dirty="0">
                <a:solidFill>
                  <a:srgbClr val="FF6600"/>
                </a:solidFill>
              </a:rPr>
              <a:t>Furman University International Student Association (</a:t>
            </a:r>
            <a:r>
              <a:rPr lang="en-US" sz="3300" b="1" dirty="0" err="1">
                <a:solidFill>
                  <a:srgbClr val="FF6600"/>
                </a:solidFill>
              </a:rPr>
              <a:t>FUISA</a:t>
            </a:r>
            <a:r>
              <a:rPr lang="en-US" sz="3300" b="1" dirty="0">
                <a:solidFill>
                  <a:srgbClr val="FF6600"/>
                </a:solidFill>
              </a:rPr>
              <a:t>)</a:t>
            </a:r>
          </a:p>
          <a:p>
            <a:pPr marL="0" indent="0">
              <a:buNone/>
            </a:pPr>
            <a:r>
              <a:rPr lang="en-US" sz="3300" b="1" dirty="0"/>
              <a:t>Past Organizations:</a:t>
            </a:r>
          </a:p>
          <a:p>
            <a:r>
              <a:rPr lang="en-US" sz="3300" b="1" dirty="0"/>
              <a:t>BABA Africa</a:t>
            </a:r>
          </a:p>
          <a:p>
            <a:r>
              <a:rPr lang="en-US" sz="3300" b="1" dirty="0"/>
              <a:t>Pathways</a:t>
            </a:r>
            <a:endParaRPr lang="en-US" b="1" dirty="0"/>
          </a:p>
        </p:txBody>
      </p:sp>
    </p:spTree>
    <p:extLst>
      <p:ext uri="{BB962C8B-B14F-4D97-AF65-F5344CB8AC3E}">
        <p14:creationId xmlns:p14="http://schemas.microsoft.com/office/powerpoint/2010/main" val="1777028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CD251-E453-49B4-8224-A63508E9DAAB}"/>
              </a:ext>
            </a:extLst>
          </p:cNvPr>
          <p:cNvSpPr>
            <a:spLocks noGrp="1"/>
          </p:cNvSpPr>
          <p:nvPr>
            <p:ph type="title"/>
          </p:nvPr>
        </p:nvSpPr>
        <p:spPr>
          <a:xfrm>
            <a:off x="1210918" y="617698"/>
            <a:ext cx="9601196" cy="1303867"/>
          </a:xfrm>
        </p:spPr>
        <p:txBody>
          <a:bodyPr>
            <a:normAutofit/>
          </a:bodyPr>
          <a:lstStyle/>
          <a:p>
            <a:r>
              <a:rPr lang="en-US" sz="4000" dirty="0"/>
              <a:t>President</a:t>
            </a:r>
          </a:p>
        </p:txBody>
      </p:sp>
      <p:sp>
        <p:nvSpPr>
          <p:cNvPr id="3" name="Content Placeholder 2">
            <a:extLst>
              <a:ext uri="{FF2B5EF4-FFF2-40B4-BE49-F238E27FC236}">
                <a16:creationId xmlns:a16="http://schemas.microsoft.com/office/drawing/2014/main" id="{B25151F8-86B1-4915-8D63-7387BE628EDE}"/>
              </a:ext>
            </a:extLst>
          </p:cNvPr>
          <p:cNvSpPr>
            <a:spLocks noGrp="1"/>
          </p:cNvSpPr>
          <p:nvPr>
            <p:ph idx="1"/>
          </p:nvPr>
        </p:nvSpPr>
        <p:spPr>
          <a:xfrm>
            <a:off x="967409" y="1630017"/>
            <a:ext cx="10363200" cy="4346713"/>
          </a:xfrm>
        </p:spPr>
        <p:txBody>
          <a:bodyPr>
            <a:normAutofit fontScale="92500" lnSpcReduction="10000"/>
          </a:bodyPr>
          <a:lstStyle/>
          <a:p>
            <a:pPr marL="342900" indent="-342900">
              <a:buFont typeface="+mj-lt"/>
              <a:buAutoNum type="arabicPeriod"/>
            </a:pPr>
            <a:r>
              <a:rPr lang="en-US" sz="1600" dirty="0"/>
              <a:t>Be the Student Government Association (SGA) Diversity Representative. This requirement entails that you attend all SGA meetings which occur on Mondays at </a:t>
            </a:r>
            <a:r>
              <a:rPr lang="en-US" sz="1600" dirty="0" err="1"/>
              <a:t>6PM</a:t>
            </a:r>
            <a:r>
              <a:rPr lang="en-US" sz="1600" dirty="0"/>
              <a:t>.</a:t>
            </a:r>
          </a:p>
          <a:p>
            <a:pPr marL="342900" indent="-342900">
              <a:buFont typeface="+mj-lt"/>
              <a:buAutoNum type="arabicPeriod"/>
            </a:pPr>
            <a:r>
              <a:rPr lang="en-US" sz="1600" dirty="0"/>
              <a:t>Faithfully execute all provisions of the Constitution of the Student Diversity Council.</a:t>
            </a:r>
          </a:p>
          <a:p>
            <a:pPr marL="342900" indent="-342900">
              <a:buFont typeface="+mj-lt"/>
              <a:buAutoNum type="arabicPeriod"/>
            </a:pPr>
            <a:r>
              <a:rPr lang="en-US" sz="1600" dirty="0"/>
              <a:t>Establish meeting times and preside over all meetings of the Council.</a:t>
            </a:r>
          </a:p>
          <a:p>
            <a:pPr marL="342900" indent="-342900">
              <a:buFont typeface="+mj-lt"/>
              <a:buAutoNum type="arabicPeriod"/>
            </a:pPr>
            <a:r>
              <a:rPr lang="en-US" sz="1600" dirty="0"/>
              <a:t>Appoint committee chairpersons as needed, subject to the majority approval of the Student Diversity Council.</a:t>
            </a:r>
          </a:p>
          <a:p>
            <a:pPr marL="342900" indent="-342900">
              <a:buFont typeface="+mj-lt"/>
              <a:buAutoNum type="arabicPeriod"/>
            </a:pPr>
            <a:r>
              <a:rPr lang="en-US" sz="1600" dirty="0"/>
              <a:t>Vote as a member of Student Diversity Council in case of a tie.</a:t>
            </a:r>
          </a:p>
          <a:p>
            <a:pPr marL="342900" indent="-342900">
              <a:buFont typeface="+mj-lt"/>
              <a:buAutoNum type="arabicPeriod"/>
            </a:pPr>
            <a:r>
              <a:rPr lang="en-US" sz="1600" dirty="0"/>
              <a:t>Oversee all constitutionally prescribed elections.</a:t>
            </a:r>
          </a:p>
          <a:p>
            <a:pPr marL="342900" indent="-342900">
              <a:buFont typeface="+mj-lt"/>
              <a:buAutoNum type="arabicPeriod"/>
            </a:pPr>
            <a:r>
              <a:rPr lang="en-US" sz="1600" dirty="0"/>
              <a:t>Have knowledge of all committees of the Student Diversity Council.</a:t>
            </a:r>
          </a:p>
          <a:p>
            <a:pPr marL="342900" indent="-342900">
              <a:buFont typeface="+mj-lt"/>
              <a:buAutoNum type="arabicPeriod"/>
            </a:pPr>
            <a:r>
              <a:rPr lang="en-US" sz="1600" dirty="0"/>
              <a:t>Appoint such officials and committees as shall be needed to assist him/her in the performance of his/ her duties as deemed necessary by a majority vote of the Student Diversity Council.</a:t>
            </a:r>
          </a:p>
          <a:p>
            <a:pPr marL="342900" indent="-342900">
              <a:buFont typeface="+mj-lt"/>
              <a:buAutoNum type="arabicPeriod"/>
            </a:pPr>
            <a:r>
              <a:rPr lang="en-US" sz="1600" dirty="0"/>
              <a:t>Represent Student Diversity Council in all interactions with SGA. This duty may be delegated to another member of the Student Diversity Council provided the delegate is approved by the majority of council. The President will attend SGA meetings on the same basis as other SGA members and report to Student Diversity Council anything that is pertinent to campus diversity.</a:t>
            </a:r>
          </a:p>
          <a:p>
            <a:pPr marL="342900" indent="-342900">
              <a:buFont typeface="+mj-lt"/>
              <a:buAutoNum type="arabicPeriod"/>
            </a:pPr>
            <a:r>
              <a:rPr lang="en-US" sz="1600" dirty="0"/>
              <a:t>Call and chair meetings of the executive committee when necessary.</a:t>
            </a:r>
          </a:p>
        </p:txBody>
      </p:sp>
    </p:spTree>
    <p:extLst>
      <p:ext uri="{BB962C8B-B14F-4D97-AF65-F5344CB8AC3E}">
        <p14:creationId xmlns:p14="http://schemas.microsoft.com/office/powerpoint/2010/main" val="2446973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4B449-84D5-4C30-BDB3-45009ED20014}"/>
              </a:ext>
            </a:extLst>
          </p:cNvPr>
          <p:cNvSpPr>
            <a:spLocks noGrp="1"/>
          </p:cNvSpPr>
          <p:nvPr>
            <p:ph type="title"/>
          </p:nvPr>
        </p:nvSpPr>
        <p:spPr/>
        <p:txBody>
          <a:bodyPr/>
          <a:lstStyle/>
          <a:p>
            <a:r>
              <a:rPr lang="en-US" dirty="0"/>
              <a:t>Vice President</a:t>
            </a:r>
          </a:p>
        </p:txBody>
      </p:sp>
      <p:sp>
        <p:nvSpPr>
          <p:cNvPr id="5" name="Content Placeholder 4">
            <a:extLst>
              <a:ext uri="{FF2B5EF4-FFF2-40B4-BE49-F238E27FC236}">
                <a16:creationId xmlns:a16="http://schemas.microsoft.com/office/drawing/2014/main" id="{606408F6-2C6D-4DEF-995F-6314B2BC5B3F}"/>
              </a:ext>
            </a:extLst>
          </p:cNvPr>
          <p:cNvSpPr>
            <a:spLocks noGrp="1"/>
          </p:cNvSpPr>
          <p:nvPr>
            <p:ph idx="1"/>
          </p:nvPr>
        </p:nvSpPr>
        <p:spPr>
          <a:xfrm>
            <a:off x="1295401" y="2556932"/>
            <a:ext cx="9601196" cy="3318936"/>
          </a:xfrm>
        </p:spPr>
        <p:txBody>
          <a:bodyPr/>
          <a:lstStyle/>
          <a:p>
            <a:pPr marL="457200" indent="-457200">
              <a:buFont typeface="+mj-lt"/>
              <a:buAutoNum type="arabicPeriod"/>
            </a:pPr>
            <a:r>
              <a:rPr lang="en-US" dirty="0"/>
              <a:t>Act in full capacity of the duties of the President in case of his/ her absence and succeed him/her in case of vacancy.</a:t>
            </a:r>
          </a:p>
          <a:p>
            <a:pPr marL="457200" indent="-457200">
              <a:buFont typeface="+mj-lt"/>
              <a:buAutoNum type="arabicPeriod"/>
            </a:pPr>
            <a:r>
              <a:rPr lang="en-US" dirty="0"/>
              <a:t>Be responsible for maintaining the electronic and print databases of organizational constitutions and providing members of Student Diversity Council with current copies of all information and guidelines related to council operations.</a:t>
            </a:r>
          </a:p>
          <a:p>
            <a:pPr marL="457200" indent="-457200">
              <a:buFont typeface="+mj-lt"/>
              <a:buAutoNum type="arabicPeriod"/>
            </a:pPr>
            <a:r>
              <a:rPr lang="en-US" dirty="0"/>
              <a:t>Sign all budgeted check requests in absence of the Treasurer of the Student Diversity Council.</a:t>
            </a:r>
          </a:p>
        </p:txBody>
      </p:sp>
    </p:spTree>
    <p:extLst>
      <p:ext uri="{BB962C8B-B14F-4D97-AF65-F5344CB8AC3E}">
        <p14:creationId xmlns:p14="http://schemas.microsoft.com/office/powerpoint/2010/main" val="2622523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43331-1553-4B40-9108-0ACBD76FB9E8}"/>
              </a:ext>
            </a:extLst>
          </p:cNvPr>
          <p:cNvSpPr>
            <a:spLocks noGrp="1"/>
          </p:cNvSpPr>
          <p:nvPr>
            <p:ph type="title"/>
          </p:nvPr>
        </p:nvSpPr>
        <p:spPr/>
        <p:txBody>
          <a:bodyPr/>
          <a:lstStyle/>
          <a:p>
            <a:r>
              <a:rPr lang="en-US" dirty="0"/>
              <a:t>Expected Roles of the President</a:t>
            </a:r>
          </a:p>
        </p:txBody>
      </p:sp>
      <p:sp>
        <p:nvSpPr>
          <p:cNvPr id="3" name="Content Placeholder 2">
            <a:extLst>
              <a:ext uri="{FF2B5EF4-FFF2-40B4-BE49-F238E27FC236}">
                <a16:creationId xmlns:a16="http://schemas.microsoft.com/office/drawing/2014/main" id="{C8E08F4A-F3CE-403F-8D97-183D4562F68E}"/>
              </a:ext>
            </a:extLst>
          </p:cNvPr>
          <p:cNvSpPr>
            <a:spLocks noGrp="1"/>
          </p:cNvSpPr>
          <p:nvPr>
            <p:ph idx="1"/>
          </p:nvPr>
        </p:nvSpPr>
        <p:spPr/>
        <p:txBody>
          <a:bodyPr>
            <a:normAutofit fontScale="62500" lnSpcReduction="20000"/>
          </a:bodyPr>
          <a:lstStyle/>
          <a:p>
            <a:r>
              <a:rPr lang="en-US" dirty="0"/>
              <a:t>Serve as the figure head of the organization, representing the organization in all on-campus and off-campus interactions with Furman faculty, staff, and students.</a:t>
            </a:r>
          </a:p>
          <a:p>
            <a:r>
              <a:rPr lang="en-US" dirty="0"/>
              <a:t>Guide the organization in event planning and execution.</a:t>
            </a:r>
          </a:p>
          <a:p>
            <a:r>
              <a:rPr lang="en-US" dirty="0"/>
              <a:t>Primary contact for speakers/performers.</a:t>
            </a:r>
          </a:p>
          <a:p>
            <a:r>
              <a:rPr lang="en-US" dirty="0"/>
              <a:t>Maintain transparency with your executive board.</a:t>
            </a:r>
          </a:p>
          <a:p>
            <a:r>
              <a:rPr lang="en-US" dirty="0"/>
              <a:t>Uphold the provisions of your organization constitution. </a:t>
            </a:r>
          </a:p>
          <a:p>
            <a:r>
              <a:rPr lang="en-US" dirty="0"/>
              <a:t>Direct all questions to your organization advisor or the Associate Director of Student Activities and Diversity Engagement (Queen Deb).</a:t>
            </a:r>
          </a:p>
          <a:p>
            <a:r>
              <a:rPr lang="en-US" dirty="0"/>
              <a:t>Be aware of campus happenings.</a:t>
            </a:r>
          </a:p>
          <a:p>
            <a:r>
              <a:rPr lang="en-US" b="1" dirty="0">
                <a:solidFill>
                  <a:srgbClr val="FF0000"/>
                </a:solidFill>
              </a:rPr>
              <a:t>Propose amendments to your constitution as needed when you enter office.</a:t>
            </a:r>
          </a:p>
          <a:p>
            <a:r>
              <a:rPr lang="en-US" b="1" dirty="0">
                <a:solidFill>
                  <a:srgbClr val="FF0000"/>
                </a:solidFill>
              </a:rPr>
              <a:t>Delegate responsibilities to your executive board, especially your Vice President.</a:t>
            </a:r>
          </a:p>
          <a:p>
            <a:endParaRPr lang="en-US" dirty="0"/>
          </a:p>
        </p:txBody>
      </p:sp>
    </p:spTree>
    <p:extLst>
      <p:ext uri="{BB962C8B-B14F-4D97-AF65-F5344CB8AC3E}">
        <p14:creationId xmlns:p14="http://schemas.microsoft.com/office/powerpoint/2010/main" val="3310686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43331-1553-4B40-9108-0ACBD76FB9E8}"/>
              </a:ext>
            </a:extLst>
          </p:cNvPr>
          <p:cNvSpPr>
            <a:spLocks noGrp="1"/>
          </p:cNvSpPr>
          <p:nvPr>
            <p:ph type="title"/>
          </p:nvPr>
        </p:nvSpPr>
        <p:spPr/>
        <p:txBody>
          <a:bodyPr/>
          <a:lstStyle/>
          <a:p>
            <a:r>
              <a:rPr lang="en-US" dirty="0"/>
              <a:t>Expected Roles of the Vice President</a:t>
            </a:r>
          </a:p>
        </p:txBody>
      </p:sp>
      <p:sp>
        <p:nvSpPr>
          <p:cNvPr id="3" name="Content Placeholder 2">
            <a:extLst>
              <a:ext uri="{FF2B5EF4-FFF2-40B4-BE49-F238E27FC236}">
                <a16:creationId xmlns:a16="http://schemas.microsoft.com/office/drawing/2014/main" id="{C8E08F4A-F3CE-403F-8D97-183D4562F68E}"/>
              </a:ext>
            </a:extLst>
          </p:cNvPr>
          <p:cNvSpPr>
            <a:spLocks noGrp="1"/>
          </p:cNvSpPr>
          <p:nvPr>
            <p:ph idx="1"/>
          </p:nvPr>
        </p:nvSpPr>
        <p:spPr/>
        <p:txBody>
          <a:bodyPr>
            <a:normAutofit/>
          </a:bodyPr>
          <a:lstStyle/>
          <a:p>
            <a:r>
              <a:rPr lang="en-US" dirty="0"/>
              <a:t>Serve as the second in command to your President, having extensive knowledge of organizational operations.</a:t>
            </a:r>
          </a:p>
          <a:p>
            <a:r>
              <a:rPr lang="en-US" dirty="0"/>
              <a:t>Maintain transparency with your President.</a:t>
            </a:r>
          </a:p>
          <a:p>
            <a:r>
              <a:rPr lang="en-US" dirty="0"/>
              <a:t>Notify the President of constitutional violations of the organization and/ or executive members.</a:t>
            </a:r>
          </a:p>
        </p:txBody>
      </p:sp>
    </p:spTree>
    <p:extLst>
      <p:ext uri="{BB962C8B-B14F-4D97-AF65-F5344CB8AC3E}">
        <p14:creationId xmlns:p14="http://schemas.microsoft.com/office/powerpoint/2010/main" val="880559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92A46-320B-40AD-BBF1-065F73D82469}"/>
              </a:ext>
            </a:extLst>
          </p:cNvPr>
          <p:cNvSpPr>
            <a:spLocks noGrp="1"/>
          </p:cNvSpPr>
          <p:nvPr>
            <p:ph type="title"/>
          </p:nvPr>
        </p:nvSpPr>
        <p:spPr/>
        <p:txBody>
          <a:bodyPr/>
          <a:lstStyle/>
          <a:p>
            <a:r>
              <a:rPr lang="en-US" dirty="0"/>
              <a:t>How To</a:t>
            </a:r>
          </a:p>
        </p:txBody>
      </p:sp>
      <p:sp>
        <p:nvSpPr>
          <p:cNvPr id="3" name="Content Placeholder 2">
            <a:extLst>
              <a:ext uri="{FF2B5EF4-FFF2-40B4-BE49-F238E27FC236}">
                <a16:creationId xmlns:a16="http://schemas.microsoft.com/office/drawing/2014/main" id="{45C57275-9358-490D-BCEA-3D05F5E189AF}"/>
              </a:ext>
            </a:extLst>
          </p:cNvPr>
          <p:cNvSpPr>
            <a:spLocks noGrp="1"/>
          </p:cNvSpPr>
          <p:nvPr>
            <p:ph idx="1"/>
          </p:nvPr>
        </p:nvSpPr>
        <p:spPr/>
        <p:txBody>
          <a:bodyPr>
            <a:normAutofit/>
          </a:bodyPr>
          <a:lstStyle/>
          <a:p>
            <a:pPr marL="457200" indent="-457200">
              <a:buFont typeface="+mj-lt"/>
              <a:buAutoNum type="arabicPeriod"/>
            </a:pPr>
            <a:r>
              <a:rPr lang="en-US" dirty="0"/>
              <a:t>Plan a Successful Event w/ Speaker or Performer</a:t>
            </a:r>
          </a:p>
          <a:p>
            <a:pPr marL="457200" indent="-457200">
              <a:buFont typeface="+mj-lt"/>
              <a:buAutoNum type="arabicPeriod"/>
            </a:pPr>
            <a:r>
              <a:rPr lang="en-US" dirty="0"/>
              <a:t>Plan a Banquet</a:t>
            </a:r>
          </a:p>
          <a:p>
            <a:pPr marL="457200" indent="-457200">
              <a:buFont typeface="+mj-lt"/>
              <a:buAutoNum type="arabicPeriod"/>
            </a:pPr>
            <a:r>
              <a:rPr lang="en-US" dirty="0"/>
              <a:t>Plan a Tailgate</a:t>
            </a:r>
          </a:p>
          <a:p>
            <a:pPr marL="457200" indent="-457200">
              <a:buFont typeface="+mj-lt"/>
              <a:buAutoNum type="arabicPeriod"/>
            </a:pPr>
            <a:r>
              <a:rPr lang="en-US" dirty="0"/>
              <a:t>Plan a Conference Attendance</a:t>
            </a:r>
          </a:p>
        </p:txBody>
      </p:sp>
    </p:spTree>
    <p:extLst>
      <p:ext uri="{BB962C8B-B14F-4D97-AF65-F5344CB8AC3E}">
        <p14:creationId xmlns:p14="http://schemas.microsoft.com/office/powerpoint/2010/main" val="3455485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F3947-2675-40E8-A4C7-BD87E9EC5C19}"/>
              </a:ext>
            </a:extLst>
          </p:cNvPr>
          <p:cNvSpPr>
            <a:spLocks noGrp="1"/>
          </p:cNvSpPr>
          <p:nvPr>
            <p:ph type="title"/>
          </p:nvPr>
        </p:nvSpPr>
        <p:spPr/>
        <p:txBody>
          <a:bodyPr>
            <a:normAutofit/>
          </a:bodyPr>
          <a:lstStyle/>
          <a:p>
            <a:r>
              <a:rPr lang="en-US" dirty="0"/>
              <a:t>Plan an Event w/ Speaker</a:t>
            </a:r>
          </a:p>
        </p:txBody>
      </p:sp>
      <p:sp>
        <p:nvSpPr>
          <p:cNvPr id="3" name="Content Placeholder 2">
            <a:extLst>
              <a:ext uri="{FF2B5EF4-FFF2-40B4-BE49-F238E27FC236}">
                <a16:creationId xmlns:a16="http://schemas.microsoft.com/office/drawing/2014/main" id="{DD7F9BC6-3490-4FE5-8837-0FA7012BE657}"/>
              </a:ext>
            </a:extLst>
          </p:cNvPr>
          <p:cNvSpPr>
            <a:spLocks noGrp="1"/>
          </p:cNvSpPr>
          <p:nvPr>
            <p:ph idx="1"/>
          </p:nvPr>
        </p:nvSpPr>
        <p:spPr/>
        <p:txBody>
          <a:bodyPr>
            <a:normAutofit fontScale="85000" lnSpcReduction="20000"/>
          </a:bodyPr>
          <a:lstStyle/>
          <a:p>
            <a:pPr marL="457200" indent="-457200">
              <a:buFont typeface="+mj-lt"/>
              <a:buAutoNum type="arabicPeriod"/>
            </a:pPr>
            <a:r>
              <a:rPr lang="en-US" dirty="0"/>
              <a:t>Choose a topic or area of discussion that your organization would like to focus on.</a:t>
            </a:r>
          </a:p>
          <a:p>
            <a:pPr marL="457200" indent="-457200">
              <a:buFont typeface="+mj-lt"/>
              <a:buAutoNum type="arabicPeriod"/>
            </a:pPr>
            <a:r>
              <a:rPr lang="en-US" dirty="0"/>
              <a:t>Determine the scope of the speaker you would like to bring.</a:t>
            </a:r>
          </a:p>
          <a:p>
            <a:pPr marL="457200" indent="-457200">
              <a:buFont typeface="+mj-lt"/>
              <a:buAutoNum type="arabicPeriod"/>
            </a:pPr>
            <a:r>
              <a:rPr lang="en-US" dirty="0"/>
              <a:t>Draft an Email </a:t>
            </a:r>
          </a:p>
          <a:p>
            <a:pPr lvl="1">
              <a:buFont typeface="Wingdings" panose="05000000000000000000" pitchFamily="2" charset="2"/>
              <a:buChar char="§"/>
            </a:pPr>
            <a:r>
              <a:rPr lang="en-US" dirty="0"/>
              <a:t>Explains who you are and the organization you are apart of.</a:t>
            </a:r>
          </a:p>
          <a:p>
            <a:pPr lvl="1">
              <a:buFont typeface="Wingdings" panose="05000000000000000000" pitchFamily="2" charset="2"/>
              <a:buChar char="§"/>
            </a:pPr>
            <a:r>
              <a:rPr lang="en-US" dirty="0"/>
              <a:t>Why you would like to bring them to campus (CLP explanation).</a:t>
            </a:r>
          </a:p>
          <a:p>
            <a:pPr lvl="1">
              <a:buFont typeface="Wingdings" panose="05000000000000000000" pitchFamily="2" charset="2"/>
              <a:buChar char="§"/>
            </a:pPr>
            <a:r>
              <a:rPr lang="en-US" dirty="0"/>
              <a:t>What you would like them to speak on.</a:t>
            </a:r>
          </a:p>
          <a:p>
            <a:pPr lvl="1">
              <a:buFont typeface="Wingdings" panose="05000000000000000000" pitchFamily="2" charset="2"/>
              <a:buChar char="§"/>
            </a:pPr>
            <a:r>
              <a:rPr lang="en-US" dirty="0"/>
              <a:t>The event layout (Lecture + Q&amp;A).</a:t>
            </a:r>
          </a:p>
          <a:p>
            <a:pPr lvl="1">
              <a:buFont typeface="Wingdings" panose="05000000000000000000" pitchFamily="2" charset="2"/>
              <a:buChar char="§"/>
            </a:pPr>
            <a:r>
              <a:rPr lang="en-US" dirty="0"/>
              <a:t>Two potential dates and times. (Place a HOLD on event locations via </a:t>
            </a:r>
            <a:r>
              <a:rPr lang="en-US" dirty="0" err="1"/>
              <a:t>25Live</a:t>
            </a:r>
            <a:r>
              <a:rPr lang="en-US" dirty="0"/>
              <a:t> or </a:t>
            </a:r>
            <a:r>
              <a:rPr lang="en-US" dirty="0" err="1"/>
              <a:t>SyncDIN</a:t>
            </a:r>
            <a:r>
              <a:rPr lang="en-US" dirty="0"/>
              <a:t> </a:t>
            </a:r>
            <a:r>
              <a:rPr lang="en-US" dirty="0" err="1"/>
              <a:t>R25</a:t>
            </a:r>
            <a:r>
              <a:rPr lang="en-US" dirty="0"/>
              <a:t>#)</a:t>
            </a:r>
          </a:p>
          <a:p>
            <a:pPr lvl="1">
              <a:buFont typeface="Wingdings" panose="05000000000000000000" pitchFamily="2" charset="2"/>
              <a:buChar char="§"/>
            </a:pPr>
            <a:r>
              <a:rPr lang="en-US" dirty="0"/>
              <a:t>Your email and phone number.</a:t>
            </a:r>
          </a:p>
          <a:p>
            <a:pPr marL="914400" lvl="1" indent="-457200">
              <a:buFont typeface="+mj-lt"/>
              <a:buAutoNum type="arabicPeriod"/>
            </a:pPr>
            <a:endParaRPr lang="en-US" dirty="0"/>
          </a:p>
          <a:p>
            <a:pPr marL="914400" lvl="1" indent="-457200">
              <a:buFont typeface="+mj-lt"/>
              <a:buAutoNum type="arabicPeriod"/>
            </a:pPr>
            <a:endParaRPr lang="en-US" dirty="0"/>
          </a:p>
        </p:txBody>
      </p:sp>
    </p:spTree>
    <p:extLst>
      <p:ext uri="{BB962C8B-B14F-4D97-AF65-F5344CB8AC3E}">
        <p14:creationId xmlns:p14="http://schemas.microsoft.com/office/powerpoint/2010/main" val="320777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8E5D6D7-4FA0-43F4-962F-F8A84A1D6DAF}"/>
              </a:ext>
            </a:extLst>
          </p:cNvPr>
          <p:cNvPicPr>
            <a:picLocks noChangeAspect="1"/>
          </p:cNvPicPr>
          <p:nvPr/>
        </p:nvPicPr>
        <p:blipFill>
          <a:blip r:embed="rId2"/>
          <a:stretch>
            <a:fillRect/>
          </a:stretch>
        </p:blipFill>
        <p:spPr>
          <a:xfrm>
            <a:off x="3373837" y="771276"/>
            <a:ext cx="5444326" cy="5868883"/>
          </a:xfrm>
          <a:prstGeom prst="rect">
            <a:avLst/>
          </a:prstGeom>
        </p:spPr>
      </p:pic>
    </p:spTree>
    <p:extLst>
      <p:ext uri="{BB962C8B-B14F-4D97-AF65-F5344CB8AC3E}">
        <p14:creationId xmlns:p14="http://schemas.microsoft.com/office/powerpoint/2010/main" val="719019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89BE6-F6C5-44FC-8BF9-25908E2F4FC1}"/>
              </a:ext>
            </a:extLst>
          </p:cNvPr>
          <p:cNvSpPr>
            <a:spLocks noGrp="1"/>
          </p:cNvSpPr>
          <p:nvPr>
            <p:ph type="title"/>
          </p:nvPr>
        </p:nvSpPr>
        <p:spPr/>
        <p:txBody>
          <a:bodyPr/>
          <a:lstStyle/>
          <a:p>
            <a:r>
              <a:rPr lang="en-US" dirty="0"/>
              <a:t>Plan an Event w/ Speaker (Continued)</a:t>
            </a:r>
          </a:p>
        </p:txBody>
      </p:sp>
      <p:sp>
        <p:nvSpPr>
          <p:cNvPr id="3" name="Content Placeholder 2">
            <a:extLst>
              <a:ext uri="{FF2B5EF4-FFF2-40B4-BE49-F238E27FC236}">
                <a16:creationId xmlns:a16="http://schemas.microsoft.com/office/drawing/2014/main" id="{26DAF853-2913-41CA-912F-11E13F516B6B}"/>
              </a:ext>
            </a:extLst>
          </p:cNvPr>
          <p:cNvSpPr>
            <a:spLocks noGrp="1"/>
          </p:cNvSpPr>
          <p:nvPr>
            <p:ph idx="1"/>
          </p:nvPr>
        </p:nvSpPr>
        <p:spPr/>
        <p:txBody>
          <a:bodyPr>
            <a:normAutofit fontScale="85000" lnSpcReduction="10000"/>
          </a:bodyPr>
          <a:lstStyle/>
          <a:p>
            <a:pPr marL="457200" indent="-457200">
              <a:buFont typeface="+mj-lt"/>
              <a:buAutoNum type="arabicPeriod" startAt="4"/>
            </a:pPr>
            <a:r>
              <a:rPr lang="en-US" dirty="0"/>
              <a:t>Respond/ Negotiate Honorarium Fees.</a:t>
            </a:r>
          </a:p>
          <a:p>
            <a:pPr lvl="1"/>
            <a:r>
              <a:rPr lang="en-US" dirty="0"/>
              <a:t>Determine if the payment will be </a:t>
            </a:r>
          </a:p>
          <a:p>
            <a:pPr lvl="2">
              <a:buFont typeface="Wingdings" panose="05000000000000000000" pitchFamily="2" charset="2"/>
              <a:buChar char="q"/>
            </a:pPr>
            <a:r>
              <a:rPr lang="en-US" dirty="0"/>
              <a:t>All inclusive (speaking </a:t>
            </a:r>
            <a:r>
              <a:rPr lang="en-US" dirty="0" err="1"/>
              <a:t>fee+travel+lodging</a:t>
            </a:r>
            <a:r>
              <a:rPr lang="en-US" dirty="0"/>
              <a:t>) 1 check</a:t>
            </a:r>
          </a:p>
          <a:p>
            <a:pPr lvl="2">
              <a:buFont typeface="Wingdings" panose="05000000000000000000" pitchFamily="2" charset="2"/>
              <a:buChar char="q"/>
            </a:pPr>
            <a:r>
              <a:rPr lang="en-US" dirty="0"/>
              <a:t>Partially inclusive (speaking fee) 1 check (</a:t>
            </a:r>
            <a:r>
              <a:rPr lang="en-US" dirty="0" err="1"/>
              <a:t>travel+lodging</a:t>
            </a:r>
            <a:r>
              <a:rPr lang="en-US" dirty="0"/>
              <a:t>) Reserved by Organization</a:t>
            </a:r>
          </a:p>
          <a:p>
            <a:pPr lvl="2">
              <a:buFont typeface="Wingdings" panose="05000000000000000000" pitchFamily="2" charset="2"/>
              <a:buChar char="q"/>
            </a:pPr>
            <a:r>
              <a:rPr lang="en-US" dirty="0"/>
              <a:t>Partially inclusive (speaking </a:t>
            </a:r>
            <a:r>
              <a:rPr lang="en-US" dirty="0" err="1"/>
              <a:t>fee+travel</a:t>
            </a:r>
            <a:r>
              <a:rPr lang="en-US" dirty="0"/>
              <a:t> reimbursement) 1 check (lodging) Reserved by Organization</a:t>
            </a:r>
          </a:p>
          <a:p>
            <a:pPr marL="457200" indent="-457200">
              <a:buFont typeface="+mj-lt"/>
              <a:buAutoNum type="arabicPeriod" startAt="5"/>
            </a:pPr>
            <a:r>
              <a:rPr lang="en-US" dirty="0"/>
              <a:t>Send Furman University Performance Contract, W-9 Form (</a:t>
            </a:r>
            <a:r>
              <a:rPr lang="en-US" dirty="0" err="1"/>
              <a:t>SyncDIN</a:t>
            </a:r>
            <a:r>
              <a:rPr lang="en-US" dirty="0"/>
              <a:t>), Acquire AV Equipment Needs, and request Biography/ Credentials. </a:t>
            </a:r>
          </a:p>
          <a:p>
            <a:pPr marL="457200" indent="-457200">
              <a:buFont typeface="+mj-lt"/>
              <a:buAutoNum type="arabicPeriod" startAt="5"/>
            </a:pPr>
            <a:r>
              <a:rPr lang="en-US" dirty="0"/>
              <a:t>2 weeks before the event CLP proposal submission. (secure a faculty/staff sponsor)</a:t>
            </a:r>
          </a:p>
          <a:p>
            <a:pPr marL="457200" indent="-457200">
              <a:buFont typeface="+mj-lt"/>
              <a:buAutoNum type="arabicPeriod" startAt="5"/>
            </a:pPr>
            <a:endParaRPr lang="en-US" dirty="0"/>
          </a:p>
        </p:txBody>
      </p:sp>
    </p:spTree>
    <p:extLst>
      <p:ext uri="{BB962C8B-B14F-4D97-AF65-F5344CB8AC3E}">
        <p14:creationId xmlns:p14="http://schemas.microsoft.com/office/powerpoint/2010/main" val="4177413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9F6485-464F-4A7F-B63A-BEF9BFF01D54}"/>
              </a:ext>
            </a:extLst>
          </p:cNvPr>
          <p:cNvPicPr>
            <a:picLocks noChangeAspect="1"/>
          </p:cNvPicPr>
          <p:nvPr/>
        </p:nvPicPr>
        <p:blipFill>
          <a:blip r:embed="rId2"/>
          <a:stretch>
            <a:fillRect/>
          </a:stretch>
        </p:blipFill>
        <p:spPr>
          <a:xfrm>
            <a:off x="3651860" y="402836"/>
            <a:ext cx="4510832" cy="6052327"/>
          </a:xfrm>
          <a:prstGeom prst="rect">
            <a:avLst/>
          </a:prstGeom>
        </p:spPr>
      </p:pic>
    </p:spTree>
    <p:extLst>
      <p:ext uri="{BB962C8B-B14F-4D97-AF65-F5344CB8AC3E}">
        <p14:creationId xmlns:p14="http://schemas.microsoft.com/office/powerpoint/2010/main" val="1819341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713114-2C51-491E-B293-6CC559DAB41D}"/>
              </a:ext>
            </a:extLst>
          </p:cNvPr>
          <p:cNvPicPr>
            <a:picLocks noChangeAspect="1"/>
          </p:cNvPicPr>
          <p:nvPr/>
        </p:nvPicPr>
        <p:blipFill>
          <a:blip r:embed="rId2"/>
          <a:stretch>
            <a:fillRect/>
          </a:stretch>
        </p:blipFill>
        <p:spPr>
          <a:xfrm>
            <a:off x="3412497" y="466148"/>
            <a:ext cx="5367005" cy="5925703"/>
          </a:xfrm>
          <a:prstGeom prst="rect">
            <a:avLst/>
          </a:prstGeom>
        </p:spPr>
      </p:pic>
    </p:spTree>
    <p:extLst>
      <p:ext uri="{BB962C8B-B14F-4D97-AF65-F5344CB8AC3E}">
        <p14:creationId xmlns:p14="http://schemas.microsoft.com/office/powerpoint/2010/main" val="2436084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8BDE8-C537-4032-9AF0-8343FBEE2932}"/>
              </a:ext>
            </a:extLst>
          </p:cNvPr>
          <p:cNvSpPr>
            <a:spLocks noGrp="1"/>
          </p:cNvSpPr>
          <p:nvPr>
            <p:ph type="title"/>
          </p:nvPr>
        </p:nvSpPr>
        <p:spPr/>
        <p:txBody>
          <a:bodyPr/>
          <a:lstStyle/>
          <a:p>
            <a:r>
              <a:rPr lang="en-US" dirty="0"/>
              <a:t>Plan an Event w/Speaker (Continued)</a:t>
            </a:r>
          </a:p>
        </p:txBody>
      </p:sp>
      <p:sp>
        <p:nvSpPr>
          <p:cNvPr id="3" name="Content Placeholder 2">
            <a:extLst>
              <a:ext uri="{FF2B5EF4-FFF2-40B4-BE49-F238E27FC236}">
                <a16:creationId xmlns:a16="http://schemas.microsoft.com/office/drawing/2014/main" id="{7F46A755-E8C1-4C9F-8783-3AE0CA8671B1}"/>
              </a:ext>
            </a:extLst>
          </p:cNvPr>
          <p:cNvSpPr>
            <a:spLocks noGrp="1"/>
          </p:cNvSpPr>
          <p:nvPr>
            <p:ph idx="1"/>
          </p:nvPr>
        </p:nvSpPr>
        <p:spPr>
          <a:xfrm>
            <a:off x="1295402" y="2509024"/>
            <a:ext cx="9601196" cy="3589869"/>
          </a:xfrm>
        </p:spPr>
        <p:txBody>
          <a:bodyPr>
            <a:normAutofit/>
          </a:bodyPr>
          <a:lstStyle/>
          <a:p>
            <a:pPr marL="457200" indent="-457200">
              <a:buFont typeface="+mj-lt"/>
              <a:buAutoNum type="arabicPeriod" startAt="7"/>
            </a:pPr>
            <a:r>
              <a:rPr lang="en-US" dirty="0"/>
              <a:t>2 weeks before event promotional material needs to be done.</a:t>
            </a:r>
          </a:p>
          <a:p>
            <a:pPr marL="457200" indent="-457200">
              <a:buFont typeface="+mj-lt"/>
              <a:buAutoNum type="arabicPeriod" startAt="7"/>
            </a:pPr>
            <a:r>
              <a:rPr lang="en-US" dirty="0"/>
              <a:t>1 week before event:</a:t>
            </a:r>
          </a:p>
          <a:p>
            <a:pPr marL="457200" lvl="1" indent="0">
              <a:buNone/>
            </a:pPr>
            <a:r>
              <a:rPr lang="en-US" dirty="0"/>
              <a:t>Promoting via Social Media platforms.</a:t>
            </a:r>
          </a:p>
          <a:p>
            <a:pPr lvl="1">
              <a:buFont typeface="Wingdings" panose="05000000000000000000" pitchFamily="2" charset="2"/>
              <a:buChar char="q"/>
            </a:pPr>
            <a:r>
              <a:rPr lang="en-US" dirty="0"/>
              <a:t>CALL/EMAIL your speaker and go through the agenda and what time you expect them to be on campus. Send them a campus map if needed. Exchange numbers.</a:t>
            </a:r>
          </a:p>
          <a:p>
            <a:pPr lvl="1">
              <a:buFont typeface="Wingdings" panose="05000000000000000000" pitchFamily="2" charset="2"/>
              <a:buChar char="q"/>
            </a:pPr>
            <a:r>
              <a:rPr lang="en-US" dirty="0"/>
              <a:t>Secure sign-ups for ground transportation if applicable.</a:t>
            </a:r>
          </a:p>
          <a:p>
            <a:pPr lvl="1">
              <a:buFont typeface="Wingdings" panose="05000000000000000000" pitchFamily="2" charset="2"/>
              <a:buChar char="q"/>
            </a:pPr>
            <a:r>
              <a:rPr lang="en-US" dirty="0"/>
              <a:t>Secure sign-ups for event set-up/ takedown if applicable.</a:t>
            </a:r>
          </a:p>
          <a:p>
            <a:pPr marL="457200" indent="-457200">
              <a:buFont typeface="+mj-lt"/>
              <a:buAutoNum type="arabicPeriod" startAt="9"/>
            </a:pPr>
            <a:r>
              <a:rPr lang="en-US" dirty="0"/>
              <a:t>Day of the Event: Print Bio, Read Bio, &amp; Relax</a:t>
            </a:r>
          </a:p>
        </p:txBody>
      </p:sp>
    </p:spTree>
    <p:extLst>
      <p:ext uri="{BB962C8B-B14F-4D97-AF65-F5344CB8AC3E}">
        <p14:creationId xmlns:p14="http://schemas.microsoft.com/office/powerpoint/2010/main" val="41302839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D3919-1D04-4B33-82E6-ED452E2B87BC}"/>
              </a:ext>
            </a:extLst>
          </p:cNvPr>
          <p:cNvSpPr>
            <a:spLocks noGrp="1"/>
          </p:cNvSpPr>
          <p:nvPr>
            <p:ph type="title"/>
          </p:nvPr>
        </p:nvSpPr>
        <p:spPr/>
        <p:txBody>
          <a:bodyPr/>
          <a:lstStyle/>
          <a:p>
            <a:r>
              <a:rPr lang="en-US" dirty="0"/>
              <a:t>Plan a Banquet</a:t>
            </a:r>
          </a:p>
        </p:txBody>
      </p:sp>
      <p:sp>
        <p:nvSpPr>
          <p:cNvPr id="3" name="Content Placeholder 2">
            <a:extLst>
              <a:ext uri="{FF2B5EF4-FFF2-40B4-BE49-F238E27FC236}">
                <a16:creationId xmlns:a16="http://schemas.microsoft.com/office/drawing/2014/main" id="{490DE288-BC02-4D9C-B79F-43E36192539A}"/>
              </a:ext>
            </a:extLst>
          </p:cNvPr>
          <p:cNvSpPr>
            <a:spLocks noGrp="1"/>
          </p:cNvSpPr>
          <p:nvPr>
            <p:ph idx="1"/>
          </p:nvPr>
        </p:nvSpPr>
        <p:spPr/>
        <p:txBody>
          <a:bodyPr>
            <a:normAutofit fontScale="62500" lnSpcReduction="20000"/>
          </a:bodyPr>
          <a:lstStyle/>
          <a:p>
            <a:pPr marL="457200" indent="-457200">
              <a:buFont typeface="+mj-lt"/>
              <a:buAutoNum type="arabicPeriod"/>
            </a:pPr>
            <a:r>
              <a:rPr lang="en-US" dirty="0"/>
              <a:t>Set a date, time, and location (Confirm Set-up).</a:t>
            </a:r>
          </a:p>
          <a:p>
            <a:pPr lvl="1"/>
            <a:r>
              <a:rPr lang="en-US" dirty="0" err="1"/>
              <a:t>Hartness</a:t>
            </a:r>
            <a:r>
              <a:rPr lang="en-US" dirty="0"/>
              <a:t> $200 Reservation Fee (Contract)</a:t>
            </a:r>
          </a:p>
          <a:p>
            <a:pPr lvl="1"/>
            <a:r>
              <a:rPr lang="en-US" dirty="0"/>
              <a:t>Watkins </a:t>
            </a:r>
          </a:p>
          <a:p>
            <a:pPr lvl="1"/>
            <a:r>
              <a:rPr lang="en-US" dirty="0" err="1"/>
              <a:t>Younts</a:t>
            </a:r>
            <a:r>
              <a:rPr lang="en-US" dirty="0"/>
              <a:t> $2,500 (Contract)</a:t>
            </a:r>
          </a:p>
          <a:p>
            <a:pPr marL="457200" indent="-457200">
              <a:buFont typeface="+mj-lt"/>
              <a:buAutoNum type="arabicPeriod"/>
            </a:pPr>
            <a:r>
              <a:rPr lang="en-US" dirty="0"/>
              <a:t>Determine if there will be a speaker, performance, and invocation.</a:t>
            </a:r>
          </a:p>
          <a:p>
            <a:pPr marL="457200" indent="-457200">
              <a:buFont typeface="+mj-lt"/>
              <a:buAutoNum type="arabicPeriod"/>
            </a:pPr>
            <a:r>
              <a:rPr lang="en-US" dirty="0"/>
              <a:t>Make Invitations and Send Out 1 month in advance.</a:t>
            </a:r>
          </a:p>
          <a:p>
            <a:pPr marL="457200" indent="-457200">
              <a:buFont typeface="+mj-lt"/>
              <a:buAutoNum type="arabicPeriod"/>
            </a:pPr>
            <a:r>
              <a:rPr lang="en-US" dirty="0"/>
              <a:t>Finalize Menu w/ Bon Appetit 1 week in advance of event.</a:t>
            </a:r>
          </a:p>
          <a:p>
            <a:pPr marL="457200" indent="-457200">
              <a:buFont typeface="+mj-lt"/>
              <a:buAutoNum type="arabicPeriod"/>
            </a:pPr>
            <a:r>
              <a:rPr lang="en-US" dirty="0"/>
              <a:t>Finalize program for the evening 1 week in advance.</a:t>
            </a:r>
          </a:p>
          <a:p>
            <a:pPr marL="457200" indent="-457200">
              <a:buFont typeface="+mj-lt"/>
              <a:buAutoNum type="arabicPeriod"/>
            </a:pPr>
            <a:r>
              <a:rPr lang="en-US" dirty="0"/>
              <a:t>Send a reminder to speaker 1 week in advance if applicable.</a:t>
            </a:r>
          </a:p>
          <a:p>
            <a:pPr marL="457200" indent="-457200">
              <a:buFont typeface="+mj-lt"/>
              <a:buAutoNum type="arabicPeriod"/>
            </a:pPr>
            <a:r>
              <a:rPr lang="en-US" dirty="0"/>
              <a:t>Send a RSVP reminder for attendees 2 days before the event.</a:t>
            </a:r>
          </a:p>
          <a:p>
            <a:pPr marL="457200" indent="-457200">
              <a:buFont typeface="+mj-lt"/>
              <a:buAutoNum type="arabicPeriod"/>
            </a:pPr>
            <a:r>
              <a:rPr lang="en-US" dirty="0"/>
              <a:t>Fellowship and Enjoy.</a:t>
            </a:r>
          </a:p>
        </p:txBody>
      </p:sp>
    </p:spTree>
    <p:extLst>
      <p:ext uri="{BB962C8B-B14F-4D97-AF65-F5344CB8AC3E}">
        <p14:creationId xmlns:p14="http://schemas.microsoft.com/office/powerpoint/2010/main" val="3322706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D8DCC-884B-4E7C-8DE4-32C339E8DF7C}"/>
              </a:ext>
            </a:extLst>
          </p:cNvPr>
          <p:cNvSpPr>
            <a:spLocks noGrp="1"/>
          </p:cNvSpPr>
          <p:nvPr>
            <p:ph type="title"/>
          </p:nvPr>
        </p:nvSpPr>
        <p:spPr/>
        <p:txBody>
          <a:bodyPr/>
          <a:lstStyle/>
          <a:p>
            <a:r>
              <a:rPr lang="en-US" dirty="0"/>
              <a:t>Plan a Tailgate</a:t>
            </a:r>
          </a:p>
        </p:txBody>
      </p:sp>
      <p:sp>
        <p:nvSpPr>
          <p:cNvPr id="3" name="Content Placeholder 2">
            <a:extLst>
              <a:ext uri="{FF2B5EF4-FFF2-40B4-BE49-F238E27FC236}">
                <a16:creationId xmlns:a16="http://schemas.microsoft.com/office/drawing/2014/main" id="{454D37A5-1EAC-4DA5-9130-BFF40B64B616}"/>
              </a:ext>
            </a:extLst>
          </p:cNvPr>
          <p:cNvSpPr>
            <a:spLocks noGrp="1"/>
          </p:cNvSpPr>
          <p:nvPr>
            <p:ph idx="1"/>
          </p:nvPr>
        </p:nvSpPr>
        <p:spPr/>
        <p:txBody>
          <a:bodyPr>
            <a:normAutofit fontScale="77500" lnSpcReduction="20000"/>
          </a:bodyPr>
          <a:lstStyle/>
          <a:p>
            <a:pPr marL="457200" indent="-457200">
              <a:buFont typeface="+mj-lt"/>
              <a:buAutoNum type="arabicPeriod"/>
            </a:pPr>
            <a:r>
              <a:rPr lang="en-US" dirty="0"/>
              <a:t>Reserve a Plot via the Furman Football Link sent from Athletics.</a:t>
            </a:r>
          </a:p>
          <a:p>
            <a:pPr marL="457200" indent="-457200">
              <a:buFont typeface="+mj-lt"/>
              <a:buAutoNum type="arabicPeriod"/>
            </a:pPr>
            <a:r>
              <a:rPr lang="en-US" dirty="0"/>
              <a:t>Submit a form with the number of tables, chairs, trash cans, and tents needed for the tailgate.</a:t>
            </a:r>
          </a:p>
          <a:p>
            <a:pPr marL="457200" indent="-457200">
              <a:buFont typeface="+mj-lt"/>
              <a:buAutoNum type="arabicPeriod"/>
            </a:pPr>
            <a:r>
              <a:rPr lang="en-US" dirty="0"/>
              <a:t>2 weeks before the tailgate create a flyer and share via social media.</a:t>
            </a:r>
          </a:p>
          <a:p>
            <a:pPr marL="457200" indent="-457200">
              <a:buFont typeface="+mj-lt"/>
              <a:buAutoNum type="arabicPeriod"/>
            </a:pPr>
            <a:r>
              <a:rPr lang="en-US" dirty="0"/>
              <a:t>2 weeks before the tailgate solidify food options.</a:t>
            </a:r>
          </a:p>
          <a:p>
            <a:pPr marL="457200" indent="-457200">
              <a:buFont typeface="+mj-lt"/>
              <a:buAutoNum type="arabicPeriod"/>
            </a:pPr>
            <a:r>
              <a:rPr lang="en-US" dirty="0"/>
              <a:t>1 week before tailgate secure tailgate set-up and take down volunteers.</a:t>
            </a:r>
          </a:p>
          <a:p>
            <a:pPr marL="457200" indent="-457200">
              <a:buFont typeface="+mj-lt"/>
              <a:buAutoNum type="arabicPeriod"/>
            </a:pPr>
            <a:r>
              <a:rPr lang="en-US" dirty="0"/>
              <a:t>Day of Enjoy.</a:t>
            </a:r>
          </a:p>
          <a:p>
            <a:pPr marL="457200" indent="-457200">
              <a:buFont typeface="+mj-lt"/>
              <a:buAutoNum type="arabicPeriod"/>
            </a:pPr>
            <a:r>
              <a:rPr lang="en-US" dirty="0"/>
              <a:t>You will receive a bill in your Furman Mailbox with the amount that was charged to your organization. Take that to Mrs. Dianne and she will deduct the payment from your organization budget.</a:t>
            </a:r>
          </a:p>
          <a:p>
            <a:pPr marL="457200" indent="-457200">
              <a:buFont typeface="+mj-lt"/>
              <a:buAutoNum type="arabicPeriod"/>
            </a:pPr>
            <a:endParaRPr lang="en-US" dirty="0"/>
          </a:p>
        </p:txBody>
      </p:sp>
    </p:spTree>
    <p:extLst>
      <p:ext uri="{BB962C8B-B14F-4D97-AF65-F5344CB8AC3E}">
        <p14:creationId xmlns:p14="http://schemas.microsoft.com/office/powerpoint/2010/main" val="1903083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B79C0-9198-4F4A-AC7F-920494B5237F}"/>
              </a:ext>
            </a:extLst>
          </p:cNvPr>
          <p:cNvSpPr>
            <a:spLocks noGrp="1"/>
          </p:cNvSpPr>
          <p:nvPr>
            <p:ph type="title"/>
          </p:nvPr>
        </p:nvSpPr>
        <p:spPr>
          <a:xfrm>
            <a:off x="1295401" y="624469"/>
            <a:ext cx="9601196" cy="1303867"/>
          </a:xfrm>
        </p:spPr>
        <p:txBody>
          <a:bodyPr/>
          <a:lstStyle/>
          <a:p>
            <a:r>
              <a:rPr lang="en-US" dirty="0"/>
              <a:t>Plan a Conference Attendance</a:t>
            </a:r>
          </a:p>
        </p:txBody>
      </p:sp>
      <p:sp>
        <p:nvSpPr>
          <p:cNvPr id="3" name="Content Placeholder 2">
            <a:extLst>
              <a:ext uri="{FF2B5EF4-FFF2-40B4-BE49-F238E27FC236}">
                <a16:creationId xmlns:a16="http://schemas.microsoft.com/office/drawing/2014/main" id="{E6512743-8875-456F-AC25-217CD6FB8452}"/>
              </a:ext>
            </a:extLst>
          </p:cNvPr>
          <p:cNvSpPr>
            <a:spLocks noGrp="1"/>
          </p:cNvSpPr>
          <p:nvPr>
            <p:ph idx="1"/>
          </p:nvPr>
        </p:nvSpPr>
        <p:spPr>
          <a:xfrm>
            <a:off x="1295403" y="1851102"/>
            <a:ext cx="9601196" cy="4382429"/>
          </a:xfrm>
        </p:spPr>
        <p:txBody>
          <a:bodyPr>
            <a:normAutofit fontScale="70000" lnSpcReduction="20000"/>
          </a:bodyPr>
          <a:lstStyle/>
          <a:p>
            <a:pPr marL="457200" indent="-457200">
              <a:buFont typeface="+mj-lt"/>
              <a:buAutoNum type="arabicPeriod"/>
            </a:pPr>
            <a:r>
              <a:rPr lang="en-US" dirty="0"/>
              <a:t>Find Conference and Review Registration Deadlines and Costs.</a:t>
            </a:r>
          </a:p>
          <a:p>
            <a:pPr marL="457200" indent="-457200">
              <a:buFont typeface="+mj-lt"/>
              <a:buAutoNum type="arabicPeriod"/>
            </a:pPr>
            <a:r>
              <a:rPr lang="en-US" dirty="0"/>
              <a:t>Determine the Number of Attendees Allowed.</a:t>
            </a:r>
          </a:p>
          <a:p>
            <a:pPr marL="457200" indent="-457200">
              <a:buFont typeface="+mj-lt"/>
              <a:buAutoNum type="arabicPeriod"/>
            </a:pPr>
            <a:r>
              <a:rPr lang="en-US" dirty="0"/>
              <a:t>Notify Members of the Conference and Select Attendees at your own discretion. </a:t>
            </a:r>
          </a:p>
          <a:p>
            <a:pPr lvl="1">
              <a:buFont typeface="Wingdings" panose="05000000000000000000" pitchFamily="2" charset="2"/>
              <a:buChar char="§"/>
            </a:pPr>
            <a:r>
              <a:rPr lang="en-US" dirty="0"/>
              <a:t>Have knowledge of the amount that students are expected to contribute during the conference</a:t>
            </a:r>
          </a:p>
          <a:p>
            <a:pPr marL="457200" indent="-457200">
              <a:buFont typeface="+mj-lt"/>
              <a:buAutoNum type="arabicPeriod"/>
            </a:pPr>
            <a:r>
              <a:rPr lang="en-US" dirty="0"/>
              <a:t>Pay the Registration Fees and send in names of the conference attendees.</a:t>
            </a:r>
          </a:p>
          <a:p>
            <a:pPr marL="457200" indent="-457200">
              <a:buFont typeface="+mj-lt"/>
              <a:buAutoNum type="arabicPeriod"/>
            </a:pPr>
            <a:r>
              <a:rPr lang="en-US" dirty="0"/>
              <a:t>Reserve Hotel Rooms.</a:t>
            </a:r>
          </a:p>
          <a:p>
            <a:pPr marL="457200" indent="-457200">
              <a:buFont typeface="+mj-lt"/>
              <a:buAutoNum type="arabicPeriod"/>
            </a:pPr>
            <a:r>
              <a:rPr lang="en-US" dirty="0"/>
              <a:t>Determine Travel Options (Car, Bus, Van, Air).</a:t>
            </a:r>
          </a:p>
          <a:p>
            <a:pPr marL="457200" indent="-457200">
              <a:buFont typeface="+mj-lt"/>
              <a:buAutoNum type="arabicPeriod"/>
            </a:pPr>
            <a:r>
              <a:rPr lang="en-US" dirty="0"/>
              <a:t>1 month before conference, request excused absence form via </a:t>
            </a:r>
            <a:r>
              <a:rPr lang="en-US" dirty="0" err="1"/>
              <a:t>SyncDIN</a:t>
            </a:r>
            <a:r>
              <a:rPr lang="en-US" dirty="0"/>
              <a:t> and submit to Registrar if applicable.</a:t>
            </a:r>
          </a:p>
          <a:p>
            <a:pPr marL="457200" indent="-457200">
              <a:buFont typeface="+mj-lt"/>
              <a:buAutoNum type="arabicPeriod"/>
            </a:pPr>
            <a:r>
              <a:rPr lang="en-US" dirty="0"/>
              <a:t>2 weeks before the conference send out the agenda and fill- out travel liability release forms and turn into Queen Deb.</a:t>
            </a:r>
          </a:p>
          <a:p>
            <a:pPr marL="457200" indent="-457200">
              <a:buFont typeface="+mj-lt"/>
              <a:buAutoNum type="arabicPeriod"/>
            </a:pPr>
            <a:r>
              <a:rPr lang="en-US" dirty="0"/>
              <a:t>1 week before the conference send out conference attire and the agenda again. (Create a GroupMe for use during the conference)</a:t>
            </a:r>
          </a:p>
          <a:p>
            <a:pPr marL="457200" indent="-457200">
              <a:buFont typeface="+mj-lt"/>
              <a:buAutoNum type="arabicPeriod"/>
            </a:pPr>
            <a:r>
              <a:rPr lang="en-US" dirty="0"/>
              <a:t>Week of conference, enjoy and represent Furman well.</a:t>
            </a:r>
          </a:p>
        </p:txBody>
      </p:sp>
    </p:spTree>
    <p:extLst>
      <p:ext uri="{BB962C8B-B14F-4D97-AF65-F5344CB8AC3E}">
        <p14:creationId xmlns:p14="http://schemas.microsoft.com/office/powerpoint/2010/main" val="3165368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DE392-52F5-46DC-B436-7D9A98BBA006}"/>
              </a:ext>
            </a:extLst>
          </p:cNvPr>
          <p:cNvSpPr>
            <a:spLocks noGrp="1"/>
          </p:cNvSpPr>
          <p:nvPr>
            <p:ph type="ctrTitle"/>
          </p:nvPr>
        </p:nvSpPr>
        <p:spPr/>
        <p:txBody>
          <a:bodyPr/>
          <a:lstStyle/>
          <a:p>
            <a:r>
              <a:rPr lang="en-US" dirty="0"/>
              <a:t>Questions?</a:t>
            </a:r>
          </a:p>
        </p:txBody>
      </p:sp>
    </p:spTree>
    <p:extLst>
      <p:ext uri="{BB962C8B-B14F-4D97-AF65-F5344CB8AC3E}">
        <p14:creationId xmlns:p14="http://schemas.microsoft.com/office/powerpoint/2010/main" val="327219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0F071-023F-4647-838D-7F07474B12DB}"/>
              </a:ext>
            </a:extLst>
          </p:cNvPr>
          <p:cNvSpPr>
            <a:spLocks noGrp="1"/>
          </p:cNvSpPr>
          <p:nvPr>
            <p:ph type="title"/>
          </p:nvPr>
        </p:nvSpPr>
        <p:spPr/>
        <p:txBody>
          <a:bodyPr/>
          <a:lstStyle/>
          <a:p>
            <a:r>
              <a:rPr lang="en-US" dirty="0"/>
              <a:t>Simulations</a:t>
            </a:r>
          </a:p>
        </p:txBody>
      </p:sp>
      <p:sp>
        <p:nvSpPr>
          <p:cNvPr id="3" name="Content Placeholder 2">
            <a:extLst>
              <a:ext uri="{FF2B5EF4-FFF2-40B4-BE49-F238E27FC236}">
                <a16:creationId xmlns:a16="http://schemas.microsoft.com/office/drawing/2014/main" id="{4446BD0A-187F-40A4-BD1A-246E988DE619}"/>
              </a:ext>
            </a:extLst>
          </p:cNvPr>
          <p:cNvSpPr>
            <a:spLocks noGrp="1"/>
          </p:cNvSpPr>
          <p:nvPr>
            <p:ph idx="1"/>
          </p:nvPr>
        </p:nvSpPr>
        <p:spPr/>
        <p:txBody>
          <a:bodyPr>
            <a:normAutofit fontScale="92500"/>
          </a:bodyPr>
          <a:lstStyle/>
          <a:p>
            <a:r>
              <a:rPr lang="en-US" dirty="0"/>
              <a:t>Draft an email to the Cherokee Indian Tribe of NC requesting their presence on our campus for a CLP workshop on Pottery Making during Native American Heritage Month in November.</a:t>
            </a:r>
          </a:p>
          <a:p>
            <a:r>
              <a:rPr lang="en-US" dirty="0"/>
              <a:t>We are attending the </a:t>
            </a:r>
            <a:r>
              <a:rPr lang="en-US" dirty="0" err="1"/>
              <a:t>NSLDC</a:t>
            </a:r>
            <a:r>
              <a:rPr lang="en-US" dirty="0"/>
              <a:t> in New Orleans in February of 2019. The budget allocated is $3,500. Pay the registration fee, book hotel rooms, and plane tickets.</a:t>
            </a:r>
          </a:p>
          <a:p>
            <a:r>
              <a:rPr lang="en-US" dirty="0"/>
              <a:t>One of your exec members is no longer performing the duties set forth in your organization constitution. Tell me your plan of action to address this issue.</a:t>
            </a:r>
          </a:p>
        </p:txBody>
      </p:sp>
    </p:spTree>
    <p:extLst>
      <p:ext uri="{BB962C8B-B14F-4D97-AF65-F5344CB8AC3E}">
        <p14:creationId xmlns:p14="http://schemas.microsoft.com/office/powerpoint/2010/main" val="1215980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DE392-52F5-46DC-B436-7D9A98BBA006}"/>
              </a:ext>
            </a:extLst>
          </p:cNvPr>
          <p:cNvSpPr>
            <a:spLocks noGrp="1"/>
          </p:cNvSpPr>
          <p:nvPr>
            <p:ph type="ctrTitle"/>
          </p:nvPr>
        </p:nvSpPr>
        <p:spPr/>
        <p:txBody>
          <a:bodyPr/>
          <a:lstStyle/>
          <a:p>
            <a:r>
              <a:rPr lang="en-US" dirty="0"/>
              <a:t>Questions?</a:t>
            </a:r>
          </a:p>
        </p:txBody>
      </p:sp>
    </p:spTree>
    <p:extLst>
      <p:ext uri="{BB962C8B-B14F-4D97-AF65-F5344CB8AC3E}">
        <p14:creationId xmlns:p14="http://schemas.microsoft.com/office/powerpoint/2010/main" val="15863111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34E0-ADD4-441B-8325-AFA2B9DF22AA}"/>
              </a:ext>
            </a:extLst>
          </p:cNvPr>
          <p:cNvSpPr>
            <a:spLocks noGrp="1"/>
          </p:cNvSpPr>
          <p:nvPr>
            <p:ph type="ctrTitle"/>
          </p:nvPr>
        </p:nvSpPr>
        <p:spPr/>
        <p:txBody>
          <a:bodyPr/>
          <a:lstStyle/>
          <a:p>
            <a:r>
              <a:rPr lang="en-US" dirty="0" err="1"/>
              <a:t>SDC</a:t>
            </a:r>
            <a:r>
              <a:rPr lang="en-US" dirty="0"/>
              <a:t> Officer Transition Training</a:t>
            </a:r>
          </a:p>
        </p:txBody>
      </p:sp>
      <p:sp>
        <p:nvSpPr>
          <p:cNvPr id="3" name="Subtitle 2">
            <a:extLst>
              <a:ext uri="{FF2B5EF4-FFF2-40B4-BE49-F238E27FC236}">
                <a16:creationId xmlns:a16="http://schemas.microsoft.com/office/drawing/2014/main" id="{D1979669-7D55-44AF-BE10-6D7D9D15CB98}"/>
              </a:ext>
            </a:extLst>
          </p:cNvPr>
          <p:cNvSpPr>
            <a:spLocks noGrp="1"/>
          </p:cNvSpPr>
          <p:nvPr>
            <p:ph type="subTitle" idx="1"/>
          </p:nvPr>
        </p:nvSpPr>
        <p:spPr/>
        <p:txBody>
          <a:bodyPr/>
          <a:lstStyle/>
          <a:p>
            <a:r>
              <a:rPr lang="en-US" dirty="0"/>
              <a:t>2018-2019 Officer Preparation</a:t>
            </a:r>
          </a:p>
        </p:txBody>
      </p:sp>
    </p:spTree>
    <p:extLst>
      <p:ext uri="{BB962C8B-B14F-4D97-AF65-F5344CB8AC3E}">
        <p14:creationId xmlns:p14="http://schemas.microsoft.com/office/powerpoint/2010/main" val="330616049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330</TotalTime>
  <Words>1797</Words>
  <Application>Microsoft Office PowerPoint</Application>
  <PresentationFormat>Widescreen</PresentationFormat>
  <Paragraphs>166</Paragraphs>
  <Slides>22</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Garamond</vt:lpstr>
      <vt:lpstr>Wingdings</vt:lpstr>
      <vt:lpstr>Organic</vt:lpstr>
      <vt:lpstr>SDC Officer Transition Training</vt:lpstr>
      <vt:lpstr>Training Agenda</vt:lpstr>
      <vt:lpstr>Background: Student Diversity Council</vt:lpstr>
      <vt:lpstr>SDC Organization Affiliation</vt:lpstr>
      <vt:lpstr>President</vt:lpstr>
      <vt:lpstr>Vice President</vt:lpstr>
      <vt:lpstr>Expected Roles of the President</vt:lpstr>
      <vt:lpstr>Expected Roles of the Vice President</vt:lpstr>
      <vt:lpstr>How To</vt:lpstr>
      <vt:lpstr>Plan an Event w/ Speaker</vt:lpstr>
      <vt:lpstr>PowerPoint Presentation</vt:lpstr>
      <vt:lpstr>Plan an Event w/ Speaker (Continued)</vt:lpstr>
      <vt:lpstr>PowerPoint Presentation</vt:lpstr>
      <vt:lpstr>PowerPoint Presentation</vt:lpstr>
      <vt:lpstr>Plan an Event w/Speaker (Continued)</vt:lpstr>
      <vt:lpstr>Plan a Banquet</vt:lpstr>
      <vt:lpstr>Plan a Tailgate</vt:lpstr>
      <vt:lpstr>Plan a Conference Attendance</vt:lpstr>
      <vt:lpstr>Questions?</vt:lpstr>
      <vt:lpstr>Simulations</vt:lpstr>
      <vt:lpstr>Questions?</vt:lpstr>
      <vt:lpstr>SDC Officer Transition Training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SDC Officer Transition Training</dc:title>
  <dc:creator>Chelsea Joseph-Student</dc:creator>
  <cp:lastModifiedBy>Chelsea Joseph-Student</cp:lastModifiedBy>
  <cp:revision>38</cp:revision>
  <cp:lastPrinted>2018-04-07T10:00:05Z</cp:lastPrinted>
  <dcterms:created xsi:type="dcterms:W3CDTF">2018-04-07T05:56:01Z</dcterms:created>
  <dcterms:modified xsi:type="dcterms:W3CDTF">2018-04-20T15:42:54Z</dcterms:modified>
</cp:coreProperties>
</file>