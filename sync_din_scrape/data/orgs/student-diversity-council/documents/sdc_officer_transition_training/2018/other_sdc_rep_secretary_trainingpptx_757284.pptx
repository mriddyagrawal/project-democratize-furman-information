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92" r:id="rId3"/>
    <p:sldId id="293" r:id="rId4"/>
    <p:sldId id="294" r:id="rId5"/>
    <p:sldId id="295" r:id="rId6"/>
    <p:sldId id="298" r:id="rId7"/>
    <p:sldId id="296" r:id="rId8"/>
    <p:sldId id="297" r:id="rId9"/>
    <p:sldId id="301" r:id="rId10"/>
    <p:sldId id="299" r:id="rId11"/>
    <p:sldId id="302" r:id="rId12"/>
    <p:sldId id="300" r:id="rId13"/>
    <p:sldId id="303"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91" autoAdjust="0"/>
  </p:normalViewPr>
  <p:slideViewPr>
    <p:cSldViewPr snapToGrid="0">
      <p:cViewPr varScale="1">
        <p:scale>
          <a:sx n="115" d="100"/>
          <a:sy n="115" d="100"/>
        </p:scale>
        <p:origin x="4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257F45-9D36-4BDC-B79F-6AE4977D173A}" type="datetimeFigureOut">
              <a:rPr lang="en-US" smtClean="0"/>
              <a:t>4/20/2018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98F3D2-6CA0-4CDC-BAA3-8F1D56F477B2}" type="slidenum">
              <a:rPr lang="en-US" smtClean="0"/>
              <a:t>‹#›</a:t>
            </a:fld>
            <a:endParaRPr lang="en-US"/>
          </a:p>
        </p:txBody>
      </p:sp>
    </p:spTree>
    <p:extLst>
      <p:ext uri="{BB962C8B-B14F-4D97-AF65-F5344CB8AC3E}">
        <p14:creationId xmlns:p14="http://schemas.microsoft.com/office/powerpoint/2010/main" val="1867644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98F3D2-6CA0-4CDC-BAA3-8F1D56F477B2}" type="slidenum">
              <a:rPr lang="en-US" smtClean="0"/>
              <a:t>5</a:t>
            </a:fld>
            <a:endParaRPr lang="en-US"/>
          </a:p>
        </p:txBody>
      </p:sp>
    </p:spTree>
    <p:extLst>
      <p:ext uri="{BB962C8B-B14F-4D97-AF65-F5344CB8AC3E}">
        <p14:creationId xmlns:p14="http://schemas.microsoft.com/office/powerpoint/2010/main" val="2935476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698F3D2-6CA0-4CDC-BAA3-8F1D56F477B2}" type="slidenum">
              <a:rPr lang="en-US" smtClean="0"/>
              <a:t>11</a:t>
            </a:fld>
            <a:endParaRPr lang="en-US"/>
          </a:p>
        </p:txBody>
      </p:sp>
    </p:spTree>
    <p:extLst>
      <p:ext uri="{BB962C8B-B14F-4D97-AF65-F5344CB8AC3E}">
        <p14:creationId xmlns:p14="http://schemas.microsoft.com/office/powerpoint/2010/main" val="1464268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698F3D2-6CA0-4CDC-BAA3-8F1D56F477B2}" type="slidenum">
              <a:rPr lang="en-US" smtClean="0"/>
              <a:t>13</a:t>
            </a:fld>
            <a:endParaRPr lang="en-US"/>
          </a:p>
        </p:txBody>
      </p:sp>
    </p:spTree>
    <p:extLst>
      <p:ext uri="{BB962C8B-B14F-4D97-AF65-F5344CB8AC3E}">
        <p14:creationId xmlns:p14="http://schemas.microsoft.com/office/powerpoint/2010/main" val="22727112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dirty="0"/>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4/20/2018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4/20/2018</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34E0-ADD4-441B-8325-AFA2B9DF22AA}"/>
              </a:ext>
            </a:extLst>
          </p:cNvPr>
          <p:cNvSpPr>
            <a:spLocks noGrp="1"/>
          </p:cNvSpPr>
          <p:nvPr>
            <p:ph type="ctrTitle"/>
          </p:nvPr>
        </p:nvSpPr>
        <p:spPr/>
        <p:txBody>
          <a:bodyPr/>
          <a:lstStyle/>
          <a:p>
            <a:r>
              <a:rPr lang="en-US" dirty="0" err="1"/>
              <a:t>SDC</a:t>
            </a:r>
            <a:r>
              <a:rPr lang="en-US" dirty="0"/>
              <a:t> Officer Transition Training</a:t>
            </a:r>
          </a:p>
        </p:txBody>
      </p:sp>
      <p:sp>
        <p:nvSpPr>
          <p:cNvPr id="3" name="Subtitle 2">
            <a:extLst>
              <a:ext uri="{FF2B5EF4-FFF2-40B4-BE49-F238E27FC236}">
                <a16:creationId xmlns:a16="http://schemas.microsoft.com/office/drawing/2014/main" id="{D1979669-7D55-44AF-BE10-6D7D9D15CB98}"/>
              </a:ext>
            </a:extLst>
          </p:cNvPr>
          <p:cNvSpPr>
            <a:spLocks noGrp="1"/>
          </p:cNvSpPr>
          <p:nvPr>
            <p:ph type="subTitle" idx="1"/>
          </p:nvPr>
        </p:nvSpPr>
        <p:spPr/>
        <p:txBody>
          <a:bodyPr/>
          <a:lstStyle/>
          <a:p>
            <a:r>
              <a:rPr lang="en-US" dirty="0"/>
              <a:t>2018-2019 Officer Preparation</a:t>
            </a:r>
          </a:p>
        </p:txBody>
      </p:sp>
    </p:spTree>
    <p:extLst>
      <p:ext uri="{BB962C8B-B14F-4D97-AF65-F5344CB8AC3E}">
        <p14:creationId xmlns:p14="http://schemas.microsoft.com/office/powerpoint/2010/main" val="3596327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8BC38-7279-4DF5-AF4D-6CADA8E0205F}"/>
              </a:ext>
            </a:extLst>
          </p:cNvPr>
          <p:cNvSpPr>
            <a:spLocks noGrp="1"/>
          </p:cNvSpPr>
          <p:nvPr>
            <p:ph type="title"/>
          </p:nvPr>
        </p:nvSpPr>
        <p:spPr/>
        <p:txBody>
          <a:bodyPr/>
          <a:lstStyle/>
          <a:p>
            <a:r>
              <a:rPr lang="en-US" dirty="0"/>
              <a:t>Training Agenda</a:t>
            </a:r>
          </a:p>
        </p:txBody>
      </p:sp>
      <p:sp>
        <p:nvSpPr>
          <p:cNvPr id="3" name="Content Placeholder 2">
            <a:extLst>
              <a:ext uri="{FF2B5EF4-FFF2-40B4-BE49-F238E27FC236}">
                <a16:creationId xmlns:a16="http://schemas.microsoft.com/office/drawing/2014/main" id="{BA67FE9C-51A8-42F6-AB15-C8DB5C253B7F}"/>
              </a:ext>
            </a:extLst>
          </p:cNvPr>
          <p:cNvSpPr>
            <a:spLocks noGrp="1"/>
          </p:cNvSpPr>
          <p:nvPr>
            <p:ph idx="1"/>
          </p:nvPr>
        </p:nvSpPr>
        <p:spPr/>
        <p:txBody>
          <a:bodyPr>
            <a:normAutofit fontScale="92500" lnSpcReduction="10000"/>
          </a:bodyPr>
          <a:lstStyle/>
          <a:p>
            <a:r>
              <a:rPr lang="en-US" b="1" dirty="0" err="1">
                <a:solidFill>
                  <a:schemeClr val="bg1">
                    <a:lumMod val="85000"/>
                  </a:schemeClr>
                </a:solidFill>
              </a:rPr>
              <a:t>9:00A</a:t>
            </a:r>
            <a:r>
              <a:rPr lang="en-US" b="1" dirty="0">
                <a:solidFill>
                  <a:schemeClr val="bg1">
                    <a:lumMod val="85000"/>
                  </a:schemeClr>
                </a:solidFill>
              </a:rPr>
              <a:t>- </a:t>
            </a:r>
            <a:r>
              <a:rPr lang="en-US" b="1" dirty="0" err="1">
                <a:solidFill>
                  <a:schemeClr val="bg1">
                    <a:lumMod val="85000"/>
                  </a:schemeClr>
                </a:solidFill>
              </a:rPr>
              <a:t>9:30A</a:t>
            </a:r>
            <a:r>
              <a:rPr lang="en-US" b="1" dirty="0">
                <a:solidFill>
                  <a:schemeClr val="bg1">
                    <a:lumMod val="85000"/>
                  </a:schemeClr>
                </a:solidFill>
              </a:rPr>
              <a:t>- </a:t>
            </a:r>
            <a:r>
              <a:rPr lang="en-US" dirty="0">
                <a:solidFill>
                  <a:schemeClr val="bg1">
                    <a:lumMod val="85000"/>
                  </a:schemeClr>
                </a:solidFill>
              </a:rPr>
              <a:t>Coffee &amp; Donuts (Provided by </a:t>
            </a:r>
            <a:r>
              <a:rPr lang="en-US" dirty="0" err="1">
                <a:solidFill>
                  <a:schemeClr val="bg1">
                    <a:lumMod val="85000"/>
                  </a:schemeClr>
                </a:solidFill>
              </a:rPr>
              <a:t>SDC</a:t>
            </a:r>
            <a:r>
              <a:rPr lang="en-US" dirty="0">
                <a:solidFill>
                  <a:schemeClr val="bg1">
                    <a:lumMod val="85000"/>
                  </a:schemeClr>
                </a:solidFill>
              </a:rPr>
              <a:t>)</a:t>
            </a:r>
          </a:p>
          <a:p>
            <a:r>
              <a:rPr lang="en-US" b="1" dirty="0" err="1">
                <a:solidFill>
                  <a:schemeClr val="bg1">
                    <a:lumMod val="85000"/>
                  </a:schemeClr>
                </a:solidFill>
              </a:rPr>
              <a:t>9:30A</a:t>
            </a:r>
            <a:r>
              <a:rPr lang="en-US" b="1" dirty="0">
                <a:solidFill>
                  <a:schemeClr val="bg1">
                    <a:lumMod val="85000"/>
                  </a:schemeClr>
                </a:solidFill>
              </a:rPr>
              <a:t>- </a:t>
            </a:r>
            <a:r>
              <a:rPr lang="en-US" b="1" dirty="0" err="1">
                <a:solidFill>
                  <a:schemeClr val="bg1">
                    <a:lumMod val="85000"/>
                  </a:schemeClr>
                </a:solidFill>
              </a:rPr>
              <a:t>10:45A</a:t>
            </a:r>
            <a:r>
              <a:rPr lang="en-US" b="1" dirty="0">
                <a:solidFill>
                  <a:schemeClr val="bg1">
                    <a:lumMod val="85000"/>
                  </a:schemeClr>
                </a:solidFill>
              </a:rPr>
              <a:t>- </a:t>
            </a:r>
            <a:r>
              <a:rPr lang="en-US" dirty="0">
                <a:solidFill>
                  <a:schemeClr val="bg1">
                    <a:lumMod val="85000"/>
                  </a:schemeClr>
                </a:solidFill>
              </a:rPr>
              <a:t>President &amp; Vice President Position Training</a:t>
            </a:r>
          </a:p>
          <a:p>
            <a:r>
              <a:rPr lang="en-US" b="1" dirty="0" err="1">
                <a:solidFill>
                  <a:schemeClr val="bg1">
                    <a:lumMod val="85000"/>
                  </a:schemeClr>
                </a:solidFill>
              </a:rPr>
              <a:t>10:45A-11A</a:t>
            </a:r>
            <a:r>
              <a:rPr lang="en-US" b="1" dirty="0">
                <a:solidFill>
                  <a:schemeClr val="bg1">
                    <a:lumMod val="85000"/>
                  </a:schemeClr>
                </a:solidFill>
              </a:rPr>
              <a:t>- </a:t>
            </a:r>
            <a:r>
              <a:rPr lang="en-US" dirty="0">
                <a:solidFill>
                  <a:schemeClr val="bg1">
                    <a:lumMod val="85000"/>
                  </a:schemeClr>
                </a:solidFill>
              </a:rPr>
              <a:t>Short Break</a:t>
            </a:r>
          </a:p>
          <a:p>
            <a:r>
              <a:rPr lang="en-US" b="1" dirty="0" err="1">
                <a:solidFill>
                  <a:schemeClr val="bg1">
                    <a:lumMod val="85000"/>
                  </a:schemeClr>
                </a:solidFill>
              </a:rPr>
              <a:t>11A</a:t>
            </a:r>
            <a:r>
              <a:rPr lang="en-US" b="1" dirty="0">
                <a:solidFill>
                  <a:schemeClr val="bg1">
                    <a:lumMod val="85000"/>
                  </a:schemeClr>
                </a:solidFill>
              </a:rPr>
              <a:t>- </a:t>
            </a:r>
            <a:r>
              <a:rPr lang="en-US" b="1" dirty="0" err="1">
                <a:solidFill>
                  <a:schemeClr val="bg1">
                    <a:lumMod val="85000"/>
                  </a:schemeClr>
                </a:solidFill>
              </a:rPr>
              <a:t>12:15P</a:t>
            </a:r>
            <a:r>
              <a:rPr lang="en-US" b="1" dirty="0">
                <a:solidFill>
                  <a:schemeClr val="bg1">
                    <a:lumMod val="85000"/>
                  </a:schemeClr>
                </a:solidFill>
              </a:rPr>
              <a:t>- </a:t>
            </a:r>
            <a:r>
              <a:rPr lang="en-US" dirty="0">
                <a:solidFill>
                  <a:schemeClr val="bg1">
                    <a:lumMod val="85000"/>
                  </a:schemeClr>
                </a:solidFill>
              </a:rPr>
              <a:t>Treasurer Position Training</a:t>
            </a:r>
          </a:p>
          <a:p>
            <a:r>
              <a:rPr lang="en-US" b="1" dirty="0" err="1">
                <a:solidFill>
                  <a:schemeClr val="bg1">
                    <a:lumMod val="85000"/>
                  </a:schemeClr>
                </a:solidFill>
              </a:rPr>
              <a:t>12:15P-1:15P</a:t>
            </a:r>
            <a:r>
              <a:rPr lang="en-US" b="1" dirty="0">
                <a:solidFill>
                  <a:schemeClr val="bg1">
                    <a:lumMod val="85000"/>
                  </a:schemeClr>
                </a:solidFill>
              </a:rPr>
              <a:t>-</a:t>
            </a:r>
            <a:r>
              <a:rPr lang="en-US" dirty="0">
                <a:solidFill>
                  <a:schemeClr val="bg1">
                    <a:lumMod val="85000"/>
                  </a:schemeClr>
                </a:solidFill>
              </a:rPr>
              <a:t> Lunch (Not Provided by </a:t>
            </a:r>
            <a:r>
              <a:rPr lang="en-US" dirty="0" err="1">
                <a:solidFill>
                  <a:schemeClr val="bg1">
                    <a:lumMod val="85000"/>
                  </a:schemeClr>
                </a:solidFill>
              </a:rPr>
              <a:t>SDC</a:t>
            </a:r>
            <a:r>
              <a:rPr lang="en-US" dirty="0">
                <a:solidFill>
                  <a:schemeClr val="bg1">
                    <a:lumMod val="85000"/>
                  </a:schemeClr>
                </a:solidFill>
              </a:rPr>
              <a:t>)</a:t>
            </a:r>
          </a:p>
          <a:p>
            <a:r>
              <a:rPr lang="en-US" b="1" dirty="0" err="1"/>
              <a:t>1:20P-2:20P</a:t>
            </a:r>
            <a:r>
              <a:rPr lang="en-US" b="1" dirty="0"/>
              <a:t>- </a:t>
            </a:r>
            <a:r>
              <a:rPr lang="en-US" dirty="0"/>
              <a:t>Secretary &amp; </a:t>
            </a:r>
            <a:r>
              <a:rPr lang="en-US" dirty="0" err="1"/>
              <a:t>SDC</a:t>
            </a:r>
            <a:r>
              <a:rPr lang="en-US" dirty="0"/>
              <a:t> Representative Training</a:t>
            </a:r>
          </a:p>
          <a:p>
            <a:r>
              <a:rPr lang="en-US" b="1" dirty="0" err="1"/>
              <a:t>2:30P-3:45P</a:t>
            </a:r>
            <a:r>
              <a:rPr lang="en-US" b="1" dirty="0"/>
              <a:t>- </a:t>
            </a:r>
            <a:r>
              <a:rPr lang="en-US" dirty="0"/>
              <a:t>Historian, Public Relations, Creativity Chair Position Training</a:t>
            </a:r>
          </a:p>
          <a:p>
            <a:endParaRPr lang="en-US" dirty="0"/>
          </a:p>
        </p:txBody>
      </p:sp>
    </p:spTree>
    <p:extLst>
      <p:ext uri="{BB962C8B-B14F-4D97-AF65-F5344CB8AC3E}">
        <p14:creationId xmlns:p14="http://schemas.microsoft.com/office/powerpoint/2010/main" val="778033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7E389-321F-48CB-BD8A-974E31F99A2B}"/>
              </a:ext>
            </a:extLst>
          </p:cNvPr>
          <p:cNvSpPr>
            <a:spLocks noGrp="1"/>
          </p:cNvSpPr>
          <p:nvPr>
            <p:ph type="title"/>
          </p:nvPr>
        </p:nvSpPr>
        <p:spPr/>
        <p:txBody>
          <a:bodyPr>
            <a:normAutofit/>
          </a:bodyPr>
          <a:lstStyle/>
          <a:p>
            <a:r>
              <a:rPr lang="en-US" dirty="0"/>
              <a:t>Background: Student Diversity Council</a:t>
            </a:r>
          </a:p>
        </p:txBody>
      </p:sp>
      <p:sp>
        <p:nvSpPr>
          <p:cNvPr id="3" name="Content Placeholder 2">
            <a:extLst>
              <a:ext uri="{FF2B5EF4-FFF2-40B4-BE49-F238E27FC236}">
                <a16:creationId xmlns:a16="http://schemas.microsoft.com/office/drawing/2014/main" id="{FFD97952-A602-44AC-BC15-828519C54A26}"/>
              </a:ext>
            </a:extLst>
          </p:cNvPr>
          <p:cNvSpPr>
            <a:spLocks noGrp="1"/>
          </p:cNvSpPr>
          <p:nvPr>
            <p:ph idx="1"/>
          </p:nvPr>
        </p:nvSpPr>
        <p:spPr/>
        <p:txBody>
          <a:bodyPr>
            <a:normAutofit fontScale="85000" lnSpcReduction="20000"/>
          </a:bodyPr>
          <a:lstStyle/>
          <a:p>
            <a:pPr marL="0" indent="0">
              <a:buNone/>
            </a:pPr>
            <a:r>
              <a:rPr lang="en-US" b="1" dirty="0">
                <a:solidFill>
                  <a:srgbClr val="7030A0"/>
                </a:solidFill>
              </a:rPr>
              <a:t>What is the Student Diversity Council?</a:t>
            </a:r>
          </a:p>
          <a:p>
            <a:pPr marL="0" indent="0">
              <a:buNone/>
            </a:pPr>
            <a:r>
              <a:rPr lang="en-US" b="1" dirty="0"/>
              <a:t>The Student Diversity Council (</a:t>
            </a:r>
            <a:r>
              <a:rPr lang="en-US" b="1" dirty="0" err="1"/>
              <a:t>SDC</a:t>
            </a:r>
            <a:r>
              <a:rPr lang="en-US" b="1" dirty="0"/>
              <a:t>) is the umbrella organization for student groups on campus that are focused on issues of racial, cultural, sexual, and/ or gender diversity</a:t>
            </a:r>
            <a:r>
              <a:rPr lang="en-US" dirty="0"/>
              <a:t>.</a:t>
            </a:r>
          </a:p>
          <a:p>
            <a:pPr marL="0" indent="0">
              <a:buNone/>
            </a:pPr>
            <a:r>
              <a:rPr lang="en-US" b="1" dirty="0">
                <a:solidFill>
                  <a:srgbClr val="7030A0"/>
                </a:solidFill>
              </a:rPr>
              <a:t>Mission Statement: </a:t>
            </a:r>
            <a:r>
              <a:rPr lang="en-US" b="1" dirty="0"/>
              <a:t>The mission of the Student Diversity Council (</a:t>
            </a:r>
            <a:r>
              <a:rPr lang="en-US" b="1" dirty="0" err="1"/>
              <a:t>SDC</a:t>
            </a:r>
            <a:r>
              <a:rPr lang="en-US" b="1" dirty="0"/>
              <a:t>) is to educate Furman- affiliated individuals and the Greenville community on topics of cultural diversity while advocating for cultural understanding, awareness, and equality.</a:t>
            </a:r>
          </a:p>
          <a:p>
            <a:pPr marL="0" indent="0">
              <a:buNone/>
            </a:pPr>
            <a:r>
              <a:rPr lang="en-US" b="1" dirty="0">
                <a:solidFill>
                  <a:srgbClr val="7030A0"/>
                </a:solidFill>
              </a:rPr>
              <a:t>Vision Statement: </a:t>
            </a:r>
            <a:r>
              <a:rPr lang="en-US" b="1" dirty="0"/>
              <a:t>As the umbrella organization for multicultural organizations on campus, the Student Diversity Council (</a:t>
            </a:r>
            <a:r>
              <a:rPr lang="en-US" b="1" dirty="0" err="1"/>
              <a:t>SDC</a:t>
            </a:r>
            <a:r>
              <a:rPr lang="en-US" b="1" dirty="0"/>
              <a:t>) seeks to share the responsibility of promoting and sustaining diversity at Furman to campus- wide entities through two-way dialogue, co-sponsorships, and collaboration with the Greenville community.</a:t>
            </a:r>
          </a:p>
          <a:p>
            <a:pPr marL="0" indent="0">
              <a:buNone/>
            </a:pPr>
            <a:endParaRPr lang="en-US" dirty="0"/>
          </a:p>
        </p:txBody>
      </p:sp>
    </p:spTree>
    <p:extLst>
      <p:ext uri="{BB962C8B-B14F-4D97-AF65-F5344CB8AC3E}">
        <p14:creationId xmlns:p14="http://schemas.microsoft.com/office/powerpoint/2010/main" val="1464543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939FA-8935-49F4-AFBE-670830B84F36}"/>
              </a:ext>
            </a:extLst>
          </p:cNvPr>
          <p:cNvSpPr>
            <a:spLocks noGrp="1"/>
          </p:cNvSpPr>
          <p:nvPr>
            <p:ph type="title"/>
          </p:nvPr>
        </p:nvSpPr>
        <p:spPr/>
        <p:txBody>
          <a:bodyPr/>
          <a:lstStyle/>
          <a:p>
            <a:r>
              <a:rPr lang="en-US" dirty="0" err="1"/>
              <a:t>SDC</a:t>
            </a:r>
            <a:r>
              <a:rPr lang="en-US" dirty="0"/>
              <a:t> Organization Affiliation</a:t>
            </a:r>
          </a:p>
        </p:txBody>
      </p:sp>
      <p:sp>
        <p:nvSpPr>
          <p:cNvPr id="3" name="Content Placeholder 2">
            <a:extLst>
              <a:ext uri="{FF2B5EF4-FFF2-40B4-BE49-F238E27FC236}">
                <a16:creationId xmlns:a16="http://schemas.microsoft.com/office/drawing/2014/main" id="{967AD972-9084-44F5-A845-BF99BF60B04F}"/>
              </a:ext>
            </a:extLst>
          </p:cNvPr>
          <p:cNvSpPr>
            <a:spLocks noGrp="1"/>
          </p:cNvSpPr>
          <p:nvPr>
            <p:ph idx="1"/>
          </p:nvPr>
        </p:nvSpPr>
        <p:spPr>
          <a:xfrm>
            <a:off x="1139687" y="2411896"/>
            <a:ext cx="10204174" cy="3657600"/>
          </a:xfrm>
        </p:spPr>
        <p:txBody>
          <a:bodyPr>
            <a:normAutofit fontScale="55000" lnSpcReduction="20000"/>
          </a:bodyPr>
          <a:lstStyle/>
          <a:p>
            <a:r>
              <a:rPr lang="en-US" sz="3300" b="1" dirty="0">
                <a:solidFill>
                  <a:srgbClr val="92D050"/>
                </a:solidFill>
              </a:rPr>
              <a:t>Association of Students Interested in Asia (ASIA)</a:t>
            </a:r>
          </a:p>
          <a:p>
            <a:r>
              <a:rPr lang="en-US" sz="3300" b="1" dirty="0">
                <a:solidFill>
                  <a:srgbClr val="FF0000"/>
                </a:solidFill>
              </a:rPr>
              <a:t>Chinese Student Association (CSA)</a:t>
            </a:r>
          </a:p>
          <a:p>
            <a:r>
              <a:rPr lang="en-US" sz="3300" b="1" dirty="0">
                <a:solidFill>
                  <a:srgbClr val="00B0F0"/>
                </a:solidFill>
              </a:rPr>
              <a:t>Furman Pride Alliance (</a:t>
            </a:r>
            <a:r>
              <a:rPr lang="en-US" sz="3300" b="1" dirty="0" err="1">
                <a:solidFill>
                  <a:srgbClr val="00B0F0"/>
                </a:solidFill>
              </a:rPr>
              <a:t>FPA</a:t>
            </a:r>
            <a:r>
              <a:rPr lang="en-US" sz="3300" b="1" dirty="0">
                <a:solidFill>
                  <a:srgbClr val="00B0F0"/>
                </a:solidFill>
              </a:rPr>
              <a:t>)</a:t>
            </a:r>
          </a:p>
          <a:p>
            <a:r>
              <a:rPr lang="en-US" sz="3300" b="1" dirty="0">
                <a:solidFill>
                  <a:srgbClr val="7030A0"/>
                </a:solidFill>
              </a:rPr>
              <a:t>Hispanic Outreach and Latinx Awareness (</a:t>
            </a:r>
            <a:r>
              <a:rPr lang="en-US" sz="3300" b="1" dirty="0" err="1">
                <a:solidFill>
                  <a:srgbClr val="7030A0"/>
                </a:solidFill>
              </a:rPr>
              <a:t>HOLA</a:t>
            </a:r>
            <a:r>
              <a:rPr lang="en-US" sz="3300" b="1" dirty="0">
                <a:solidFill>
                  <a:srgbClr val="7030A0"/>
                </a:solidFill>
              </a:rPr>
              <a:t>)</a:t>
            </a:r>
          </a:p>
          <a:p>
            <a:r>
              <a:rPr lang="en-US" sz="3300" b="1" dirty="0">
                <a:solidFill>
                  <a:srgbClr val="002060"/>
                </a:solidFill>
              </a:rPr>
              <a:t>Furman National Association for the Advancement of Colored People (NAACP)</a:t>
            </a:r>
          </a:p>
          <a:p>
            <a:r>
              <a:rPr lang="en-US" sz="3300" b="1" dirty="0">
                <a:solidFill>
                  <a:srgbClr val="00B050"/>
                </a:solidFill>
              </a:rPr>
              <a:t>Student League for Black Culture (</a:t>
            </a:r>
            <a:r>
              <a:rPr lang="en-US" sz="3300" b="1" dirty="0" err="1">
                <a:solidFill>
                  <a:srgbClr val="00B050"/>
                </a:solidFill>
              </a:rPr>
              <a:t>SLBC</a:t>
            </a:r>
            <a:r>
              <a:rPr lang="en-US" sz="3300" b="1" dirty="0">
                <a:solidFill>
                  <a:srgbClr val="00B050"/>
                </a:solidFill>
              </a:rPr>
              <a:t>)</a:t>
            </a:r>
          </a:p>
          <a:p>
            <a:r>
              <a:rPr lang="en-US" sz="3300" b="1" dirty="0">
                <a:solidFill>
                  <a:srgbClr val="FF6600"/>
                </a:solidFill>
              </a:rPr>
              <a:t>Furman University International Student Association (</a:t>
            </a:r>
            <a:r>
              <a:rPr lang="en-US" sz="3300" b="1" dirty="0" err="1">
                <a:solidFill>
                  <a:srgbClr val="FF6600"/>
                </a:solidFill>
              </a:rPr>
              <a:t>FUISA</a:t>
            </a:r>
            <a:r>
              <a:rPr lang="en-US" sz="3300" b="1" dirty="0">
                <a:solidFill>
                  <a:srgbClr val="FF6600"/>
                </a:solidFill>
              </a:rPr>
              <a:t>)</a:t>
            </a:r>
          </a:p>
          <a:p>
            <a:pPr marL="0" indent="0">
              <a:buNone/>
            </a:pPr>
            <a:r>
              <a:rPr lang="en-US" sz="3300" b="1" dirty="0"/>
              <a:t>Past Organizations:</a:t>
            </a:r>
          </a:p>
          <a:p>
            <a:r>
              <a:rPr lang="en-US" sz="3300" b="1" dirty="0"/>
              <a:t>BABA Africa</a:t>
            </a:r>
          </a:p>
          <a:p>
            <a:r>
              <a:rPr lang="en-US" sz="3300" b="1" dirty="0"/>
              <a:t>Pathways</a:t>
            </a:r>
            <a:endParaRPr lang="en-US" b="1" dirty="0"/>
          </a:p>
        </p:txBody>
      </p:sp>
    </p:spTree>
    <p:extLst>
      <p:ext uri="{BB962C8B-B14F-4D97-AF65-F5344CB8AC3E}">
        <p14:creationId xmlns:p14="http://schemas.microsoft.com/office/powerpoint/2010/main" val="2408978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4EAF7F-E73D-465B-B4D1-EA4FDBA3B1F4}"/>
              </a:ext>
            </a:extLst>
          </p:cNvPr>
          <p:cNvSpPr>
            <a:spLocks noGrp="1"/>
          </p:cNvSpPr>
          <p:nvPr>
            <p:ph type="title"/>
          </p:nvPr>
        </p:nvSpPr>
        <p:spPr/>
        <p:txBody>
          <a:bodyPr/>
          <a:lstStyle/>
          <a:p>
            <a:r>
              <a:rPr lang="en-US" dirty="0"/>
              <a:t>Secretary</a:t>
            </a:r>
          </a:p>
        </p:txBody>
      </p:sp>
      <p:sp>
        <p:nvSpPr>
          <p:cNvPr id="6" name="Content Placeholder 5">
            <a:extLst>
              <a:ext uri="{FF2B5EF4-FFF2-40B4-BE49-F238E27FC236}">
                <a16:creationId xmlns:a16="http://schemas.microsoft.com/office/drawing/2014/main" id="{72A6D14C-FFD5-457E-9D1F-679976D3C11A}"/>
              </a:ext>
            </a:extLst>
          </p:cNvPr>
          <p:cNvSpPr>
            <a:spLocks noGrp="1"/>
          </p:cNvSpPr>
          <p:nvPr>
            <p:ph idx="1"/>
          </p:nvPr>
        </p:nvSpPr>
        <p:spPr/>
        <p:txBody>
          <a:bodyPr/>
          <a:lstStyle/>
          <a:p>
            <a:pPr marL="457200" indent="-457200">
              <a:buFont typeface="+mj-lt"/>
              <a:buAutoNum type="arabicPeriod"/>
            </a:pPr>
            <a:r>
              <a:rPr lang="en-US" dirty="0"/>
              <a:t>Record, preserve, and present for the inspection to any member of the Student Diversity Council, upon request and sufficient notice, all papers, proceedings, rolls of attendance, and other records of the council.</a:t>
            </a:r>
          </a:p>
          <a:p>
            <a:pPr marL="457200" indent="-457200">
              <a:buFont typeface="+mj-lt"/>
              <a:buAutoNum type="arabicPeriod"/>
            </a:pPr>
            <a:r>
              <a:rPr lang="en-US" dirty="0"/>
              <a:t>Circulate to the campus community information concerning campus- wide diversity activities.</a:t>
            </a:r>
          </a:p>
          <a:p>
            <a:pPr marL="457200" indent="-457200">
              <a:buFont typeface="+mj-lt"/>
              <a:buAutoNum type="arabicPeriod"/>
            </a:pPr>
            <a:r>
              <a:rPr lang="en-US" dirty="0"/>
              <a:t>Chair publicity committee.</a:t>
            </a:r>
          </a:p>
        </p:txBody>
      </p:sp>
    </p:spTree>
    <p:extLst>
      <p:ext uri="{BB962C8B-B14F-4D97-AF65-F5344CB8AC3E}">
        <p14:creationId xmlns:p14="http://schemas.microsoft.com/office/powerpoint/2010/main" val="3098481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7D8A5-5A1B-4BA1-9D89-45A280647F42}"/>
              </a:ext>
            </a:extLst>
          </p:cNvPr>
          <p:cNvSpPr>
            <a:spLocks noGrp="1"/>
          </p:cNvSpPr>
          <p:nvPr>
            <p:ph type="title"/>
          </p:nvPr>
        </p:nvSpPr>
        <p:spPr/>
        <p:txBody>
          <a:bodyPr/>
          <a:lstStyle/>
          <a:p>
            <a:r>
              <a:rPr lang="en-US" dirty="0"/>
              <a:t>How To</a:t>
            </a:r>
          </a:p>
        </p:txBody>
      </p:sp>
      <p:sp>
        <p:nvSpPr>
          <p:cNvPr id="3" name="Content Placeholder 2">
            <a:extLst>
              <a:ext uri="{FF2B5EF4-FFF2-40B4-BE49-F238E27FC236}">
                <a16:creationId xmlns:a16="http://schemas.microsoft.com/office/drawing/2014/main" id="{E66B77D8-2302-43F5-82C4-7D9CA8CA1B8F}"/>
              </a:ext>
            </a:extLst>
          </p:cNvPr>
          <p:cNvSpPr>
            <a:spLocks noGrp="1"/>
          </p:cNvSpPr>
          <p:nvPr>
            <p:ph idx="1"/>
          </p:nvPr>
        </p:nvSpPr>
        <p:spPr/>
        <p:txBody>
          <a:bodyPr>
            <a:normAutofit lnSpcReduction="10000"/>
          </a:bodyPr>
          <a:lstStyle/>
          <a:p>
            <a:pPr marL="457200" indent="-457200">
              <a:buFont typeface="+mj-lt"/>
              <a:buAutoNum type="arabicPeriod"/>
            </a:pPr>
            <a:r>
              <a:rPr lang="en-US" dirty="0"/>
              <a:t>Create/ Edit organization groups on Outlook.</a:t>
            </a:r>
          </a:p>
          <a:p>
            <a:pPr marL="457200" indent="-457200">
              <a:buFont typeface="+mj-lt"/>
              <a:buAutoNum type="arabicPeriod"/>
            </a:pPr>
            <a:r>
              <a:rPr lang="en-US" dirty="0"/>
              <a:t>Keep minutes for organization meetings.</a:t>
            </a:r>
          </a:p>
          <a:p>
            <a:pPr lvl="1">
              <a:buFont typeface="Wingdings" panose="05000000000000000000" pitchFamily="2" charset="2"/>
              <a:buChar char="§"/>
            </a:pPr>
            <a:r>
              <a:rPr lang="en-US" dirty="0"/>
              <a:t>Google Docs, Outlook, etc.</a:t>
            </a:r>
          </a:p>
          <a:p>
            <a:pPr marL="457200" indent="-457200">
              <a:buFont typeface="+mj-lt"/>
              <a:buAutoNum type="arabicPeriod"/>
            </a:pPr>
            <a:r>
              <a:rPr lang="en-US" dirty="0"/>
              <a:t>Upload minutes to </a:t>
            </a:r>
            <a:r>
              <a:rPr lang="en-US" dirty="0" err="1"/>
              <a:t>SyncDIN</a:t>
            </a:r>
            <a:r>
              <a:rPr lang="en-US" dirty="0"/>
              <a:t>.</a:t>
            </a:r>
          </a:p>
          <a:p>
            <a:pPr marL="457200" indent="-457200">
              <a:buFont typeface="+mj-lt"/>
              <a:buAutoNum type="arabicPeriod"/>
            </a:pPr>
            <a:r>
              <a:rPr lang="en-US" dirty="0"/>
              <a:t>Draft efficient emails to your organization.</a:t>
            </a:r>
          </a:p>
          <a:p>
            <a:pPr marL="457200" indent="-457200">
              <a:buFont typeface="+mj-lt"/>
              <a:buAutoNum type="arabicPeriod"/>
            </a:pPr>
            <a:r>
              <a:rPr lang="en-US" dirty="0"/>
              <a:t>Create a calendar for your organization.</a:t>
            </a:r>
          </a:p>
          <a:p>
            <a:pPr marL="457200" indent="-457200">
              <a:buFont typeface="+mj-lt"/>
              <a:buAutoNum type="arabicPeriod"/>
            </a:pPr>
            <a:r>
              <a:rPr lang="en-US" dirty="0"/>
              <a:t>Draft emails to campus faculty, staff, and students.</a:t>
            </a:r>
          </a:p>
          <a:p>
            <a:pPr marL="457200" indent="-457200">
              <a:buFont typeface="+mj-lt"/>
              <a:buAutoNum type="arabicPeriod"/>
            </a:pPr>
            <a:endParaRPr lang="en-US" dirty="0"/>
          </a:p>
        </p:txBody>
      </p:sp>
      <p:sp>
        <p:nvSpPr>
          <p:cNvPr id="4" name="TextBox 3">
            <a:extLst>
              <a:ext uri="{FF2B5EF4-FFF2-40B4-BE49-F238E27FC236}">
                <a16:creationId xmlns:a16="http://schemas.microsoft.com/office/drawing/2014/main" id="{2D4294F6-7D17-4911-89F1-8C33001C9654}"/>
              </a:ext>
            </a:extLst>
          </p:cNvPr>
          <p:cNvSpPr txBox="1"/>
          <p:nvPr/>
        </p:nvSpPr>
        <p:spPr>
          <a:xfrm>
            <a:off x="1003610" y="982132"/>
            <a:ext cx="2542478" cy="369332"/>
          </a:xfrm>
          <a:prstGeom prst="rect">
            <a:avLst/>
          </a:prstGeom>
          <a:noFill/>
        </p:spPr>
        <p:txBody>
          <a:bodyPr wrap="square" rtlCol="0">
            <a:spAutoFit/>
          </a:bodyPr>
          <a:lstStyle/>
          <a:p>
            <a:r>
              <a:rPr lang="en-US" dirty="0"/>
              <a:t>Secretary</a:t>
            </a:r>
          </a:p>
        </p:txBody>
      </p:sp>
    </p:spTree>
    <p:extLst>
      <p:ext uri="{BB962C8B-B14F-4D97-AF65-F5344CB8AC3E}">
        <p14:creationId xmlns:p14="http://schemas.microsoft.com/office/powerpoint/2010/main" val="3358788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BC188-2126-4F63-90FB-ACB121050389}"/>
              </a:ext>
            </a:extLst>
          </p:cNvPr>
          <p:cNvSpPr>
            <a:spLocks noGrp="1"/>
          </p:cNvSpPr>
          <p:nvPr>
            <p:ph type="title"/>
          </p:nvPr>
        </p:nvSpPr>
        <p:spPr/>
        <p:txBody>
          <a:bodyPr/>
          <a:lstStyle/>
          <a:p>
            <a:r>
              <a:rPr lang="en-US" dirty="0" err="1"/>
              <a:t>SDC</a:t>
            </a:r>
            <a:r>
              <a:rPr lang="en-US" dirty="0"/>
              <a:t> Representative</a:t>
            </a:r>
          </a:p>
        </p:txBody>
      </p:sp>
      <p:sp>
        <p:nvSpPr>
          <p:cNvPr id="3" name="Content Placeholder 2">
            <a:extLst>
              <a:ext uri="{FF2B5EF4-FFF2-40B4-BE49-F238E27FC236}">
                <a16:creationId xmlns:a16="http://schemas.microsoft.com/office/drawing/2014/main" id="{BC0E9612-9F69-41A2-9631-3BEC25B407C9}"/>
              </a:ext>
            </a:extLst>
          </p:cNvPr>
          <p:cNvSpPr>
            <a:spLocks noGrp="1"/>
          </p:cNvSpPr>
          <p:nvPr>
            <p:ph idx="1"/>
          </p:nvPr>
        </p:nvSpPr>
        <p:spPr/>
        <p:txBody>
          <a:bodyPr>
            <a:normAutofit fontScale="70000" lnSpcReduction="20000"/>
          </a:bodyPr>
          <a:lstStyle/>
          <a:p>
            <a:pPr marL="457200" lvl="0" indent="-457200">
              <a:buFont typeface="+mj-lt"/>
              <a:buAutoNum type="arabicPeriod"/>
            </a:pPr>
            <a:r>
              <a:rPr lang="en-US" dirty="0"/>
              <a:t>Attend all Student Diversity Council meetings. </a:t>
            </a:r>
          </a:p>
          <a:p>
            <a:pPr marL="457200" lvl="0" indent="-457200">
              <a:buFont typeface="+mj-lt"/>
              <a:buAutoNum type="arabicPeriod"/>
            </a:pPr>
            <a:r>
              <a:rPr lang="en-US" dirty="0"/>
              <a:t>Provide weekly updates from their respective organization. </a:t>
            </a:r>
          </a:p>
          <a:p>
            <a:pPr marL="457200" lvl="0" indent="-457200">
              <a:buFont typeface="+mj-lt"/>
              <a:buAutoNum type="arabicPeriod"/>
            </a:pPr>
            <a:r>
              <a:rPr lang="en-US" dirty="0"/>
              <a:t>Update the President of their organization of any amendments, votes, and pertinent information from the Council.</a:t>
            </a:r>
          </a:p>
          <a:p>
            <a:pPr marL="457200" lvl="0" indent="-457200">
              <a:buFont typeface="+mj-lt"/>
              <a:buAutoNum type="arabicPeriod"/>
            </a:pPr>
            <a:r>
              <a:rPr lang="en-US" dirty="0"/>
              <a:t>Provide a programming schedule for the following term at the Fall and Spring sessions. </a:t>
            </a:r>
          </a:p>
          <a:p>
            <a:pPr marL="457200" indent="-457200">
              <a:buFont typeface="+mj-lt"/>
              <a:buAutoNum type="arabicPeriod"/>
            </a:pPr>
            <a:r>
              <a:rPr lang="en-US" dirty="0"/>
              <a:t>Initiate inter-organization coordination and dialogue. </a:t>
            </a:r>
          </a:p>
          <a:p>
            <a:pPr marL="457200" lvl="0" indent="-457200">
              <a:buFont typeface="+mj-lt"/>
              <a:buAutoNum type="arabicPeriod"/>
            </a:pPr>
            <a:r>
              <a:rPr lang="en-US" dirty="0"/>
              <a:t>Be an active member of their respective diversity organization.</a:t>
            </a:r>
          </a:p>
          <a:p>
            <a:pPr marL="457200" lvl="0" indent="-457200">
              <a:buFont typeface="+mj-lt"/>
              <a:buAutoNum type="arabicPeriod"/>
            </a:pPr>
            <a:r>
              <a:rPr lang="en-US" dirty="0"/>
              <a:t>Agree to attend training/ retreats in the fall and spring terms.</a:t>
            </a:r>
          </a:p>
          <a:p>
            <a:pPr marL="457200" lvl="0" indent="-457200">
              <a:buFont typeface="+mj-lt"/>
              <a:buAutoNum type="arabicPeriod"/>
            </a:pPr>
            <a:r>
              <a:rPr lang="en-US" dirty="0"/>
              <a:t>Be informed about the events and activities taking place within their respective organization. </a:t>
            </a:r>
          </a:p>
          <a:p>
            <a:pPr marL="457200" lvl="0" indent="-457200">
              <a:buFont typeface="+mj-lt"/>
              <a:buAutoNum type="arabicPeriod"/>
            </a:pPr>
            <a:r>
              <a:rPr lang="en-US" dirty="0"/>
              <a:t>Act as a bridge between the Student Diversity Council and their respective organizations.</a:t>
            </a:r>
          </a:p>
          <a:p>
            <a:pPr marL="457200" indent="-457200">
              <a:buFont typeface="+mj-lt"/>
              <a:buAutoNum type="arabicPeriod"/>
            </a:pPr>
            <a:endParaRPr lang="en-US" dirty="0"/>
          </a:p>
        </p:txBody>
      </p:sp>
    </p:spTree>
    <p:extLst>
      <p:ext uri="{BB962C8B-B14F-4D97-AF65-F5344CB8AC3E}">
        <p14:creationId xmlns:p14="http://schemas.microsoft.com/office/powerpoint/2010/main" val="3190097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BC188-2126-4F63-90FB-ACB121050389}"/>
              </a:ext>
            </a:extLst>
          </p:cNvPr>
          <p:cNvSpPr>
            <a:spLocks noGrp="1"/>
          </p:cNvSpPr>
          <p:nvPr>
            <p:ph type="title"/>
          </p:nvPr>
        </p:nvSpPr>
        <p:spPr/>
        <p:txBody>
          <a:bodyPr/>
          <a:lstStyle/>
          <a:p>
            <a:r>
              <a:rPr lang="en-US" dirty="0" err="1"/>
              <a:t>SDC</a:t>
            </a:r>
            <a:r>
              <a:rPr lang="en-US" dirty="0"/>
              <a:t> Representative</a:t>
            </a:r>
          </a:p>
        </p:txBody>
      </p:sp>
      <p:sp>
        <p:nvSpPr>
          <p:cNvPr id="3" name="Content Placeholder 2">
            <a:extLst>
              <a:ext uri="{FF2B5EF4-FFF2-40B4-BE49-F238E27FC236}">
                <a16:creationId xmlns:a16="http://schemas.microsoft.com/office/drawing/2014/main" id="{BC0E9612-9F69-41A2-9631-3BEC25B407C9}"/>
              </a:ext>
            </a:extLst>
          </p:cNvPr>
          <p:cNvSpPr>
            <a:spLocks noGrp="1"/>
          </p:cNvSpPr>
          <p:nvPr>
            <p:ph idx="1"/>
          </p:nvPr>
        </p:nvSpPr>
        <p:spPr/>
        <p:txBody>
          <a:bodyPr>
            <a:normAutofit fontScale="92500" lnSpcReduction="20000"/>
          </a:bodyPr>
          <a:lstStyle/>
          <a:p>
            <a:pPr marL="457200" indent="-457200">
              <a:buFont typeface="+mj-lt"/>
              <a:buAutoNum type="arabicPeriod" startAt="10"/>
            </a:pPr>
            <a:r>
              <a:rPr lang="en-US" dirty="0"/>
              <a:t>Provide each spring a description of their diversity organization officers list (including their Student Diversity Council representative), meeting times, and the meeting place of their group for the next fall term by the deadline determined by the Executive Committee. </a:t>
            </a:r>
          </a:p>
          <a:p>
            <a:pPr marL="457200" indent="-457200">
              <a:buFont typeface="+mj-lt"/>
              <a:buAutoNum type="arabicPeriod" startAt="10"/>
            </a:pPr>
            <a:r>
              <a:rPr lang="en-US" dirty="0"/>
              <a:t>Furnish the Vice President with an updated copy of their constitution by the third meeting of the fall term. </a:t>
            </a:r>
          </a:p>
          <a:p>
            <a:pPr marL="457200" indent="-457200">
              <a:buFont typeface="+mj-lt"/>
              <a:buAutoNum type="arabicPeriod" startAt="10"/>
            </a:pPr>
            <a:r>
              <a:rPr lang="en-US" dirty="0"/>
              <a:t>Be present at every meeting of the Student Diversity Council. </a:t>
            </a:r>
          </a:p>
          <a:p>
            <a:pPr marL="457200" indent="-457200">
              <a:buFont typeface="+mj-lt"/>
              <a:buAutoNum type="arabicPeriod" startAt="10"/>
            </a:pPr>
            <a:r>
              <a:rPr lang="en-US" dirty="0"/>
              <a:t>Abide by the guidelines set forth by Student Diversity Council.</a:t>
            </a:r>
          </a:p>
          <a:p>
            <a:pPr marL="457200" indent="-457200">
              <a:buFont typeface="+mj-lt"/>
              <a:buAutoNum type="arabicPeriod" startAt="10"/>
            </a:pPr>
            <a:r>
              <a:rPr lang="en-US" dirty="0"/>
              <a:t>Serve as a voting member of the Student Diversity Council.</a:t>
            </a:r>
          </a:p>
          <a:p>
            <a:pPr marL="457200" indent="-457200">
              <a:buFont typeface="+mj-lt"/>
              <a:buAutoNum type="arabicPeriod" startAt="10"/>
            </a:pPr>
            <a:endParaRPr lang="en-US" dirty="0"/>
          </a:p>
        </p:txBody>
      </p:sp>
    </p:spTree>
    <p:extLst>
      <p:ext uri="{BB962C8B-B14F-4D97-AF65-F5344CB8AC3E}">
        <p14:creationId xmlns:p14="http://schemas.microsoft.com/office/powerpoint/2010/main" val="4068106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4F577-EB90-4044-B35F-139A2804E9D6}"/>
              </a:ext>
            </a:extLst>
          </p:cNvPr>
          <p:cNvSpPr>
            <a:spLocks noGrp="1"/>
          </p:cNvSpPr>
          <p:nvPr>
            <p:ph type="title"/>
          </p:nvPr>
        </p:nvSpPr>
        <p:spPr/>
        <p:txBody>
          <a:bodyPr/>
          <a:lstStyle/>
          <a:p>
            <a:r>
              <a:rPr lang="en-US" b="1" dirty="0"/>
              <a:t>Notice</a:t>
            </a:r>
          </a:p>
        </p:txBody>
      </p:sp>
      <p:sp>
        <p:nvSpPr>
          <p:cNvPr id="3" name="Content Placeholder 2">
            <a:extLst>
              <a:ext uri="{FF2B5EF4-FFF2-40B4-BE49-F238E27FC236}">
                <a16:creationId xmlns:a16="http://schemas.microsoft.com/office/drawing/2014/main" id="{2E546BAE-E38E-466A-A3B4-6D4AC2F90F69}"/>
              </a:ext>
            </a:extLst>
          </p:cNvPr>
          <p:cNvSpPr>
            <a:spLocks noGrp="1"/>
          </p:cNvSpPr>
          <p:nvPr>
            <p:ph idx="1"/>
          </p:nvPr>
        </p:nvSpPr>
        <p:spPr/>
        <p:txBody>
          <a:bodyPr>
            <a:normAutofit fontScale="77500" lnSpcReduction="20000"/>
          </a:bodyPr>
          <a:lstStyle/>
          <a:p>
            <a:r>
              <a:rPr lang="en-US" dirty="0"/>
              <a:t>Any organization whose representative is absent for more than two consecutive meetings a term or which is found in violation of the responsibilities set forth will no longer be considered a member in good standing. </a:t>
            </a:r>
          </a:p>
          <a:p>
            <a:r>
              <a:rPr lang="en-US" b="1" dirty="0">
                <a:solidFill>
                  <a:srgbClr val="FF0000"/>
                </a:solidFill>
              </a:rPr>
              <a:t>The Executive Committee may freeze funding for an organization found not to be in good standing after consultation with Associate Director of Student Activities for Diversity Engagement and the leaders of the offending organization</a:t>
            </a:r>
            <a:r>
              <a:rPr lang="en-US" dirty="0"/>
              <a:t>. The Student Diversity Council must be notified immediately of any action to freeze funding, but no motion to reinstate funding will be entertained until the offending organization sends a representative for two consecutive meetings. Organizations may send substitute representatives in case of the necessary absence of their normal representative. In the event that no representative for an organization is present for an entire term, that organization may have its constitution revoked by a majority vote of the full council. If a representative is not present for an entire academic year, that organization’s constitution will be automatically revoked. </a:t>
            </a:r>
          </a:p>
          <a:p>
            <a:endParaRPr lang="en-US" dirty="0"/>
          </a:p>
        </p:txBody>
      </p:sp>
    </p:spTree>
    <p:extLst>
      <p:ext uri="{BB962C8B-B14F-4D97-AF65-F5344CB8AC3E}">
        <p14:creationId xmlns:p14="http://schemas.microsoft.com/office/powerpoint/2010/main" val="5716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F4519-4B94-4CC3-AEDC-89F5B008861A}"/>
              </a:ext>
            </a:extLst>
          </p:cNvPr>
          <p:cNvSpPr>
            <a:spLocks noGrp="1"/>
          </p:cNvSpPr>
          <p:nvPr>
            <p:ph type="title"/>
          </p:nvPr>
        </p:nvSpPr>
        <p:spPr/>
        <p:txBody>
          <a:bodyPr/>
          <a:lstStyle/>
          <a:p>
            <a:r>
              <a:rPr lang="en-US" dirty="0"/>
              <a:t>How To</a:t>
            </a:r>
          </a:p>
        </p:txBody>
      </p:sp>
      <p:sp>
        <p:nvSpPr>
          <p:cNvPr id="3" name="Content Placeholder 2">
            <a:extLst>
              <a:ext uri="{FF2B5EF4-FFF2-40B4-BE49-F238E27FC236}">
                <a16:creationId xmlns:a16="http://schemas.microsoft.com/office/drawing/2014/main" id="{E9CABFF8-C0B9-4DB2-A044-4290725E30A2}"/>
              </a:ext>
            </a:extLst>
          </p:cNvPr>
          <p:cNvSpPr>
            <a:spLocks noGrp="1"/>
          </p:cNvSpPr>
          <p:nvPr>
            <p:ph idx="1"/>
          </p:nvPr>
        </p:nvSpPr>
        <p:spPr/>
        <p:txBody>
          <a:bodyPr/>
          <a:lstStyle/>
          <a:p>
            <a:pPr marL="457200" indent="-457200">
              <a:buFont typeface="+mj-lt"/>
              <a:buAutoNum type="arabicPeriod"/>
            </a:pPr>
            <a:r>
              <a:rPr lang="en-US" dirty="0"/>
              <a:t>Report </a:t>
            </a:r>
            <a:r>
              <a:rPr lang="en-US" dirty="0" err="1"/>
              <a:t>SDC</a:t>
            </a:r>
            <a:r>
              <a:rPr lang="en-US" dirty="0"/>
              <a:t>-related updates to your organization.</a:t>
            </a:r>
          </a:p>
          <a:p>
            <a:pPr marL="457200" indent="-457200">
              <a:buFont typeface="+mj-lt"/>
              <a:buAutoNum type="arabicPeriod"/>
            </a:pPr>
            <a:r>
              <a:rPr lang="en-US" dirty="0"/>
              <a:t>Report your organization updates to </a:t>
            </a:r>
            <a:r>
              <a:rPr lang="en-US" dirty="0" err="1"/>
              <a:t>SDC</a:t>
            </a:r>
            <a:r>
              <a:rPr lang="en-US" dirty="0"/>
              <a:t>.</a:t>
            </a:r>
          </a:p>
          <a:p>
            <a:pPr marL="457200" indent="-457200">
              <a:buFont typeface="+mj-lt"/>
              <a:buAutoNum type="arabicPeriod"/>
            </a:pPr>
            <a:r>
              <a:rPr lang="en-US" dirty="0"/>
              <a:t>Step up/ Step Back.</a:t>
            </a:r>
          </a:p>
        </p:txBody>
      </p:sp>
    </p:spTree>
    <p:extLst>
      <p:ext uri="{BB962C8B-B14F-4D97-AF65-F5344CB8AC3E}">
        <p14:creationId xmlns:p14="http://schemas.microsoft.com/office/powerpoint/2010/main" val="3245426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E392-52F5-46DC-B436-7D9A98BBA006}"/>
              </a:ext>
            </a:extLst>
          </p:cNvPr>
          <p:cNvSpPr>
            <a:spLocks noGrp="1"/>
          </p:cNvSpPr>
          <p:nvPr>
            <p:ph type="ctrTitle"/>
          </p:nvPr>
        </p:nvSpPr>
        <p:spPr/>
        <p:txBody>
          <a:bodyPr/>
          <a:lstStyle/>
          <a:p>
            <a:r>
              <a:rPr lang="en-US" dirty="0"/>
              <a:t>Questions?</a:t>
            </a:r>
          </a:p>
        </p:txBody>
      </p:sp>
    </p:spTree>
    <p:extLst>
      <p:ext uri="{BB962C8B-B14F-4D97-AF65-F5344CB8AC3E}">
        <p14:creationId xmlns:p14="http://schemas.microsoft.com/office/powerpoint/2010/main" val="356258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AB16-3972-47A9-B8EA-1BF459ED22DF}"/>
              </a:ext>
            </a:extLst>
          </p:cNvPr>
          <p:cNvSpPr>
            <a:spLocks noGrp="1"/>
          </p:cNvSpPr>
          <p:nvPr>
            <p:ph type="title"/>
          </p:nvPr>
        </p:nvSpPr>
        <p:spPr/>
        <p:txBody>
          <a:bodyPr/>
          <a:lstStyle/>
          <a:p>
            <a:r>
              <a:rPr lang="en-US" dirty="0"/>
              <a:t>Simulations</a:t>
            </a:r>
          </a:p>
        </p:txBody>
      </p:sp>
      <p:sp>
        <p:nvSpPr>
          <p:cNvPr id="3" name="Content Placeholder 2">
            <a:extLst>
              <a:ext uri="{FF2B5EF4-FFF2-40B4-BE49-F238E27FC236}">
                <a16:creationId xmlns:a16="http://schemas.microsoft.com/office/drawing/2014/main" id="{73C77030-5A7C-4349-8FBA-11DC52140910}"/>
              </a:ext>
            </a:extLst>
          </p:cNvPr>
          <p:cNvSpPr>
            <a:spLocks noGrp="1"/>
          </p:cNvSpPr>
          <p:nvPr>
            <p:ph idx="1"/>
          </p:nvPr>
        </p:nvSpPr>
        <p:spPr/>
        <p:txBody>
          <a:bodyPr>
            <a:normAutofit lnSpcReduction="10000"/>
          </a:bodyPr>
          <a:lstStyle/>
          <a:p>
            <a:r>
              <a:rPr lang="en-US" dirty="0"/>
              <a:t>Secretary</a:t>
            </a:r>
          </a:p>
          <a:p>
            <a:pPr lvl="1"/>
            <a:r>
              <a:rPr lang="en-US" dirty="0"/>
              <a:t>We will re-enact an </a:t>
            </a:r>
            <a:r>
              <a:rPr lang="en-US" dirty="0" err="1"/>
              <a:t>SDC</a:t>
            </a:r>
            <a:r>
              <a:rPr lang="en-US" dirty="0"/>
              <a:t> Council meeting using a previous agenda. Please keep the minutes for the meeting and draft an email to the council group with the minutes in the email.</a:t>
            </a:r>
          </a:p>
          <a:p>
            <a:r>
              <a:rPr lang="en-US" dirty="0" err="1"/>
              <a:t>SDC</a:t>
            </a:r>
            <a:r>
              <a:rPr lang="en-US" dirty="0"/>
              <a:t> Representative</a:t>
            </a:r>
          </a:p>
          <a:p>
            <a:pPr lvl="1"/>
            <a:r>
              <a:rPr lang="en-US" dirty="0"/>
              <a:t>Listen to the agenda, there will be moments where I ask for volunteers or opinions from the Council. Act as if your position has already began in your organization and provide feedback.</a:t>
            </a:r>
          </a:p>
          <a:p>
            <a:pPr lvl="1"/>
            <a:r>
              <a:rPr lang="en-US" dirty="0"/>
              <a:t>Report out 3 things happening in your organization (Yes, you can make them up)</a:t>
            </a:r>
          </a:p>
        </p:txBody>
      </p:sp>
    </p:spTree>
    <p:extLst>
      <p:ext uri="{BB962C8B-B14F-4D97-AF65-F5344CB8AC3E}">
        <p14:creationId xmlns:p14="http://schemas.microsoft.com/office/powerpoint/2010/main" val="2992911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E392-52F5-46DC-B436-7D9A98BBA006}"/>
              </a:ext>
            </a:extLst>
          </p:cNvPr>
          <p:cNvSpPr>
            <a:spLocks noGrp="1"/>
          </p:cNvSpPr>
          <p:nvPr>
            <p:ph type="ctrTitle"/>
          </p:nvPr>
        </p:nvSpPr>
        <p:spPr/>
        <p:txBody>
          <a:bodyPr/>
          <a:lstStyle/>
          <a:p>
            <a:r>
              <a:rPr lang="en-US" dirty="0"/>
              <a:t>Questions?</a:t>
            </a:r>
          </a:p>
        </p:txBody>
      </p:sp>
    </p:spTree>
    <p:extLst>
      <p:ext uri="{BB962C8B-B14F-4D97-AF65-F5344CB8AC3E}">
        <p14:creationId xmlns:p14="http://schemas.microsoft.com/office/powerpoint/2010/main" val="3779665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34E0-ADD4-441B-8325-AFA2B9DF22AA}"/>
              </a:ext>
            </a:extLst>
          </p:cNvPr>
          <p:cNvSpPr>
            <a:spLocks noGrp="1"/>
          </p:cNvSpPr>
          <p:nvPr>
            <p:ph type="ctrTitle"/>
          </p:nvPr>
        </p:nvSpPr>
        <p:spPr/>
        <p:txBody>
          <a:bodyPr/>
          <a:lstStyle/>
          <a:p>
            <a:r>
              <a:rPr lang="en-US" dirty="0" err="1"/>
              <a:t>SDC</a:t>
            </a:r>
            <a:r>
              <a:rPr lang="en-US" dirty="0"/>
              <a:t> Officer Transition Training</a:t>
            </a:r>
          </a:p>
        </p:txBody>
      </p:sp>
      <p:sp>
        <p:nvSpPr>
          <p:cNvPr id="3" name="Subtitle 2">
            <a:extLst>
              <a:ext uri="{FF2B5EF4-FFF2-40B4-BE49-F238E27FC236}">
                <a16:creationId xmlns:a16="http://schemas.microsoft.com/office/drawing/2014/main" id="{D1979669-7D55-44AF-BE10-6D7D9D15CB98}"/>
              </a:ext>
            </a:extLst>
          </p:cNvPr>
          <p:cNvSpPr>
            <a:spLocks noGrp="1"/>
          </p:cNvSpPr>
          <p:nvPr>
            <p:ph type="subTitle" idx="1"/>
          </p:nvPr>
        </p:nvSpPr>
        <p:spPr/>
        <p:txBody>
          <a:bodyPr/>
          <a:lstStyle/>
          <a:p>
            <a:r>
              <a:rPr lang="en-US" dirty="0"/>
              <a:t>2018-2019 Officer Preparation</a:t>
            </a:r>
          </a:p>
        </p:txBody>
      </p:sp>
    </p:spTree>
    <p:extLst>
      <p:ext uri="{BB962C8B-B14F-4D97-AF65-F5344CB8AC3E}">
        <p14:creationId xmlns:p14="http://schemas.microsoft.com/office/powerpoint/2010/main" val="112088963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332</TotalTime>
  <Words>878</Words>
  <Application>Microsoft Office PowerPoint</Application>
  <PresentationFormat>Widescreen</PresentationFormat>
  <Paragraphs>75</Paragraphs>
  <Slides>14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Garamond</vt:lpstr>
      <vt:lpstr>Wingdings</vt:lpstr>
      <vt:lpstr>Organic</vt:lpstr>
      <vt:lpstr>SDC Officer Transition Training</vt:lpstr>
      <vt:lpstr>Training Agenda</vt:lpstr>
      <vt:lpstr>Background: Student Diversity Council</vt:lpstr>
      <vt:lpstr>SDC Organization Affiliation</vt:lpstr>
      <vt:lpstr>Secretary</vt:lpstr>
      <vt:lpstr>How To</vt:lpstr>
      <vt:lpstr>SDC Representative</vt:lpstr>
      <vt:lpstr>SDC Representative</vt:lpstr>
      <vt:lpstr>Notice</vt:lpstr>
      <vt:lpstr>How To</vt:lpstr>
      <vt:lpstr>Questions?</vt:lpstr>
      <vt:lpstr>Simulations</vt:lpstr>
      <vt:lpstr>Questions?</vt:lpstr>
      <vt:lpstr>SDC Officer Transition Training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SDC Officer Transition Training</dc:title>
  <dc:creator>Chelsea Joseph-Student</dc:creator>
  <cp:lastModifiedBy>Chelsea Joseph-Student</cp:lastModifiedBy>
  <cp:revision>38</cp:revision>
  <cp:lastPrinted>2018-04-07T10:00:05Z</cp:lastPrinted>
  <dcterms:created xsi:type="dcterms:W3CDTF">2018-04-07T05:56:01Z</dcterms:created>
  <dcterms:modified xsi:type="dcterms:W3CDTF">2018-04-20T15:47:01Z</dcterms:modified>
</cp:coreProperties>
</file>