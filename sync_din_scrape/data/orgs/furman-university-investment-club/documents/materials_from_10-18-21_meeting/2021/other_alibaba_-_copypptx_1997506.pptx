
<file path=[Content_Types].xml><?xml version="1.0" encoding="utf-8"?>
<Types xmlns="http://schemas.openxmlformats.org/package/2006/content-types">
  <Default ContentType="image/jpeg" Extension="jpg"/>
  <Default ContentType="application/vnd.openxmlformats-package.relationships+xml" Extension="rels"/>
  <Default ContentType="image/png" Extension="png"/>
  <Default ContentType="application/xml" Extension="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1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3.xml"/>
  <Override ContentType="application/vnd.openxmlformats-officedocument.theme+xml" PartName="/ppt/theme/theme2.xml"/>
  <Override ContentType="application/vnd.openxmlformats-officedocument.theme+xml" PartName="/ppt/theme/theme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2.xml"/>
  <Override ContentType="application/vnd.openxmlformats-officedocument.presentationml.slide+xml" PartName="/ppt/slides/slide9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18.xml"/>
  <Override ContentType="application/vnd.openxmlformats-officedocument.presentationml.slide+xml" PartName="/ppt/slides/slide15.xml"/>
  <Override ContentType="application/vnd.openxmlformats-officedocument.presentationml.slide+xml" PartName="/ppt/slides/slide7.xml"/>
  <Override ContentType="application/vnd.openxmlformats-officedocument.presentationml.slide+xml" PartName="/ppt/slides/slide17.xml"/>
  <Override ContentType="application/vnd.openxmlformats-officedocument.presentationml.slide+xml" PartName="/ppt/slides/slide8.xml"/>
  <Override ContentType="application/vnd.openxmlformats-officedocument.presentationml.slide+xml" PartName="/ppt/slides/slide19.xml"/>
  <Override ContentType="application/vnd.openxmlformats-officedocument.presentationml.slide+xml" PartName="/ppt/slides/slide4.xml"/>
  <Override ContentType="application/vnd.openxmlformats-officedocument.presentationml.slide+xml" PartName="/ppt/slides/slide10.xml"/>
  <Override ContentType="application/vnd.openxmlformats-officedocument.presentationml.slide+xml" PartName="/ppt/slides/slide14.xml"/>
  <Override ContentType="application/vnd.openxmlformats-officedocument.presentationml.slide+xml" PartName="/ppt/slides/slide11.xml"/>
  <Override ContentType="application/vnd.openxmlformats-officedocument.presentationml.slide+xml" PartName="/ppt/slides/slide5.xml"/>
  <Override ContentType="application/vnd.openxmlformats-officedocument.presentationml.slide+xml" PartName="/ppt/slides/slide22.xml"/>
  <Override ContentType="application/vnd.openxmlformats-officedocument.presentationml.tableStyles+xml" PartName="/ppt/tableStyle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autoCompressPictures="0" strictFirstAndLastChars="0" saveSubsetFonts="1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defaultTextStyle>
    <a:defPPr marR="0" rtl="0" algn="l">
      <a:lnSpc>
        <a:spcPct val="100000"/>
      </a:lnSpc>
      <a:spcBef>
        <a:spcPts val="0"/>
      </a:spcBef>
      <a:spcAft>
        <a:spcPts val="0"/>
      </a:spcAft>
    </a:defPPr>
    <a:lvl1pPr marR="0" rtl="0" algn="l">
      <a:lnSpc>
        <a:spcPct val="100000"/>
      </a:lnSpc>
      <a:spcBef>
        <a:spcPts val="0"/>
      </a:spcBef>
      <a:spcAft>
        <a:spcPts val="0"/>
      </a:spcAft>
      <a:buNone/>
      <a:defRPr b="0" baseline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marR="0" rtl="0" algn="l">
      <a:lnSpc>
        <a:spcPct val="100000"/>
      </a:lnSpc>
      <a:spcBef>
        <a:spcPts val="0"/>
      </a:spcBef>
      <a:spcAft>
        <a:spcPts val="0"/>
      </a:spcAft>
      <a:buNone/>
      <a:defRPr b="0" baseline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marR="0" rtl="0" algn="l">
      <a:lnSpc>
        <a:spcPct val="100000"/>
      </a:lnSpc>
      <a:spcBef>
        <a:spcPts val="0"/>
      </a:spcBef>
      <a:spcAft>
        <a:spcPts val="0"/>
      </a:spcAft>
      <a:buNone/>
      <a:defRPr b="0" baseline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marR="0" rtl="0" algn="l">
      <a:lnSpc>
        <a:spcPct val="100000"/>
      </a:lnSpc>
      <a:spcBef>
        <a:spcPts val="0"/>
      </a:spcBef>
      <a:spcAft>
        <a:spcPts val="0"/>
      </a:spcAft>
      <a:buNone/>
      <a:defRPr b="0" baseline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marR="0" rtl="0" algn="l">
      <a:lnSpc>
        <a:spcPct val="100000"/>
      </a:lnSpc>
      <a:spcBef>
        <a:spcPts val="0"/>
      </a:spcBef>
      <a:spcAft>
        <a:spcPts val="0"/>
      </a:spcAft>
      <a:buNone/>
      <a:defRPr b="0" baseline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marR="0" rtl="0" algn="l">
      <a:lnSpc>
        <a:spcPct val="100000"/>
      </a:lnSpc>
      <a:spcBef>
        <a:spcPts val="0"/>
      </a:spcBef>
      <a:spcAft>
        <a:spcPts val="0"/>
      </a:spcAft>
      <a:buNone/>
      <a:defRPr b="0" baseline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marR="0" rtl="0" algn="l">
      <a:lnSpc>
        <a:spcPct val="100000"/>
      </a:lnSpc>
      <a:spcBef>
        <a:spcPts val="0"/>
      </a:spcBef>
      <a:spcAft>
        <a:spcPts val="0"/>
      </a:spcAft>
      <a:buNone/>
      <a:defRPr b="0" baseline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marR="0" rtl="0" algn="l">
      <a:lnSpc>
        <a:spcPct val="100000"/>
      </a:lnSpc>
      <a:spcBef>
        <a:spcPts val="0"/>
      </a:spcBef>
      <a:spcAft>
        <a:spcPts val="0"/>
      </a:spcAft>
      <a:buNone/>
      <a:defRPr b="0" baseline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marR="0" rtl="0" algn="l">
      <a:lnSpc>
        <a:spcPct val="100000"/>
      </a:lnSpc>
      <a:spcBef>
        <a:spcPts val="0"/>
      </a:spcBef>
      <a:spcAft>
        <a:spcPts val="0"/>
      </a:spcAft>
      <a:buNone/>
      <a:defRPr b="0" baseline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tableStyles.xml><?xml version="1.0" encoding="utf-8"?>
<a:tblStyleLst xmlns:a="http://schemas.openxmlformats.org/drawingml/2006/main" xmlns:r="http://schemas.openxmlformats.org/officeDocument/2006/relationships" def="{90651C3A-4460-11DB-9652-00E08161165F}"/>
</file>

<file path=ppt/_rels/presentation.xml.rels><?xml version="1.0" encoding="UTF-8" standalone="yes"?><Relationships xmlns="http://schemas.openxmlformats.org/package/2006/relationships"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schemas.openxmlformats.org/officeDocument/2006/relationships/slide" Target="slides/slide22.xml"/><Relationship Id="rId2" Type="http://schemas.openxmlformats.org/officeDocument/2006/relationships/presProps" Target="presProps.xml"/><Relationship Id="rId21" Type="http://schemas.openxmlformats.org/officeDocument/2006/relationships/slide" Target="slides/slide16.xml"/><Relationship Id="rId1" Type="http://schemas.openxmlformats.org/officeDocument/2006/relationships/theme" Target="theme/theme3.xml"/><Relationship Id="rId22" Type="http://schemas.openxmlformats.org/officeDocument/2006/relationships/slide" Target="slides/slide17.xml"/><Relationship Id="rId4" Type="http://schemas.openxmlformats.org/officeDocument/2006/relationships/slideMaster" Target="slideMasters/slideMaster1.xml"/><Relationship Id="rId23" Type="http://schemas.openxmlformats.org/officeDocument/2006/relationships/slide" Target="slides/slide18.xml"/><Relationship Id="rId3" Type="http://schemas.openxmlformats.org/officeDocument/2006/relationships/tableStyles" Target="tableStyles.xml"/><Relationship Id="rId24" Type="http://schemas.openxmlformats.org/officeDocument/2006/relationships/slide" Target="slides/slide19.xml"/><Relationship Id="rId20" Type="http://schemas.openxmlformats.org/officeDocument/2006/relationships/slide" Target="slides/slide15.xml"/><Relationship Id="rId9" Type="http://schemas.openxmlformats.org/officeDocument/2006/relationships/slide" Target="slides/slide4.xml"/><Relationship Id="rId6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8" Type="http://schemas.openxmlformats.org/officeDocument/2006/relationships/slide" Target="slides/slide3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" name="Shape 3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>
              <a:spcBef>
                <a:spcPts val="0"/>
              </a:spcBef>
              <a:defRPr sz="1100"/>
            </a:lvl1pPr>
            <a:lvl2pPr>
              <a:spcBef>
                <a:spcPts val="0"/>
              </a:spcBef>
              <a:defRPr sz="1100"/>
            </a:lvl2pPr>
            <a:lvl3pPr>
              <a:spcBef>
                <a:spcPts val="0"/>
              </a:spcBef>
              <a:defRPr sz="1100"/>
            </a:lvl3pPr>
            <a:lvl4pPr>
              <a:spcBef>
                <a:spcPts val="0"/>
              </a:spcBef>
              <a:defRPr sz="1100"/>
            </a:lvl4pPr>
            <a:lvl5pPr>
              <a:spcBef>
                <a:spcPts val="0"/>
              </a:spcBef>
              <a:defRPr sz="1100"/>
            </a:lvl5pPr>
            <a:lvl6pPr>
              <a:spcBef>
                <a:spcPts val="0"/>
              </a:spcBef>
              <a:defRPr sz="1100"/>
            </a:lvl6pPr>
            <a:lvl7pPr>
              <a:spcBef>
                <a:spcPts val="0"/>
              </a:spcBef>
              <a:defRPr sz="1100"/>
            </a:lvl7pPr>
            <a:lvl8pPr>
              <a:spcBef>
                <a:spcPts val="0"/>
              </a:spcBef>
              <a:defRPr sz="1100"/>
            </a:lvl8pPr>
            <a:lvl9pPr>
              <a:spcBef>
                <a:spcPts val="0"/>
              </a:spcBef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5" name="Shape 3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1" name="Shape 41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8" name="Shape 48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4" name="Shape 5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0" name="Shape 60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8" name="Shape 68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4" name="Shape 7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0" name="Shape 80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7" name="Shape 87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3" name="Shape 93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9" name="Shape 9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5" name="Shape 10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1" name="Shape 111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9" name="Shape 11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4" name="Shape 12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2" name="Shape 132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8" name="Shape 138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5" name="Shape 14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2" name="Shape 152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8" name="Shape 158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4" name="Shape 16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70" name="Shape 170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Slid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 txBox="1"/>
          <p:nvPr>
            <p:ph type="ctrTitle"/>
          </p:nvPr>
        </p:nvSpPr>
        <p:spPr>
          <a:xfrm>
            <a:off x="457200" y="563759"/>
            <a:ext cx="8229600" cy="30096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>
              <a:spcBef>
                <a:spcPts val="0"/>
              </a:spcBef>
              <a:buSzPct val="100000"/>
              <a:defRPr sz="7200"/>
            </a:lvl1pPr>
            <a:lvl2pPr>
              <a:spcBef>
                <a:spcPts val="0"/>
              </a:spcBef>
              <a:buSzPct val="100000"/>
              <a:defRPr sz="7200"/>
            </a:lvl2pPr>
            <a:lvl3pPr>
              <a:spcBef>
                <a:spcPts val="0"/>
              </a:spcBef>
              <a:buSzPct val="100000"/>
              <a:defRPr sz="7200"/>
            </a:lvl3pPr>
            <a:lvl4pPr>
              <a:spcBef>
                <a:spcPts val="0"/>
              </a:spcBef>
              <a:buSzPct val="100000"/>
              <a:defRPr sz="7200"/>
            </a:lvl4pPr>
            <a:lvl5pPr>
              <a:spcBef>
                <a:spcPts val="0"/>
              </a:spcBef>
              <a:buSzPct val="100000"/>
              <a:defRPr sz="7200"/>
            </a:lvl5pPr>
            <a:lvl6pPr>
              <a:spcBef>
                <a:spcPts val="0"/>
              </a:spcBef>
              <a:buSzPct val="100000"/>
              <a:defRPr sz="7200"/>
            </a:lvl6pPr>
            <a:lvl7pPr>
              <a:spcBef>
                <a:spcPts val="0"/>
              </a:spcBef>
              <a:buSzPct val="100000"/>
              <a:defRPr sz="7200"/>
            </a:lvl7pPr>
            <a:lvl8pPr>
              <a:spcBef>
                <a:spcPts val="0"/>
              </a:spcBef>
              <a:buSzPct val="100000"/>
              <a:defRPr sz="7200"/>
            </a:lvl8pPr>
            <a:lvl9pPr>
              <a:spcBef>
                <a:spcPts val="0"/>
              </a:spcBef>
              <a:buSzPct val="100000"/>
              <a:defRPr sz="7200"/>
            </a:lvl9pPr>
          </a:lstStyle>
          <a:p/>
        </p:txBody>
      </p:sp>
      <p:sp>
        <p:nvSpPr>
          <p:cNvPr id="10" name="Shape 10"/>
          <p:cNvSpPr txBox="1"/>
          <p:nvPr>
            <p:ph idx="1" type="subTitle"/>
          </p:nvPr>
        </p:nvSpPr>
        <p:spPr>
          <a:xfrm>
            <a:off x="457200" y="3716392"/>
            <a:ext cx="8229600" cy="1232699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>
              <a:spcBef>
                <a:spcPts val="0"/>
              </a:spcBef>
              <a:buClr>
                <a:schemeClr val="dk2"/>
              </a:buClr>
              <a:buSzPct val="100000"/>
              <a:buNone/>
              <a:defRPr sz="4800">
                <a:solidFill>
                  <a:schemeClr val="dk2"/>
                </a:solidFill>
              </a:defRPr>
            </a:lvl1pPr>
            <a:lvl2pPr>
              <a:spcBef>
                <a:spcPts val="0"/>
              </a:spcBef>
              <a:buClr>
                <a:schemeClr val="dk2"/>
              </a:buClr>
              <a:buSzPct val="100000"/>
              <a:buNone/>
              <a:defRPr sz="4800">
                <a:solidFill>
                  <a:schemeClr val="dk2"/>
                </a:solidFill>
              </a:defRPr>
            </a:lvl2pPr>
            <a:lvl3pPr>
              <a:spcBef>
                <a:spcPts val="0"/>
              </a:spcBef>
              <a:buClr>
                <a:schemeClr val="dk2"/>
              </a:buClr>
              <a:buSzPct val="100000"/>
              <a:buNone/>
              <a:defRPr sz="4800">
                <a:solidFill>
                  <a:schemeClr val="dk2"/>
                </a:solidFill>
              </a:defRPr>
            </a:lvl3pPr>
            <a:lvl4pPr>
              <a:spcBef>
                <a:spcPts val="0"/>
              </a:spcBef>
              <a:buClr>
                <a:schemeClr val="dk2"/>
              </a:buClr>
              <a:buSzPct val="100000"/>
              <a:buNone/>
              <a:defRPr sz="4800">
                <a:solidFill>
                  <a:schemeClr val="dk2"/>
                </a:solidFill>
              </a:defRPr>
            </a:lvl4pPr>
            <a:lvl5pPr>
              <a:spcBef>
                <a:spcPts val="0"/>
              </a:spcBef>
              <a:buClr>
                <a:schemeClr val="dk2"/>
              </a:buClr>
              <a:buSzPct val="100000"/>
              <a:buNone/>
              <a:defRPr sz="4800">
                <a:solidFill>
                  <a:schemeClr val="dk2"/>
                </a:solidFill>
              </a:defRPr>
            </a:lvl5pPr>
            <a:lvl6pPr>
              <a:spcBef>
                <a:spcPts val="0"/>
              </a:spcBef>
              <a:buClr>
                <a:schemeClr val="dk2"/>
              </a:buClr>
              <a:buSzPct val="100000"/>
              <a:buNone/>
              <a:defRPr sz="4800">
                <a:solidFill>
                  <a:schemeClr val="dk2"/>
                </a:solidFill>
              </a:defRPr>
            </a:lvl6pPr>
            <a:lvl7pPr>
              <a:spcBef>
                <a:spcPts val="0"/>
              </a:spcBef>
              <a:buClr>
                <a:schemeClr val="dk2"/>
              </a:buClr>
              <a:buSzPct val="100000"/>
              <a:buNone/>
              <a:defRPr sz="4800">
                <a:solidFill>
                  <a:schemeClr val="dk2"/>
                </a:solidFill>
              </a:defRPr>
            </a:lvl7pPr>
            <a:lvl8pPr>
              <a:spcBef>
                <a:spcPts val="0"/>
              </a:spcBef>
              <a:buClr>
                <a:schemeClr val="dk2"/>
              </a:buClr>
              <a:buSzPct val="100000"/>
              <a:buNone/>
              <a:defRPr sz="4800">
                <a:solidFill>
                  <a:schemeClr val="dk2"/>
                </a:solidFill>
              </a:defRPr>
            </a:lvl8pPr>
            <a:lvl9pPr>
              <a:spcBef>
                <a:spcPts val="0"/>
              </a:spcBef>
              <a:buClr>
                <a:schemeClr val="dk2"/>
              </a:buClr>
              <a:buSzPct val="100000"/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1" name="Shape 11"/>
          <p:cNvCxnSpPr/>
          <p:nvPr/>
        </p:nvCxnSpPr>
        <p:spPr>
          <a:xfrm>
            <a:off x="457200" y="411479"/>
            <a:ext cx="8229600" cy="0"/>
          </a:xfrm>
          <a:prstGeom prst="straightConnector1">
            <a:avLst/>
          </a:prstGeom>
          <a:noFill/>
          <a:ln cap="flat" w="571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" name="Shape 12"/>
          <p:cNvCxnSpPr/>
          <p:nvPr/>
        </p:nvCxnSpPr>
        <p:spPr>
          <a:xfrm>
            <a:off x="457200" y="3633382"/>
            <a:ext cx="8229600" cy="0"/>
          </a:xfrm>
          <a:prstGeom prst="straightConnector1">
            <a:avLst/>
          </a:prstGeom>
          <a:noFill/>
          <a:ln cap="flat" w="571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x">
  <p:cSld name="Title and 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>
              <a:spcBef>
                <a:spcPts val="0"/>
              </a:spcBef>
              <a:defRPr>
                <a:solidFill>
                  <a:srgbClr val="DA0002"/>
                </a:solidFill>
              </a:defRPr>
            </a:lvl1pPr>
            <a:lvl2pPr>
              <a:spcBef>
                <a:spcPts val="0"/>
              </a:spcBef>
              <a:defRPr>
                <a:solidFill>
                  <a:srgbClr val="DA0002"/>
                </a:solidFill>
              </a:defRPr>
            </a:lvl2pPr>
            <a:lvl3pPr>
              <a:spcBef>
                <a:spcPts val="0"/>
              </a:spcBef>
              <a:defRPr>
                <a:solidFill>
                  <a:srgbClr val="DA0002"/>
                </a:solidFill>
              </a:defRPr>
            </a:lvl3pPr>
            <a:lvl4pPr>
              <a:spcBef>
                <a:spcPts val="0"/>
              </a:spcBef>
              <a:defRPr>
                <a:solidFill>
                  <a:srgbClr val="DA0002"/>
                </a:solidFill>
              </a:defRPr>
            </a:lvl4pPr>
            <a:lvl5pPr>
              <a:spcBef>
                <a:spcPts val="0"/>
              </a:spcBef>
              <a:defRPr>
                <a:solidFill>
                  <a:srgbClr val="DA0002"/>
                </a:solidFill>
              </a:defRPr>
            </a:lvl5pPr>
            <a:lvl6pPr>
              <a:spcBef>
                <a:spcPts val="0"/>
              </a:spcBef>
              <a:defRPr>
                <a:solidFill>
                  <a:srgbClr val="DA0002"/>
                </a:solidFill>
              </a:defRPr>
            </a:lvl6pPr>
            <a:lvl7pPr>
              <a:spcBef>
                <a:spcPts val="0"/>
              </a:spcBef>
              <a:defRPr>
                <a:solidFill>
                  <a:srgbClr val="DA0002"/>
                </a:solidFill>
              </a:defRPr>
            </a:lvl7pPr>
            <a:lvl8pPr>
              <a:spcBef>
                <a:spcPts val="0"/>
              </a:spcBef>
              <a:defRPr>
                <a:solidFill>
                  <a:srgbClr val="DA0002"/>
                </a:solidFill>
              </a:defRPr>
            </a:lvl8pPr>
            <a:lvl9pPr>
              <a:spcBef>
                <a:spcPts val="0"/>
              </a:spcBef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15" name="Shape 15"/>
          <p:cNvSpPr txBox="1"/>
          <p:nvPr>
            <p:ph idx="1" type="body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/>
        </p:txBody>
      </p:sp>
      <p:cxnSp>
        <p:nvCxnSpPr>
          <p:cNvPr id="16" name="Shape 16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w="50800">
            <a:solidFill>
              <a:srgbClr val="DA000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ColTx">
  <p:cSld name="Title and Two 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>
              <a:spcBef>
                <a:spcPts val="0"/>
              </a:spcBef>
              <a:defRPr>
                <a:solidFill>
                  <a:srgbClr val="DA0002"/>
                </a:solidFill>
              </a:defRPr>
            </a:lvl1pPr>
            <a:lvl2pPr>
              <a:spcBef>
                <a:spcPts val="0"/>
              </a:spcBef>
              <a:defRPr>
                <a:solidFill>
                  <a:srgbClr val="DA0002"/>
                </a:solidFill>
              </a:defRPr>
            </a:lvl2pPr>
            <a:lvl3pPr>
              <a:spcBef>
                <a:spcPts val="0"/>
              </a:spcBef>
              <a:defRPr>
                <a:solidFill>
                  <a:srgbClr val="DA0002"/>
                </a:solidFill>
              </a:defRPr>
            </a:lvl3pPr>
            <a:lvl4pPr>
              <a:spcBef>
                <a:spcPts val="0"/>
              </a:spcBef>
              <a:defRPr>
                <a:solidFill>
                  <a:srgbClr val="DA0002"/>
                </a:solidFill>
              </a:defRPr>
            </a:lvl4pPr>
            <a:lvl5pPr>
              <a:spcBef>
                <a:spcPts val="0"/>
              </a:spcBef>
              <a:defRPr>
                <a:solidFill>
                  <a:srgbClr val="DA0002"/>
                </a:solidFill>
              </a:defRPr>
            </a:lvl5pPr>
            <a:lvl6pPr>
              <a:spcBef>
                <a:spcPts val="0"/>
              </a:spcBef>
              <a:defRPr>
                <a:solidFill>
                  <a:srgbClr val="DA0002"/>
                </a:solidFill>
              </a:defRPr>
            </a:lvl6pPr>
            <a:lvl7pPr>
              <a:spcBef>
                <a:spcPts val="0"/>
              </a:spcBef>
              <a:defRPr>
                <a:solidFill>
                  <a:srgbClr val="DA0002"/>
                </a:solidFill>
              </a:defRPr>
            </a:lvl7pPr>
            <a:lvl8pPr>
              <a:spcBef>
                <a:spcPts val="0"/>
              </a:spcBef>
              <a:defRPr>
                <a:solidFill>
                  <a:srgbClr val="DA0002"/>
                </a:solidFill>
              </a:defRPr>
            </a:lvl8pPr>
            <a:lvl9pPr>
              <a:spcBef>
                <a:spcPts val="0"/>
              </a:spcBef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19" name="Shape 19"/>
          <p:cNvSpPr txBox="1"/>
          <p:nvPr>
            <p:ph idx="1" type="body"/>
          </p:nvPr>
        </p:nvSpPr>
        <p:spPr>
          <a:xfrm>
            <a:off x="457200" y="1200150"/>
            <a:ext cx="3994500" cy="3725699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/>
        </p:txBody>
      </p:sp>
      <p:sp>
        <p:nvSpPr>
          <p:cNvPr id="20" name="Shape 20"/>
          <p:cNvSpPr txBox="1"/>
          <p:nvPr>
            <p:ph idx="2" type="body"/>
          </p:nvPr>
        </p:nvSpPr>
        <p:spPr>
          <a:xfrm>
            <a:off x="4692273" y="1200150"/>
            <a:ext cx="3994500" cy="3725699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/>
        </p:txBody>
      </p:sp>
      <p:cxnSp>
        <p:nvCxnSpPr>
          <p:cNvPr id="21" name="Shape 21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w="50800">
            <a:solidFill>
              <a:srgbClr val="DA000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Only">
  <p:cSld name="Title 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/>
        </p:txBody>
      </p:sp>
      <p:cxnSp>
        <p:nvCxnSpPr>
          <p:cNvPr id="24" name="Shape 24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w="508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Caption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/>
          <p:nvPr>
            <p:ph idx="1" type="body"/>
          </p:nvPr>
        </p:nvSpPr>
        <p:spPr>
          <a:xfrm>
            <a:off x="457200" y="4406309"/>
            <a:ext cx="8229600" cy="519599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algn="ctr">
              <a:spcBef>
                <a:spcPts val="0"/>
              </a:spcBef>
              <a:buSzPct val="100000"/>
              <a:buNone/>
              <a:defRPr sz="1800"/>
            </a:lvl1pPr>
          </a:lstStyle>
          <a:p/>
        </p:txBody>
      </p:sp>
      <p:cxnSp>
        <p:nvCxnSpPr>
          <p:cNvPr id="27" name="Shape 27"/>
          <p:cNvCxnSpPr/>
          <p:nvPr/>
        </p:nvCxnSpPr>
        <p:spPr>
          <a:xfrm>
            <a:off x="457200" y="4317760"/>
            <a:ext cx="8229600" cy="0"/>
          </a:xfrm>
          <a:prstGeom prst="straightConnector1">
            <a:avLst/>
          </a:prstGeom>
          <a:noFill/>
          <a:ln cap="flat" w="508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hape 29"/>
          <p:cNvCxnSpPr/>
          <p:nvPr/>
        </p:nvCxnSpPr>
        <p:spPr>
          <a:xfrm>
            <a:off x="457200" y="113139"/>
            <a:ext cx="8229600" cy="0"/>
          </a:xfrm>
          <a:prstGeom prst="straightConnector1">
            <a:avLst/>
          </a:prstGeom>
          <a:noFill/>
          <a:ln cap="flat" w="508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4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>
              <a:spcBef>
                <a:spcPts val="0"/>
              </a:spcBef>
              <a:buClr>
                <a:schemeClr val="accent1"/>
              </a:buClr>
              <a:buSzPct val="100000"/>
              <a:buNone/>
              <a:defRPr b="1" sz="3600">
                <a:solidFill>
                  <a:schemeClr val="accent1"/>
                </a:solidFill>
              </a:defRPr>
            </a:lvl1pPr>
            <a:lvl2pPr>
              <a:spcBef>
                <a:spcPts val="0"/>
              </a:spcBef>
              <a:buClr>
                <a:schemeClr val="accent1"/>
              </a:buClr>
              <a:buSzPct val="100000"/>
              <a:buNone/>
              <a:defRPr b="1" sz="3600">
                <a:solidFill>
                  <a:schemeClr val="accent1"/>
                </a:solidFill>
              </a:defRPr>
            </a:lvl2pPr>
            <a:lvl3pPr>
              <a:spcBef>
                <a:spcPts val="0"/>
              </a:spcBef>
              <a:buClr>
                <a:schemeClr val="accent1"/>
              </a:buClr>
              <a:buSzPct val="100000"/>
              <a:buNone/>
              <a:defRPr b="1" sz="3600">
                <a:solidFill>
                  <a:schemeClr val="accent1"/>
                </a:solidFill>
              </a:defRPr>
            </a:lvl3pPr>
            <a:lvl4pPr>
              <a:spcBef>
                <a:spcPts val="0"/>
              </a:spcBef>
              <a:buClr>
                <a:schemeClr val="accent1"/>
              </a:buClr>
              <a:buSzPct val="100000"/>
              <a:buNone/>
              <a:defRPr b="1" sz="3600">
                <a:solidFill>
                  <a:schemeClr val="accent1"/>
                </a:solidFill>
              </a:defRPr>
            </a:lvl4pPr>
            <a:lvl5pPr>
              <a:spcBef>
                <a:spcPts val="0"/>
              </a:spcBef>
              <a:buClr>
                <a:schemeClr val="accent1"/>
              </a:buClr>
              <a:buSzPct val="100000"/>
              <a:buNone/>
              <a:defRPr b="1" sz="3600">
                <a:solidFill>
                  <a:schemeClr val="accent1"/>
                </a:solidFill>
              </a:defRPr>
            </a:lvl5pPr>
            <a:lvl6pPr>
              <a:spcBef>
                <a:spcPts val="0"/>
              </a:spcBef>
              <a:buClr>
                <a:schemeClr val="accent1"/>
              </a:buClr>
              <a:buSzPct val="100000"/>
              <a:buNone/>
              <a:defRPr b="1" sz="3600">
                <a:solidFill>
                  <a:schemeClr val="accent1"/>
                </a:solidFill>
              </a:defRPr>
            </a:lvl6pPr>
            <a:lvl7pPr>
              <a:spcBef>
                <a:spcPts val="0"/>
              </a:spcBef>
              <a:buClr>
                <a:schemeClr val="accent1"/>
              </a:buClr>
              <a:buSzPct val="100000"/>
              <a:buNone/>
              <a:defRPr b="1" sz="3600">
                <a:solidFill>
                  <a:schemeClr val="accent1"/>
                </a:solidFill>
              </a:defRPr>
            </a:lvl7pPr>
            <a:lvl8pPr>
              <a:spcBef>
                <a:spcPts val="0"/>
              </a:spcBef>
              <a:buClr>
                <a:schemeClr val="accent1"/>
              </a:buClr>
              <a:buSzPct val="100000"/>
              <a:buNone/>
              <a:defRPr b="1" sz="3600">
                <a:solidFill>
                  <a:schemeClr val="accent1"/>
                </a:solidFill>
              </a:defRPr>
            </a:lvl8pPr>
            <a:lvl9pPr>
              <a:spcBef>
                <a:spcPts val="0"/>
              </a:spcBef>
              <a:buClr>
                <a:schemeClr val="accent1"/>
              </a:buClr>
              <a:buSzPct val="100000"/>
              <a:buNone/>
              <a:defRPr b="1" sz="3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" name="Shape 6"/>
          <p:cNvSpPr txBox="1"/>
          <p:nvPr>
            <p:ph idx="1" type="body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>
              <a:spcBef>
                <a:spcPts val="600"/>
              </a:spcBef>
              <a:buClr>
                <a:schemeClr val="dk1"/>
              </a:buClr>
              <a:buSzPct val="100000"/>
              <a:defRPr sz="3000">
                <a:solidFill>
                  <a:schemeClr val="dk1"/>
                </a:solidFill>
              </a:defRPr>
            </a:lvl1pPr>
            <a:lvl2pPr>
              <a:spcBef>
                <a:spcPts val="480"/>
              </a:spcBef>
              <a:buClr>
                <a:schemeClr val="dk1"/>
              </a:buClr>
              <a:buSzPct val="100000"/>
              <a:defRPr sz="2400">
                <a:solidFill>
                  <a:schemeClr val="dk1"/>
                </a:solidFill>
              </a:defRPr>
            </a:lvl2pPr>
            <a:lvl3pPr>
              <a:spcBef>
                <a:spcPts val="480"/>
              </a:spcBef>
              <a:buClr>
                <a:schemeClr val="dk1"/>
              </a:buClr>
              <a:buSzPct val="100000"/>
              <a:defRPr sz="2400">
                <a:solidFill>
                  <a:schemeClr val="dk1"/>
                </a:solidFill>
              </a:defRPr>
            </a:lvl3pPr>
            <a:lvl4pPr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4pPr>
            <a:lvl5pPr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5pPr>
            <a:lvl6pPr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6pPr>
            <a:lvl7pPr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7pPr>
            <a:lvl8pPr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8pPr>
            <a:lvl9pPr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7" name="Shape 7"/>
          <p:cNvCxnSpPr/>
          <p:nvPr/>
        </p:nvCxnSpPr>
        <p:spPr>
          <a:xfrm>
            <a:off x="457200" y="5023259"/>
            <a:ext cx="8229600" cy="0"/>
          </a:xfrm>
          <a:prstGeom prst="straightConnector1">
            <a:avLst/>
          </a:prstGeom>
          <a:noFill/>
          <a:ln cap="flat" w="508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marR="0" rtl="0" algn="l">
        <a:lnSpc>
          <a:spcPct val="100000"/>
        </a:lnSpc>
        <a:spcBef>
          <a:spcPts val="0"/>
        </a:spcBef>
        <a:spcAft>
          <a:spcPts val="0"/>
        </a:spcAft>
      </a:defPPr>
      <a:lvl1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marR="0" rtl="0" algn="l">
        <a:lnSpc>
          <a:spcPct val="100000"/>
        </a:lnSpc>
        <a:spcBef>
          <a:spcPts val="0"/>
        </a:spcBef>
        <a:spcAft>
          <a:spcPts val="0"/>
        </a:spcAft>
      </a:defPPr>
      <a:lvl1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rtl="0" algn="l">
        <a:lnSpc>
          <a:spcPct val="100000"/>
        </a:lnSpc>
        <a:spcBef>
          <a:spcPts val="0"/>
        </a:spcBef>
        <a:spcAft>
          <a:spcPts val="0"/>
        </a:spcAft>
      </a:defPPr>
      <a:lvl1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06.png"/></Relationships>
</file>

<file path=ppt/slides/_rels/slide6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01.jpg"/><Relationship Id="rId3" Type="http://schemas.openxmlformats.org/officeDocument/2006/relationships/image" Target="../media/image00.jpg"/></Relationships>
</file>

<file path=ppt/slides/_rels/slide7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02.jpg"/></Relationships>
</file>

<file path=ppt/slides/_rels/slide8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05.png"/><Relationship Id="rId3" Type="http://schemas.openxmlformats.org/officeDocument/2006/relationships/image" Target="../media/image09.png"/><Relationship Id="rId6" Type="http://schemas.openxmlformats.org/officeDocument/2006/relationships/image" Target="../media/image04.png"/><Relationship Id="rId5" Type="http://schemas.openxmlformats.org/officeDocument/2006/relationships/image" Target="../media/image03.png"/></Relationships>
</file>

<file path=ppt/slides/_rels/slide15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08.png"/></Relationships>
</file>

<file path=ppt/slides/_rels/slide16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07.png"/></Relationships>
</file>

<file path=ppt/slides/_rels/slide17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3" Type="http://schemas.openxmlformats.org/officeDocument/2006/relationships/hyperlink" Target="http://www.marketwatch.com/story/amazon-reports-another-loss-despite-strong-sales-2014-07-24" TargetMode="External"/></Relationships>
</file>

<file path=ppt/slides/_rels/slide22.xml.rels><?xml version="1.0" encoding="UTF-8" standalone="yes"?>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/>
          <p:nvPr>
            <p:ph type="ctrTitle"/>
          </p:nvPr>
        </p:nvSpPr>
        <p:spPr>
          <a:xfrm>
            <a:off x="457200" y="469709"/>
            <a:ext cx="8229600" cy="30096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rtl="0">
              <a:spcBef>
                <a:spcPts val="0"/>
              </a:spcBef>
              <a:buNone/>
            </a:pPr>
            <a:r>
              <a:rPr lang="en"/>
              <a:t>Alibaba </a:t>
            </a:r>
          </a:p>
          <a:p>
            <a:pPr rtl="0">
              <a:spcBef>
                <a:spcPts val="0"/>
              </a:spcBef>
              <a:buNone/>
            </a:pPr>
            <a:r>
              <a:rPr lang="en" sz="1800"/>
              <a:t>Overview </a:t>
            </a:r>
          </a:p>
          <a:p>
            <a:pPr rtl="0">
              <a:spcBef>
                <a:spcPts val="0"/>
              </a:spcBef>
              <a:buNone/>
            </a:pPr>
            <a:r>
              <a:rPr lang="en" sz="1800"/>
              <a:t>Business Segments </a:t>
            </a:r>
          </a:p>
          <a:p>
            <a:pPr rtl="0">
              <a:spcBef>
                <a:spcPts val="0"/>
              </a:spcBef>
              <a:buNone/>
            </a:pPr>
            <a:r>
              <a:rPr lang="en" sz="1800"/>
              <a:t>Company Leadership</a:t>
            </a:r>
          </a:p>
          <a:p>
            <a:pPr rtl="0">
              <a:spcBef>
                <a:spcPts val="0"/>
              </a:spcBef>
              <a:buNone/>
            </a:pPr>
            <a:r>
              <a:rPr lang="en" sz="1800"/>
              <a:t>Competition </a:t>
            </a:r>
          </a:p>
          <a:p>
            <a:pPr rtl="0">
              <a:spcBef>
                <a:spcPts val="0"/>
              </a:spcBef>
              <a:buNone/>
            </a:pPr>
            <a:r>
              <a:rPr lang="en" sz="1800"/>
              <a:t>Risk Factors </a:t>
            </a:r>
          </a:p>
          <a:p>
            <a:pPr rtl="0">
              <a:spcBef>
                <a:spcPts val="0"/>
              </a:spcBef>
              <a:buNone/>
            </a:pPr>
            <a:r>
              <a:rPr lang="en" sz="1800"/>
              <a:t>Model</a:t>
            </a:r>
          </a:p>
          <a:p>
            <a:pPr rtl="0">
              <a:spcBef>
                <a:spcPts val="0"/>
              </a:spcBef>
              <a:buNone/>
            </a:pPr>
            <a:r>
              <a:rPr lang="en" sz="1800"/>
              <a:t>Investment Thesis </a:t>
            </a:r>
          </a:p>
          <a:p>
            <a:pPr rtl="0">
              <a:spcBef>
                <a:spcPts val="0"/>
              </a:spcBef>
              <a:buNone/>
            </a:pPr>
            <a:r>
              <a:t/>
            </a:r>
            <a:endParaRPr sz="1800"/>
          </a:p>
          <a:p>
            <a:pPr>
              <a:spcBef>
                <a:spcPts val="0"/>
              </a:spcBef>
              <a:buNone/>
            </a:pPr>
            <a:r>
              <a:t/>
            </a:r>
            <a:endParaRPr sz="1800"/>
          </a:p>
        </p:txBody>
      </p:sp>
      <p:sp>
        <p:nvSpPr>
          <p:cNvPr id="32" name="Shape 32"/>
          <p:cNvSpPr txBox="1"/>
          <p:nvPr>
            <p:ph idx="1" type="subTitle"/>
          </p:nvPr>
        </p:nvSpPr>
        <p:spPr>
          <a:xfrm>
            <a:off x="457200" y="3716392"/>
            <a:ext cx="8229600" cy="1232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rtl="0">
              <a:spcBef>
                <a:spcPts val="0"/>
              </a:spcBef>
              <a:buNone/>
            </a:pPr>
            <a:r>
              <a:rPr lang="en" sz="1400"/>
              <a:t>Chase Johnson</a:t>
            </a:r>
          </a:p>
          <a:p>
            <a:pPr rtl="0">
              <a:spcBef>
                <a:spcPts val="0"/>
              </a:spcBef>
              <a:buNone/>
            </a:pPr>
            <a:r>
              <a:rPr lang="en" sz="1400"/>
              <a:t>Alex Kramer</a:t>
            </a:r>
          </a:p>
          <a:p>
            <a:pPr rtl="0">
              <a:spcBef>
                <a:spcPts val="0"/>
              </a:spcBef>
              <a:buNone/>
            </a:pPr>
            <a:r>
              <a:rPr lang="en" sz="1400"/>
              <a:t>Georquel Goodwin </a:t>
            </a:r>
          </a:p>
          <a:p>
            <a:pPr rtl="0">
              <a:spcBef>
                <a:spcPts val="0"/>
              </a:spcBef>
              <a:buNone/>
            </a:pPr>
            <a:r>
              <a:rPr lang="en" sz="1400"/>
              <a:t>James McDowell</a:t>
            </a:r>
          </a:p>
          <a:p>
            <a:pPr algn="r">
              <a:spcBef>
                <a:spcPts val="0"/>
              </a:spcBef>
              <a:buNone/>
            </a:pPr>
            <a:r>
              <a:rPr lang="en" sz="1400"/>
              <a:t>Sources from: Sec.gov, Alibaba.com, &amp; Wallstreetmojo.com</a:t>
            </a:r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/>
          <p:nvPr>
            <p:ph type="ctrTitle"/>
          </p:nvPr>
        </p:nvSpPr>
        <p:spPr>
          <a:xfrm>
            <a:off x="421350" y="1251323"/>
            <a:ext cx="8229600" cy="3377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317500" lvl="0" marL="457200" rtl="0">
              <a:spcBef>
                <a:spcPts val="600"/>
              </a:spcBef>
              <a:buClr>
                <a:schemeClr val="dk1"/>
              </a:buClr>
              <a:buSzPct val="100000"/>
              <a:buFont typeface="Arial"/>
              <a:buChar char="❖"/>
            </a:pPr>
            <a:r>
              <a:rPr b="0" lang="en" sz="1400">
                <a:solidFill>
                  <a:schemeClr val="dk1"/>
                </a:solidFill>
              </a:rPr>
              <a:t>The mission of  </a:t>
            </a:r>
            <a:r>
              <a:rPr b="0" lang="en" sz="1400">
                <a:solidFill>
                  <a:schemeClr val="dk1"/>
                </a:solidFill>
              </a:rPr>
              <a:t>Alibaba is to make it easy to do business anywhere. </a:t>
            </a:r>
          </a:p>
          <a:p>
            <a:pPr indent="-317500" lvl="1" marL="914400" rtl="0">
              <a:spcBef>
                <a:spcPts val="600"/>
              </a:spcBef>
              <a:buClr>
                <a:schemeClr val="dk1"/>
              </a:buClr>
              <a:buSzPct val="100000"/>
              <a:buFont typeface="Arial"/>
              <a:buChar char="➢"/>
            </a:pPr>
            <a:r>
              <a:rPr b="0" lang="en" sz="1400">
                <a:solidFill>
                  <a:schemeClr val="dk1"/>
                </a:solidFill>
              </a:rPr>
              <a:t>The company’s founders started the company to champion small business through the internet in competition to legitimize a chance to a level “playing field” for enterprises to grow and  compete more effectively in the domestic and global economies with innovation and technology. </a:t>
            </a:r>
          </a:p>
          <a:p>
            <a:pPr indent="-317500" lvl="0" marL="457200" rtl="0">
              <a:spcBef>
                <a:spcPts val="600"/>
              </a:spcBef>
              <a:buClr>
                <a:schemeClr val="dk1"/>
              </a:buClr>
              <a:buSzPct val="100000"/>
              <a:buFont typeface="Arial"/>
              <a:buChar char="❖"/>
            </a:pPr>
            <a:r>
              <a:rPr b="0" lang="en" sz="1400">
                <a:solidFill>
                  <a:schemeClr val="dk1"/>
                </a:solidFill>
              </a:rPr>
              <a:t>The vision of Alibaba is to build the future infrastructure of commerce. We envision that our customers will meet, work and live at Alibaba, and that we will be a company that lasts at least 102 years.</a:t>
            </a:r>
          </a:p>
          <a:p>
            <a:pPr indent="0" lvl="0" marL="457200" rtl="0">
              <a:spcBef>
                <a:spcPts val="600"/>
              </a:spcBef>
              <a:buNone/>
            </a:pPr>
            <a:r>
              <a:t/>
            </a:r>
            <a:endParaRPr b="0" sz="1400">
              <a:solidFill>
                <a:schemeClr val="dk1"/>
              </a:solidFill>
            </a:endParaRPr>
          </a:p>
        </p:txBody>
      </p:sp>
      <p:sp>
        <p:nvSpPr>
          <p:cNvPr id="38" name="Shape 38"/>
          <p:cNvSpPr txBox="1"/>
          <p:nvPr>
            <p:ph idx="1" type="subTitle"/>
          </p:nvPr>
        </p:nvSpPr>
        <p:spPr>
          <a:xfrm>
            <a:off x="421350" y="239592"/>
            <a:ext cx="8229600" cy="1232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rtl="0">
              <a:spcBef>
                <a:spcPts val="0"/>
              </a:spcBef>
              <a:buNone/>
            </a:pPr>
            <a:r>
              <a:rPr lang="en">
                <a:solidFill>
                  <a:schemeClr val="accent1"/>
                </a:solidFill>
              </a:rPr>
              <a:t>Overview - </a:t>
            </a:r>
          </a:p>
          <a:p>
            <a:pPr>
              <a:spcBef>
                <a:spcPts val="0"/>
              </a:spcBef>
              <a:buNone/>
            </a:pPr>
            <a:r>
              <a:rPr lang="en" sz="1200">
                <a:solidFill>
                  <a:schemeClr val="accent1"/>
                </a:solidFill>
              </a:rPr>
              <a:t>The Mission Statement, Vision, and Values </a:t>
            </a:r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Be Passionate about BABA </a:t>
            </a:r>
          </a:p>
        </p:txBody>
      </p:sp>
      <p:sp>
        <p:nvSpPr>
          <p:cNvPr id="44" name="Shape 44"/>
          <p:cNvSpPr txBox="1"/>
          <p:nvPr>
            <p:ph idx="1" type="body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pic>
        <p:nvPicPr>
          <p:cNvPr id="45" name="Shape 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200150"/>
            <a:ext cx="8158125" cy="386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Business Segment </a:t>
            </a:r>
          </a:p>
        </p:txBody>
      </p:sp>
      <p:sp>
        <p:nvSpPr>
          <p:cNvPr id="51" name="Shape 51"/>
          <p:cNvSpPr txBox="1"/>
          <p:nvPr>
            <p:ph idx="1" type="body"/>
          </p:nvPr>
        </p:nvSpPr>
        <p:spPr>
          <a:xfrm>
            <a:off x="457200" y="1015025"/>
            <a:ext cx="8229600" cy="38910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400"/>
              <a:t>Largest mobile commerce company worldwide, operating their marketplace as a platform for 3rd parties. </a:t>
            </a:r>
            <a:r>
              <a:rPr lang="en" sz="1200"/>
              <a:t>(However, they do not engage in direct sales, compete with merchants or hold inventory.)</a:t>
            </a:r>
            <a:r>
              <a:rPr lang="en" sz="1400"/>
              <a:t> </a:t>
            </a:r>
          </a:p>
          <a:p>
            <a:pPr indent="0" marL="0" rtl="0">
              <a:spcBef>
                <a:spcPts val="0"/>
              </a:spcBef>
              <a:buNone/>
            </a:pPr>
            <a:r>
              <a:t/>
            </a:r>
            <a:endParaRPr sz="1400"/>
          </a:p>
          <a:p>
            <a:pPr indent="0" marL="0" rtl="0">
              <a:spcBef>
                <a:spcPts val="0"/>
              </a:spcBef>
              <a:buNone/>
            </a:pPr>
            <a:r>
              <a:rPr lang="en" sz="1400"/>
              <a:t>BABA operates: </a:t>
            </a:r>
          </a:p>
          <a:p>
            <a:pPr indent="-317500" lvl="0" marL="4572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-"/>
            </a:pPr>
            <a:r>
              <a:rPr lang="en" sz="1400"/>
              <a:t>Taobao Marketplace - China’s largest online shopping destination. </a:t>
            </a:r>
          </a:p>
          <a:p>
            <a:pPr indent="-317500" lvl="0" marL="4572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-"/>
            </a:pPr>
            <a:r>
              <a:rPr lang="en" sz="1400"/>
              <a:t>Tmall - China’s largest third-party platform for brands and retailers. </a:t>
            </a:r>
          </a:p>
          <a:p>
            <a:pPr indent="-317500" lvl="0" marL="4572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-"/>
            </a:pPr>
            <a:r>
              <a:rPr lang="en" sz="1400"/>
              <a:t>Juhuasuan - China’s most popular group buying marketplace.</a:t>
            </a:r>
          </a:p>
          <a:p>
            <a:pPr indent="-317500" lvl="0" marL="4572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-"/>
            </a:pPr>
            <a:r>
              <a:rPr lang="en" sz="1400"/>
              <a:t>1688.com - A tremendously active Chinese wholesale shopping resort. </a:t>
            </a:r>
          </a:p>
          <a:p>
            <a:pPr rtl="0">
              <a:spcBef>
                <a:spcPts val="0"/>
              </a:spcBef>
              <a:buNone/>
            </a:pPr>
            <a:r>
              <a:t/>
            </a:r>
            <a:endParaRPr sz="1400"/>
          </a:p>
          <a:p>
            <a:pPr lvl="0" rtl="0">
              <a:spcBef>
                <a:spcPts val="0"/>
              </a:spcBef>
              <a:buNone/>
            </a:pPr>
            <a:r>
              <a:rPr lang="en" sz="1400"/>
              <a:t>With these three marketplaces the company generated $296 billion in 2013. </a:t>
            </a:r>
          </a:p>
          <a:p>
            <a:pPr rtl="0">
              <a:spcBef>
                <a:spcPts val="0"/>
              </a:spcBef>
              <a:buNone/>
            </a:pPr>
            <a:r>
              <a:t/>
            </a:r>
            <a:endParaRPr sz="1400"/>
          </a:p>
          <a:p>
            <a:pPr rtl="0">
              <a:spcBef>
                <a:spcPts val="0"/>
              </a:spcBef>
              <a:buNone/>
            </a:pPr>
            <a:r>
              <a:rPr lang="en" sz="1400"/>
              <a:t>In addition to their retail marketplaces they operate: </a:t>
            </a:r>
          </a:p>
          <a:p>
            <a:pPr indent="-317500" lvl="0" marL="4572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-"/>
            </a:pPr>
            <a:r>
              <a:rPr lang="en" sz="1400"/>
              <a:t>Alibaba.com - China’s global wholesale marketplace in 2013 by revenue.</a:t>
            </a:r>
          </a:p>
          <a:p>
            <a:pPr indent="-317500" lvl="0" marL="4572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-"/>
            </a:pPr>
            <a:r>
              <a:rPr lang="en" sz="1400"/>
              <a:t>Aliexpress - their global consumer market place, providing cloud computing services as well. </a:t>
            </a:r>
          </a:p>
          <a:p>
            <a:pPr indent="457200" rtl="0">
              <a:spcBef>
                <a:spcPts val="0"/>
              </a:spcBef>
              <a:buNone/>
            </a:pPr>
            <a:r>
              <a:t/>
            </a:r>
            <a:endParaRPr sz="1400"/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 sz="1400"/>
          </a:p>
          <a:p>
            <a:pPr>
              <a:spcBef>
                <a:spcPts val="0"/>
              </a:spcBef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Business Segments</a:t>
            </a:r>
          </a:p>
        </p:txBody>
      </p:sp>
      <p:pic>
        <p:nvPicPr>
          <p:cNvPr id="57" name="Shape 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8175" y="1200150"/>
            <a:ext cx="7307649" cy="3858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Sources of Cash Flow </a:t>
            </a:r>
          </a:p>
        </p:txBody>
      </p:sp>
      <p:sp>
        <p:nvSpPr>
          <p:cNvPr id="63" name="Shape 63"/>
          <p:cNvSpPr txBox="1"/>
          <p:nvPr>
            <p:ph idx="1" type="body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pic>
        <p:nvPicPr>
          <p:cNvPr id="64" name="Shape 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475" y="1442100"/>
            <a:ext cx="3943350" cy="287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Shape 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3912" y="1442100"/>
            <a:ext cx="3952875" cy="287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Mobile Monetization 1RMB = .16USD </a:t>
            </a:r>
          </a:p>
        </p:txBody>
      </p:sp>
      <p:pic>
        <p:nvPicPr>
          <p:cNvPr id="71" name="Shape 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6987" y="1200150"/>
            <a:ext cx="5850025" cy="3725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Cloud Computing </a:t>
            </a:r>
          </a:p>
        </p:txBody>
      </p:sp>
      <p:sp>
        <p:nvSpPr>
          <p:cNvPr id="77" name="Shape 77"/>
          <p:cNvSpPr txBox="1"/>
          <p:nvPr>
            <p:ph idx="1" type="body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rtl="0">
              <a:spcBef>
                <a:spcPts val="0"/>
              </a:spcBef>
              <a:buNone/>
            </a:pPr>
            <a:r>
              <a:rPr lang="en" sz="1800"/>
              <a:t>Alibaba offers: </a:t>
            </a:r>
          </a:p>
          <a:p>
            <a:pPr indent="-342900" lvl="0" marL="4572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-"/>
            </a:pPr>
            <a:r>
              <a:rPr lang="en" sz="1800"/>
              <a:t>Cloud computing services </a:t>
            </a:r>
          </a:p>
          <a:p>
            <a:pPr indent="-342900" lvl="0" marL="4572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-"/>
            </a:pPr>
            <a:r>
              <a:rPr lang="en" sz="1800"/>
              <a:t>Elastic computing </a:t>
            </a:r>
          </a:p>
          <a:p>
            <a:pPr indent="-342900" lvl="0" marL="4572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-"/>
            </a:pPr>
            <a:r>
              <a:rPr lang="en" sz="1800"/>
              <a:t>Database services, storage, and large scale cloud computing 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 sz="1800"/>
          </a:p>
          <a:p>
            <a:pPr rtl="0">
              <a:spcBef>
                <a:spcPts val="0"/>
              </a:spcBef>
              <a:buNone/>
            </a:pPr>
            <a:r>
              <a:rPr lang="en" sz="1800"/>
              <a:t>Their large scale computing allows the integration of their platforms, and platforms of others, to enter their ecosystem. (Like Alipay)</a:t>
            </a:r>
          </a:p>
          <a:p>
            <a:pPr indent="457200" rtl="0">
              <a:spcBef>
                <a:spcPts val="0"/>
              </a:spcBef>
              <a:buNone/>
            </a:pPr>
            <a:r>
              <a:rPr lang="en" sz="1800"/>
              <a:t>Users of this interface: sellers to their marketplace, third-party customers, start-up companies in mobile applications, internet gaming, digital entertainment, consumer electronics, financial services, mobile communications, internet infrastructure services, healthcare, and education. </a:t>
            </a:r>
          </a:p>
          <a:p>
            <a:pPr indent="457200" lvl="0" rtl="0">
              <a:spcBef>
                <a:spcPts val="0"/>
              </a:spcBef>
              <a:buNone/>
            </a:pPr>
            <a:r>
              <a:rPr lang="en" sz="1800"/>
              <a:t> </a:t>
            </a:r>
          </a:p>
        </p:txBody>
      </p:sp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Company Leadership </a:t>
            </a:r>
          </a:p>
        </p:txBody>
      </p:sp>
      <p:sp>
        <p:nvSpPr>
          <p:cNvPr id="83" name="Shape 83"/>
          <p:cNvSpPr txBox="1"/>
          <p:nvPr>
            <p:ph idx="1" type="body"/>
          </p:nvPr>
        </p:nvSpPr>
        <p:spPr>
          <a:xfrm>
            <a:off x="457200" y="1200150"/>
            <a:ext cx="8229600" cy="29283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 sz="2400"/>
          </a:p>
        </p:txBody>
      </p:sp>
      <p:pic>
        <p:nvPicPr>
          <p:cNvPr id="84" name="Shape 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200150"/>
            <a:ext cx="8229601" cy="292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Jack Yun Ma - Executive Chairman  </a:t>
            </a:r>
          </a:p>
        </p:txBody>
      </p:sp>
      <p:sp>
        <p:nvSpPr>
          <p:cNvPr id="90" name="Shape 90"/>
          <p:cNvSpPr txBox="1"/>
          <p:nvPr>
            <p:ph idx="1" type="body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342900" lvl="0" marL="4572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-"/>
            </a:pPr>
            <a:r>
              <a:rPr lang="en" sz="1800"/>
              <a:t>Graduated from Hangzhou Teacher’s institute majored in English Education</a:t>
            </a:r>
          </a:p>
          <a:p>
            <a:pPr indent="-342900" lvl="0" marL="4572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-"/>
            </a:pPr>
            <a:r>
              <a:rPr lang="en" sz="1800"/>
              <a:t>Lead Founder - Founded Alibaba in 1999.</a:t>
            </a:r>
            <a:r>
              <a:rPr lang="en" sz="2400"/>
              <a:t> </a:t>
            </a:r>
          </a:p>
          <a:p>
            <a:pPr indent="-342900" lvl="0" marL="4572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-"/>
            </a:pPr>
            <a:r>
              <a:rPr lang="en" sz="1800"/>
              <a:t>Serves on Board of SoftBank corp. </a:t>
            </a:r>
          </a:p>
          <a:p>
            <a:pPr indent="-342900" lvl="0" marL="4572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28571"/>
              <a:buFont typeface="Arial"/>
              <a:buChar char="-"/>
            </a:pPr>
            <a:r>
              <a:rPr lang="en" sz="1400"/>
              <a:t>(A major shareholder &amp; a Japanese corporation listed on the Tokyo Stock Exchange)</a:t>
            </a:r>
          </a:p>
          <a:p>
            <a:pPr indent="-342900" lvl="0" marL="4572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-"/>
            </a:pPr>
            <a:r>
              <a:rPr lang="en" sz="1800"/>
              <a:t>Mr. Ma is also a director of Huayi Brothers Media Corp. </a:t>
            </a:r>
          </a:p>
          <a:p>
            <a:pPr indent="-317500" lvl="0" marL="4572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-"/>
            </a:pPr>
            <a:r>
              <a:rPr lang="en" sz="1400"/>
              <a:t>(An entertainment group in China listed on The Shenzhen Stock Exchange)</a:t>
            </a:r>
          </a:p>
          <a:p>
            <a:pPr indent="-317500" lvl="0" marL="4572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77777"/>
              <a:buFont typeface="Arial"/>
              <a:buChar char="-"/>
            </a:pPr>
            <a:r>
              <a:rPr lang="en" sz="1800"/>
              <a:t>Mr. Ma is also the chair of The Nature Conservancy's China board of directors and a director of its global board of directors. 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t/>
            </a:r>
            <a:endParaRPr sz="1800"/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Joseph C. Tsai - Vice Chairman </a:t>
            </a:r>
          </a:p>
        </p:txBody>
      </p:sp>
      <p:sp>
        <p:nvSpPr>
          <p:cNvPr id="96" name="Shape 96"/>
          <p:cNvSpPr txBox="1"/>
          <p:nvPr>
            <p:ph idx="1" type="body"/>
          </p:nvPr>
        </p:nvSpPr>
        <p:spPr>
          <a:xfrm>
            <a:off x="457200" y="1219675"/>
            <a:ext cx="8229600" cy="3725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342900" lvl="0" marL="4572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-"/>
            </a:pPr>
            <a:r>
              <a:rPr lang="en" sz="1800"/>
              <a:t>Graduated from East Asian Studies from Yale College  - majored in Econ.  </a:t>
            </a:r>
          </a:p>
          <a:p>
            <a:pPr indent="-342900" lvl="0" marL="4572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-"/>
            </a:pPr>
            <a:r>
              <a:rPr lang="en" sz="1800"/>
              <a:t>Went on to receive his juris doctor (JD) from Yale Law School. </a:t>
            </a:r>
          </a:p>
          <a:p>
            <a:pPr indent="-342900" lvl="0" marL="4572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-"/>
            </a:pPr>
            <a:r>
              <a:rPr lang="en" sz="1800"/>
              <a:t>Joined Alibaba in 1999 as a member of the Alibaba founding team.</a:t>
            </a:r>
          </a:p>
          <a:p>
            <a:pPr indent="-342900" lvl="0" marL="4572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-"/>
            </a:pPr>
            <a:r>
              <a:rPr lang="en" sz="1800"/>
              <a:t>Also served as CFO.</a:t>
            </a:r>
          </a:p>
          <a:p>
            <a:pPr indent="-342900" lvl="0" marL="4572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-"/>
            </a:pPr>
            <a:r>
              <a:rPr lang="en" sz="1800"/>
              <a:t>1995-1999, Worked in Hong Kong with Investor AB </a:t>
            </a:r>
          </a:p>
          <a:p>
            <a:pPr indent="-317500" lvl="0" marL="4572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-"/>
            </a:pPr>
            <a:r>
              <a:rPr lang="en" sz="1400"/>
              <a:t>(Investment vehicle of Sweden’s Wallenberg family)</a:t>
            </a:r>
          </a:p>
          <a:p>
            <a:pPr indent="-317500" lvl="0" marL="4572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-"/>
            </a:pPr>
            <a:r>
              <a:rPr lang="en" sz="1400"/>
              <a:t>(Responsible for Asian private equity investments)</a:t>
            </a:r>
          </a:p>
          <a:p>
            <a:pPr indent="-317500" lvl="0" marL="4572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77777"/>
              <a:buFont typeface="Arial"/>
              <a:buChar char="-"/>
            </a:pPr>
            <a:r>
              <a:rPr lang="en" sz="1800"/>
              <a:t>Before that he was vice president and general counsel of Rosecliff, Inc.</a:t>
            </a:r>
          </a:p>
          <a:p>
            <a:pPr indent="-317500" lvl="0" marL="4572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-"/>
            </a:pPr>
            <a:r>
              <a:rPr lang="en" sz="1400"/>
              <a:t>(A management buyout firm based in New York)</a:t>
            </a:r>
          </a:p>
          <a:p>
            <a:pPr indent="-342900" lvl="0" marL="4572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-"/>
            </a:pPr>
            <a:r>
              <a:rPr lang="en" sz="1800"/>
              <a:t>1990 - 1993, Worked as associate attorney in the tax group of Sullivan &amp; Cromwell LLP.</a:t>
            </a:r>
          </a:p>
        </p:txBody>
      </p:sp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/>
          <p:nvPr>
            <p:ph idx="1" type="body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342900" lvl="0" marL="457200" rtl="0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-"/>
            </a:pPr>
            <a:r>
              <a:rPr lang="en" sz="1800"/>
              <a:t>Joined company in 2000 and held senior positions in the Alibaba.com technology development department. </a:t>
            </a:r>
          </a:p>
          <a:p>
            <a:pPr indent="-342900" lvl="0" marL="457200" rtl="0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-"/>
            </a:pPr>
            <a:r>
              <a:rPr lang="en" sz="1800"/>
              <a:t>Has been president of YunOS and Digital Entertainment.</a:t>
            </a:r>
          </a:p>
          <a:p>
            <a:pPr indent="-342900" lvl="0" marL="457200" rtl="0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-"/>
            </a:pPr>
            <a:r>
              <a:rPr lang="en" sz="1800"/>
              <a:t>Responsible for oversight of data business group of Alibaba as well.</a:t>
            </a:r>
          </a:p>
          <a:p>
            <a:pPr indent="-342900" lvl="0" marL="457200" rtl="0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-"/>
            </a:pPr>
            <a:r>
              <a:rPr lang="en" sz="1800"/>
              <a:t>August 2009 - 2012, he was vice pres. of Taobao’s consumer business department.</a:t>
            </a:r>
          </a:p>
          <a:p>
            <a:pPr indent="-342900" lvl="0" marL="457200" rtl="0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-"/>
            </a:pPr>
            <a:r>
              <a:rPr lang="en" sz="1800"/>
              <a:t>Served in various management positions in Taobao’s technology development from 2005 to 2009.  </a:t>
            </a:r>
          </a:p>
        </p:txBody>
      </p:sp>
      <p:sp>
        <p:nvSpPr>
          <p:cNvPr id="102" name="Shape 10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/>
              <a:t>Peng Jiang</a:t>
            </a:r>
            <a:r>
              <a:rPr lang="en" sz="2000"/>
              <a:t> - President &amp; Chief Deputy Technology Officer </a:t>
            </a:r>
            <a:r>
              <a:rPr lang="en"/>
              <a:t> </a:t>
            </a:r>
          </a:p>
        </p:txBody>
      </p:sp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Competition in China-Tencent</a:t>
            </a:r>
          </a:p>
        </p:txBody>
      </p:sp>
      <p:sp>
        <p:nvSpPr>
          <p:cNvPr id="108" name="Shape 108"/>
          <p:cNvSpPr txBox="1"/>
          <p:nvPr>
            <p:ph idx="1" type="body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342900" lvl="0" marL="4572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 sz="1800"/>
              <a:t>Tencent currently has the lead over Alibaba in mobile through their WeChat app, giving</a:t>
            </a:r>
            <a:r>
              <a:rPr lang="en" sz="1800">
                <a:solidFill>
                  <a:srgbClr val="000000"/>
                </a:solidFill>
              </a:rPr>
              <a:t> them an advantage in mobile e-commerce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</a:rPr>
              <a:t>WeChat: </a:t>
            </a:r>
            <a:r>
              <a:rPr lang="en" sz="1800">
                <a:solidFill>
                  <a:srgbClr val="000000"/>
                </a:solidFill>
              </a:rPr>
              <a:t>service enables users to do things like buy emoticons, pay for game apps, invest their money in a fund, hail a taxi and buy goods. Individuals can set up stores on the platform, just as they can create merchant accounts on Alibaba's Taobao or Tmall e-commerce sites.</a:t>
            </a:r>
          </a:p>
          <a:p>
            <a:pPr rtl="0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Shape 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550" y="182825"/>
            <a:ext cx="5146874" cy="4793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Shape 1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9825" y="182825"/>
            <a:ext cx="2066925" cy="14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Shape 1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69825" y="1659200"/>
            <a:ext cx="1304925" cy="14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Shape 1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27800" y="3033525"/>
            <a:ext cx="2038350" cy="102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Shape 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425" y="152175"/>
            <a:ext cx="7791150" cy="4828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Shape 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775" y="157875"/>
            <a:ext cx="4235499" cy="482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Shape 127"/>
          <p:cNvSpPr txBox="1"/>
          <p:nvPr/>
        </p:nvSpPr>
        <p:spPr>
          <a:xfrm>
            <a:off x="4950750" y="700000"/>
            <a:ext cx="3094199" cy="3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28" name="Shape 128"/>
          <p:cNvSpPr txBox="1"/>
          <p:nvPr>
            <p:ph type="title"/>
          </p:nvPr>
        </p:nvSpPr>
        <p:spPr>
          <a:xfrm>
            <a:off x="4692300" y="205975"/>
            <a:ext cx="39945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 sz="2800"/>
              <a:t>American Competition</a:t>
            </a:r>
          </a:p>
        </p:txBody>
      </p:sp>
      <p:sp>
        <p:nvSpPr>
          <p:cNvPr id="129" name="Shape 129"/>
          <p:cNvSpPr txBox="1"/>
          <p:nvPr>
            <p:ph idx="1" type="body"/>
          </p:nvPr>
        </p:nvSpPr>
        <p:spPr>
          <a:xfrm>
            <a:off x="4692273" y="1200150"/>
            <a:ext cx="3994500" cy="3725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381000" lvl="0" marL="45720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 sz="2400"/>
              <a:t>Not much</a:t>
            </a:r>
          </a:p>
        </p:txBody>
      </p:sp>
    </p:spTree>
  </p:cSld>
  <p:clrMapOvr>
    <a:masterClrMapping/>
  </p:clrMapOvr>
  <p:transition spd="slow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Risk Factors</a:t>
            </a:r>
          </a:p>
        </p:txBody>
      </p:sp>
      <p:sp>
        <p:nvSpPr>
          <p:cNvPr id="135" name="Shape 135"/>
          <p:cNvSpPr txBox="1"/>
          <p:nvPr>
            <p:ph idx="1" type="body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330200" lvl="0" marL="4572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b="1" lang="en" sz="1600"/>
              <a:t>Alibaba must maintain their strong ecosystem in China or both their reputation and their financial system would take a major hit.</a:t>
            </a:r>
          </a:p>
          <a:p>
            <a:pPr indent="-330200" lvl="0" marL="4572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b="1" lang="en" sz="1600"/>
              <a:t>Inability to improve their mobile platform.  This point came up often in their F-1, which might raise a red flag.  They listed:</a:t>
            </a:r>
          </a:p>
          <a:p>
            <a:pPr indent="-330200" lvl="1" marL="914400" rtl="0">
              <a:spcBef>
                <a:spcPts val="0"/>
              </a:spcBef>
              <a:buClr>
                <a:schemeClr val="dk1"/>
              </a:buClr>
              <a:buSzPct val="100000"/>
              <a:buFont typeface="Courier New"/>
              <a:buChar char="o"/>
            </a:pPr>
            <a:r>
              <a:rPr b="1" i="1" lang="en" sz="1600">
                <a:latin typeface="Times New Roman"/>
                <a:ea typeface="Times New Roman"/>
                <a:cs typeface="Times New Roman"/>
                <a:sym typeface="Times New Roman"/>
              </a:rPr>
              <a:t>User behavior on mobile devices is rapidly evolving, and if we fail to successfully adapt to these changes, our competitiveness and market position may suffer.</a:t>
            </a:r>
          </a:p>
          <a:p>
            <a:pPr indent="-330200" lvl="1" marL="914400" rtl="0">
              <a:spcBef>
                <a:spcPts val="0"/>
              </a:spcBef>
              <a:buClr>
                <a:schemeClr val="dk1"/>
              </a:buClr>
              <a:buSzPct val="100000"/>
              <a:buFont typeface="Courier New"/>
              <a:buChar char="o"/>
            </a:pPr>
            <a:r>
              <a:rPr b="1" i="1" lang="en" sz="1600">
                <a:latin typeface="Times New Roman"/>
                <a:ea typeface="Times New Roman"/>
                <a:cs typeface="Times New Roman"/>
                <a:sym typeface="Times New Roman"/>
              </a:rPr>
              <a:t>We may not be able to successfully monetize traffic on our mobile platform, which could have a material adverse effect on our business.</a:t>
            </a:r>
          </a:p>
          <a:p>
            <a:pPr indent="-330200" lvl="0" marL="4572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b="1" lang="en" sz="1600"/>
              <a:t>Alipay, which they use for all their payment processing, is highly regulated, and if something were to be restricted, their business would be severely impacted.</a:t>
            </a:r>
          </a:p>
          <a:p>
            <a:pPr indent="-330200" lvl="0" marL="4572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b="1" lang="en" sz="1600"/>
              <a:t>Long-goal oriented philosophy, so Alibaba is more focused on growing the company and enhancing the user experience rather than making short-term investors happy.</a:t>
            </a:r>
          </a:p>
        </p:txBody>
      </p:sp>
    </p:spTree>
  </p:cSld>
  <p:clrMapOvr>
    <a:masterClrMapping/>
  </p:clrMapOvr>
  <p:transition spd="slow">
    <p:cut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Model</a:t>
            </a:r>
          </a:p>
        </p:txBody>
      </p:sp>
      <p:sp>
        <p:nvSpPr>
          <p:cNvPr id="141" name="Shape 141"/>
          <p:cNvSpPr txBox="1"/>
          <p:nvPr>
            <p:ph idx="1" type="body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pic>
        <p:nvPicPr>
          <p:cNvPr id="142" name="Shape 1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975" y="1266249"/>
            <a:ext cx="8790051" cy="3780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Model</a:t>
            </a:r>
          </a:p>
        </p:txBody>
      </p:sp>
      <p:sp>
        <p:nvSpPr>
          <p:cNvPr id="148" name="Shape 148"/>
          <p:cNvSpPr txBox="1"/>
          <p:nvPr>
            <p:ph idx="1" type="body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pic>
        <p:nvPicPr>
          <p:cNvPr id="149" name="Shape 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650" y="1256525"/>
            <a:ext cx="8832849" cy="3821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Investment Thesis</a:t>
            </a:r>
          </a:p>
        </p:txBody>
      </p:sp>
      <p:sp>
        <p:nvSpPr>
          <p:cNvPr id="155" name="Shape 155"/>
          <p:cNvSpPr txBox="1"/>
          <p:nvPr>
            <p:ph idx="1" type="body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lnSpc>
                <a:spcPct val="150000"/>
              </a:lnSpc>
              <a:spcBef>
                <a:spcPts val="0"/>
              </a:spcBef>
              <a:spcAft>
                <a:spcPts val="1100"/>
              </a:spcAft>
              <a:buNone/>
            </a:pPr>
            <a:r>
              <a:rPr lang="en" sz="1600">
                <a:solidFill>
                  <a:srgbClr val="333333"/>
                </a:solidFill>
              </a:rPr>
              <a:t>The investment positives include:</a:t>
            </a:r>
          </a:p>
          <a:p>
            <a:pPr lvl="0" rtl="0">
              <a:lnSpc>
                <a:spcPct val="150000"/>
              </a:lnSpc>
              <a:spcBef>
                <a:spcPts val="0"/>
              </a:spcBef>
              <a:spcAft>
                <a:spcPts val="1100"/>
              </a:spcAft>
              <a:buNone/>
            </a:pPr>
            <a:r>
              <a:rPr b="1" lang="en" sz="1600">
                <a:solidFill>
                  <a:srgbClr val="333333"/>
                </a:solidFill>
              </a:rPr>
              <a:t>China’s ecommerce economy is booming</a:t>
            </a:r>
            <a:r>
              <a:rPr lang="en" sz="1600">
                <a:solidFill>
                  <a:srgbClr val="333333"/>
                </a:solidFill>
              </a:rPr>
              <a:t>. “For an emerging economy, China has strong broad band and wireless infrastructure with weak brick-and-mortar retail infrastructure,” says Rob Sanderson, a managing director and analyst at MKM Partners with a 12 month price target of $125</a:t>
            </a:r>
          </a:p>
          <a:p>
            <a:pPr lvl="0" rtl="0">
              <a:lnSpc>
                <a:spcPct val="150000"/>
              </a:lnSpc>
              <a:spcBef>
                <a:spcPts val="0"/>
              </a:spcBef>
              <a:spcAft>
                <a:spcPts val="1100"/>
              </a:spcAft>
              <a:buNone/>
            </a:pPr>
            <a:r>
              <a:rPr b="1" lang="en" sz="1600">
                <a:solidFill>
                  <a:srgbClr val="333333"/>
                </a:solidFill>
              </a:rPr>
              <a:t>Alibaba holds a dominant market position</a:t>
            </a:r>
            <a:r>
              <a:rPr lang="en" sz="1600">
                <a:solidFill>
                  <a:srgbClr val="333333"/>
                </a:solidFill>
              </a:rPr>
              <a:t>. Although there are many fast-growing competitors, Alibaba has maintained 50% to 90% market share in the retail categories it serves, and conducts about 70% of the overall ecommerce business in China.</a:t>
            </a:r>
          </a:p>
        </p:txBody>
      </p:sp>
    </p:spTree>
  </p:cSld>
  <p:clrMapOvr>
    <a:masterClrMapping/>
  </p:clrMapOvr>
  <p:transition spd="slow">
    <p:cut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Investment Thesis	</a:t>
            </a:r>
          </a:p>
        </p:txBody>
      </p:sp>
      <p:sp>
        <p:nvSpPr>
          <p:cNvPr id="161" name="Shape 161"/>
          <p:cNvSpPr txBox="1"/>
          <p:nvPr>
            <p:ph idx="1" type="body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lnSpc>
                <a:spcPct val="150000"/>
              </a:lnSpc>
              <a:spcBef>
                <a:spcPts val="0"/>
              </a:spcBef>
              <a:spcAft>
                <a:spcPts val="1100"/>
              </a:spcAft>
              <a:buNone/>
            </a:pPr>
            <a:r>
              <a:rPr b="1" lang="en" sz="1600">
                <a:solidFill>
                  <a:srgbClr val="000000"/>
                </a:solidFill>
              </a:rPr>
              <a:t>Despite the enormous scale, market penetration remains low</a:t>
            </a:r>
            <a:r>
              <a:rPr lang="en" sz="1600">
                <a:solidFill>
                  <a:srgbClr val="000000"/>
                </a:solidFill>
              </a:rPr>
              <a:t>. The number of active buyers, at 279 million, is still growing, driven by the mobile business. There were 1.3 billion wireless subscribers in China.</a:t>
            </a:r>
          </a:p>
          <a:p>
            <a:pPr lvl="0" rtl="0">
              <a:lnSpc>
                <a:spcPct val="150000"/>
              </a:lnSpc>
              <a:spcBef>
                <a:spcPts val="0"/>
              </a:spcBef>
              <a:spcAft>
                <a:spcPts val="110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b="1" lang="en" sz="1600">
                <a:solidFill>
                  <a:srgbClr val="000000"/>
                </a:solidFill>
              </a:rPr>
              <a:t>Alibaba’s business model is highly profitable</a:t>
            </a:r>
            <a:r>
              <a:rPr lang="en" sz="1600">
                <a:solidFill>
                  <a:srgbClr val="000000"/>
                </a:solidFill>
              </a:rPr>
              <a:t>. The company takes no inventory risk, and does not bear the burden of building fulfillment capabilities. Operating margin was 43% in June, a multi-quarter low, and has been as high as 51%. In comparison, </a:t>
            </a:r>
            <a:r>
              <a:rPr lang="en" sz="1600">
                <a:solidFill>
                  <a:srgbClr val="000000"/>
                </a:solidFill>
                <a:hlinkClick r:id="rId3"/>
              </a:rPr>
              <a:t>Amazon said second-quarter operating profit margin</a:t>
            </a:r>
            <a:r>
              <a:rPr lang="en" sz="1600">
                <a:solidFill>
                  <a:srgbClr val="000000"/>
                </a:solidFill>
              </a:rPr>
              <a:t> was a negative 0.1%, compared with a positive 0.7% in the first quarter.</a:t>
            </a:r>
          </a:p>
          <a:p>
            <a:pPr>
              <a:spcBef>
                <a:spcPts val="0"/>
              </a:spcBef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cut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Investment Recommendation</a:t>
            </a:r>
          </a:p>
        </p:txBody>
      </p:sp>
      <p:sp>
        <p:nvSpPr>
          <p:cNvPr id="167" name="Shape 167"/>
          <p:cNvSpPr txBox="1"/>
          <p:nvPr>
            <p:ph idx="1" type="body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rtl="0">
              <a:spcBef>
                <a:spcPts val="0"/>
              </a:spcBef>
              <a:buNone/>
            </a:pPr>
            <a:r>
              <a:rPr lang="en"/>
              <a:t>We are advocating a 1.5% stake in BABA, taken from XLK</a:t>
            </a:r>
          </a:p>
          <a:p>
            <a:pPr indent="-419100" lvl="0" marL="4572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-"/>
            </a:pPr>
            <a:r>
              <a:rPr lang="en"/>
              <a:t>Sell ~163 shares of XLK (~$39.71)</a:t>
            </a:r>
          </a:p>
          <a:p>
            <a:pPr indent="-419100" lvl="0" marL="4572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-"/>
            </a:pPr>
            <a:r>
              <a:rPr lang="en"/>
              <a:t>Buy ~73 shares of BABA (~$88.30)</a:t>
            </a:r>
          </a:p>
          <a:p>
            <a:pPr rtl="0">
              <a:spcBef>
                <a:spcPts val="0"/>
              </a:spcBef>
              <a:buNone/>
            </a:pPr>
            <a:r>
              <a:t/>
            </a:r>
            <a:endParaRPr/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cap="flat" cmpd="sng" w="9525" algn="ctr">
          <a:solidFill>
            <a:schemeClr val="phClr">
              <a:shade val="95000"/>
              <a:satMod val="105000"/>
            </a:schemeClr>
          </a:solidFill>
          <a:prstDash val="solid"/>
        </a:ln>
        <a:ln cap="flat" cmpd="sng" w="25400" algn="ctr">
          <a:solidFill>
            <a:schemeClr val="phClr"/>
          </a:solidFill>
          <a:prstDash val="solid"/>
        </a:ln>
        <a:ln cap="flat" cmpd="sng" w="38100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rotWithShape="0" dir="5400000" dist="20000">
              <a:srgbClr val="000000">
                <a:alpha val="38000"/>
              </a:srgbClr>
            </a:outerShdw>
          </a:effectLst>
        </a:effectStyle>
        <a:effectStyle>
          <a:effectLst>
            <a:outerShdw blurRad="40000" rotWithShape="0" dir="5400000" dist="23000">
              <a:srgbClr val="000000">
                <a:alpha val="35000"/>
              </a:srgbClr>
            </a:outerShdw>
          </a:effectLst>
        </a:effectStyle>
        <a:effectStyle>
          <a:effectLst>
            <a:outerShdw blurRad="40000" rotWithShape="0" dir="5400000" dist="2300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Custom 218">
      <a:dk1>
        <a:srgbClr val="000000"/>
      </a:dk1>
      <a:lt1>
        <a:srgbClr val="FFFFFF"/>
      </a:lt1>
      <a:dk2>
        <a:srgbClr val="5B595A"/>
      </a:dk2>
      <a:lt2>
        <a:srgbClr val="CFD4D4"/>
      </a:lt2>
      <a:accent1>
        <a:srgbClr val="CC0202"/>
      </a:accent1>
      <a:accent2>
        <a:srgbClr val="228AFF"/>
      </a:accent2>
      <a:accent3>
        <a:srgbClr val="FBC82F"/>
      </a:accent3>
      <a:accent4>
        <a:srgbClr val="253E91"/>
      </a:accent4>
      <a:accent5>
        <a:srgbClr val="F68D0C"/>
      </a:accent5>
      <a:accent6>
        <a:srgbClr val="257E12"/>
      </a:accent6>
      <a:hlink>
        <a:srgbClr val="144C72"/>
      </a:hlink>
      <a:folHlink>
        <a:srgbClr val="8C9D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cap="flat" cmpd="sng" w="9525" algn="ctr">
          <a:solidFill>
            <a:schemeClr val="phClr">
              <a:shade val="95000"/>
              <a:satMod val="105000"/>
            </a:schemeClr>
          </a:solidFill>
          <a:prstDash val="solid"/>
        </a:ln>
        <a:ln cap="flat" cmpd="sng" w="25400" algn="ctr">
          <a:solidFill>
            <a:schemeClr val="phClr"/>
          </a:solidFill>
          <a:prstDash val="solid"/>
        </a:ln>
        <a:ln cap="flat" cmpd="sng" w="38100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rotWithShape="0" dir="5400000" dist="20000">
              <a:srgbClr val="000000">
                <a:alpha val="38000"/>
              </a:srgbClr>
            </a:outerShdw>
          </a:effectLst>
        </a:effectStyle>
        <a:effectStyle>
          <a:effectLst>
            <a:outerShdw blurRad="40000" rotWithShape="0" dir="5400000" dist="23000">
              <a:srgbClr val="000000">
                <a:alpha val="35000"/>
              </a:srgbClr>
            </a:outerShdw>
          </a:effectLst>
        </a:effectStyle>
        <a:effectStyle>
          <a:effectLst>
            <a:outerShdw blurRad="40000" rotWithShape="0" dir="5400000" dist="2300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cap="flat" cmpd="sng" w="9525" algn="ctr">
          <a:solidFill>
            <a:schemeClr val="phClr">
              <a:shade val="95000"/>
              <a:satMod val="105000"/>
            </a:schemeClr>
          </a:solidFill>
          <a:prstDash val="solid"/>
        </a:ln>
        <a:ln cap="flat" cmpd="sng" w="25400" algn="ctr">
          <a:solidFill>
            <a:schemeClr val="phClr"/>
          </a:solidFill>
          <a:prstDash val="solid"/>
        </a:ln>
        <a:ln cap="flat" cmpd="sng" w="38100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rotWithShape="0" dir="5400000" dist="20000">
              <a:srgbClr val="000000">
                <a:alpha val="38000"/>
              </a:srgbClr>
            </a:outerShdw>
          </a:effectLst>
        </a:effectStyle>
        <a:effectStyle>
          <a:effectLst>
            <a:outerShdw blurRad="40000" rotWithShape="0" dir="5400000" dist="23000">
              <a:srgbClr val="000000">
                <a:alpha val="35000"/>
              </a:srgbClr>
            </a:outerShdw>
          </a:effectLst>
        </a:effectStyle>
        <a:effectStyle>
          <a:effectLst>
            <a:outerShdw blurRad="40000" rotWithShape="0" dir="5400000" dist="2300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