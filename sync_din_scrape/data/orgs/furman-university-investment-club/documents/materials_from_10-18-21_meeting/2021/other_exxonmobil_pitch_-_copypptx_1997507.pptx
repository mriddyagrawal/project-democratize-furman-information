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1"/>
  </p:notesMasterIdLst>
  <p:sldIdLst>
    <p:sldId id="256" r:id="rId2"/>
    <p:sldId id="267" r:id="rId3"/>
    <p:sldId id="257" r:id="rId4"/>
    <p:sldId id="258" r:id="rId5"/>
    <p:sldId id="259" r:id="rId6"/>
    <p:sldId id="294" r:id="rId7"/>
    <p:sldId id="276" r:id="rId8"/>
    <p:sldId id="277" r:id="rId9"/>
    <p:sldId id="282" r:id="rId10"/>
    <p:sldId id="283" r:id="rId11"/>
    <p:sldId id="268" r:id="rId12"/>
    <p:sldId id="260" r:id="rId13"/>
    <p:sldId id="297" r:id="rId14"/>
    <p:sldId id="261" r:id="rId15"/>
    <p:sldId id="263" r:id="rId16"/>
    <p:sldId id="278" r:id="rId17"/>
    <p:sldId id="279" r:id="rId18"/>
    <p:sldId id="269" r:id="rId19"/>
    <p:sldId id="290" r:id="rId20"/>
    <p:sldId id="292" r:id="rId21"/>
    <p:sldId id="293" r:id="rId22"/>
    <p:sldId id="280" r:id="rId23"/>
    <p:sldId id="285" r:id="rId24"/>
    <p:sldId id="286" r:id="rId25"/>
    <p:sldId id="266" r:id="rId26"/>
    <p:sldId id="291" r:id="rId27"/>
    <p:sldId id="265" r:id="rId28"/>
    <p:sldId id="273" r:id="rId29"/>
    <p:sldId id="270" r:id="rId30"/>
    <p:sldId id="295" r:id="rId31"/>
    <p:sldId id="296" r:id="rId32"/>
    <p:sldId id="275" r:id="rId33"/>
    <p:sldId id="287" r:id="rId34"/>
    <p:sldId id="288" r:id="rId35"/>
    <p:sldId id="264" r:id="rId36"/>
    <p:sldId id="300" r:id="rId37"/>
    <p:sldId id="301" r:id="rId38"/>
    <p:sldId id="299" r:id="rId39"/>
    <p:sldId id="274" r:id="rId4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2BB5"/>
    <a:srgbClr val="A660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14" autoAdjust="0"/>
    <p:restoredTop sz="94660"/>
  </p:normalViewPr>
  <p:slideViewPr>
    <p:cSldViewPr>
      <p:cViewPr>
        <p:scale>
          <a:sx n="70" d="100"/>
          <a:sy n="70" d="100"/>
        </p:scale>
        <p:origin x="-1122" y="-72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Relationship Id="rId4" Type="http://schemas.openxmlformats.org/officeDocument/2006/relationships/image" Target="../media/image23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Relationship Id="rId4" Type="http://schemas.openxmlformats.org/officeDocument/2006/relationships/image" Target="../media/image30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4.emf"/><Relationship Id="rId1" Type="http://schemas.openxmlformats.org/officeDocument/2006/relationships/image" Target="../media/image33.emf"/><Relationship Id="rId4" Type="http://schemas.openxmlformats.org/officeDocument/2006/relationships/image" Target="../media/image3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image" Target="../media/image37.e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Relationship Id="rId4" Type="http://schemas.openxmlformats.org/officeDocument/2006/relationships/image" Target="../media/image42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image" Target="../media/image44.emf"/><Relationship Id="rId1" Type="http://schemas.openxmlformats.org/officeDocument/2006/relationships/image" Target="../media/image43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image" Target="../media/image57.emf"/><Relationship Id="rId4" Type="http://schemas.openxmlformats.org/officeDocument/2006/relationships/image" Target="../media/image60.e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image" Target="../media/image62.emf"/><Relationship Id="rId1" Type="http://schemas.openxmlformats.org/officeDocument/2006/relationships/image" Target="../media/image61.e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image" Target="../media/image65.emf"/><Relationship Id="rId1" Type="http://schemas.openxmlformats.org/officeDocument/2006/relationships/image" Target="../media/image64.emf"/><Relationship Id="rId4" Type="http://schemas.openxmlformats.org/officeDocument/2006/relationships/image" Target="../media/image67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0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2CEE3-7BEF-448E-AB17-421E039DC7A5}" type="datetimeFigureOut">
              <a:rPr lang="en-US" smtClean="0"/>
              <a:pPr/>
              <a:t>3/19/2013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848422-D4B9-45C7-A358-717C7196DD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44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48422-D4B9-45C7-A358-717C7196DD73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48422-D4B9-45C7-A358-717C7196DD7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11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48422-D4B9-45C7-A358-717C7196DD7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118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48422-D4B9-45C7-A358-717C7196DD73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48422-D4B9-45C7-A358-717C7196DD73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118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848422-D4B9-45C7-A358-717C7196DD73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11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5F96-0F79-412C-8212-C8C7E196B92D}" type="datetimeFigureOut">
              <a:rPr lang="en-US" smtClean="0"/>
              <a:pPr/>
              <a:t>3/19/2013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309F-BBDB-4666-9C74-F79F0B80A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5F96-0F79-412C-8212-C8C7E196B92D}" type="datetimeFigureOut">
              <a:rPr lang="en-US" smtClean="0"/>
              <a:pPr/>
              <a:t>3/19/2013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309F-BBDB-4666-9C74-F79F0B80A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5F96-0F79-412C-8212-C8C7E196B92D}" type="datetimeFigureOut">
              <a:rPr lang="en-US" smtClean="0"/>
              <a:pPr/>
              <a:t>3/19/2013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309F-BBDB-4666-9C74-F79F0B80A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5F96-0F79-412C-8212-C8C7E196B92D}" type="datetimeFigureOut">
              <a:rPr lang="en-US" smtClean="0"/>
              <a:pPr/>
              <a:t>3/19/2013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309F-BBDB-4666-9C74-F79F0B80A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5F96-0F79-412C-8212-C8C7E196B92D}" type="datetimeFigureOut">
              <a:rPr lang="en-US" smtClean="0"/>
              <a:pPr/>
              <a:t>3/19/2013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309F-BBDB-4666-9C74-F79F0B80A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5F96-0F79-412C-8212-C8C7E196B92D}" type="datetimeFigureOut">
              <a:rPr lang="en-US" smtClean="0"/>
              <a:pPr/>
              <a:t>3/19/2013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309F-BBDB-4666-9C74-F79F0B80A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5F96-0F79-412C-8212-C8C7E196B92D}" type="datetimeFigureOut">
              <a:rPr lang="en-US" smtClean="0"/>
              <a:pPr/>
              <a:t>3/19/2013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309F-BBDB-4666-9C74-F79F0B80A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5F96-0F79-412C-8212-C8C7E196B92D}" type="datetimeFigureOut">
              <a:rPr lang="en-US" smtClean="0"/>
              <a:pPr/>
              <a:t>3/19/2013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309F-BBDB-4666-9C74-F79F0B80A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5F96-0F79-412C-8212-C8C7E196B92D}" type="datetimeFigureOut">
              <a:rPr lang="en-US" smtClean="0"/>
              <a:pPr/>
              <a:t>3/19/2013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309F-BBDB-4666-9C74-F79F0B80A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5F96-0F79-412C-8212-C8C7E196B92D}" type="datetimeFigureOut">
              <a:rPr lang="en-US" smtClean="0"/>
              <a:pPr/>
              <a:t>3/19/2013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309F-BBDB-4666-9C74-F79F0B80A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F5F96-0F79-412C-8212-C8C7E196B92D}" type="datetimeFigureOut">
              <a:rPr lang="en-US" smtClean="0"/>
              <a:pPr/>
              <a:t>3/19/2013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3309F-BBDB-4666-9C74-F79F0B80A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8F5F96-0F79-412C-8212-C8C7E196B92D}" type="datetimeFigureOut">
              <a:rPr lang="en-US" smtClean="0"/>
              <a:pPr/>
              <a:t>3/19/2013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F3309F-BBDB-4666-9C74-F79F0B80A5A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1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file:///E:\ExxonMobil%20Production%20Levels.xlsx!Exxon2!%5bExxonMobil%20Production%20Levels.xlsx%5dExxon2%20Chart%202" TargetMode="External"/><Relationship Id="rId5" Type="http://schemas.openxmlformats.org/officeDocument/2006/relationships/image" Target="../media/image8.emf"/><Relationship Id="rId4" Type="http://schemas.openxmlformats.org/officeDocument/2006/relationships/oleObject" Target="file:///E:\ExxonMobil%20Production%20Levels.xlsx!Exxon2!%5bExxonMobil%20Production%20Levels.xlsx%5dExxon2%20Chart%201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0.emf"/><Relationship Id="rId4" Type="http://schemas.openxmlformats.org/officeDocument/2006/relationships/oleObject" Target="file:///E:\Exxon%20SC%20Financial%20Comp%20Analysis.xlsx!Customers!R2C2:R18C6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1.emf"/><Relationship Id="rId4" Type="http://schemas.openxmlformats.org/officeDocument/2006/relationships/oleObject" Target="file:///E:\Exxon%20SC%20Financial%20Comp%20Analysis.xlsx!Suppliers%20!R2C2:R18C10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url?sa=i&amp;rct=j&amp;q=rex+tillerson&amp;source=images&amp;cd=&amp;cad=rja&amp;docid=NDVIYzO6dzc52M&amp;tbnid=lWI-W_3lnPbLKM:&amp;ved=0CAUQjRw&amp;url=http://www.exxonmobil.com/Corporate/about_who_mgmt_rwt.aspx&amp;ei=M1k1UfTQAYai9QTej4GABA&amp;bvm=bv.43148975,d.eWU&amp;psig=AFQjCNFD7xv9dmCo_9g_ACk47G-2RHhL0A&amp;ust=1362537133138140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hyperlink" Target="http://www.google.com/url?sa=i&amp;rct=j&amp;q=andrew+p.+swiger&amp;source=images&amp;cd=&amp;cad=rja&amp;docid=JS5ULAJQqTDbYM&amp;tbnid=ovaBIklZi1Hg3M:&amp;ved=0CAUQjRw&amp;url=http://www.exxonmobil.com/Corporate/about_who_mgmt_aps.aspx&amp;ei=n1s1UfnxIYaC9gTTl4H4DQ&amp;bvm=bv.43148975,d.eWU&amp;psig=AFQjCNFlBpDLKw_dlFm_aRZk3qdnW17zQA&amp;ust=1362537753506103" TargetMode="Externa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url?sa=i&amp;rct=j&amp;q=mark+w.+albers&amp;source=images&amp;cd=&amp;cad=rja&amp;docid=8LFNWLrgC-wN5M&amp;tbnid=8QBY2gXFHLSxqM:&amp;ved=0CAUQjRw&amp;url=http://www.uscib.org/index.asp?documentID=3760&amp;ei=H141UdiGHYuG9QTpj4FY&amp;bvm=bv.43148975,d.eWU&amp;psig=AFQjCNFhAHtA7kMVba0sHHGouSToH2ssOg&amp;ust=1362538389967722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hyperlink" Target="http://www.google.com/url?sa=i&amp;rct=j&amp;q=michael+j.+dolan&amp;source=images&amp;cd=&amp;cad=rja&amp;docid=OlvHvY78uO7K9M&amp;tbnid=2Fu0n4mW3xQ7RM:&amp;ved=0CAUQjRw&amp;url=http://www.exxonmobil.com/Corporate/about_who_mgmt_mjd.aspx&amp;ei=Wl81UZGpNZDg8ASXyYDAAQ&amp;bvm=bv.43148975,d.eWU&amp;psig=AFQjCNGJAmiHOBjgeMFrlmOK_EMcGO3QWg&amp;ust=1362538709738194" TargetMode="Externa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notesSlide" Target="../notesSlides/notesSlide3.xml"/><Relationship Id="rId7" Type="http://schemas.openxmlformats.org/officeDocument/2006/relationships/oleObject" Target="file:///E:\ExxonMobil%20Production%20Levels.xlsx!ExxonReservesandProduction!%5bExxonMobil%20Production%20Levels.xlsx%5dExxonReservesandProduction%20Chart%203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emf"/><Relationship Id="rId5" Type="http://schemas.openxmlformats.org/officeDocument/2006/relationships/oleObject" Target="file:///E:\ExxonMobil%20Production%20Levels.xlsx!ExxonReservesandProduction!%5bExxonMobil%20Production%20Levels.xlsx%5dExxonReservesandProduction%20Chart%209" TargetMode="External"/><Relationship Id="rId10" Type="http://schemas.openxmlformats.org/officeDocument/2006/relationships/image" Target="../media/image18.emf"/><Relationship Id="rId4" Type="http://schemas.openxmlformats.org/officeDocument/2006/relationships/image" Target="../media/image1.jpeg"/><Relationship Id="rId9" Type="http://schemas.openxmlformats.org/officeDocument/2006/relationships/oleObject" Target="file:///E:\ExxonMobil%20Production%20Levels.xlsx!ExxonReservesandProduction!%5bExxonMobil%20Production%20Levels.xlsx%5dExxonReservesandProduction%20Chart%2011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9.emf"/><Relationship Id="rId4" Type="http://schemas.openxmlformats.org/officeDocument/2006/relationships/oleObject" Target="file:///E:\ExxonMobil%20Production%20Levels.xlsx!ExxonReservesandProduction!%5bExxonMobil%20Production%20Levels.xlsx%5dExxonReservesandProduction%20Chart%207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file:///E:\Exxon%20SC%20Financial%20Comp%20Analysis.xlsx!Financials%20--%20Profitability%20!%5bExxon%20SC%20Financial%20Comp%20Analysis.xlsx%5dFinancials%20--%20Profitability%20%20Chart%203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21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file:///E:\Exxon%20SC%20Financial%20Comp%20Analysis.xlsx!Financials%20--%20Profitability%20!%5bExxon%20SC%20Financial%20Comp%20Analysis.xlsx%5dFinancials%20--%20Profitability%20%20Chart%202" TargetMode="External"/><Relationship Id="rId11" Type="http://schemas.openxmlformats.org/officeDocument/2006/relationships/image" Target="../media/image23.emf"/><Relationship Id="rId5" Type="http://schemas.openxmlformats.org/officeDocument/2006/relationships/image" Target="../media/image20.emf"/><Relationship Id="rId10" Type="http://schemas.openxmlformats.org/officeDocument/2006/relationships/oleObject" Target="file:///E:\Exxon%20SC%20Financial%20Comp%20Analysis.xlsx!Financials%20--%20Profitability%20!%5bExxon%20SC%20Financial%20Comp%20Analysis.xlsx%5dFinancials%20--%20Profitability%20%20Chart%204" TargetMode="External"/><Relationship Id="rId4" Type="http://schemas.openxmlformats.org/officeDocument/2006/relationships/oleObject" Target="file:///E:\Exxon%20SC%20Financial%20Comp%20Analysis.xlsx!Financials%20--%20Profitability%20!%5bExxon%20SC%20Financial%20Comp%20Analysis.xlsx%5dFinancials%20--%20Profitability%20%20Chart%201" TargetMode="External"/><Relationship Id="rId9" Type="http://schemas.openxmlformats.org/officeDocument/2006/relationships/image" Target="../media/image22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file:///E:\Exxon%20SC%20Financial%20Comp%20Analysis.xlsx!Financials%20--%20Credit+Liquidity!%5bExxon%20SC%20Financial%20Comp%20Analysis.xlsx%5dFinancials%20--%20Credit+Liquidity%20Chart%203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2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file:///E:\Exxon%20SC%20Financial%20Comp%20Analysis.xlsx!Financials%20--%20Credit+Liquidity!%5bExxon%20SC%20Financial%20Comp%20Analysis.xlsx%5dFinancials%20--%20Credit+Liquidity%20Chart%202" TargetMode="External"/><Relationship Id="rId5" Type="http://schemas.openxmlformats.org/officeDocument/2006/relationships/image" Target="../media/image24.emf"/><Relationship Id="rId4" Type="http://schemas.openxmlformats.org/officeDocument/2006/relationships/oleObject" Target="file:///E:\Exxon%20SC%20Financial%20Comp%20Analysis.xlsx!Financials%20--%20Credit+Liquidity!%5bExxon%20SC%20Financial%20Comp%20Analysis.xlsx%5dFinancials%20--%20Credit+Liquidity%20Chart%201" TargetMode="External"/><Relationship Id="rId9" Type="http://schemas.openxmlformats.org/officeDocument/2006/relationships/image" Target="../media/image26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file:///E:\Exxon%20SC%20Financial%20Comp%20Analysis.xlsx!Financials%20--%20Cash%20Flow%20!%5bExxon%20SC%20Financial%20Comp%20Analysis.xlsx%5dFinancials%20--%20Cash%20Flow%20%20Chart%203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2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file:///E:\Exxon%20SC%20Financial%20Comp%20Analysis.xlsx!Financials%20--%20Cash%20Flow%20!%5bExxon%20SC%20Financial%20Comp%20Analysis.xlsx%5dFinancials%20--%20Cash%20Flow%20%20Chart%202" TargetMode="External"/><Relationship Id="rId11" Type="http://schemas.openxmlformats.org/officeDocument/2006/relationships/image" Target="../media/image30.emf"/><Relationship Id="rId5" Type="http://schemas.openxmlformats.org/officeDocument/2006/relationships/image" Target="../media/image27.emf"/><Relationship Id="rId10" Type="http://schemas.openxmlformats.org/officeDocument/2006/relationships/oleObject" Target="file:///E:\Exxon%20SC%20Financial%20Comp%20Analysis.xlsx!Financials%20--%20Cash%20Flow%20!%5bExxon%20SC%20Financial%20Comp%20Analysis.xlsx%5dFinancials%20--%20Cash%20Flow%20%20Chart%204" TargetMode="External"/><Relationship Id="rId4" Type="http://schemas.openxmlformats.org/officeDocument/2006/relationships/oleObject" Target="file:///E:\Exxon%20SC%20Financial%20Comp%20Analysis.xlsx!Financials%20--%20Cash%20Flow%20!%5bExxon%20SC%20Financial%20Comp%20Analysis.xlsx%5dFinancials%20--%20Cash%20Flow%20%20Chart%201" TargetMode="External"/><Relationship Id="rId9" Type="http://schemas.openxmlformats.org/officeDocument/2006/relationships/image" Target="../media/image29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file:///E:\EIA%20Natural%20Gas.xls!Data%201!%5bEIA%20Natural%20Gas.xls%5dData%201%20Chart%201" TargetMode="External"/><Relationship Id="rId5" Type="http://schemas.openxmlformats.org/officeDocument/2006/relationships/image" Target="../media/image31.emf"/><Relationship Id="rId4" Type="http://schemas.openxmlformats.org/officeDocument/2006/relationships/oleObject" Target="file:///E:\EIA%20Historical%20Energy%20Prices.xls!Data%201!%5bEIA%20Historical%20Energy%20Prices.xls%5dData%201%20Chart%201" TargetMode="Externa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file:///E:\EIA%20Historical%20Energy%20Prices.xls!Data%202!%5bEIA%20Historical%20Energy%20Prices.xls%5dData%202%20Chart%201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3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file:///E:\EIA%20Historical%20Energy%20Prices.xls!Data%206!%5bEIA%20Historical%20Energy%20Prices.xls%5dData%206%20Chart%201" TargetMode="External"/><Relationship Id="rId11" Type="http://schemas.openxmlformats.org/officeDocument/2006/relationships/image" Target="../media/image36.emf"/><Relationship Id="rId5" Type="http://schemas.openxmlformats.org/officeDocument/2006/relationships/image" Target="../media/image33.emf"/><Relationship Id="rId10" Type="http://schemas.openxmlformats.org/officeDocument/2006/relationships/oleObject" Target="file:///E:\EIA%20Historical%20Energy%20Prices.xls!Data%205!%5bEIA%20Historical%20Energy%20Prices.xls%5dData%205%20Chart%201" TargetMode="External"/><Relationship Id="rId4" Type="http://schemas.openxmlformats.org/officeDocument/2006/relationships/oleObject" Target="file:///E:\EIA%20Historical%20Energy%20Prices.xls!Data%204!%5bEIA%20Historical%20Energy%20Prices.xls%5dData%204%20Chart%201" TargetMode="External"/><Relationship Id="rId9" Type="http://schemas.openxmlformats.org/officeDocument/2006/relationships/image" Target="../media/image35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3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file:///E:\EIA%20Short%20Term%20Energy%20Projections.xls!Natural%20Gas%20!%5bEIA%20Short%20Term%20Energy%20Projections.xls%5dNatural%20Gas%20%20Chart%201" TargetMode="External"/><Relationship Id="rId5" Type="http://schemas.openxmlformats.org/officeDocument/2006/relationships/image" Target="../media/image37.emf"/><Relationship Id="rId4" Type="http://schemas.openxmlformats.org/officeDocument/2006/relationships/oleObject" Target="file:///E:\EIA%20Short%20Term%20Energy%20Projections.xls!Crude%20Oil!%5bEIA%20Short%20Term%20Energy%20Projections.xls%5dCrude%20Oil%20Chart%201" TargetMode="Externa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file:///E:\EIA%20Short%20Term%20Energy%20Projections.xls!Refined%20Products!%5bEIA%20Short%20Term%20Energy%20Projections.xls%5dRefined%20Products%20Chart%203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4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file:///E:\EIA%20Short%20Term%20Energy%20Projections.xls!Refined%20Products!%5bEIA%20Short%20Term%20Energy%20Projections.xls%5dRefined%20Products%20Chart%202" TargetMode="External"/><Relationship Id="rId11" Type="http://schemas.openxmlformats.org/officeDocument/2006/relationships/image" Target="../media/image42.emf"/><Relationship Id="rId5" Type="http://schemas.openxmlformats.org/officeDocument/2006/relationships/image" Target="../media/image39.emf"/><Relationship Id="rId10" Type="http://schemas.openxmlformats.org/officeDocument/2006/relationships/oleObject" Target="file:///E:\EIA%20Short%20Term%20Energy%20Projections.xls!Refined%20Products!%5bEIA%20Short%20Term%20Energy%20Projections.xls%5dRefined%20Products%20Chart%204" TargetMode="External"/><Relationship Id="rId4" Type="http://schemas.openxmlformats.org/officeDocument/2006/relationships/oleObject" Target="file:///E:\EIA%20Short%20Term%20Energy%20Projections.xls!Refined%20Products!%5bEIA%20Short%20Term%20Energy%20Projections.xls%5dRefined%20Products%20Chart%201" TargetMode="External"/><Relationship Id="rId9" Type="http://schemas.openxmlformats.org/officeDocument/2006/relationships/image" Target="../media/image41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file:///E:\EIA%20Short%20Term%20Energy%20Projections.xls!Natural%20Gas%20Products!%5bEIA%20Short%20Term%20Energy%20Projections.xls%5dNatural%20Gas%20Products%20Chart%202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4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file:///E:\EIA%20Short%20Term%20Energy%20Projections.xls!Natural%20Gas%20Products!%5bEIA%20Short%20Term%20Energy%20Projections.xls%5dNatural%20Gas%20Products%20Chart%203" TargetMode="External"/><Relationship Id="rId5" Type="http://schemas.openxmlformats.org/officeDocument/2006/relationships/image" Target="../media/image43.emf"/><Relationship Id="rId4" Type="http://schemas.openxmlformats.org/officeDocument/2006/relationships/oleObject" Target="file:///E:\EIA%20Short%20Term%20Energy%20Projections.xls!Natural%20Gas%20Products!%5bEIA%20Short%20Term%20Energy%20Projections.xls%5dNatural%20Gas%20Products%20Chart%201" TargetMode="External"/><Relationship Id="rId9" Type="http://schemas.openxmlformats.org/officeDocument/2006/relationships/image" Target="../media/image45.em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file:///E:\Consumption%20by%20Sector%20and%20Source.xlsx!Residential%20!%5bConsumption%20by%20Sector%20and%20Source.xlsx%5dResidential%20%20Chart%201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4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file:///E:\Consumption%20by%20Sector%20and%20Source.xlsx!Commercial!%5bConsumption%20by%20Sector%20and%20Source.xlsx%5dCommercial%20Chart%201" TargetMode="External"/><Relationship Id="rId5" Type="http://schemas.openxmlformats.org/officeDocument/2006/relationships/image" Target="../media/image46.emf"/><Relationship Id="rId4" Type="http://schemas.openxmlformats.org/officeDocument/2006/relationships/oleObject" Target="file:///E:\Consumption%20by%20Sector%20and%20Source.xlsx!Industrial!%5bConsumption%20by%20Sector%20and%20Source.xlsx%5dIndustrial%20Chart%201" TargetMode="External"/><Relationship Id="rId9" Type="http://schemas.openxmlformats.org/officeDocument/2006/relationships/image" Target="../media/image48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notesSlide" Target="../notesSlides/notesSlide5.xml"/><Relationship Id="rId7" Type="http://schemas.openxmlformats.org/officeDocument/2006/relationships/oleObject" Target="file:///E:\ExxonMobil%20Production%20Levels.xlsx!ExxonReservesandProduction!%5bExxonMobil%20Production%20Levels.xlsx%5dExxonReservesandProduction%20Chart%205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3.emf"/><Relationship Id="rId5" Type="http://schemas.openxmlformats.org/officeDocument/2006/relationships/oleObject" Target="file:///E:\ExxonMobil%20Production%20Levels.xlsx!ExxonReservesandProduction!%5bExxonMobil%20Production%20Levels.xlsx%5dExxonReservesandProduction%20Chart%201" TargetMode="External"/><Relationship Id="rId10" Type="http://schemas.openxmlformats.org/officeDocument/2006/relationships/image" Target="../media/image55.emf"/><Relationship Id="rId4" Type="http://schemas.openxmlformats.org/officeDocument/2006/relationships/image" Target="../media/image1.jpeg"/><Relationship Id="rId9" Type="http://schemas.openxmlformats.org/officeDocument/2006/relationships/oleObject" Target="file:///E:\ExxonMobil%20Production%20Levels.xlsx!ExxonReservesandProduction!%5bExxonMobil%20Production%20Levels.xlsx%5dExxonReservesandProduction%20Chart%206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6.emf"/><Relationship Id="rId5" Type="http://schemas.openxmlformats.org/officeDocument/2006/relationships/oleObject" Target="file:///E:\ExxonMobil%20Production%20Levels.xlsx!ExxonReservesandProduction!%5bExxonMobil%20Production%20Levels.xlsx%5dExxonReservesandProduction%20Chart%208" TargetMode="External"/><Relationship Id="rId4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file:///E:\Exxon%20SC%20Financial%20Comp%20Analysis.xlsx!Graphs%20(Profitability)%20!%5bExxon%20SC%20Financial%20Comp%20Analysis.xlsx%5dGraphs%20(Profitability)%20%20Chart%208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58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file:///E:\Exxon%20SC%20Financial%20Comp%20Analysis.xlsx!Graphs%20(Profitability)%20!%5bExxon%20SC%20Financial%20Comp%20Analysis.xlsx%5dGraphs%20(Profitability)%20%20Chart%202" TargetMode="External"/><Relationship Id="rId11" Type="http://schemas.openxmlformats.org/officeDocument/2006/relationships/image" Target="../media/image60.emf"/><Relationship Id="rId5" Type="http://schemas.openxmlformats.org/officeDocument/2006/relationships/image" Target="../media/image57.emf"/><Relationship Id="rId10" Type="http://schemas.openxmlformats.org/officeDocument/2006/relationships/oleObject" Target="file:///E:\Exxon%20SC%20Financial%20Comp%20Analysis.xlsx!Graphs%20(Profitability)%20!%5bExxon%20SC%20Financial%20Comp%20Analysis.xlsx%5dGraphs%20(Profitability)%20%20Chart%204" TargetMode="External"/><Relationship Id="rId4" Type="http://schemas.openxmlformats.org/officeDocument/2006/relationships/oleObject" Target="file:///E:\Exxon%20SC%20Financial%20Comp%20Analysis.xlsx!Graphs%20(Profitability)%20!%5bExxon%20SC%20Financial%20Comp%20Analysis.xlsx%5dGraphs%20(Profitability)%20%20Chart%201" TargetMode="External"/><Relationship Id="rId9" Type="http://schemas.openxmlformats.org/officeDocument/2006/relationships/image" Target="../media/image59.e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file:///E:\Exxon%20SC%20Financial%20Comp%20Analysis.xlsx!Graphs%20(Credit)!%5bExxon%20SC%20Financial%20Comp%20Analysis.xlsx%5dGraphs%20(Credit)%20Chart%206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6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file:///E:\Exxon%20SC%20Financial%20Comp%20Analysis.xlsx!Graphs%20(Credit)!%5bExxon%20SC%20Financial%20Comp%20Analysis.xlsx%5dGraphs%20(Credit)%20Chart%207" TargetMode="External"/><Relationship Id="rId5" Type="http://schemas.openxmlformats.org/officeDocument/2006/relationships/image" Target="../media/image61.emf"/><Relationship Id="rId4" Type="http://schemas.openxmlformats.org/officeDocument/2006/relationships/oleObject" Target="file:///E:\Exxon%20SC%20Financial%20Comp%20Analysis.xlsx!Graphs%20(Credit)!%5bExxon%20SC%20Financial%20Comp%20Analysis.xlsx%5dGraphs%20(Credit)%20Chart%205" TargetMode="External"/><Relationship Id="rId9" Type="http://schemas.openxmlformats.org/officeDocument/2006/relationships/image" Target="../media/image63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file:///E:\Exxon%20SC%20Financial%20Comp%20Analysis.xlsx!Graphs%20(Cash%20Flow)!%5bExxon%20SC%20Financial%20Comp%20Analysis.xlsx%5dGraphs%20(Cash%20Flow)%20Chart%206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65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file:///E:\Exxon%20SC%20Financial%20Comp%20Analysis.xlsx!Graphs%20(Cash%20Flow)!%5bExxon%20SC%20Financial%20Comp%20Analysis.xlsx%5dGraphs%20(Cash%20Flow)%20Chart%202" TargetMode="External"/><Relationship Id="rId11" Type="http://schemas.openxmlformats.org/officeDocument/2006/relationships/image" Target="../media/image67.emf"/><Relationship Id="rId5" Type="http://schemas.openxmlformats.org/officeDocument/2006/relationships/image" Target="../media/image64.emf"/><Relationship Id="rId10" Type="http://schemas.openxmlformats.org/officeDocument/2006/relationships/oleObject" Target="file:///E:\Exxon%20SC%20Financial%20Comp%20Analysis.xlsx!Graphs%20(Cash%20Flow)!%5bExxon%20SC%20Financial%20Comp%20Analysis.xlsx%5dGraphs%20(Cash%20Flow)%20Chart%205" TargetMode="External"/><Relationship Id="rId4" Type="http://schemas.openxmlformats.org/officeDocument/2006/relationships/oleObject" Target="file:///E:\Exxon%20SC%20Financial%20Comp%20Analysis.xlsx!Graphs%20(Cash%20Flow)!%5bExxon%20SC%20Financial%20Comp%20Analysis.xlsx%5dGraphs%20(Cash%20Flow)%20Chart%201" TargetMode="External"/><Relationship Id="rId9" Type="http://schemas.openxmlformats.org/officeDocument/2006/relationships/image" Target="../media/image66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68.emf"/><Relationship Id="rId4" Type="http://schemas.openxmlformats.org/officeDocument/2006/relationships/oleObject" Target="file:///E:\ExxonMobil%20Valuation%20Models.xlsx!EPS%20Model%20Assumptions!R2C2:R13C5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69.emf"/><Relationship Id="rId4" Type="http://schemas.openxmlformats.org/officeDocument/2006/relationships/oleObject" Target="file:///E:\ExxonMobil%20Valuation%20Models.xlsx!EPS%20Model%20Price%20Target!R3C2:R7C5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70.emf"/><Relationship Id="rId4" Type="http://schemas.openxmlformats.org/officeDocument/2006/relationships/oleObject" Target="file:///E:\ExxonMobil%20Valuation%20Models.xlsx!DCF%20Assumptions!R2C2:R21C5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71.emf"/><Relationship Id="rId4" Type="http://schemas.openxmlformats.org/officeDocument/2006/relationships/oleObject" Target="file:///E:\ExxonMobil%20Valuation%20Models.xlsx!DCF%20Model%20Price%20Target!R2C2:R11C5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1464" y="3886200"/>
            <a:ext cx="6400800" cy="17526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Furman Investment Club 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March </a:t>
            </a:r>
            <a:r>
              <a:rPr lang="en-US" sz="2800" dirty="0" smtClean="0">
                <a:solidFill>
                  <a:schemeClr val="bg1"/>
                </a:solidFill>
              </a:rPr>
              <a:t>20</a:t>
            </a:r>
            <a:r>
              <a:rPr lang="en-US" sz="2800" dirty="0" smtClean="0">
                <a:solidFill>
                  <a:schemeClr val="bg1"/>
                </a:solidFill>
              </a:rPr>
              <a:t>, </a:t>
            </a:r>
            <a:r>
              <a:rPr lang="en-US" sz="2800" dirty="0" smtClean="0">
                <a:solidFill>
                  <a:schemeClr val="bg1"/>
                </a:solidFill>
              </a:rPr>
              <a:t>2013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25602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58664" y="1066800"/>
            <a:ext cx="5486400" cy="1094926"/>
          </a:xfrm>
          <a:prstGeom prst="rect">
            <a:avLst/>
          </a:prstGeom>
          <a:solidFill>
            <a:srgbClr val="0B2BB5"/>
          </a:solidFill>
        </p:spPr>
      </p:pic>
      <p:sp>
        <p:nvSpPr>
          <p:cNvPr id="6" name="TextBox 5"/>
          <p:cNvSpPr txBox="1"/>
          <p:nvPr/>
        </p:nvSpPr>
        <p:spPr>
          <a:xfrm>
            <a:off x="914400" y="2743200"/>
            <a:ext cx="7696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i="1" dirty="0" smtClean="0">
                <a:solidFill>
                  <a:schemeClr val="bg1"/>
                </a:solidFill>
                <a:latin typeface="+mj-lt"/>
              </a:rPr>
              <a:t>“Taking on the world’s toughest energy challenges” </a:t>
            </a:r>
            <a:endParaRPr lang="en-US" sz="2600" i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685800"/>
          </a:xfrm>
        </p:spPr>
        <p:txBody>
          <a:bodyPr>
            <a:no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  Who We Are:</a:t>
            </a:r>
            <a:br>
              <a:rPr lang="en-US" sz="4800" dirty="0" smtClean="0">
                <a:solidFill>
                  <a:schemeClr val="bg1"/>
                </a:solidFill>
              </a:rPr>
            </a:br>
            <a:r>
              <a:rPr lang="en-US" sz="4800" dirty="0" smtClean="0">
                <a:solidFill>
                  <a:schemeClr val="bg1"/>
                </a:solidFill>
              </a:rPr>
              <a:t> </a:t>
            </a:r>
            <a:r>
              <a:rPr lang="en-US" sz="4000" i="1" dirty="0" smtClean="0">
                <a:solidFill>
                  <a:schemeClr val="bg1"/>
                </a:solidFill>
              </a:rPr>
              <a:t>Business Lines, Supply Chain, and Management Team</a:t>
            </a:r>
            <a:r>
              <a:rPr lang="en-US" sz="4800" dirty="0" smtClean="0">
                <a:solidFill>
                  <a:schemeClr val="bg1"/>
                </a:solidFill>
              </a:rPr>
              <a:t> 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9813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Business Lines 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291976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  <a:buFont typeface="Arial" pitchFamily="34" charset="0"/>
              <a:buChar char="•"/>
              <a:tabLst>
                <a:tab pos="109538" algn="l"/>
              </a:tabLst>
            </a:pPr>
            <a:r>
              <a:rPr lang="en-US" dirty="0"/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Exploration and Production (Upstream): Exploration for and extraction of crude oil and natural gas </a:t>
            </a:r>
            <a:endParaRPr lang="en-US" dirty="0" smtClean="0">
              <a:solidFill>
                <a:schemeClr val="bg1"/>
              </a:solidFill>
            </a:endParaRPr>
          </a:p>
        </p:txBody>
      </p:sp>
      <p:pic>
        <p:nvPicPr>
          <p:cNvPr id="26628" name="Picture 4" descr="http://bloximages.chicago2.vip.townnews.com/billingsgazette.com/content/tncms/assets/v3/editorial/f/39/f397f216-7d6a-55df-93ec-d9ac036d1ef3/505b2ac8dedb9.preview-62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01568" y="2091503"/>
            <a:ext cx="4114800" cy="4423025"/>
          </a:xfrm>
          <a:prstGeom prst="rect">
            <a:avLst/>
          </a:prstGeom>
          <a:noFill/>
        </p:spPr>
      </p:pic>
      <p:pic>
        <p:nvPicPr>
          <p:cNvPr id="26630" name="Picture 6" descr="http://www.americanprogress.org/wp-content/uploads/issues/2010/03/img/fracking_gas_onpage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15368" y="4574374"/>
            <a:ext cx="3657600" cy="1936729"/>
          </a:xfrm>
          <a:prstGeom prst="rect">
            <a:avLst/>
          </a:prstGeom>
          <a:noFill/>
        </p:spPr>
      </p:pic>
      <p:pic>
        <p:nvPicPr>
          <p:cNvPr id="7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pic>
        <p:nvPicPr>
          <p:cNvPr id="52226" name="Picture 2" descr="http://www.arabianoilandgas.com/pictures/gallery/Exxon%20Gulf%20of%20Mexico%20Rig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15368" y="2091503"/>
            <a:ext cx="3657600" cy="2351477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47598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Business Lines (Continued) 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470552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  <a:buFont typeface="Arial" pitchFamily="34" charset="0"/>
              <a:buChar char="•"/>
              <a:tabLst>
                <a:tab pos="109538" algn="l"/>
              </a:tabLst>
            </a:pPr>
            <a:r>
              <a:rPr lang="en-US" dirty="0"/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Refining and Marketing (Downstream): Refining crude oil into 	marketable 	products such as petroleum, gasoline, kerosene, gas oil, lubricating oil, and 	fuel oil  </a:t>
            </a:r>
            <a:endParaRPr lang="en-US" dirty="0" smtClean="0">
              <a:solidFill>
                <a:schemeClr val="bg1"/>
              </a:solidFill>
            </a:endParaRPr>
          </a:p>
        </p:txBody>
      </p:sp>
      <p:pic>
        <p:nvPicPr>
          <p:cNvPr id="29698" name="Picture 2" descr="http://media.mwcradio.com/mimesis/2012-11/01/2012-11-01T121205Z_1_CBRE8A00XWJ00_RTROPTP_3_NEWS-US-EXXON-EARNINGS_JPG_475x310_q8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6600" y="2801304"/>
            <a:ext cx="4076700" cy="3187700"/>
          </a:xfrm>
          <a:prstGeom prst="rect">
            <a:avLst/>
          </a:prstGeom>
          <a:noFill/>
        </p:spPr>
      </p:pic>
      <p:pic>
        <p:nvPicPr>
          <p:cNvPr id="29700" name="Picture 4" descr="http://privateofficernews.files.wordpress.com/2011/09/exxon.jpg?w=3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801303"/>
            <a:ext cx="3962400" cy="3208265"/>
          </a:xfrm>
          <a:prstGeom prst="rect">
            <a:avLst/>
          </a:prstGeom>
          <a:noFill/>
        </p:spPr>
      </p:pic>
      <p:pic>
        <p:nvPicPr>
          <p:cNvPr id="6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85800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US" sz="2600" dirty="0" smtClean="0">
                <a:solidFill>
                  <a:schemeClr val="bg1"/>
                </a:solidFill>
              </a:rPr>
              <a:t>Business Lines (Continued) 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325562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  <a:buFont typeface="Arial" pitchFamily="34" charset="0"/>
              <a:buChar char="•"/>
              <a:tabLst>
                <a:tab pos="109538" algn="l"/>
              </a:tabLst>
            </a:pPr>
            <a:r>
              <a:rPr lang="en-US" dirty="0"/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Petrochemical (Chemical): Producing marketable chemical products derived 	from petroleum such as paint, ink, dye, food additives, adhesives, packaging 	materials, and cleaning agents</a:t>
            </a:r>
            <a:endParaRPr lang="en-US" dirty="0" smtClean="0">
              <a:solidFill>
                <a:schemeClr val="bg1"/>
              </a:solidFill>
            </a:endParaRPr>
          </a:p>
        </p:txBody>
      </p:sp>
      <p:pic>
        <p:nvPicPr>
          <p:cNvPr id="30722" name="Picture 2" descr="http://blogs.dickinson.edu/luce09/files/2009/11/5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3901" y="2392362"/>
            <a:ext cx="7810499" cy="4206240"/>
          </a:xfrm>
          <a:prstGeom prst="rect">
            <a:avLst/>
          </a:prstGeom>
          <a:noFill/>
        </p:spPr>
      </p:pic>
      <p:pic>
        <p:nvPicPr>
          <p:cNvPr id="6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533400" y="762000"/>
            <a:ext cx="8229600" cy="685800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US" sz="2600" dirty="0" smtClean="0">
                <a:solidFill>
                  <a:schemeClr val="bg1"/>
                </a:solidFill>
              </a:rPr>
              <a:t>Business Lines Composition 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6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457200" y="2069068"/>
            <a:ext cx="331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Average Capital Employed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00600" y="2069068"/>
            <a:ext cx="403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Capital and Exploration Expenditures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5896" y="63246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Company filings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Data as of 12/31/12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024137"/>
              </p:ext>
            </p:extLst>
          </p:nvPr>
        </p:nvGraphicFramePr>
        <p:xfrm>
          <a:off x="-197467" y="2600325"/>
          <a:ext cx="4562475" cy="273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0" name="Worksheet" r:id="rId4" imgW="4562559" imgH="2733710" progId="Excel.Sheet.12">
                  <p:link updateAutomatic="1"/>
                </p:oleObj>
              </mc:Choice>
              <mc:Fallback>
                <p:oleObj name="Worksheet" r:id="rId4" imgW="4562559" imgH="273371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97467" y="2600325"/>
                        <a:ext cx="4562475" cy="2733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9952410"/>
              </p:ext>
            </p:extLst>
          </p:nvPr>
        </p:nvGraphicFramePr>
        <p:xfrm>
          <a:off x="4495800" y="2621933"/>
          <a:ext cx="4562475" cy="2733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91" name="Worksheet" r:id="rId6" imgW="4562559" imgH="2733710" progId="Excel.Sheet.12">
                  <p:link updateAutomatic="1"/>
                </p:oleObj>
              </mc:Choice>
              <mc:Fallback>
                <p:oleObj name="Worksheet" r:id="rId6" imgW="4562559" imgH="273371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95800" y="2621933"/>
                        <a:ext cx="4562475" cy="2733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1606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85800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US" sz="2600" dirty="0" smtClean="0">
                <a:solidFill>
                  <a:schemeClr val="bg1"/>
                </a:solidFill>
              </a:rPr>
              <a:t>Supply Chain: Customers  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429618"/>
              </p:ext>
            </p:extLst>
          </p:nvPr>
        </p:nvGraphicFramePr>
        <p:xfrm>
          <a:off x="1070193" y="1676400"/>
          <a:ext cx="7003615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82" name="Worksheet" r:id="rId4" imgW="4733841" imgH="2781300" progId="Excel.Sheet.12">
                  <p:link updateAutomatic="1"/>
                </p:oleObj>
              </mc:Choice>
              <mc:Fallback>
                <p:oleObj name="Worksheet" r:id="rId4" imgW="4733841" imgH="278130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70193" y="1676400"/>
                        <a:ext cx="7003615" cy="411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28600" y="63246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Bloomberg Financial 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Data as of 12/31/12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95988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85800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US" sz="2600" dirty="0" smtClean="0">
                <a:solidFill>
                  <a:schemeClr val="bg1"/>
                </a:solidFill>
              </a:rPr>
              <a:t>Supply Chain: Suppliers  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709575"/>
              </p:ext>
            </p:extLst>
          </p:nvPr>
        </p:nvGraphicFramePr>
        <p:xfrm>
          <a:off x="300625" y="1752600"/>
          <a:ext cx="8542751" cy="3657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05" name="Worksheet" r:id="rId4" imgW="6496016" imgH="2781300" progId="Excel.Sheet.12">
                  <p:link updateAutomatic="1"/>
                </p:oleObj>
              </mc:Choice>
              <mc:Fallback>
                <p:oleObj name="Worksheet" r:id="rId4" imgW="6496016" imgH="278130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0625" y="1752600"/>
                        <a:ext cx="8542751" cy="3657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600" y="63246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Bloomberg Financial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Data as of 12/31/12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394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85800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US" sz="2600" dirty="0" smtClean="0">
                <a:solidFill>
                  <a:schemeClr val="bg1"/>
                </a:solidFill>
              </a:rPr>
              <a:t>Management Team 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pic>
        <p:nvPicPr>
          <p:cNvPr id="34818" name="Picture 2" descr="http://www.exxonmobil.com/Corporate/Images/enlarged_corp_tillerson.jpg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400"/>
            <a:ext cx="2286000" cy="236220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971800" y="1295400"/>
            <a:ext cx="5715000" cy="24160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Rex W. </a:t>
            </a:r>
            <a:r>
              <a:rPr lang="en-US" dirty="0" err="1" smtClean="0">
                <a:solidFill>
                  <a:schemeClr val="bg1"/>
                </a:solidFill>
                <a:latin typeface="+mj-lt"/>
              </a:rPr>
              <a:t>Tillerson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 – Chairman and CEO</a:t>
            </a:r>
          </a:p>
          <a:p>
            <a:pPr>
              <a:buClr>
                <a:schemeClr val="bg1"/>
              </a:buClr>
            </a:pPr>
            <a:endParaRPr lang="en-US" sz="700" dirty="0" smtClean="0">
              <a:solidFill>
                <a:schemeClr val="bg1"/>
              </a:solidFill>
              <a:latin typeface="+mj-lt"/>
            </a:endParaRP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B.S. Civil Engineering </a:t>
            </a: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1975 – Production Engineer at Exxon</a:t>
            </a: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Upstream activities before executive leadership </a:t>
            </a: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Executive committee and former chairman of American Petroleum Institute (API)</a:t>
            </a: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Member National Petroleum Council and Business Roundtable </a:t>
            </a:r>
          </a:p>
        </p:txBody>
      </p:sp>
      <p:pic>
        <p:nvPicPr>
          <p:cNvPr id="34820" name="Picture 4" descr="http://images_corporate.exxonmobil.com/Corporate/Images/Corporate/article_240x240_corp_aswiger.jpg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4114800"/>
            <a:ext cx="2286000" cy="2286001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971800" y="4140875"/>
            <a:ext cx="5715000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Andrew P. </a:t>
            </a:r>
            <a:r>
              <a:rPr lang="en-US" dirty="0" err="1" smtClean="0">
                <a:solidFill>
                  <a:schemeClr val="bg1"/>
                </a:solidFill>
                <a:latin typeface="+mj-lt"/>
              </a:rPr>
              <a:t>Swiger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 – SVP and CFO</a:t>
            </a:r>
          </a:p>
          <a:p>
            <a:pPr>
              <a:buClr>
                <a:schemeClr val="bg1"/>
              </a:buClr>
            </a:pPr>
            <a:endParaRPr lang="en-US" sz="700" dirty="0" smtClean="0">
              <a:solidFill>
                <a:schemeClr val="bg1"/>
              </a:solidFill>
              <a:latin typeface="+mj-lt"/>
            </a:endParaRP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B.S. Petroleum Engineering</a:t>
            </a: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1978 – Operations Engineer at Exxon</a:t>
            </a: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1996 – Managerial (Refining and Petrochemical)</a:t>
            </a: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1999 – Managerial (Upstream)</a:t>
            </a: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2001 – Vice President for African Operations</a:t>
            </a: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2003 – Production VP for EU and Russia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6504801"/>
            <a:ext cx="838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Company documents </a:t>
            </a:r>
          </a:p>
        </p:txBody>
      </p:sp>
    </p:spTree>
    <p:extLst>
      <p:ext uri="{BB962C8B-B14F-4D97-AF65-F5344CB8AC3E}">
        <p14:creationId xmlns:p14="http://schemas.microsoft.com/office/powerpoint/2010/main" val="350420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85800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r>
              <a:rPr lang="en-US" sz="2600" dirty="0" smtClean="0">
                <a:solidFill>
                  <a:schemeClr val="bg1"/>
                </a:solidFill>
              </a:rPr>
              <a:t>Management Team  (Continued)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971800" y="1358900"/>
            <a:ext cx="5715000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Mark W. Albers – SVP</a:t>
            </a:r>
          </a:p>
          <a:p>
            <a:pPr>
              <a:buClr>
                <a:schemeClr val="bg1"/>
              </a:buClr>
            </a:pPr>
            <a:endParaRPr lang="en-US" sz="700" dirty="0" smtClean="0">
              <a:solidFill>
                <a:schemeClr val="bg1"/>
              </a:solidFill>
              <a:latin typeface="+mj-lt"/>
            </a:endParaRP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B.A. Petroleum Engineering </a:t>
            </a: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1979 –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Exxon</a:t>
            </a: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Has held a variety of managerial positions before joining the executive leadership, including responsibilities at headquarters, Africa, and Australia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4114800"/>
            <a:ext cx="5715000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Michael J. Dolan – SVP</a:t>
            </a:r>
          </a:p>
          <a:p>
            <a:pPr>
              <a:buClr>
                <a:schemeClr val="bg1"/>
              </a:buClr>
            </a:pPr>
            <a:endParaRPr lang="en-US" sz="700" dirty="0" smtClean="0">
              <a:solidFill>
                <a:schemeClr val="bg1"/>
              </a:solidFill>
              <a:latin typeface="+mj-lt"/>
            </a:endParaRP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B.S. Chemical Engineering; M.B.A </a:t>
            </a: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1980 – Engineering and Refining at Mobil</a:t>
            </a: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1993 – Petrochemicals at Mobil</a:t>
            </a:r>
          </a:p>
          <a:p>
            <a:pPr marL="285750" indent="-285750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Has held variety of managerial positions within the chemicals and refining segments before joining executive leadership </a:t>
            </a:r>
          </a:p>
        </p:txBody>
      </p:sp>
      <p:pic>
        <p:nvPicPr>
          <p:cNvPr id="35842" name="Picture 2" descr="http://www.uscib.org/docs/images/3760_image001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1289050"/>
            <a:ext cx="2260600" cy="238125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46" name="Picture 6" descr="http://images_corporate.exxonmobil.com/Corporate/Images/Corporate/article_240x240_corp_mjd.jpg">
            <a:hlinkClick r:id="rId5"/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4038599"/>
            <a:ext cx="2286000" cy="2286001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04800" y="6504801"/>
            <a:ext cx="838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Company documents</a:t>
            </a:r>
          </a:p>
        </p:txBody>
      </p:sp>
    </p:spTree>
    <p:extLst>
      <p:ext uri="{BB962C8B-B14F-4D97-AF65-F5344CB8AC3E}">
        <p14:creationId xmlns:p14="http://schemas.microsoft.com/office/powerpoint/2010/main" val="320651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685800"/>
          </a:xfrm>
        </p:spPr>
        <p:txBody>
          <a:bodyPr>
            <a:no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 What We’ve Done:</a:t>
            </a:r>
            <a:br>
              <a:rPr lang="en-US" sz="4800" dirty="0" smtClean="0">
                <a:solidFill>
                  <a:schemeClr val="bg1"/>
                </a:solidFill>
              </a:rPr>
            </a:br>
            <a:r>
              <a:rPr lang="en-US" sz="4800" dirty="0" smtClean="0">
                <a:solidFill>
                  <a:schemeClr val="bg1"/>
                </a:solidFill>
              </a:rPr>
              <a:t> </a:t>
            </a:r>
            <a:r>
              <a:rPr lang="en-US" sz="4000" i="1" dirty="0" smtClean="0">
                <a:solidFill>
                  <a:schemeClr val="bg1"/>
                </a:solidFill>
              </a:rPr>
              <a:t>Properties, Production, Profits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Oil and Gas Reserves 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1249362"/>
            <a:ext cx="82296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chemeClr val="bg1"/>
              </a:buClr>
              <a:buFont typeface="Arial" pitchFamily="34" charset="0"/>
              <a:buChar char="•"/>
              <a:tabLst>
                <a:tab pos="109538" algn="l"/>
              </a:tabLst>
            </a:pPr>
            <a:r>
              <a:rPr lang="en-US" dirty="0"/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Proved Reserves: Crude Oil </a:t>
            </a:r>
          </a:p>
          <a:p>
            <a:pPr lvl="1">
              <a:buClr>
                <a:schemeClr val="bg1"/>
              </a:buClr>
              <a:buFont typeface="Arial" pitchFamily="34" charset="0"/>
              <a:buChar char="•"/>
              <a:tabLst>
                <a:tab pos="109538" algn="l"/>
              </a:tabLst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 7.152 billion barrels (Total)</a:t>
            </a:r>
          </a:p>
          <a:p>
            <a:pPr lvl="1">
              <a:buClr>
                <a:schemeClr val="bg1"/>
              </a:buClr>
              <a:buFont typeface="Arial" pitchFamily="34" charset="0"/>
              <a:buChar char="•"/>
              <a:tabLst>
                <a:tab pos="109538" algn="l"/>
              </a:tabLst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4.663 billion barrels (Developed)</a:t>
            </a:r>
          </a:p>
          <a:p>
            <a:pPr lvl="1">
              <a:buClr>
                <a:schemeClr val="bg1"/>
              </a:buClr>
              <a:buFont typeface="Arial" pitchFamily="34" charset="0"/>
              <a:buChar char="•"/>
              <a:tabLst>
                <a:tab pos="109538" algn="l"/>
              </a:tabLst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2.489 billion barrels (Undeveloped)</a:t>
            </a:r>
          </a:p>
          <a:p>
            <a:pPr lvl="1">
              <a:buClr>
                <a:schemeClr val="bg1"/>
              </a:buClr>
              <a:tabLst>
                <a:tab pos="109538" algn="l"/>
              </a:tabLst>
            </a:pPr>
            <a:endParaRPr lang="en-US" sz="1000" dirty="0">
              <a:solidFill>
                <a:schemeClr val="bg1"/>
              </a:solidFill>
              <a:latin typeface="+mj-lt"/>
            </a:endParaRPr>
          </a:p>
          <a:p>
            <a:pPr marL="0" lvl="1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 Proved Reserves: Natural Gas </a:t>
            </a:r>
          </a:p>
          <a:p>
            <a:pPr marL="457200" lvl="2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74.091 trillion cubic feet (Total)</a:t>
            </a:r>
          </a:p>
          <a:p>
            <a:pPr marL="457200" lvl="2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50.257 trillion cubic feet (Developed)</a:t>
            </a:r>
          </a:p>
          <a:p>
            <a:pPr marL="457200" lvl="2">
              <a:buClr>
                <a:schemeClr val="bg1"/>
              </a:buClr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23.834 trillion cubic feet (Undeveloped)</a:t>
            </a:r>
          </a:p>
          <a:p>
            <a:pPr lvl="1">
              <a:buClr>
                <a:schemeClr val="bg1"/>
              </a:buClr>
              <a:tabLst>
                <a:tab pos="109538" algn="l"/>
              </a:tabLst>
            </a:pPr>
            <a:endParaRPr lang="en-US" sz="1000" dirty="0" smtClean="0">
              <a:solidFill>
                <a:schemeClr val="bg1"/>
              </a:solidFill>
              <a:latin typeface="+mj-lt"/>
            </a:endParaRPr>
          </a:p>
          <a:p>
            <a:pPr marL="0" lvl="1">
              <a:buClr>
                <a:schemeClr val="bg1"/>
              </a:buClr>
              <a:buFont typeface="Arial" pitchFamily="34" charset="0"/>
              <a:buChar char="•"/>
              <a:tabLst>
                <a:tab pos="0" algn="l"/>
              </a:tabLst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Proved Reserves: Natural Gas Liquids </a:t>
            </a:r>
          </a:p>
          <a:p>
            <a:pPr marL="457200" lvl="2">
              <a:buClr>
                <a:schemeClr val="bg1"/>
              </a:buClr>
              <a:buFont typeface="Arial" pitchFamily="34" charset="0"/>
              <a:buChar char="•"/>
              <a:tabLst>
                <a:tab pos="0" algn="l"/>
              </a:tabLst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1.505 billion barrels (Total)</a:t>
            </a:r>
          </a:p>
          <a:p>
            <a:pPr marL="457200" lvl="2">
              <a:buClr>
                <a:schemeClr val="bg1"/>
              </a:buClr>
              <a:buFont typeface="Arial" pitchFamily="34" charset="0"/>
              <a:buChar char="•"/>
              <a:tabLst>
                <a:tab pos="0" algn="l"/>
              </a:tabLst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1.133 billion barrels (Developed)</a:t>
            </a:r>
          </a:p>
          <a:p>
            <a:pPr marL="457200" lvl="2">
              <a:buClr>
                <a:schemeClr val="bg1"/>
              </a:buClr>
              <a:buFont typeface="Arial" pitchFamily="34" charset="0"/>
              <a:buChar char="•"/>
              <a:tabLst>
                <a:tab pos="0" algn="l"/>
              </a:tabLst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0.372 billion barrels (Undeveloped)</a:t>
            </a:r>
          </a:p>
          <a:p>
            <a:pPr marL="457200" lvl="2">
              <a:buClr>
                <a:schemeClr val="bg1"/>
              </a:buClr>
              <a:buFont typeface="Arial" pitchFamily="34" charset="0"/>
              <a:buChar char="•"/>
              <a:tabLst>
                <a:tab pos="0" algn="l"/>
              </a:tabLst>
            </a:pPr>
            <a:endParaRPr lang="en-US" sz="1000" dirty="0">
              <a:solidFill>
                <a:schemeClr val="bg1"/>
              </a:solidFill>
              <a:latin typeface="+mj-lt"/>
            </a:endParaRPr>
          </a:p>
          <a:p>
            <a:pPr marL="0" lvl="2">
              <a:buClr>
                <a:schemeClr val="bg1"/>
              </a:buClr>
              <a:buFont typeface="Arial" pitchFamily="34" charset="0"/>
              <a:buChar char="•"/>
              <a:tabLst>
                <a:tab pos="0" algn="l"/>
              </a:tabLst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 Proved Reserves: Barrel of Oil Equivalent (BOE)</a:t>
            </a:r>
          </a:p>
          <a:p>
            <a:pPr marL="457200" lvl="3">
              <a:buClr>
                <a:schemeClr val="bg1"/>
              </a:buClr>
              <a:buFont typeface="Arial" pitchFamily="34" charset="0"/>
              <a:buChar char="•"/>
              <a:tabLst>
                <a:tab pos="0" algn="l"/>
              </a:tabLst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 25.164 billion barrels (Total)</a:t>
            </a:r>
          </a:p>
          <a:p>
            <a:pPr marL="457200" lvl="3">
              <a:buClr>
                <a:schemeClr val="bg1"/>
              </a:buClr>
              <a:buFont typeface="Arial" pitchFamily="34" charset="0"/>
              <a:buChar char="•"/>
              <a:tabLst>
                <a:tab pos="0" algn="l"/>
              </a:tabLst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 15.314 billion barrels (Developed)</a:t>
            </a:r>
          </a:p>
          <a:p>
            <a:pPr marL="457200" lvl="3">
              <a:buClr>
                <a:schemeClr val="bg1"/>
              </a:buClr>
              <a:buFont typeface="Arial" pitchFamily="34" charset="0"/>
              <a:buChar char="•"/>
              <a:tabLst>
                <a:tab pos="0" algn="l"/>
              </a:tabLst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  9.850 billion barrels (Undeveloped)</a:t>
            </a:r>
          </a:p>
          <a:p>
            <a:pPr marL="457200" lvl="2">
              <a:buClr>
                <a:schemeClr val="bg1"/>
              </a:buClr>
              <a:tabLst>
                <a:tab pos="0" algn="l"/>
              </a:tabLst>
            </a:pPr>
            <a:endParaRPr lang="en-US" dirty="0" smtClean="0">
              <a:solidFill>
                <a:schemeClr val="bg1"/>
              </a:solidFill>
              <a:latin typeface="+mj-lt"/>
            </a:endParaRPr>
          </a:p>
          <a:p>
            <a:pPr marL="457200" lvl="2">
              <a:tabLst>
                <a:tab pos="0" algn="l"/>
              </a:tabLst>
            </a:pPr>
            <a:endParaRPr lang="en-US" dirty="0">
              <a:latin typeface="+mj-lt"/>
            </a:endParaRPr>
          </a:p>
          <a:p>
            <a:pPr marL="457200" lvl="2">
              <a:tabLst>
                <a:tab pos="0" algn="l"/>
              </a:tabLst>
            </a:pPr>
            <a:endParaRPr lang="en-US" dirty="0" smtClean="0">
              <a:latin typeface="+mj-lt"/>
            </a:endParaRPr>
          </a:p>
          <a:p>
            <a:pPr marL="114300" lvl="1" indent="-114300">
              <a:tabLst>
                <a:tab pos="109538" algn="l"/>
              </a:tabLst>
            </a:pPr>
            <a:r>
              <a:rPr lang="en-US" dirty="0" smtClean="0">
                <a:latin typeface="+mj-lt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800" y="63246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Company filings 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Data as of 12/31/12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Oil and Gas Reserves (Continued) 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63246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Bloomberg Financial 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Data as of 12/31/12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196759"/>
              </p:ext>
            </p:extLst>
          </p:nvPr>
        </p:nvGraphicFramePr>
        <p:xfrm>
          <a:off x="459886" y="1554480"/>
          <a:ext cx="3502514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3" name="Worksheet" r:id="rId5" imgW="4552849" imgH="2733743" progId="Excel.Sheet.12">
                  <p:link updateAutomatic="1"/>
                </p:oleObj>
              </mc:Choice>
              <mc:Fallback>
                <p:oleObj name="Worksheet" r:id="rId5" imgW="4552849" imgH="2733743" progId="Excel.Sheet.12">
                  <p:link updateAutomatic="1"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886" y="1554480"/>
                        <a:ext cx="3502514" cy="2103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04800" y="1270026"/>
            <a:ext cx="388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+mj-lt"/>
              </a:rPr>
              <a:t>Proved Reserves </a:t>
            </a:r>
            <a:endParaRPr lang="en-US" sz="1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94848" y="3761096"/>
            <a:ext cx="4686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+mj-lt"/>
              </a:rPr>
              <a:t>Proved Developed Reserves (% of Total Proved)</a:t>
            </a:r>
            <a:endParaRPr lang="en-US" sz="1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95599" y="1270026"/>
            <a:ext cx="388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+mj-lt"/>
              </a:rPr>
              <a:t>Reserve Replacement Ratio</a:t>
            </a:r>
            <a:endParaRPr lang="en-US" sz="1400" b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956365"/>
              </p:ext>
            </p:extLst>
          </p:nvPr>
        </p:nvGraphicFramePr>
        <p:xfrm>
          <a:off x="2555544" y="4194184"/>
          <a:ext cx="3343961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4" name="Worksheet" r:id="rId7" imgW="4543408" imgH="2857500" progId="Excel.Sheet.12">
                  <p:link updateAutomatic="1"/>
                </p:oleObj>
              </mc:Choice>
              <mc:Fallback>
                <p:oleObj name="Worksheet" r:id="rId7" imgW="4543408" imgH="285750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55544" y="4194184"/>
                        <a:ext cx="3343961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0837093"/>
              </p:ext>
            </p:extLst>
          </p:nvPr>
        </p:nvGraphicFramePr>
        <p:xfrm>
          <a:off x="4638675" y="1558925"/>
          <a:ext cx="3554413" cy="214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5" name="Worksheet" r:id="rId9" imgW="4572000" imgH="2762385" progId="Excel.Sheet.12">
                  <p:link updateAutomatic="1"/>
                </p:oleObj>
              </mc:Choice>
              <mc:Fallback>
                <p:oleObj name="Worksheet" r:id="rId9" imgW="4572000" imgH="276238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38675" y="1558925"/>
                        <a:ext cx="3554413" cy="21478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057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Production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63246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Bloomberg Financial 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Data as of 12/31/12 </a:t>
            </a:r>
          </a:p>
        </p:txBody>
      </p:sp>
      <p:pic>
        <p:nvPicPr>
          <p:cNvPr id="8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2541896" y="1524000"/>
            <a:ext cx="388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+mj-lt"/>
              </a:rPr>
              <a:t>Production (Millions of BOE per day)</a:t>
            </a:r>
            <a:endParaRPr lang="en-US" sz="1400" b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8447969"/>
              </p:ext>
            </p:extLst>
          </p:nvPr>
        </p:nvGraphicFramePr>
        <p:xfrm>
          <a:off x="1268412" y="1970088"/>
          <a:ext cx="6275388" cy="3821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7" name="Worksheet" r:id="rId4" imgW="4600592" imgH="2800485" progId="Excel.Sheet.12">
                  <p:link updateAutomatic="1"/>
                </p:oleObj>
              </mc:Choice>
              <mc:Fallback>
                <p:oleObj name="Worksheet" r:id="rId4" imgW="4600592" imgH="280048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68412" y="1970088"/>
                        <a:ext cx="6275388" cy="3821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6096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Financial Analysis: Profitability 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3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4987453" y="3823648"/>
            <a:ext cx="39142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Return on Common Equity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52736" y="3823648"/>
            <a:ext cx="358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Return on Total Capital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1295400"/>
            <a:ext cx="383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Profit Margin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27093" y="1295400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Return on Assets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499323"/>
              </p:ext>
            </p:extLst>
          </p:nvPr>
        </p:nvGraphicFramePr>
        <p:xfrm>
          <a:off x="5078104" y="4229440"/>
          <a:ext cx="3510085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0" name="Worksheet" r:id="rId4" imgW="4562559" imgH="2733710" progId="Excel.Sheet.12">
                  <p:link updateAutomatic="1"/>
                </p:oleObj>
              </mc:Choice>
              <mc:Fallback>
                <p:oleObj name="Worksheet" r:id="rId4" imgW="4562559" imgH="273371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78104" y="4229440"/>
                        <a:ext cx="3510085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4867868"/>
              </p:ext>
            </p:extLst>
          </p:nvPr>
        </p:nvGraphicFramePr>
        <p:xfrm>
          <a:off x="5105400" y="1698008"/>
          <a:ext cx="3510085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1" name="Worksheet" r:id="rId6" imgW="4562559" imgH="2733710" progId="Excel.Sheet.12">
                  <p:link updateAutomatic="1"/>
                </p:oleObj>
              </mc:Choice>
              <mc:Fallback>
                <p:oleObj name="Worksheet" r:id="rId6" imgW="4562559" imgH="273371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105400" y="1698008"/>
                        <a:ext cx="3510085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5927761"/>
              </p:ext>
            </p:extLst>
          </p:nvPr>
        </p:nvGraphicFramePr>
        <p:xfrm>
          <a:off x="452315" y="1657065"/>
          <a:ext cx="3510085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2" name="Worksheet" r:id="rId8" imgW="4562559" imgH="2733710" progId="Excel.Sheet.12">
                  <p:link updateAutomatic="1"/>
                </p:oleObj>
              </mc:Choice>
              <mc:Fallback>
                <p:oleObj name="Worksheet" r:id="rId8" imgW="4562559" imgH="273371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2315" y="1657065"/>
                        <a:ext cx="3510085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9773953"/>
              </p:ext>
            </p:extLst>
          </p:nvPr>
        </p:nvGraphicFramePr>
        <p:xfrm>
          <a:off x="541761" y="4186224"/>
          <a:ext cx="3510085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03" name="Worksheet" r:id="rId10" imgW="4562559" imgH="2733710" progId="Excel.Sheet.12">
                  <p:link updateAutomatic="1"/>
                </p:oleObj>
              </mc:Choice>
              <mc:Fallback>
                <p:oleObj name="Worksheet" r:id="rId10" imgW="4562559" imgH="273371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41761" y="4186224"/>
                        <a:ext cx="3510085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28600" y="63246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Bloomberg Financial 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Data as of 12/31/12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6096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Financial Analysis: Credit and Liquidity 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3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28600" y="63246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Bloomberg Financial 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Data as of 12/31/12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90934"/>
            <a:ext cx="383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Total Debt / Total Capital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99199" y="1390934"/>
            <a:ext cx="383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Total Debt / Total Assets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81200" y="3997656"/>
            <a:ext cx="4980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Operating Cash Flow / Total Liabilities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4439705"/>
              </p:ext>
            </p:extLst>
          </p:nvPr>
        </p:nvGraphicFramePr>
        <p:xfrm>
          <a:off x="2675763" y="4450080"/>
          <a:ext cx="3510085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0" name="Worksheet" r:id="rId4" imgW="4562559" imgH="2733710" progId="Excel.Sheet.12">
                  <p:link updateAutomatic="1"/>
                </p:oleObj>
              </mc:Choice>
              <mc:Fallback>
                <p:oleObj name="Worksheet" r:id="rId4" imgW="4562559" imgH="273371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75763" y="4450080"/>
                        <a:ext cx="3510085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981919"/>
              </p:ext>
            </p:extLst>
          </p:nvPr>
        </p:nvGraphicFramePr>
        <p:xfrm>
          <a:off x="498144" y="1828800"/>
          <a:ext cx="3510085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1" name="Worksheet" r:id="rId6" imgW="4562559" imgH="2733710" progId="Excel.Sheet.12">
                  <p:link updateAutomatic="1"/>
                </p:oleObj>
              </mc:Choice>
              <mc:Fallback>
                <p:oleObj name="Worksheet" r:id="rId6" imgW="4562559" imgH="273371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8144" y="1828800"/>
                        <a:ext cx="3510085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847049"/>
              </p:ext>
            </p:extLst>
          </p:nvPr>
        </p:nvGraphicFramePr>
        <p:xfrm>
          <a:off x="4858266" y="1856096"/>
          <a:ext cx="3510085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72" name="Worksheet" r:id="rId8" imgW="4562559" imgH="2733710" progId="Excel.Sheet.12">
                  <p:link updateAutomatic="1"/>
                </p:oleObj>
              </mc:Choice>
              <mc:Fallback>
                <p:oleObj name="Worksheet" r:id="rId8" imgW="4562559" imgH="273371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58266" y="1856096"/>
                        <a:ext cx="3510085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942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6096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Financial Analysis: Cash Flow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3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28600" y="63246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Bloomberg Financial 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Data as of 12/31/12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631" y="1295400"/>
            <a:ext cx="4214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Free Cash Flow to Firm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30807" y="3810000"/>
            <a:ext cx="472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Operating Cash Flow / Capital Expenditures 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9779" y="3810000"/>
            <a:ext cx="383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Operating Cash Flow / Net Income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43400" y="1295400"/>
            <a:ext cx="4421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Free Cash Flow to Equity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141876"/>
              </p:ext>
            </p:extLst>
          </p:nvPr>
        </p:nvGraphicFramePr>
        <p:xfrm>
          <a:off x="376115" y="1676400"/>
          <a:ext cx="3510085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2" name="Worksheet" r:id="rId4" imgW="4562559" imgH="2733710" progId="Excel.Sheet.12">
                  <p:link updateAutomatic="1"/>
                </p:oleObj>
              </mc:Choice>
              <mc:Fallback>
                <p:oleObj name="Worksheet" r:id="rId4" imgW="4562559" imgH="273371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6115" y="1676400"/>
                        <a:ext cx="3510085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208218"/>
              </p:ext>
            </p:extLst>
          </p:nvPr>
        </p:nvGraphicFramePr>
        <p:xfrm>
          <a:off x="4625238" y="1683721"/>
          <a:ext cx="3586163" cy="214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3" name="Worksheet" r:id="rId6" imgW="4562559" imgH="2733710" progId="Excel.Sheet.12">
                  <p:link updateAutomatic="1"/>
                </p:oleObj>
              </mc:Choice>
              <mc:Fallback>
                <p:oleObj name="Worksheet" r:id="rId6" imgW="4562559" imgH="273371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625238" y="1683721"/>
                        <a:ext cx="3586163" cy="2147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998787"/>
              </p:ext>
            </p:extLst>
          </p:nvPr>
        </p:nvGraphicFramePr>
        <p:xfrm>
          <a:off x="528735" y="4210336"/>
          <a:ext cx="3433665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4" name="Worksheet" r:id="rId8" imgW="4572000" imgH="2800445" progId="Excel.Sheet.12">
                  <p:link updateAutomatic="1"/>
                </p:oleObj>
              </mc:Choice>
              <mc:Fallback>
                <p:oleObj name="Worksheet" r:id="rId8" imgW="4572000" imgH="280044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8735" y="4210336"/>
                        <a:ext cx="3433665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9853857"/>
              </p:ext>
            </p:extLst>
          </p:nvPr>
        </p:nvGraphicFramePr>
        <p:xfrm>
          <a:off x="4803775" y="4241800"/>
          <a:ext cx="3517900" cy="215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35" name="Worksheet" r:id="rId10" imgW="4572000" imgH="2800445" progId="Excel.Sheet.12">
                  <p:link updateAutomatic="1"/>
                </p:oleObj>
              </mc:Choice>
              <mc:Fallback>
                <p:oleObj name="Worksheet" r:id="rId10" imgW="4572000" imgH="280044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803775" y="4241800"/>
                        <a:ext cx="3517900" cy="2154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19427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685800"/>
          </a:xfrm>
        </p:spPr>
        <p:txBody>
          <a:bodyPr>
            <a:no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  Where We’re Going:</a:t>
            </a:r>
            <a:br>
              <a:rPr lang="en-US" sz="4800" dirty="0" smtClean="0">
                <a:solidFill>
                  <a:schemeClr val="bg1"/>
                </a:solidFill>
              </a:rPr>
            </a:br>
            <a:r>
              <a:rPr lang="en-US" sz="4800" dirty="0" smtClean="0">
                <a:solidFill>
                  <a:schemeClr val="bg1"/>
                </a:solidFill>
              </a:rPr>
              <a:t> </a:t>
            </a:r>
            <a:r>
              <a:rPr lang="en-US" sz="4000" i="1" dirty="0" smtClean="0">
                <a:solidFill>
                  <a:schemeClr val="bg1"/>
                </a:solidFill>
              </a:rPr>
              <a:t>On the Horizon 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6096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The Drivers of Energy 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01304" y="6477000"/>
            <a:ext cx="838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U.S. Energy Information Administration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924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 Supply and Demand</a:t>
            </a:r>
          </a:p>
          <a:p>
            <a:endParaRPr lang="en-US" sz="700" dirty="0" smtClean="0">
              <a:solidFill>
                <a:schemeClr val="bg1"/>
              </a:solidFill>
              <a:latin typeface="+mj-lt"/>
            </a:endParaRPr>
          </a:p>
          <a:p>
            <a:pPr lvl="1"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Crude Oil Supply: OPEC, Non-OPEC, and Technology </a:t>
            </a:r>
          </a:p>
          <a:p>
            <a:pPr lvl="2"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OPEC: Projected OPEC supply declines by 300,000 </a:t>
            </a:r>
            <a:r>
              <a:rPr lang="en-US" dirty="0" err="1" smtClean="0">
                <a:solidFill>
                  <a:schemeClr val="bg1"/>
                </a:solidFill>
                <a:latin typeface="+mj-lt"/>
              </a:rPr>
              <a:t>bbl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/day in 2013, rising by 300,000 </a:t>
            </a:r>
            <a:r>
              <a:rPr lang="en-US" dirty="0" err="1" smtClean="0">
                <a:solidFill>
                  <a:schemeClr val="bg1"/>
                </a:solidFill>
                <a:latin typeface="+mj-lt"/>
              </a:rPr>
              <a:t>bbl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/day in 2014</a:t>
            </a:r>
          </a:p>
          <a:p>
            <a:pPr marL="914400" lvl="3" indent="109538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 Non-OPEC: Non-OPEC supply increases by 1.2 million </a:t>
            </a:r>
            <a:r>
              <a:rPr lang="en-US" dirty="0" err="1" smtClean="0">
                <a:solidFill>
                  <a:schemeClr val="bg1"/>
                </a:solidFill>
                <a:latin typeface="+mj-lt"/>
              </a:rPr>
              <a:t>bbl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/day in 2013 and by 1.4 million </a:t>
            </a:r>
            <a:r>
              <a:rPr lang="en-US" dirty="0" err="1" smtClean="0">
                <a:solidFill>
                  <a:schemeClr val="bg1"/>
                </a:solidFill>
                <a:latin typeface="+mj-lt"/>
              </a:rPr>
              <a:t>bbl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/day in 2014 </a:t>
            </a:r>
          </a:p>
          <a:p>
            <a:pPr marL="914400" lvl="3" indent="109538"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Non-OPEC: U.S. projected to surpass Saudi Arabia in crude oil production by 2020</a:t>
            </a:r>
          </a:p>
          <a:p>
            <a:pPr marL="914400" lvl="3" indent="109538"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Technology: Horizontal Drilling and Hydraulic Fracturing </a:t>
            </a:r>
          </a:p>
          <a:p>
            <a:pPr marL="914400" lvl="3"/>
            <a:endParaRPr lang="en-US" sz="700" dirty="0" smtClean="0">
              <a:solidFill>
                <a:schemeClr val="bg1"/>
              </a:solidFill>
              <a:latin typeface="+mj-lt"/>
            </a:endParaRPr>
          </a:p>
          <a:p>
            <a:pPr marL="463550" lvl="3" indent="109538"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Crude Oil and Natural Gas Demand: Economic Growth</a:t>
            </a:r>
          </a:p>
          <a:p>
            <a:pPr marL="920750" lvl="4" indent="109538"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Demand for crude </a:t>
            </a:r>
            <a:r>
              <a:rPr lang="en-US" dirty="0">
                <a:solidFill>
                  <a:schemeClr val="bg1"/>
                </a:solidFill>
                <a:latin typeface="+mj-lt"/>
              </a:rPr>
              <a:t>o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il and natural gas are driven by the demand for their refined products, which are tied to global economic growth</a:t>
            </a:r>
          </a:p>
          <a:p>
            <a:pPr marL="920750" lvl="4" indent="109538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 Economic Outlook through 2014: </a:t>
            </a:r>
          </a:p>
          <a:p>
            <a:pPr marL="1377950" lvl="5" indent="109538"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United States </a:t>
            </a:r>
          </a:p>
          <a:p>
            <a:pPr marL="1377950" lvl="5" indent="109538"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Europe </a:t>
            </a:r>
          </a:p>
          <a:p>
            <a:pPr marL="1377950" lvl="5" indent="109538"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China </a:t>
            </a:r>
          </a:p>
          <a:p>
            <a:pPr marL="1377950" lvl="5" indent="109538">
              <a:buFont typeface="Arial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Emerging Markets  </a:t>
            </a:r>
            <a:endParaRPr lang="en-US" sz="1000" dirty="0" smtClean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1643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6096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Drivers of Energy (Continued)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01304" y="6477000"/>
            <a:ext cx="838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U.S. Energy Information Administration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" y="2409825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Historical Prices: Crude Oil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58158" y="2409825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Historical Prices: Natural Gas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5062404"/>
              </p:ext>
            </p:extLst>
          </p:nvPr>
        </p:nvGraphicFramePr>
        <p:xfrm>
          <a:off x="498144" y="2834953"/>
          <a:ext cx="3517413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8" name="Worksheet" r:id="rId4" imgW="4572000" imgH="2733743" progId="Excel.Sheet.8">
                  <p:link updateAutomatic="1"/>
                </p:oleObj>
              </mc:Choice>
              <mc:Fallback>
                <p:oleObj name="Worksheet" r:id="rId4" imgW="4572000" imgH="2733743" progId="Excel.Sheet.8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8144" y="2834953"/>
                        <a:ext cx="3517413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510624"/>
              </p:ext>
            </p:extLst>
          </p:nvPr>
        </p:nvGraphicFramePr>
        <p:xfrm>
          <a:off x="4724400" y="2854325"/>
          <a:ext cx="3502025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089" name="Worksheet" r:id="rId6" imgW="4562559" imgH="2733743" progId="Excel.Sheet.8">
                  <p:link updateAutomatic="1"/>
                </p:oleObj>
              </mc:Choice>
              <mc:Fallback>
                <p:oleObj name="Worksheet" r:id="rId6" imgW="4562559" imgH="2733743" progId="Excel.Sheet.8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24400" y="2854325"/>
                        <a:ext cx="3502025" cy="209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4035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6096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Drivers of Energy (Continued)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01304" y="6477000"/>
            <a:ext cx="838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U.S. Energy Information Administration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" y="3928422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Historical Prices: Heating Oil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3928422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Historical Prices: Jet Fuel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8213199"/>
              </p:ext>
            </p:extLst>
          </p:nvPr>
        </p:nvGraphicFramePr>
        <p:xfrm>
          <a:off x="508000" y="4385623"/>
          <a:ext cx="3500438" cy="209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4" name="Worksheet" r:id="rId4" imgW="4562559" imgH="2733743" progId="Excel.Sheet.8">
                  <p:link updateAutomatic="1"/>
                </p:oleObj>
              </mc:Choice>
              <mc:Fallback>
                <p:oleObj name="Worksheet" r:id="rId4" imgW="4562559" imgH="2733743" progId="Excel.Sheet.8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8000" y="4385623"/>
                        <a:ext cx="3500438" cy="2097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4179264"/>
              </p:ext>
            </p:extLst>
          </p:nvPr>
        </p:nvGraphicFramePr>
        <p:xfrm>
          <a:off x="4926607" y="4393560"/>
          <a:ext cx="3500438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5" name="Worksheet" r:id="rId6" imgW="4562559" imgH="2733743" progId="Excel.Sheet.8">
                  <p:link updateAutomatic="1"/>
                </p:oleObj>
              </mc:Choice>
              <mc:Fallback>
                <p:oleObj name="Worksheet" r:id="rId6" imgW="4562559" imgH="2733743" progId="Excel.Sheet.8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26607" y="4393560"/>
                        <a:ext cx="3500438" cy="209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391578"/>
              </p:ext>
            </p:extLst>
          </p:nvPr>
        </p:nvGraphicFramePr>
        <p:xfrm>
          <a:off x="496887" y="1784444"/>
          <a:ext cx="3502025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6" name="Worksheet" r:id="rId8" imgW="4562559" imgH="2733743" progId="Excel.Sheet.8">
                  <p:link updateAutomatic="1"/>
                </p:oleObj>
              </mc:Choice>
              <mc:Fallback>
                <p:oleObj name="Worksheet" r:id="rId8" imgW="4562559" imgH="2733743" progId="Excel.Sheet.8">
                  <p:link updateAutomatic="1"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7" y="1784444"/>
                        <a:ext cx="3502025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2506489"/>
              </p:ext>
            </p:extLst>
          </p:nvPr>
        </p:nvGraphicFramePr>
        <p:xfrm>
          <a:off x="4953000" y="1760560"/>
          <a:ext cx="3500438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7" name="Worksheet" r:id="rId10" imgW="4562559" imgH="2733743" progId="Excel.Sheet.8">
                  <p:link updateAutomatic="1"/>
                </p:oleObj>
              </mc:Choice>
              <mc:Fallback>
                <p:oleObj name="Worksheet" r:id="rId10" imgW="4562559" imgH="2733743" progId="Excel.Sheet.8">
                  <p:link updateAutomatic="1"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760560"/>
                        <a:ext cx="3500438" cy="209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72000" y="13716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Historical Prices: Diesel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52400" y="13716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Historical Prices: Gasoline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8837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6096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Short-Run Energy Outlook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01304" y="6477000"/>
            <a:ext cx="838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U.S. Energy Information Administration 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6891058"/>
              </p:ext>
            </p:extLst>
          </p:nvPr>
        </p:nvGraphicFramePr>
        <p:xfrm>
          <a:off x="264045" y="2770496"/>
          <a:ext cx="3815310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4" name="Worksheet" r:id="rId4" imgW="4562559" imgH="2733743" progId="Excel.Sheet.8">
                  <p:link updateAutomatic="1"/>
                </p:oleObj>
              </mc:Choice>
              <mc:Fallback>
                <p:oleObj name="Worksheet" r:id="rId4" imgW="4562559" imgH="2733743" progId="Excel.Sheet.8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4045" y="2770496"/>
                        <a:ext cx="3815310" cy="228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200" y="21209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Price Forecast: WTI and Brent Crude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252459"/>
              </p:ext>
            </p:extLst>
          </p:nvPr>
        </p:nvGraphicFramePr>
        <p:xfrm>
          <a:off x="4575175" y="2733675"/>
          <a:ext cx="3957638" cy="237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5" name="Worksheet" r:id="rId6" imgW="4562559" imgH="2733743" progId="Excel.Sheet.8">
                  <p:link updateAutomatic="1"/>
                </p:oleObj>
              </mc:Choice>
              <mc:Fallback>
                <p:oleObj name="Worksheet" r:id="rId6" imgW="4562559" imgH="2733743" progId="Excel.Sheet.8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75175" y="2733675"/>
                        <a:ext cx="3957638" cy="2371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458158" y="21209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Price Forecast: Natural Gas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9678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6096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Short-Run Energy Outlook (Continued)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01304" y="6477000"/>
            <a:ext cx="838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U.S. Energy Information Administration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2400" y="13716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Price Forecast: Gasoline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58158" y="13716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Price Forecast: Diesel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58158" y="399138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Price Forecast: Jet Fuel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2400" y="399138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Price Forecast: Heating Oil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3397636"/>
              </p:ext>
            </p:extLst>
          </p:nvPr>
        </p:nvGraphicFramePr>
        <p:xfrm>
          <a:off x="595313" y="1830388"/>
          <a:ext cx="3502025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5" name="Worksheet" r:id="rId4" imgW="4562559" imgH="2733743" progId="Excel.Sheet.8">
                  <p:link updateAutomatic="1"/>
                </p:oleObj>
              </mc:Choice>
              <mc:Fallback>
                <p:oleObj name="Worksheet" r:id="rId4" imgW="4562559" imgH="2733743" progId="Excel.Sheet.8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5313" y="1830388"/>
                        <a:ext cx="3502025" cy="209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3350283"/>
              </p:ext>
            </p:extLst>
          </p:nvPr>
        </p:nvGraphicFramePr>
        <p:xfrm>
          <a:off x="4746811" y="1796728"/>
          <a:ext cx="3510085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6" name="Worksheet" r:id="rId6" imgW="4562559" imgH="2733743" progId="Excel.Sheet.8">
                  <p:link updateAutomatic="1"/>
                </p:oleObj>
              </mc:Choice>
              <mc:Fallback>
                <p:oleObj name="Worksheet" r:id="rId6" imgW="4562559" imgH="2733743" progId="Excel.Sheet.8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746811" y="1796728"/>
                        <a:ext cx="3510085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197837"/>
              </p:ext>
            </p:extLst>
          </p:nvPr>
        </p:nvGraphicFramePr>
        <p:xfrm>
          <a:off x="527050" y="4340225"/>
          <a:ext cx="3570288" cy="213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7" name="Worksheet" r:id="rId8" imgW="4562559" imgH="2733743" progId="Excel.Sheet.8">
                  <p:link updateAutomatic="1"/>
                </p:oleObj>
              </mc:Choice>
              <mc:Fallback>
                <p:oleObj name="Worksheet" r:id="rId8" imgW="4562559" imgH="2733743" progId="Excel.Sheet.8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27050" y="4340225"/>
                        <a:ext cx="3570288" cy="2138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937965"/>
              </p:ext>
            </p:extLst>
          </p:nvPr>
        </p:nvGraphicFramePr>
        <p:xfrm>
          <a:off x="4737100" y="4348163"/>
          <a:ext cx="3570288" cy="213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218" name="Worksheet" r:id="rId10" imgW="4562559" imgH="2733743" progId="Excel.Sheet.8">
                  <p:link updateAutomatic="1"/>
                </p:oleObj>
              </mc:Choice>
              <mc:Fallback>
                <p:oleObj name="Worksheet" r:id="rId10" imgW="4562559" imgH="2733743" progId="Excel.Sheet.8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737100" y="4348163"/>
                        <a:ext cx="3570288" cy="2138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655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6096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Short-Run Energy Outlook (Continued)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01304" y="6477000"/>
            <a:ext cx="838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U.S. Energy Information Administration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2680" y="14478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Price Forecast: Industrial (Natural Gas)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44510" y="1447800"/>
            <a:ext cx="45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Price Forecast: Commercial (Natural Gas)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63738" y="4030640"/>
            <a:ext cx="45771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Price Forecast: Residential (Natural Gas)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5843022"/>
              </p:ext>
            </p:extLst>
          </p:nvPr>
        </p:nvGraphicFramePr>
        <p:xfrm>
          <a:off x="496888" y="1860550"/>
          <a:ext cx="3503612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3" name="Worksheet" r:id="rId4" imgW="4562559" imgH="2733743" progId="Excel.Sheet.8">
                  <p:link updateAutomatic="1"/>
                </p:oleObj>
              </mc:Choice>
              <mc:Fallback>
                <p:oleObj name="Worksheet" r:id="rId4" imgW="4562559" imgH="2733743" progId="Excel.Sheet.8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6888" y="1860550"/>
                        <a:ext cx="3503612" cy="2098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90349"/>
              </p:ext>
            </p:extLst>
          </p:nvPr>
        </p:nvGraphicFramePr>
        <p:xfrm>
          <a:off x="2681243" y="4417682"/>
          <a:ext cx="3500437" cy="209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4" name="Worksheet" r:id="rId6" imgW="4562559" imgH="2733743" progId="Excel.Sheet.8">
                  <p:link updateAutomatic="1"/>
                </p:oleObj>
              </mc:Choice>
              <mc:Fallback>
                <p:oleObj name="Worksheet" r:id="rId6" imgW="4562559" imgH="2733743" progId="Excel.Sheet.8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81243" y="4417682"/>
                        <a:ext cx="3500437" cy="2097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742392"/>
              </p:ext>
            </p:extLst>
          </p:nvPr>
        </p:nvGraphicFramePr>
        <p:xfrm>
          <a:off x="4813917" y="1847850"/>
          <a:ext cx="3502025" cy="209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5" name="Worksheet" r:id="rId8" imgW="4562559" imgH="2733743" progId="Excel.Sheet.8">
                  <p:link updateAutomatic="1"/>
                </p:oleObj>
              </mc:Choice>
              <mc:Fallback>
                <p:oleObj name="Worksheet" r:id="rId8" imgW="4562559" imgH="2733743" progId="Excel.Sheet.8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13917" y="1847850"/>
                        <a:ext cx="3502025" cy="2097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655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6096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Long-Run Energy Outlook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01304" y="6477000"/>
            <a:ext cx="838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U.S. Energy Information Administration and Company filings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9248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 U.S. Energy Information Administration: </a:t>
            </a:r>
            <a:r>
              <a:rPr lang="en-US" i="1" dirty="0" smtClean="0">
                <a:solidFill>
                  <a:schemeClr val="bg1"/>
                </a:solidFill>
                <a:latin typeface="+mj-lt"/>
              </a:rPr>
              <a:t>Annual Energy Outlook 2013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(Looking to 2022) </a:t>
            </a:r>
            <a:endParaRPr lang="en-US" i="1" dirty="0" smtClean="0">
              <a:solidFill>
                <a:schemeClr val="bg1"/>
              </a:solidFill>
              <a:latin typeface="+mj-lt"/>
            </a:endParaRPr>
          </a:p>
          <a:p>
            <a:endParaRPr lang="en-US" sz="500" i="1" dirty="0" smtClean="0">
              <a:solidFill>
                <a:schemeClr val="bg1"/>
              </a:solidFill>
              <a:latin typeface="+mj-lt"/>
            </a:endParaRPr>
          </a:p>
          <a:p>
            <a:pPr marL="573088" lvl="1" indent="-115888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Crude oil production increases significantly over the next 10 years, largely drive by increased onshore crude oil production, specifically from shale and other tight oil formations   </a:t>
            </a:r>
          </a:p>
          <a:p>
            <a:pPr marL="573088" lvl="1" indent="-115888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Natural gas uses for industrial and electricity generation purposes continues to increase over the next 10 years </a:t>
            </a:r>
          </a:p>
          <a:p>
            <a:pPr marL="573088" lvl="1" indent="-115888"/>
            <a:endParaRPr lang="en-US" sz="1000" dirty="0" smtClean="0">
              <a:solidFill>
                <a:schemeClr val="bg1"/>
              </a:solidFill>
              <a:latin typeface="+mj-lt"/>
            </a:endParaRPr>
          </a:p>
          <a:p>
            <a:pPr marL="53975" lvl="1" indent="-53975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 ExxonMobil: </a:t>
            </a:r>
            <a:r>
              <a:rPr lang="en-US" i="1" dirty="0" smtClean="0">
                <a:solidFill>
                  <a:schemeClr val="bg1"/>
                </a:solidFill>
                <a:latin typeface="+mj-lt"/>
              </a:rPr>
              <a:t>Long-Term Business Outlook </a:t>
            </a:r>
            <a:r>
              <a:rPr lang="en-US" dirty="0" smtClean="0">
                <a:solidFill>
                  <a:schemeClr val="bg1"/>
                </a:solidFill>
                <a:latin typeface="+mj-lt"/>
              </a:rPr>
              <a:t>(Looking to 2040)</a:t>
            </a:r>
            <a:endParaRPr lang="en-US" i="1" dirty="0" smtClean="0">
              <a:solidFill>
                <a:schemeClr val="bg1"/>
              </a:solidFill>
              <a:latin typeface="+mj-lt"/>
            </a:endParaRPr>
          </a:p>
          <a:p>
            <a:pPr marL="53975" lvl="1" indent="-53975"/>
            <a:endParaRPr lang="en-US" sz="500" i="1" dirty="0" smtClean="0">
              <a:solidFill>
                <a:schemeClr val="bg1"/>
              </a:solidFill>
              <a:latin typeface="+mj-lt"/>
            </a:endParaRPr>
          </a:p>
          <a:p>
            <a:pPr marL="627063" lvl="2" indent="-169863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Estimated 30% energy demand growth (2010-2040) with largest  increases concentrated in developing countries </a:t>
            </a:r>
          </a:p>
          <a:p>
            <a:pPr marL="627063" lvl="2" indent="-169863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Crude oil demand estimated to increase 25% (2010-2040)</a:t>
            </a:r>
          </a:p>
          <a:p>
            <a:pPr marL="627063" lvl="2" indent="-169863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Global natural gas demand estimated to increase 60% (2010-2040), particularly as a result of growth in power demand (expected to increase 80% (2010-2040)) </a:t>
            </a:r>
          </a:p>
          <a:p>
            <a:pPr marL="627063" lvl="2" indent="-169863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2040 Estimated Energy Mix – 40% Oil, 25% Natural Gas, 20% Coal, 15% Renewable </a:t>
            </a:r>
          </a:p>
          <a:p>
            <a:pPr marL="627063" lvl="2" indent="-169863"/>
            <a:endParaRPr lang="en-US" dirty="0" smtClean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6096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Long-Run Energy Outlook (Continued)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01304" y="6477000"/>
            <a:ext cx="838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U.S. Energy Information Administration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56" y="14478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Consumption Forecast: Industrial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37748" y="4050268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Consumption Forecast: Residential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07007" y="1447800"/>
            <a:ext cx="419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Consumption Forecast: Commercial 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835221"/>
              </p:ext>
            </p:extLst>
          </p:nvPr>
        </p:nvGraphicFramePr>
        <p:xfrm>
          <a:off x="382588" y="1862138"/>
          <a:ext cx="3500437" cy="209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30" name="Worksheet" r:id="rId4" imgW="4562559" imgH="2733743" progId="Excel.Sheet.12">
                  <p:link updateAutomatic="1"/>
                </p:oleObj>
              </mc:Choice>
              <mc:Fallback>
                <p:oleObj name="Worksheet" r:id="rId4" imgW="4562559" imgH="273374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2588" y="1862138"/>
                        <a:ext cx="3500437" cy="2097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6726769"/>
              </p:ext>
            </p:extLst>
          </p:nvPr>
        </p:nvGraphicFramePr>
        <p:xfrm>
          <a:off x="4575175" y="1849438"/>
          <a:ext cx="3500438" cy="209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31" name="Worksheet" r:id="rId6" imgW="4562559" imgH="2733743" progId="Excel.Sheet.12">
                  <p:link updateAutomatic="1"/>
                </p:oleObj>
              </mc:Choice>
              <mc:Fallback>
                <p:oleObj name="Worksheet" r:id="rId6" imgW="4562559" imgH="273374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75175" y="1849438"/>
                        <a:ext cx="3500438" cy="209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168089"/>
              </p:ext>
            </p:extLst>
          </p:nvPr>
        </p:nvGraphicFramePr>
        <p:xfrm>
          <a:off x="2686336" y="4452938"/>
          <a:ext cx="3500437" cy="209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32" name="Worksheet" r:id="rId8" imgW="4562559" imgH="2733743" progId="Excel.Sheet.12">
                  <p:link updateAutomatic="1"/>
                </p:oleObj>
              </mc:Choice>
              <mc:Fallback>
                <p:oleObj name="Worksheet" r:id="rId8" imgW="4562559" imgH="273374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86336" y="4452938"/>
                        <a:ext cx="3500437" cy="2097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6611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5334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Meeting Global Energy Demand: Major Projects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pic>
        <p:nvPicPr>
          <p:cNvPr id="49154" name="Picture 2" descr="http://i2.cdn.turner.com/money/dam/assets/120821010629-gallery-big-projects-kearl-imperial-large-gallery-horizontal.jpg"/>
          <p:cNvPicPr>
            <a:picLocks noChangeAspect="1" noChangeArrowheads="1"/>
          </p:cNvPicPr>
          <p:nvPr/>
        </p:nvPicPr>
        <p:blipFill>
          <a:blip r:embed="rId3" cstate="print"/>
          <a:srcRect t="3486" b="2397"/>
          <a:stretch>
            <a:fillRect/>
          </a:stretch>
        </p:blipFill>
        <p:spPr bwMode="auto">
          <a:xfrm>
            <a:off x="304800" y="1371601"/>
            <a:ext cx="3474720" cy="2286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4152900" y="1295400"/>
            <a:ext cx="4495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chemeClr val="bg1"/>
                </a:solidFill>
                <a:latin typeface="+mj-lt"/>
              </a:rPr>
              <a:t>Kearl</a:t>
            </a:r>
            <a:r>
              <a:rPr lang="en-US" b="1" dirty="0" smtClean="0">
                <a:solidFill>
                  <a:schemeClr val="bg1"/>
                </a:solidFill>
                <a:latin typeface="+mj-lt"/>
              </a:rPr>
              <a:t> Project</a:t>
            </a:r>
          </a:p>
          <a:p>
            <a:endParaRPr lang="en-US" sz="1000" b="1" dirty="0" smtClean="0">
              <a:solidFill>
                <a:schemeClr val="bg1"/>
              </a:solidFill>
              <a:latin typeface="+mj-lt"/>
            </a:endParaRPr>
          </a:p>
          <a:p>
            <a:pPr marL="109538" indent="-109538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Joint venture to extract oil sands – began producing in 2012   </a:t>
            </a:r>
          </a:p>
          <a:p>
            <a:pPr marL="109538" indent="-109538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29.04% stake with Imperial Oil Limited (69.6% controlled by ExxonMobil) holding 70.96%</a:t>
            </a:r>
          </a:p>
          <a:p>
            <a:pPr marL="109538" indent="-109538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Covers 48,000 acres in Athabasca oil sands deposits in Alberta, Canada</a:t>
            </a:r>
          </a:p>
        </p:txBody>
      </p:sp>
      <p:pic>
        <p:nvPicPr>
          <p:cNvPr id="49156" name="Picture 4" descr="http://www.canadianmanufacturing.com/wp-content/uploads/2012/02/terranova_offshoreoil_hibernia.jpg"/>
          <p:cNvPicPr>
            <a:picLocks noChangeAspect="1" noChangeArrowheads="1"/>
          </p:cNvPicPr>
          <p:nvPr/>
        </p:nvPicPr>
        <p:blipFill>
          <a:blip r:embed="rId4" cstate="print"/>
          <a:srcRect r="4444"/>
          <a:stretch>
            <a:fillRect/>
          </a:stretch>
        </p:blipFill>
        <p:spPr bwMode="auto">
          <a:xfrm>
            <a:off x="304800" y="3999928"/>
            <a:ext cx="3505200" cy="2248472"/>
          </a:xfrm>
          <a:prstGeom prst="rect">
            <a:avLst/>
          </a:prstGeom>
          <a:noFill/>
        </p:spPr>
      </p:pic>
      <p:sp>
        <p:nvSpPr>
          <p:cNvPr id="8" name="TextBox 7"/>
          <p:cNvSpPr txBox="1"/>
          <p:nvPr/>
        </p:nvSpPr>
        <p:spPr>
          <a:xfrm>
            <a:off x="4152900" y="3886200"/>
            <a:ext cx="4495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+mj-lt"/>
              </a:rPr>
              <a:t>Hebron Project</a:t>
            </a:r>
          </a:p>
          <a:p>
            <a:endParaRPr lang="en-US" sz="1000" b="1" dirty="0" smtClean="0">
              <a:solidFill>
                <a:schemeClr val="bg1"/>
              </a:solidFill>
              <a:latin typeface="+mj-lt"/>
            </a:endParaRPr>
          </a:p>
          <a:p>
            <a:pPr marL="109538" indent="-109538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Joint venture to extract heavy undersea crude oil – controlling stake of 36% </a:t>
            </a:r>
          </a:p>
          <a:p>
            <a:pPr marL="109538" indent="-109538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Priced off Brent Crude index – 700 million total reserves worth estimated $77.8 billion </a:t>
            </a:r>
          </a:p>
          <a:p>
            <a:pPr marL="109538" indent="-109538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Expected production – 2017 (150K barrels per day)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304" y="6477000"/>
            <a:ext cx="838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Company filings and Bloomberg Research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http://static.themoscowtimes.com/upload/photos/large/2007_08/2007_08_28/kashagan_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" y="1371601"/>
            <a:ext cx="3383280" cy="2530695"/>
          </a:xfrm>
          <a:prstGeom prst="rect">
            <a:avLst/>
          </a:prstGeom>
          <a:noFill/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15199" y="5334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Major Projects (Continued) 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6" name="Picture 5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4038600" y="1295400"/>
            <a:ext cx="44958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chemeClr val="bg1"/>
                </a:solidFill>
                <a:latin typeface="+mj-lt"/>
              </a:rPr>
              <a:t>Kashagan</a:t>
            </a:r>
            <a:r>
              <a:rPr lang="en-US" b="1" dirty="0" smtClean="0">
                <a:solidFill>
                  <a:schemeClr val="bg1"/>
                </a:solidFill>
                <a:latin typeface="+mj-lt"/>
              </a:rPr>
              <a:t> Project</a:t>
            </a:r>
          </a:p>
          <a:p>
            <a:endParaRPr lang="en-US" sz="1000" b="1" dirty="0" smtClean="0">
              <a:solidFill>
                <a:schemeClr val="bg1"/>
              </a:solidFill>
              <a:latin typeface="+mj-lt"/>
            </a:endParaRPr>
          </a:p>
          <a:p>
            <a:pPr marL="109538" indent="-109538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Field discovered in July 2000 – estimated 13 billion barrels of recoverable reserves – 2013 expected production start </a:t>
            </a:r>
          </a:p>
          <a:p>
            <a:pPr marL="109538" indent="-109538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Developed by a group of partners including ExxonMobil, Shell, Total, and ConocoPhillips</a:t>
            </a:r>
          </a:p>
          <a:p>
            <a:pPr marL="109538" indent="-109538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ExxonMobil has share of largest stake of 16.8% with 4 other energy companies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304" y="6477000"/>
            <a:ext cx="8382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S&amp;P Research, Bloomberg, New York Times, and Offshore-Technology  </a:t>
            </a:r>
          </a:p>
        </p:txBody>
      </p:sp>
      <p:pic>
        <p:nvPicPr>
          <p:cNvPr id="46084" name="Picture 4" descr="http://static.guim.co.uk/sys-images/Guardian/Pix/pictures/2011/9/2/1314952740577/Exxon-Mobil-Agrees-Arctic-007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4232801"/>
            <a:ext cx="3429000" cy="2015599"/>
          </a:xfrm>
          <a:prstGeom prst="rect">
            <a:avLst/>
          </a:prstGeom>
          <a:noFill/>
        </p:spPr>
      </p:pic>
      <p:sp>
        <p:nvSpPr>
          <p:cNvPr id="10" name="TextBox 9"/>
          <p:cNvSpPr txBox="1"/>
          <p:nvPr/>
        </p:nvSpPr>
        <p:spPr>
          <a:xfrm>
            <a:off x="4038600" y="4191000"/>
            <a:ext cx="44958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  <a:latin typeface="+mj-lt"/>
              </a:rPr>
              <a:t>ExxonMobil – </a:t>
            </a:r>
            <a:r>
              <a:rPr lang="en-US" b="1" dirty="0" err="1" smtClean="0">
                <a:solidFill>
                  <a:schemeClr val="bg1"/>
                </a:solidFill>
                <a:latin typeface="+mj-lt"/>
              </a:rPr>
              <a:t>Rosneft</a:t>
            </a:r>
            <a:r>
              <a:rPr lang="en-US" b="1" dirty="0" smtClean="0">
                <a:solidFill>
                  <a:schemeClr val="bg1"/>
                </a:solidFill>
                <a:latin typeface="+mj-lt"/>
              </a:rPr>
              <a:t> SCA</a:t>
            </a:r>
          </a:p>
          <a:p>
            <a:endParaRPr lang="en-US" sz="1000" b="1" dirty="0" smtClean="0">
              <a:solidFill>
                <a:schemeClr val="bg1"/>
              </a:solidFill>
              <a:latin typeface="+mj-lt"/>
            </a:endParaRPr>
          </a:p>
          <a:p>
            <a:pPr marL="109538" indent="-109538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Expanded access to Russian offshore and arctic fields in Black Sea and Kara Sea– 36 billion barrels of recoverable reserves </a:t>
            </a:r>
          </a:p>
          <a:p>
            <a:pPr marL="109538" indent="-109538">
              <a:buFont typeface="Arial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+mj-lt"/>
              </a:rPr>
              <a:t>Highlights XOM advantage in drilling technology  </a:t>
            </a:r>
          </a:p>
          <a:p>
            <a:pPr marL="109538" indent="-109538">
              <a:buFont typeface="Arial" pitchFamily="34" charset="0"/>
              <a:buChar char="•"/>
            </a:pPr>
            <a:endParaRPr lang="en-US" dirty="0" smtClean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685800"/>
          </a:xfrm>
        </p:spPr>
        <p:txBody>
          <a:bodyPr>
            <a:noAutofit/>
          </a:bodyPr>
          <a:lstStyle/>
          <a:p>
            <a:r>
              <a:rPr lang="en-US" sz="4800" dirty="0" smtClean="0">
                <a:solidFill>
                  <a:schemeClr val="bg1"/>
                </a:solidFill>
              </a:rPr>
              <a:t>   Valuation Analysis</a:t>
            </a:r>
            <a:endParaRPr lang="en-US" sz="48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Competitive Analysis: Oil and Gas Reserves 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800" y="63246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Bloomberg Financial 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Data as of 12/31/12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63776" y="1444823"/>
            <a:ext cx="388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+mj-lt"/>
              </a:rPr>
              <a:t>Proved Reserves</a:t>
            </a:r>
            <a:endParaRPr lang="en-US" sz="1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1444823"/>
            <a:ext cx="388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+mj-lt"/>
              </a:rPr>
              <a:t>Reserve Replacement Ratio</a:t>
            </a:r>
            <a:endParaRPr lang="en-US" sz="14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0" y="3982519"/>
            <a:ext cx="441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+mj-lt"/>
              </a:rPr>
              <a:t>Proved Developed Reserves (% of Total Proved)</a:t>
            </a:r>
            <a:endParaRPr lang="en-US" sz="1400" b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6228840"/>
              </p:ext>
            </p:extLst>
          </p:nvPr>
        </p:nvGraphicFramePr>
        <p:xfrm>
          <a:off x="310489" y="1760560"/>
          <a:ext cx="3517413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7" name="Worksheet" r:id="rId5" imgW="4572000" imgH="2733743" progId="Excel.Sheet.12">
                  <p:link updateAutomatic="1"/>
                </p:oleObj>
              </mc:Choice>
              <mc:Fallback>
                <p:oleObj name="Worksheet" r:id="rId5" imgW="4572000" imgH="273374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0489" y="1760560"/>
                        <a:ext cx="3517413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130352"/>
              </p:ext>
            </p:extLst>
          </p:nvPr>
        </p:nvGraphicFramePr>
        <p:xfrm>
          <a:off x="2533650" y="4343400"/>
          <a:ext cx="3486150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8" name="Worksheet" r:id="rId7" imgW="4543408" imgH="2752657" progId="Excel.Sheet.12">
                  <p:link updateAutomatic="1"/>
                </p:oleObj>
              </mc:Choice>
              <mc:Fallback>
                <p:oleObj name="Worksheet" r:id="rId7" imgW="4543408" imgH="275265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33650" y="4343400"/>
                        <a:ext cx="3486150" cy="211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768067"/>
              </p:ext>
            </p:extLst>
          </p:nvPr>
        </p:nvGraphicFramePr>
        <p:xfrm>
          <a:off x="4612944" y="1757499"/>
          <a:ext cx="3525837" cy="214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9" name="Worksheet" r:id="rId9" imgW="4533967" imgH="2762385" progId="Excel.Sheet.12">
                  <p:link updateAutomatic="1"/>
                </p:oleObj>
              </mc:Choice>
              <mc:Fallback>
                <p:oleObj name="Worksheet" r:id="rId9" imgW="4533967" imgH="276238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612944" y="1757499"/>
                        <a:ext cx="3525837" cy="2147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199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Competitive Analysis: Production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1000" y="63246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Bloomberg Financial 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Data as of 12/31/12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6" name="Picture 2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2514600" y="1590584"/>
            <a:ext cx="388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  <a:latin typeface="+mj-lt"/>
              </a:rPr>
              <a:t>Production (Millions of BOE per day)</a:t>
            </a:r>
            <a:endParaRPr lang="en-US" sz="1400" b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845673"/>
              </p:ext>
            </p:extLst>
          </p:nvPr>
        </p:nvGraphicFramePr>
        <p:xfrm>
          <a:off x="1371600" y="2019300"/>
          <a:ext cx="6088063" cy="373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83" name="Worksheet" r:id="rId5" imgW="4562559" imgH="2800485" progId="Excel.Sheet.12">
                  <p:link updateAutomatic="1"/>
                </p:oleObj>
              </mc:Choice>
              <mc:Fallback>
                <p:oleObj name="Worksheet" r:id="rId5" imgW="4562559" imgH="280048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1600" y="2019300"/>
                        <a:ext cx="6088063" cy="37353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653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584576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Competitive Analysis: Profitability 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26408" y="1307068"/>
            <a:ext cx="383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Profit Margin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55192" y="3850944"/>
            <a:ext cx="383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Return on Common Equity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9392" y="3850944"/>
            <a:ext cx="383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Return on Capital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55192" y="1307068"/>
            <a:ext cx="383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Return on Assets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8600" y="63246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Bloomberg Financial 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Data as of 12/31/12 </a:t>
            </a: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0125363"/>
              </p:ext>
            </p:extLst>
          </p:nvPr>
        </p:nvGraphicFramePr>
        <p:xfrm>
          <a:off x="4959350" y="4253530"/>
          <a:ext cx="3586163" cy="214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2" name="Worksheet" r:id="rId4" imgW="4562559" imgH="2733710" progId="Excel.Sheet.12">
                  <p:link updateAutomatic="1"/>
                </p:oleObj>
              </mc:Choice>
              <mc:Fallback>
                <p:oleObj name="Worksheet" r:id="rId4" imgW="4562559" imgH="2733710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59350" y="4253530"/>
                        <a:ext cx="3586163" cy="2147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156193"/>
              </p:ext>
            </p:extLst>
          </p:nvPr>
        </p:nvGraphicFramePr>
        <p:xfrm>
          <a:off x="4983163" y="1684338"/>
          <a:ext cx="3606800" cy="214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3" name="Worksheet" r:id="rId6" imgW="4572000" imgH="2724253" progId="Excel.Sheet.12">
                  <p:link updateAutomatic="1"/>
                </p:oleObj>
              </mc:Choice>
              <mc:Fallback>
                <p:oleObj name="Worksheet" r:id="rId6" imgW="4572000" imgH="2724253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983163" y="1684338"/>
                        <a:ext cx="3606800" cy="2147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8118908"/>
              </p:ext>
            </p:extLst>
          </p:nvPr>
        </p:nvGraphicFramePr>
        <p:xfrm>
          <a:off x="495654" y="1665288"/>
          <a:ext cx="3509962" cy="215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4" name="Worksheet" r:id="rId8" imgW="4562559" imgH="2800445" progId="Excel.Sheet.12">
                  <p:link updateAutomatic="1"/>
                </p:oleObj>
              </mc:Choice>
              <mc:Fallback>
                <p:oleObj name="Worksheet" r:id="rId8" imgW="4562559" imgH="280044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95654" y="1665288"/>
                        <a:ext cx="3509962" cy="2152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9760224"/>
              </p:ext>
            </p:extLst>
          </p:nvPr>
        </p:nvGraphicFramePr>
        <p:xfrm>
          <a:off x="505487" y="4222750"/>
          <a:ext cx="3509963" cy="215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5" name="Worksheet" r:id="rId10" imgW="4562559" imgH="2800445" progId="Excel.Sheet.12">
                  <p:link updateAutomatic="1"/>
                </p:oleObj>
              </mc:Choice>
              <mc:Fallback>
                <p:oleObj name="Worksheet" r:id="rId10" imgW="4562559" imgH="280044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05487" y="4222750"/>
                        <a:ext cx="3509963" cy="2155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6096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Competitive Analysis: Credit and Liquidity  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28600" y="63246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Bloomberg Financial 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Data as of 12/31/12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992" y="1295400"/>
            <a:ext cx="383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Total Debt / Total Assets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56748" y="3807728"/>
            <a:ext cx="4748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Operating Cash Flow / Total Liabilities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02792" y="1309048"/>
            <a:ext cx="383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Total Debt / Total Capital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498513"/>
              </p:ext>
            </p:extLst>
          </p:nvPr>
        </p:nvGraphicFramePr>
        <p:xfrm>
          <a:off x="2528888" y="4167188"/>
          <a:ext cx="3498850" cy="2141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6" name="Worksheet" r:id="rId4" imgW="4562559" imgH="2790757" progId="Excel.Sheet.12">
                  <p:link updateAutomatic="1"/>
                </p:oleObj>
              </mc:Choice>
              <mc:Fallback>
                <p:oleObj name="Worksheet" r:id="rId4" imgW="4562559" imgH="279075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28888" y="4167188"/>
                        <a:ext cx="3498850" cy="2141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9507222"/>
              </p:ext>
            </p:extLst>
          </p:nvPr>
        </p:nvGraphicFramePr>
        <p:xfrm>
          <a:off x="301625" y="1620838"/>
          <a:ext cx="3500438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7" name="Worksheet" r:id="rId6" imgW="4562559" imgH="2800485" progId="Excel.Sheet.12">
                  <p:link updateAutomatic="1"/>
                </p:oleObj>
              </mc:Choice>
              <mc:Fallback>
                <p:oleObj name="Worksheet" r:id="rId6" imgW="4562559" imgH="280048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1625" y="1620838"/>
                        <a:ext cx="3500438" cy="214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5704397"/>
              </p:ext>
            </p:extLst>
          </p:nvPr>
        </p:nvGraphicFramePr>
        <p:xfrm>
          <a:off x="4782167" y="1622425"/>
          <a:ext cx="3500438" cy="214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18" name="Worksheet" r:id="rId8" imgW="4562559" imgH="2800485" progId="Excel.Sheet.12">
                  <p:link updateAutomatic="1"/>
                </p:oleObj>
              </mc:Choice>
              <mc:Fallback>
                <p:oleObj name="Worksheet" r:id="rId8" imgW="4562559" imgH="280048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82167" y="1622425"/>
                        <a:ext cx="3500438" cy="2149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716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6096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Competitive Analysis: Cash Flow  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28600" y="6324600"/>
            <a:ext cx="838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Source: Bloomberg Financial </a:t>
            </a:r>
          </a:p>
          <a:p>
            <a:r>
              <a:rPr lang="en-US" sz="1200" dirty="0" smtClean="0">
                <a:solidFill>
                  <a:schemeClr val="bg1"/>
                </a:solidFill>
                <a:latin typeface="+mj-lt"/>
              </a:rPr>
              <a:t>Data as of 12/31/12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592" y="1295400"/>
            <a:ext cx="383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Free Cash Flow to Firm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32278" y="1301803"/>
            <a:ext cx="383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Free Cash Flow to Equity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49488" y="3896857"/>
            <a:ext cx="4797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Operating Cash Flow / Capital Expenditures 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1596" y="3886200"/>
            <a:ext cx="3831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solidFill>
                  <a:schemeClr val="bg1"/>
                </a:solidFill>
                <a:latin typeface="+mj-lt"/>
              </a:rPr>
              <a:t>Operating Cash Flow / Net Income</a:t>
            </a:r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434882"/>
              </p:ext>
            </p:extLst>
          </p:nvPr>
        </p:nvGraphicFramePr>
        <p:xfrm>
          <a:off x="152400" y="1695212"/>
          <a:ext cx="3506012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2" name="Worksheet" r:id="rId4" imgW="4570603" imgH="2741725" progId="Excel.Sheet.12">
                  <p:link updateAutomatic="1"/>
                </p:oleObj>
              </mc:Choice>
              <mc:Fallback>
                <p:oleObj name="Worksheet" r:id="rId4" imgW="4570603" imgH="274172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400" y="1695212"/>
                        <a:ext cx="3506012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6028620"/>
              </p:ext>
            </p:extLst>
          </p:nvPr>
        </p:nvGraphicFramePr>
        <p:xfrm>
          <a:off x="4803265" y="1706880"/>
          <a:ext cx="3350135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3" name="Worksheet" r:id="rId6" imgW="4367657" imgH="2741725" progId="Excel.Sheet.12">
                  <p:link updateAutomatic="1"/>
                </p:oleObj>
              </mc:Choice>
              <mc:Fallback>
                <p:oleObj name="Worksheet" r:id="rId6" imgW="4367657" imgH="274172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03265" y="1706880"/>
                        <a:ext cx="3350135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7642736"/>
              </p:ext>
            </p:extLst>
          </p:nvPr>
        </p:nvGraphicFramePr>
        <p:xfrm>
          <a:off x="4835856" y="4248776"/>
          <a:ext cx="3506012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4" name="Worksheet" r:id="rId8" imgW="4570603" imgH="2741725" progId="Excel.Sheet.12">
                  <p:link updateAutomatic="1"/>
                </p:oleObj>
              </mc:Choice>
              <mc:Fallback>
                <p:oleObj name="Worksheet" r:id="rId8" imgW="4570603" imgH="274172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35856" y="4248776"/>
                        <a:ext cx="3506012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3762295"/>
              </p:ext>
            </p:extLst>
          </p:nvPr>
        </p:nvGraphicFramePr>
        <p:xfrm>
          <a:off x="263856" y="4259240"/>
          <a:ext cx="3544981" cy="2103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25" name="Worksheet" r:id="rId10" imgW="4620620" imgH="2741725" progId="Excel.Sheet.12">
                  <p:link updateAutomatic="1"/>
                </p:oleObj>
              </mc:Choice>
              <mc:Fallback>
                <p:oleObj name="Worksheet" r:id="rId10" imgW="4620620" imgH="274172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3856" y="4259240"/>
                        <a:ext cx="3544981" cy="2103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8716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6858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Earnings Multiple Model: Assumptions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5409273"/>
              </p:ext>
            </p:extLst>
          </p:nvPr>
        </p:nvGraphicFramePr>
        <p:xfrm>
          <a:off x="1275007" y="1676400"/>
          <a:ext cx="6400800" cy="4002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6" name="Worksheet" r:id="rId4" imgW="3305057" imgH="2066899" progId="Excel.Sheet.12">
                  <p:link updateAutomatic="1"/>
                </p:oleObj>
              </mc:Choice>
              <mc:Fallback>
                <p:oleObj name="Worksheet" r:id="rId4" imgW="3305057" imgH="2066899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75007" y="1676400"/>
                        <a:ext cx="6400800" cy="40028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Earnings Multiple Model: Price Target </a:t>
            </a:r>
            <a:r>
              <a:rPr lang="en-US" sz="2600" baseline="30000" dirty="0" smtClean="0">
                <a:solidFill>
                  <a:schemeClr val="bg1"/>
                </a:solidFill>
              </a:rPr>
              <a:t>1</a:t>
            </a:r>
            <a:endParaRPr lang="en-US" sz="2600" baseline="300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04800" y="6365544"/>
            <a:ext cx="617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 smtClean="0">
                <a:solidFill>
                  <a:schemeClr val="bg1"/>
                </a:solidFill>
              </a:rPr>
              <a:t>(1)  </a:t>
            </a:r>
            <a:r>
              <a:rPr lang="en-US" dirty="0" smtClean="0">
                <a:solidFill>
                  <a:schemeClr val="bg1"/>
                </a:solidFill>
              </a:rPr>
              <a:t>Based on most-likely case assumptions 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163129"/>
              </p:ext>
            </p:extLst>
          </p:nvPr>
        </p:nvGraphicFramePr>
        <p:xfrm>
          <a:off x="457200" y="2590800"/>
          <a:ext cx="8229600" cy="1584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3" name="Worksheet" r:id="rId4" imgW="3810000" imgH="733546" progId="Excel.Sheet.12">
                  <p:link updateAutomatic="1"/>
                </p:oleObj>
              </mc:Choice>
              <mc:Fallback>
                <p:oleObj name="Worksheet" r:id="rId4" imgW="3810000" imgH="733546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7200" y="2590800"/>
                        <a:ext cx="8229600" cy="15841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531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6858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DCF Model: Assumptions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434926"/>
              </p:ext>
            </p:extLst>
          </p:nvPr>
        </p:nvGraphicFramePr>
        <p:xfrm>
          <a:off x="1295400" y="1407459"/>
          <a:ext cx="6400800" cy="5069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9" name="Worksheet" r:id="rId4" imgW="4533967" imgH="3590857" progId="Excel.Sheet.12">
                  <p:link updateAutomatic="1"/>
                </p:oleObj>
              </mc:Choice>
              <mc:Fallback>
                <p:oleObj name="Worksheet" r:id="rId4" imgW="4533967" imgH="359085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95400" y="1407459"/>
                        <a:ext cx="6400800" cy="5069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75318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6858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DCF Model: Price Target </a:t>
            </a:r>
            <a:r>
              <a:rPr lang="en-US" sz="2600" baseline="30000" dirty="0" smtClean="0">
                <a:solidFill>
                  <a:schemeClr val="bg1"/>
                </a:solidFill>
              </a:rPr>
              <a:t>1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304800" y="6365544"/>
            <a:ext cx="617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30000" dirty="0" smtClean="0">
                <a:solidFill>
                  <a:schemeClr val="bg1"/>
                </a:solidFill>
              </a:rPr>
              <a:t>(1)  </a:t>
            </a:r>
            <a:r>
              <a:rPr lang="en-US" dirty="0" smtClean="0">
                <a:solidFill>
                  <a:schemeClr val="bg1"/>
                </a:solidFill>
              </a:rPr>
              <a:t>Based on most-likely case assumptions 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621950"/>
              </p:ext>
            </p:extLst>
          </p:nvPr>
        </p:nvGraphicFramePr>
        <p:xfrm>
          <a:off x="838200" y="1676400"/>
          <a:ext cx="7315200" cy="3415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8" name="Worksheet" r:id="rId4" imgW="3448016" imgH="1609657" progId="Excel.Sheet.12">
                  <p:link updateAutomatic="1"/>
                </p:oleObj>
              </mc:Choice>
              <mc:Fallback>
                <p:oleObj name="Worksheet" r:id="rId4" imgW="3448016" imgH="1609657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8200" y="1676400"/>
                        <a:ext cx="7315200" cy="34151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12602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15199" y="762000"/>
            <a:ext cx="8229600" cy="685800"/>
          </a:xfrm>
        </p:spPr>
        <p:txBody>
          <a:bodyPr>
            <a:noAutofit/>
          </a:bodyPr>
          <a:lstStyle/>
          <a:p>
            <a:r>
              <a:rPr lang="en-US" sz="2600" dirty="0" smtClean="0">
                <a:solidFill>
                  <a:schemeClr val="bg1"/>
                </a:solidFill>
              </a:rPr>
              <a:t>Concluding Remarks</a:t>
            </a:r>
            <a:endParaRPr lang="en-US" sz="2600" dirty="0">
              <a:solidFill>
                <a:schemeClr val="bg1"/>
              </a:solidFill>
            </a:endParaRPr>
          </a:p>
        </p:txBody>
      </p:sp>
      <p:pic>
        <p:nvPicPr>
          <p:cNvPr id="5" name="Picture 4" descr="http://www.boxturtlebulletin.com/btb/wp-content/uploads/2010/05/Logo_ExxonMobil.jp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28600" y="304800"/>
            <a:ext cx="1828800" cy="364975"/>
          </a:xfrm>
          <a:prstGeom prst="rect">
            <a:avLst/>
          </a:prstGeom>
          <a:noFill/>
        </p:spPr>
      </p:pic>
      <p:sp>
        <p:nvSpPr>
          <p:cNvPr id="2" name="TextBox 1"/>
          <p:cNvSpPr txBox="1"/>
          <p:nvPr/>
        </p:nvSpPr>
        <p:spPr>
          <a:xfrm>
            <a:off x="533400" y="1935301"/>
            <a:ext cx="8001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  <a:latin typeface="+mj-lt"/>
              </a:rPr>
              <a:t>Diverse Business Lines </a:t>
            </a:r>
          </a:p>
          <a:p>
            <a:endParaRPr lang="en-US" sz="2000" b="1" dirty="0" smtClean="0">
              <a:solidFill>
                <a:schemeClr val="bg1"/>
              </a:solidFill>
              <a:latin typeface="+mj-lt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  <a:latin typeface="+mj-lt"/>
              </a:rPr>
              <a:t>Proven Management Team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000" b="1" dirty="0" smtClean="0">
              <a:solidFill>
                <a:schemeClr val="bg1"/>
              </a:solidFill>
              <a:latin typeface="+mj-lt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  <a:latin typeface="+mj-lt"/>
              </a:rPr>
              <a:t>Positive Outlook for Energy</a:t>
            </a:r>
          </a:p>
          <a:p>
            <a:endParaRPr lang="en-US" sz="2000" b="1" dirty="0" smtClean="0">
              <a:solidFill>
                <a:schemeClr val="bg1"/>
              </a:solidFill>
              <a:latin typeface="+mj-lt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  <a:latin typeface="+mj-lt"/>
              </a:rPr>
              <a:t>Consistent Outperformance of Peers </a:t>
            </a:r>
          </a:p>
          <a:p>
            <a:endParaRPr lang="en-US" sz="2000" b="1" dirty="0" smtClean="0">
              <a:solidFill>
                <a:schemeClr val="bg1"/>
              </a:solidFill>
              <a:latin typeface="+mj-lt"/>
            </a:endParaRPr>
          </a:p>
          <a:p>
            <a:pPr marL="285750" indent="-285750">
              <a:buFont typeface="Arial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  <a:latin typeface="+mj-lt"/>
              </a:rPr>
              <a:t>Attractive Price </a:t>
            </a:r>
            <a:r>
              <a:rPr lang="en-US" sz="2400" b="1" dirty="0" smtClean="0">
                <a:solidFill>
                  <a:schemeClr val="bg1"/>
                </a:solidFill>
                <a:latin typeface="+mj-lt"/>
              </a:rPr>
              <a:t>Targets</a:t>
            </a:r>
            <a:endParaRPr lang="en-US" sz="2400" b="1" dirty="0" smtClean="0">
              <a:solidFill>
                <a:schemeClr val="bg1"/>
              </a:solidFill>
              <a:latin typeface="+mj-lt"/>
            </a:endParaRPr>
          </a:p>
          <a:p>
            <a:endParaRPr lang="en-US" sz="2000" b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1365</TotalTime>
  <Words>1436</Words>
  <Application>Microsoft Office PowerPoint</Application>
  <PresentationFormat>On-screen Show (4:3)</PresentationFormat>
  <Paragraphs>245</Paragraphs>
  <Slides>39</Slides>
  <Notes>6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Links</vt:lpstr>
      </vt:variant>
      <vt:variant>
        <vt:i4>56</vt:i4>
      </vt:variant>
      <vt:variant>
        <vt:lpstr>Slide Titles</vt:lpstr>
      </vt:variant>
      <vt:variant>
        <vt:i4>39</vt:i4>
      </vt:variant>
    </vt:vector>
  </HeadingPairs>
  <TitlesOfParts>
    <vt:vector size="96" baseType="lpstr">
      <vt:lpstr>Office Theme</vt:lpstr>
      <vt:lpstr>E:\ExxonMobil Production Levels.xlsx!Exxon2![ExxonMobil Production Levels.xlsx]Exxon2 Chart 1</vt:lpstr>
      <vt:lpstr>E:\ExxonMobil Production Levels.xlsx!Exxon2![ExxonMobil Production Levels.xlsx]Exxon2 Chart 2</vt:lpstr>
      <vt:lpstr>E:\Exxon SC Financial Comp Analysis.xlsx!Customers!R2C2:R18C6</vt:lpstr>
      <vt:lpstr>E:\Exxon SC Financial Comp Analysis.xlsx!Suppliers !R2C2:R18C10</vt:lpstr>
      <vt:lpstr>E:\ExxonMobil Production Levels.xlsx!ExxonReservesandProduction![ExxonMobil Production Levels.xlsx]ExxonReservesandProduction Chart 9</vt:lpstr>
      <vt:lpstr>E:\ExxonMobil Production Levels.xlsx!ExxonReservesandProduction![ExxonMobil Production Levels.xlsx]ExxonReservesandProduction Chart 3</vt:lpstr>
      <vt:lpstr>E:\ExxonMobil Production Levels.xlsx!ExxonReservesandProduction![ExxonMobil Production Levels.xlsx]ExxonReservesandProduction Chart 11</vt:lpstr>
      <vt:lpstr>E:\ExxonMobil Production Levels.xlsx!ExxonReservesandProduction![ExxonMobil Production Levels.xlsx]ExxonReservesandProduction Chart 7</vt:lpstr>
      <vt:lpstr>E:\Exxon SC Financial Comp Analysis.xlsx!Financials -- Profitability ![Exxon SC Financial Comp Analysis.xlsx]Financials -- Profitability  Chart 1</vt:lpstr>
      <vt:lpstr>E:\Exxon SC Financial Comp Analysis.xlsx!Financials -- Profitability ![Exxon SC Financial Comp Analysis.xlsx]Financials -- Profitability  Chart 2</vt:lpstr>
      <vt:lpstr>E:\Exxon SC Financial Comp Analysis.xlsx!Financials -- Profitability ![Exxon SC Financial Comp Analysis.xlsx]Financials -- Profitability  Chart 3</vt:lpstr>
      <vt:lpstr>E:\Exxon SC Financial Comp Analysis.xlsx!Financials -- Profitability ![Exxon SC Financial Comp Analysis.xlsx]Financials -- Profitability  Chart 4</vt:lpstr>
      <vt:lpstr>E:\Exxon SC Financial Comp Analysis.xlsx!Financials -- Credit+Liquidity![Exxon SC Financial Comp Analysis.xlsx]Financials -- Credit+Liquidity Chart 1</vt:lpstr>
      <vt:lpstr>E:\Exxon SC Financial Comp Analysis.xlsx!Financials -- Credit+Liquidity![Exxon SC Financial Comp Analysis.xlsx]Financials -- Credit+Liquidity Chart 2</vt:lpstr>
      <vt:lpstr>E:\Exxon SC Financial Comp Analysis.xlsx!Financials -- Credit+Liquidity![Exxon SC Financial Comp Analysis.xlsx]Financials -- Credit+Liquidity Chart 3</vt:lpstr>
      <vt:lpstr>E:\Exxon SC Financial Comp Analysis.xlsx!Financials -- Cash Flow ![Exxon SC Financial Comp Analysis.xlsx]Financials -- Cash Flow  Chart 1</vt:lpstr>
      <vt:lpstr>E:\Exxon SC Financial Comp Analysis.xlsx!Financials -- Cash Flow ![Exxon SC Financial Comp Analysis.xlsx]Financials -- Cash Flow  Chart 2</vt:lpstr>
      <vt:lpstr>E:\Exxon SC Financial Comp Analysis.xlsx!Financials -- Cash Flow ![Exxon SC Financial Comp Analysis.xlsx]Financials -- Cash Flow  Chart 3</vt:lpstr>
      <vt:lpstr>E:\Exxon SC Financial Comp Analysis.xlsx!Financials -- Cash Flow ![Exxon SC Financial Comp Analysis.xlsx]Financials -- Cash Flow  Chart 4</vt:lpstr>
      <vt:lpstr>E:\EIA Historical Energy Prices.xls!Data 1![EIA Historical Energy Prices.xls]Data 1 Chart 1</vt:lpstr>
      <vt:lpstr>E:\EIA Natural Gas.xls!Data 1![EIA Natural Gas.xls]Data 1 Chart 1</vt:lpstr>
      <vt:lpstr>E:\EIA Historical Energy Prices.xls!Data 4![EIA Historical Energy Prices.xls]Data 4 Chart 1</vt:lpstr>
      <vt:lpstr>E:\EIA Historical Energy Prices.xls!Data 6![EIA Historical Energy Prices.xls]Data 6 Chart 1</vt:lpstr>
      <vt:lpstr>E:\EIA Historical Energy Prices.xls!Data 2![EIA Historical Energy Prices.xls]Data 2 Chart 1</vt:lpstr>
      <vt:lpstr>E:\EIA Historical Energy Prices.xls!Data 5![EIA Historical Energy Prices.xls]Data 5 Chart 1</vt:lpstr>
      <vt:lpstr>E:\EIA Short Term Energy Projections.xls!Crude Oil![EIA Short Term Energy Projections.xls]Crude Oil Chart 1</vt:lpstr>
      <vt:lpstr>E:\EIA Short Term Energy Projections.xls!Natural Gas ![EIA Short Term Energy Projections.xls]Natural Gas  Chart 1</vt:lpstr>
      <vt:lpstr>E:\EIA Short Term Energy Projections.xls!Refined Products![EIA Short Term Energy Projections.xls]Refined Products Chart 1</vt:lpstr>
      <vt:lpstr>E:\EIA Short Term Energy Projections.xls!Refined Products![EIA Short Term Energy Projections.xls]Refined Products Chart 2</vt:lpstr>
      <vt:lpstr>E:\EIA Short Term Energy Projections.xls!Refined Products![EIA Short Term Energy Projections.xls]Refined Products Chart 3</vt:lpstr>
      <vt:lpstr>E:\EIA Short Term Energy Projections.xls!Refined Products![EIA Short Term Energy Projections.xls]Refined Products Chart 4</vt:lpstr>
      <vt:lpstr>E:\EIA Short Term Energy Projections.xls!Natural Gas Products![EIA Short Term Energy Projections.xls]Natural Gas Products Chart 1</vt:lpstr>
      <vt:lpstr>E:\EIA Short Term Energy Projections.xls!Natural Gas Products![EIA Short Term Energy Projections.xls]Natural Gas Products Chart 3</vt:lpstr>
      <vt:lpstr>E:\EIA Short Term Energy Projections.xls!Natural Gas Products![EIA Short Term Energy Projections.xls]Natural Gas Products Chart 2</vt:lpstr>
      <vt:lpstr>E:\Consumption by Sector and Source.xlsx!Industrial![Consumption by Sector and Source.xlsx]Industrial Chart 1</vt:lpstr>
      <vt:lpstr>E:\Consumption by Sector and Source.xlsx!Commercial![Consumption by Sector and Source.xlsx]Commercial Chart 1</vt:lpstr>
      <vt:lpstr>E:\Consumption by Sector and Source.xlsx!Residential ![Consumption by Sector and Source.xlsx]Residential  Chart 1</vt:lpstr>
      <vt:lpstr>E:\ExxonMobil Production Levels.xlsx!ExxonReservesandProduction![ExxonMobil Production Levels.xlsx]ExxonReservesandProduction Chart 1</vt:lpstr>
      <vt:lpstr>E:\ExxonMobil Production Levels.xlsx!ExxonReservesandProduction![ExxonMobil Production Levels.xlsx]ExxonReservesandProduction Chart 5</vt:lpstr>
      <vt:lpstr>E:\ExxonMobil Production Levels.xlsx!ExxonReservesandProduction![ExxonMobil Production Levels.xlsx]ExxonReservesandProduction Chart 6</vt:lpstr>
      <vt:lpstr>E:\ExxonMobil Production Levels.xlsx!ExxonReservesandProduction![ExxonMobil Production Levels.xlsx]ExxonReservesandProduction Chart 8</vt:lpstr>
      <vt:lpstr>E:\Exxon SC Financial Comp Analysis.xlsx!Graphs (Profitability) ![Exxon SC Financial Comp Analysis.xlsx]Graphs (Profitability)  Chart 1</vt:lpstr>
      <vt:lpstr>E:\Exxon SC Financial Comp Analysis.xlsx!Graphs (Profitability) ![Exxon SC Financial Comp Analysis.xlsx]Graphs (Profitability)  Chart 2</vt:lpstr>
      <vt:lpstr>E:\Exxon SC Financial Comp Analysis.xlsx!Graphs (Profitability) ![Exxon SC Financial Comp Analysis.xlsx]Graphs (Profitability)  Chart 8</vt:lpstr>
      <vt:lpstr>E:\Exxon SC Financial Comp Analysis.xlsx!Graphs (Profitability) ![Exxon SC Financial Comp Analysis.xlsx]Graphs (Profitability)  Chart 4</vt:lpstr>
      <vt:lpstr>E:\Exxon SC Financial Comp Analysis.xlsx!Graphs (Credit)![Exxon SC Financial Comp Analysis.xlsx]Graphs (Credit) Chart 5</vt:lpstr>
      <vt:lpstr>E:\Exxon SC Financial Comp Analysis.xlsx!Graphs (Credit)![Exxon SC Financial Comp Analysis.xlsx]Graphs (Credit) Chart 7</vt:lpstr>
      <vt:lpstr>E:\Exxon SC Financial Comp Analysis.xlsx!Graphs (Credit)![Exxon SC Financial Comp Analysis.xlsx]Graphs (Credit) Chart 6</vt:lpstr>
      <vt:lpstr>E:\Exxon SC Financial Comp Analysis.xlsx!Graphs (Cash Flow)![Exxon SC Financial Comp Analysis.xlsx]Graphs (Cash Flow) Chart 1</vt:lpstr>
      <vt:lpstr>E:\Exxon SC Financial Comp Analysis.xlsx!Graphs (Cash Flow)![Exxon SC Financial Comp Analysis.xlsx]Graphs (Cash Flow) Chart 2</vt:lpstr>
      <vt:lpstr>E:\Exxon SC Financial Comp Analysis.xlsx!Graphs (Cash Flow)![Exxon SC Financial Comp Analysis.xlsx]Graphs (Cash Flow) Chart 6</vt:lpstr>
      <vt:lpstr>E:\Exxon SC Financial Comp Analysis.xlsx!Graphs (Cash Flow)![Exxon SC Financial Comp Analysis.xlsx]Graphs (Cash Flow) Chart 5</vt:lpstr>
      <vt:lpstr>E:\ExxonMobil Valuation Models.xlsx!EPS Model Assumptions!R2C2:R13C5</vt:lpstr>
      <vt:lpstr>E:\ExxonMobil Valuation Models.xlsx!EPS Model Price Target!R3C2:R7C5</vt:lpstr>
      <vt:lpstr>E:\ExxonMobil Valuation Models.xlsx!DCF Assumptions!R2C2:R21C5</vt:lpstr>
      <vt:lpstr>E:\ExxonMobil Valuation Models.xlsx!DCF Model Price Target!R2C2:R11C5</vt:lpstr>
      <vt:lpstr>PowerPoint Presentation</vt:lpstr>
      <vt:lpstr>  Who We Are:  Business Lines, Supply Chain, and Management Team </vt:lpstr>
      <vt:lpstr>Business Lines </vt:lpstr>
      <vt:lpstr>Business Lines (Continued) </vt:lpstr>
      <vt:lpstr>Business Lines (Continued) </vt:lpstr>
      <vt:lpstr>Business Lines Composition </vt:lpstr>
      <vt:lpstr>Supply Chain: Customers  </vt:lpstr>
      <vt:lpstr>Supply Chain: Suppliers  </vt:lpstr>
      <vt:lpstr>Management Team </vt:lpstr>
      <vt:lpstr>Management Team  (Continued)</vt:lpstr>
      <vt:lpstr> What We’ve Done:  Properties, Production, Profits</vt:lpstr>
      <vt:lpstr>Oil and Gas Reserves </vt:lpstr>
      <vt:lpstr>Oil and Gas Reserves (Continued) </vt:lpstr>
      <vt:lpstr>Production</vt:lpstr>
      <vt:lpstr>Financial Analysis: Profitability </vt:lpstr>
      <vt:lpstr>Financial Analysis: Credit and Liquidity </vt:lpstr>
      <vt:lpstr>Financial Analysis: Cash Flow</vt:lpstr>
      <vt:lpstr>  Where We’re Going:  On the Horizon </vt:lpstr>
      <vt:lpstr>The Drivers of Energy </vt:lpstr>
      <vt:lpstr>Drivers of Energy (Continued)</vt:lpstr>
      <vt:lpstr>Drivers of Energy (Continued)</vt:lpstr>
      <vt:lpstr>Short-Run Energy Outlook</vt:lpstr>
      <vt:lpstr>Short-Run Energy Outlook (Continued)</vt:lpstr>
      <vt:lpstr>Short-Run Energy Outlook (Continued)</vt:lpstr>
      <vt:lpstr>Long-Run Energy Outlook</vt:lpstr>
      <vt:lpstr>Long-Run Energy Outlook (Continued)</vt:lpstr>
      <vt:lpstr>Meeting Global Energy Demand: Major Projects</vt:lpstr>
      <vt:lpstr>Major Projects (Continued) </vt:lpstr>
      <vt:lpstr>   Valuation Analysis</vt:lpstr>
      <vt:lpstr>Competitive Analysis: Oil and Gas Reserves </vt:lpstr>
      <vt:lpstr>Competitive Analysis: Production</vt:lpstr>
      <vt:lpstr>Competitive Analysis: Profitability </vt:lpstr>
      <vt:lpstr>Competitive Analysis: Credit and Liquidity  </vt:lpstr>
      <vt:lpstr>Competitive Analysis: Cash Flow  </vt:lpstr>
      <vt:lpstr>Earnings Multiple Model: Assumptions</vt:lpstr>
      <vt:lpstr>Earnings Multiple Model: Price Target 1</vt:lpstr>
      <vt:lpstr>DCF Model: Assumptions</vt:lpstr>
      <vt:lpstr>DCF Model: Price Target 1</vt:lpstr>
      <vt:lpstr>Concluding Remarks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Matthew Brown</dc:creator>
  <cp:lastModifiedBy>Matt</cp:lastModifiedBy>
  <cp:revision>174</cp:revision>
  <dcterms:created xsi:type="dcterms:W3CDTF">2013-01-14T03:36:33Z</dcterms:created>
  <dcterms:modified xsi:type="dcterms:W3CDTF">2013-03-20T04:02:42Z</dcterms:modified>
</cp:coreProperties>
</file>