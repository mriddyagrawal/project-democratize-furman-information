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5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6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7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678" r:id="rId5"/>
    <p:sldMasterId id="2147483658" r:id="rId6"/>
    <p:sldMasterId id="2147483668" r:id="rId7"/>
    <p:sldMasterId id="2147483739" r:id="rId8"/>
    <p:sldMasterId id="2147483749" r:id="rId9"/>
    <p:sldMasterId id="2147483759" r:id="rId10"/>
    <p:sldMasterId id="2147483718" r:id="rId11"/>
  </p:sldMasterIdLst>
  <p:notesMasterIdLst>
    <p:notesMasterId r:id="rId19"/>
  </p:notesMasterIdLst>
  <p:handoutMasterIdLst>
    <p:handoutMasterId r:id="rId20"/>
  </p:handoutMasterIdLst>
  <p:sldIdLst>
    <p:sldId id="256" r:id="rId12"/>
    <p:sldId id="266" r:id="rId13"/>
    <p:sldId id="402" r:id="rId14"/>
    <p:sldId id="373" r:id="rId15"/>
    <p:sldId id="415" r:id="rId16"/>
    <p:sldId id="416" r:id="rId17"/>
    <p:sldId id="291" r:id="rId1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21" autoAdjust="0"/>
    <p:restoredTop sz="84844" autoAdjust="0"/>
  </p:normalViewPr>
  <p:slideViewPr>
    <p:cSldViewPr snapToGrid="0" snapToObjects="1">
      <p:cViewPr varScale="1">
        <p:scale>
          <a:sx n="84" d="100"/>
          <a:sy n="84" d="100"/>
        </p:scale>
        <p:origin x="558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7" d="100"/>
          <a:sy n="77" d="100"/>
        </p:scale>
        <p:origin x="283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4.xml"/><Relationship Id="rId23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50" tIns="46576" rIns="93150" bIns="4657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50" tIns="46576" rIns="93150" bIns="46576" rtlCol="0"/>
          <a:lstStyle>
            <a:lvl1pPr algn="r">
              <a:defRPr sz="1200"/>
            </a:lvl1pPr>
          </a:lstStyle>
          <a:p>
            <a:fld id="{9FAC9ED2-921B-423C-B339-FF00DF4F207F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9"/>
            <a:ext cx="3037840" cy="466433"/>
          </a:xfrm>
          <a:prstGeom prst="rect">
            <a:avLst/>
          </a:prstGeom>
        </p:spPr>
        <p:txBody>
          <a:bodyPr vert="horz" lIns="93150" tIns="46576" rIns="93150" bIns="4657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9"/>
            <a:ext cx="3037840" cy="466433"/>
          </a:xfrm>
          <a:prstGeom prst="rect">
            <a:avLst/>
          </a:prstGeom>
        </p:spPr>
        <p:txBody>
          <a:bodyPr vert="horz" lIns="93150" tIns="46576" rIns="93150" bIns="46576" rtlCol="0" anchor="b"/>
          <a:lstStyle>
            <a:lvl1pPr algn="r">
              <a:defRPr sz="1200"/>
            </a:lvl1pPr>
          </a:lstStyle>
          <a:p>
            <a:fld id="{B73853B2-8E99-483D-983C-A7D1A487F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815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50" tIns="46576" rIns="93150" bIns="46576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50" tIns="46576" rIns="93150" bIns="46576" rtlCol="0"/>
          <a:lstStyle>
            <a:lvl1pPr algn="r">
              <a:defRPr sz="1200"/>
            </a:lvl1pPr>
          </a:lstStyle>
          <a:p>
            <a:fld id="{C1B8FF67-57F9-8344-8E48-6F39E9F9B468}" type="datetimeFigureOut">
              <a:rPr lang="en-US" smtClean="0"/>
              <a:t>10/18/2021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0" tIns="46576" rIns="93150" bIns="46576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50" tIns="46576" rIns="93150" bIns="4657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9"/>
            <a:ext cx="3037840" cy="466433"/>
          </a:xfrm>
          <a:prstGeom prst="rect">
            <a:avLst/>
          </a:prstGeom>
        </p:spPr>
        <p:txBody>
          <a:bodyPr vert="horz" lIns="93150" tIns="46576" rIns="93150" bIns="46576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9"/>
            <a:ext cx="3037840" cy="466433"/>
          </a:xfrm>
          <a:prstGeom prst="rect">
            <a:avLst/>
          </a:prstGeom>
        </p:spPr>
        <p:txBody>
          <a:bodyPr vert="horz" lIns="93150" tIns="46576" rIns="93150" bIns="46576" rtlCol="0" anchor="b"/>
          <a:lstStyle>
            <a:lvl1pPr algn="r">
              <a:defRPr sz="1200"/>
            </a:lvl1pPr>
          </a:lstStyle>
          <a:p>
            <a:fld id="{169C16DA-2766-464C-A69F-8CAE26EC73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640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9C16DA-2766-464C-A69F-8CAE26EC73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081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9200"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9C16DA-2766-464C-A69F-8CAE26EC732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6822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9C16DA-2766-464C-A69F-8CAE26EC732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5736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9C16DA-2766-464C-A69F-8CAE26EC732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38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9C16DA-2766-464C-A69F-8CAE26EC732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668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9C16DA-2766-464C-A69F-8CAE26EC732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866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93738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73413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42748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6880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72390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60362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68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4561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8664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00264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2264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7887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680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93738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73413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12039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50135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72390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60362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29974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239093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796781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0676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56143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260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00816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93738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73413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72390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60362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93738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73413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72390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60362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93738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73413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4116688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012954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72390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60362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985992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628831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57744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9430095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879720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256210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30474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93738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73413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3788949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723280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72390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60362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79869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926105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4580108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3568865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41962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600647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0218413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93738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73413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1104300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19177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72390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60362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786751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630403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1700637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5381335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752754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3314394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967568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93738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73413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6158840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374448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72390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60362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432617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32050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1098063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772899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720734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254017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94718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image" Target="../media/image2.jpg"/><Relationship Id="rId5" Type="http://schemas.openxmlformats.org/officeDocument/2006/relationships/slideLayout" Target="../slideLayouts/slideLayout23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image" Target="../media/image3.jpg"/><Relationship Id="rId5" Type="http://schemas.openxmlformats.org/officeDocument/2006/relationships/slideLayout" Target="../slideLayouts/slideLayout32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image" Target="../media/image2.jpg"/><Relationship Id="rId5" Type="http://schemas.openxmlformats.org/officeDocument/2006/relationships/slideLayout" Target="../slideLayouts/slideLayout41.xml"/><Relationship Id="rId10" Type="http://schemas.openxmlformats.org/officeDocument/2006/relationships/theme" Target="../theme/theme5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image" Target="../media/image3.jpg"/><Relationship Id="rId5" Type="http://schemas.openxmlformats.org/officeDocument/2006/relationships/slideLayout" Target="../slideLayouts/slideLayout50.xml"/><Relationship Id="rId10" Type="http://schemas.openxmlformats.org/officeDocument/2006/relationships/theme" Target="../theme/theme6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image" Target="../media/image4.jpg"/><Relationship Id="rId5" Type="http://schemas.openxmlformats.org/officeDocument/2006/relationships/slideLayout" Target="../slideLayouts/slideLayout59.xml"/><Relationship Id="rId10" Type="http://schemas.openxmlformats.org/officeDocument/2006/relationships/theme" Target="../theme/theme7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image" Target="../media/image4.jpg"/><Relationship Id="rId5" Type="http://schemas.openxmlformats.org/officeDocument/2006/relationships/slideLayout" Target="../slideLayouts/slideLayout68.xml"/><Relationship Id="rId10" Type="http://schemas.openxmlformats.org/officeDocument/2006/relationships/theme" Target="../theme/theme8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11584459" y="6359912"/>
            <a:ext cx="607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BF98A54-01F4-6940-B4CD-F28FFB33548C}" type="slidenum">
              <a:rPr lang="en-US" b="0" cap="none" spc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‹#›</a:t>
            </a:fld>
            <a:endParaRPr lang="en-US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675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Franklin Gothic Medium Cond" charset="0"/>
          <a:ea typeface="Franklin Gothic Medium Cond" charset="0"/>
          <a:cs typeface="Franklin Gothic Medium Cond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3536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Franklin Gothic Medium Cond" charset="0"/>
          <a:ea typeface="Franklin Gothic Medium Cond" charset="0"/>
          <a:cs typeface="Franklin Gothic Medium Cond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11672008" y="5992297"/>
            <a:ext cx="607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BF98A54-01F4-6940-B4CD-F28FFB33548C}" type="slidenum">
              <a:rPr lang="en-US" b="0" cap="none" spc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‹#›</a:t>
            </a:fld>
            <a:endParaRPr lang="en-US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55696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Franklin Gothic Medium Cond" charset="0"/>
          <a:ea typeface="Franklin Gothic Medium Cond" charset="0"/>
          <a:cs typeface="Franklin Gothic Medium Cond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11642824" y="6359912"/>
            <a:ext cx="607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BF98A54-01F4-6940-B4CD-F28FFB33548C}" type="slidenum">
              <a:rPr lang="en-US" b="0" cap="none" spc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‹#›</a:t>
            </a:fld>
            <a:endParaRPr lang="en-US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8297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Franklin Gothic Medium Cond" charset="0"/>
          <a:ea typeface="Franklin Gothic Medium Cond" charset="0"/>
          <a:cs typeface="Franklin Gothic Medium Cond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5620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Franklin Gothic Medium Cond" charset="0"/>
          <a:ea typeface="Franklin Gothic Medium Cond" charset="0"/>
          <a:cs typeface="Franklin Gothic Medium Cond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4599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Franklin Gothic Medium Cond" charset="0"/>
          <a:ea typeface="Franklin Gothic Medium Cond" charset="0"/>
          <a:cs typeface="Franklin Gothic Medium Cond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8606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Franklin Gothic Medium Cond" charset="0"/>
          <a:ea typeface="Franklin Gothic Medium Cond" charset="0"/>
          <a:cs typeface="Franklin Gothic Medium Cond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6593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Franklin Gothic Medium Cond" charset="0"/>
          <a:ea typeface="Franklin Gothic Medium Cond" charset="0"/>
          <a:cs typeface="Franklin Gothic Medium Cond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Furman Investment </a:t>
            </a:r>
            <a:r>
              <a:rPr lang="en-US" dirty="0" smtClean="0"/>
              <a:t>Club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October 18, </a:t>
            </a:r>
            <a:r>
              <a:rPr lang="en-US" dirty="0"/>
              <a:t>2021</a:t>
            </a:r>
          </a:p>
        </p:txBody>
      </p:sp>
    </p:spTree>
    <p:extLst>
      <p:ext uri="{BB962C8B-B14F-4D97-AF65-F5344CB8AC3E}">
        <p14:creationId xmlns:p14="http://schemas.microsoft.com/office/powerpoint/2010/main" val="1381211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5515"/>
          </a:xfrm>
        </p:spPr>
        <p:txBody>
          <a:bodyPr/>
          <a:lstStyle/>
          <a:p>
            <a:pPr algn="ctr"/>
            <a:r>
              <a:rPr lang="en-US" dirty="0"/>
              <a:t>Agenda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093855"/>
            <a:ext cx="10515600" cy="4904959"/>
          </a:xfrm>
        </p:spPr>
        <p:txBody>
          <a:bodyPr>
            <a:normAutofit/>
          </a:bodyPr>
          <a:lstStyle/>
          <a:p>
            <a:r>
              <a:rPr lang="en-US" dirty="0" smtClean="0"/>
              <a:t>Investment Club Portfolio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Examples of Templates for Student Pitches/Research Reports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 smtClean="0"/>
              <a:t>Resources to Use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Current Market Events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Q&amp;A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732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-72920"/>
            <a:ext cx="12192000" cy="850489"/>
          </a:xfrm>
        </p:spPr>
        <p:txBody>
          <a:bodyPr/>
          <a:lstStyle/>
          <a:p>
            <a:pPr algn="ctr"/>
            <a:r>
              <a:rPr lang="en-US" dirty="0"/>
              <a:t>Furman </a:t>
            </a:r>
            <a:r>
              <a:rPr lang="en-US" dirty="0" smtClean="0"/>
              <a:t>Club Portfolio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" y="777569"/>
            <a:ext cx="11782425" cy="361187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87" y="5088254"/>
            <a:ext cx="7130962" cy="151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471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 smtClean="0"/>
              <a:t>Components of a Research Report/Pitch</a:t>
            </a:r>
            <a:endParaRPr lang="en-US" sz="400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Company Info</a:t>
            </a:r>
          </a:p>
          <a:p>
            <a:r>
              <a:rPr lang="en-US" dirty="0" smtClean="0"/>
              <a:t>Industry Landscape</a:t>
            </a:r>
          </a:p>
          <a:p>
            <a:r>
              <a:rPr lang="en-US" dirty="0" smtClean="0"/>
              <a:t>Financial Info</a:t>
            </a:r>
          </a:p>
          <a:p>
            <a:r>
              <a:rPr lang="en-US" smtClean="0"/>
              <a:t>Valuation (Discuss w/ Club)</a:t>
            </a:r>
            <a:endParaRPr lang="en-US" dirty="0" smtClean="0"/>
          </a:p>
          <a:p>
            <a:r>
              <a:rPr lang="en-US" dirty="0" smtClean="0"/>
              <a:t>Risks</a:t>
            </a:r>
          </a:p>
          <a:p>
            <a:r>
              <a:rPr lang="en-US" dirty="0" smtClean="0"/>
              <a:t>Summarize Investment Idea </a:t>
            </a:r>
          </a:p>
          <a:p>
            <a:r>
              <a:rPr lang="en-US" dirty="0" smtClean="0"/>
              <a:t>(For FU Club - Trade/Execution)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4187" y="1690688"/>
            <a:ext cx="2949613" cy="433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984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 smtClean="0"/>
              <a:t>Resources</a:t>
            </a:r>
            <a:endParaRPr lang="en-US" sz="40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92095"/>
          </a:xfrm>
        </p:spPr>
        <p:txBody>
          <a:bodyPr/>
          <a:lstStyle/>
          <a:p>
            <a:r>
              <a:rPr lang="en-US" dirty="0" smtClean="0"/>
              <a:t>Bloomberg</a:t>
            </a:r>
          </a:p>
          <a:p>
            <a:r>
              <a:rPr lang="en-US" dirty="0" smtClean="0"/>
              <a:t>Library Website: S&amp;P Capital IQ, MSCI ESG Direct</a:t>
            </a:r>
          </a:p>
          <a:p>
            <a:r>
              <a:rPr lang="en-US" dirty="0" smtClean="0"/>
              <a:t>Library: CFA Level I Materials</a:t>
            </a:r>
          </a:p>
          <a:p>
            <a:r>
              <a:rPr lang="en-US" dirty="0" smtClean="0"/>
              <a:t>Free Financial Websites (e.g. Yahoo! Finance)</a:t>
            </a:r>
          </a:p>
          <a:p>
            <a:r>
              <a:rPr lang="en-US" dirty="0" smtClean="0"/>
              <a:t>Investment Team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03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87133"/>
            <a:ext cx="10515600" cy="1325563"/>
          </a:xfrm>
        </p:spPr>
        <p:txBody>
          <a:bodyPr>
            <a:noAutofit/>
          </a:bodyPr>
          <a:lstStyle/>
          <a:p>
            <a:r>
              <a:rPr lang="en-US" sz="4000" dirty="0" smtClean="0"/>
              <a:t>Current Market Events – Topics for Discussion</a:t>
            </a:r>
            <a:endParaRPr lang="en-US" sz="40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838200" y="2803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Franklin Gothic Medium Cond" charset="0"/>
                <a:ea typeface="Franklin Gothic Medium Cond" charset="0"/>
                <a:cs typeface="Franklin Gothic Medium Cond" charset="0"/>
              </a:defRPr>
            </a:lvl1pPr>
          </a:lstStyle>
          <a:p>
            <a:r>
              <a:rPr lang="en-US" sz="4000" dirty="0" smtClean="0"/>
              <a:t>Open Q&amp;A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962882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72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urman">
      <a:dk1>
        <a:srgbClr val="6C4095"/>
      </a:dk1>
      <a:lt1>
        <a:srgbClr val="FFFFFF"/>
      </a:lt1>
      <a:dk2>
        <a:srgbClr val="6C4095"/>
      </a:dk2>
      <a:lt2>
        <a:srgbClr val="E7E6E6"/>
      </a:lt2>
      <a:accent1>
        <a:srgbClr val="AADEEB"/>
      </a:accent1>
      <a:accent2>
        <a:srgbClr val="F1BD19"/>
      </a:accent2>
      <a:accent3>
        <a:srgbClr val="669933"/>
      </a:accent3>
      <a:accent4>
        <a:srgbClr val="E2322B"/>
      </a:accent4>
      <a:accent5>
        <a:srgbClr val="53575A"/>
      </a:accent5>
      <a:accent6>
        <a:srgbClr val="201546"/>
      </a:accent6>
      <a:hlink>
        <a:srgbClr val="F1BD19"/>
      </a:hlink>
      <a:folHlink>
        <a:srgbClr val="F1BD19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Theme">
  <a:themeElements>
    <a:clrScheme name="Furman">
      <a:dk1>
        <a:srgbClr val="6C4095"/>
      </a:dk1>
      <a:lt1>
        <a:srgbClr val="FFFFFF"/>
      </a:lt1>
      <a:dk2>
        <a:srgbClr val="6C4095"/>
      </a:dk2>
      <a:lt2>
        <a:srgbClr val="E7E6E6"/>
      </a:lt2>
      <a:accent1>
        <a:srgbClr val="AADEEB"/>
      </a:accent1>
      <a:accent2>
        <a:srgbClr val="F1BD19"/>
      </a:accent2>
      <a:accent3>
        <a:srgbClr val="669933"/>
      </a:accent3>
      <a:accent4>
        <a:srgbClr val="E2322B"/>
      </a:accent4>
      <a:accent5>
        <a:srgbClr val="53575A"/>
      </a:accent5>
      <a:accent6>
        <a:srgbClr val="201546"/>
      </a:accent6>
      <a:hlink>
        <a:srgbClr val="F1BD19"/>
      </a:hlink>
      <a:folHlink>
        <a:srgbClr val="F1BD19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Furman">
      <a:dk1>
        <a:srgbClr val="6C4095"/>
      </a:dk1>
      <a:lt1>
        <a:srgbClr val="FFFFFF"/>
      </a:lt1>
      <a:dk2>
        <a:srgbClr val="6C4095"/>
      </a:dk2>
      <a:lt2>
        <a:srgbClr val="E7E6E6"/>
      </a:lt2>
      <a:accent1>
        <a:srgbClr val="AADEEB"/>
      </a:accent1>
      <a:accent2>
        <a:srgbClr val="F1BD19"/>
      </a:accent2>
      <a:accent3>
        <a:srgbClr val="669933"/>
      </a:accent3>
      <a:accent4>
        <a:srgbClr val="E2322B"/>
      </a:accent4>
      <a:accent5>
        <a:srgbClr val="53575A"/>
      </a:accent5>
      <a:accent6>
        <a:srgbClr val="201546"/>
      </a:accent6>
      <a:hlink>
        <a:srgbClr val="F1BD19"/>
      </a:hlink>
      <a:folHlink>
        <a:srgbClr val="F1BD19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Theme">
  <a:themeElements>
    <a:clrScheme name="Furman">
      <a:dk1>
        <a:srgbClr val="6C4095"/>
      </a:dk1>
      <a:lt1>
        <a:srgbClr val="FFFFFF"/>
      </a:lt1>
      <a:dk2>
        <a:srgbClr val="6C4095"/>
      </a:dk2>
      <a:lt2>
        <a:srgbClr val="E7E6E6"/>
      </a:lt2>
      <a:accent1>
        <a:srgbClr val="AADEEB"/>
      </a:accent1>
      <a:accent2>
        <a:srgbClr val="F1BD19"/>
      </a:accent2>
      <a:accent3>
        <a:srgbClr val="669933"/>
      </a:accent3>
      <a:accent4>
        <a:srgbClr val="E2322B"/>
      </a:accent4>
      <a:accent5>
        <a:srgbClr val="53575A"/>
      </a:accent5>
      <a:accent6>
        <a:srgbClr val="201546"/>
      </a:accent6>
      <a:hlink>
        <a:srgbClr val="F1BD19"/>
      </a:hlink>
      <a:folHlink>
        <a:srgbClr val="F1BD19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9_Office Theme">
  <a:themeElements>
    <a:clrScheme name="Furman">
      <a:dk1>
        <a:srgbClr val="6C4095"/>
      </a:dk1>
      <a:lt1>
        <a:srgbClr val="FFFFFF"/>
      </a:lt1>
      <a:dk2>
        <a:srgbClr val="6C4095"/>
      </a:dk2>
      <a:lt2>
        <a:srgbClr val="E7E6E6"/>
      </a:lt2>
      <a:accent1>
        <a:srgbClr val="AADEEB"/>
      </a:accent1>
      <a:accent2>
        <a:srgbClr val="F1BD19"/>
      </a:accent2>
      <a:accent3>
        <a:srgbClr val="669933"/>
      </a:accent3>
      <a:accent4>
        <a:srgbClr val="E2322B"/>
      </a:accent4>
      <a:accent5>
        <a:srgbClr val="53575A"/>
      </a:accent5>
      <a:accent6>
        <a:srgbClr val="201546"/>
      </a:accent6>
      <a:hlink>
        <a:srgbClr val="F1BD19"/>
      </a:hlink>
      <a:folHlink>
        <a:srgbClr val="F1BD19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0_Office Theme">
  <a:themeElements>
    <a:clrScheme name="Furman">
      <a:dk1>
        <a:srgbClr val="6C4095"/>
      </a:dk1>
      <a:lt1>
        <a:srgbClr val="FFFFFF"/>
      </a:lt1>
      <a:dk2>
        <a:srgbClr val="6C4095"/>
      </a:dk2>
      <a:lt2>
        <a:srgbClr val="E7E6E6"/>
      </a:lt2>
      <a:accent1>
        <a:srgbClr val="AADEEB"/>
      </a:accent1>
      <a:accent2>
        <a:srgbClr val="F1BD19"/>
      </a:accent2>
      <a:accent3>
        <a:srgbClr val="669933"/>
      </a:accent3>
      <a:accent4>
        <a:srgbClr val="E2322B"/>
      </a:accent4>
      <a:accent5>
        <a:srgbClr val="53575A"/>
      </a:accent5>
      <a:accent6>
        <a:srgbClr val="201546"/>
      </a:accent6>
      <a:hlink>
        <a:srgbClr val="F1BD19"/>
      </a:hlink>
      <a:folHlink>
        <a:srgbClr val="F1BD19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1_Office Theme">
  <a:themeElements>
    <a:clrScheme name="Furman">
      <a:dk1>
        <a:srgbClr val="6C4095"/>
      </a:dk1>
      <a:lt1>
        <a:srgbClr val="FFFFFF"/>
      </a:lt1>
      <a:dk2>
        <a:srgbClr val="6C4095"/>
      </a:dk2>
      <a:lt2>
        <a:srgbClr val="E7E6E6"/>
      </a:lt2>
      <a:accent1>
        <a:srgbClr val="AADEEB"/>
      </a:accent1>
      <a:accent2>
        <a:srgbClr val="F1BD19"/>
      </a:accent2>
      <a:accent3>
        <a:srgbClr val="669933"/>
      </a:accent3>
      <a:accent4>
        <a:srgbClr val="E2322B"/>
      </a:accent4>
      <a:accent5>
        <a:srgbClr val="53575A"/>
      </a:accent5>
      <a:accent6>
        <a:srgbClr val="201546"/>
      </a:accent6>
      <a:hlink>
        <a:srgbClr val="F1BD19"/>
      </a:hlink>
      <a:folHlink>
        <a:srgbClr val="F1BD19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Office Theme">
  <a:themeElements>
    <a:clrScheme name="Furman">
      <a:dk1>
        <a:srgbClr val="6C4095"/>
      </a:dk1>
      <a:lt1>
        <a:srgbClr val="FFFFFF"/>
      </a:lt1>
      <a:dk2>
        <a:srgbClr val="6C4095"/>
      </a:dk2>
      <a:lt2>
        <a:srgbClr val="E7E6E6"/>
      </a:lt2>
      <a:accent1>
        <a:srgbClr val="AADEEB"/>
      </a:accent1>
      <a:accent2>
        <a:srgbClr val="F1BD19"/>
      </a:accent2>
      <a:accent3>
        <a:srgbClr val="669933"/>
      </a:accent3>
      <a:accent4>
        <a:srgbClr val="E2322B"/>
      </a:accent4>
      <a:accent5>
        <a:srgbClr val="53575A"/>
      </a:accent5>
      <a:accent6>
        <a:srgbClr val="201546"/>
      </a:accent6>
      <a:hlink>
        <a:srgbClr val="F1BD19"/>
      </a:hlink>
      <a:folHlink>
        <a:srgbClr val="F1BD19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D2884E5B56A24E8EB547943B5579B3" ma:contentTypeVersion="1" ma:contentTypeDescription="Create a new document." ma:contentTypeScope="" ma:versionID="bca55c7c4881d5be0afb193be2a28e85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a447206dab0015f8b9f8924535193e8c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465086-C676-4431-9F3E-BDB07275AF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7533246-11FC-4F93-934E-C6B18945569D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5042049-1C71-4871-954D-5B1678AB7CF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11036</TotalTime>
  <Words>102</Words>
  <Application>Microsoft Office PowerPoint</Application>
  <PresentationFormat>Widescreen</PresentationFormat>
  <Paragraphs>36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7</vt:i4>
      </vt:variant>
    </vt:vector>
  </HeadingPairs>
  <TitlesOfParts>
    <vt:vector size="19" baseType="lpstr">
      <vt:lpstr>Arial</vt:lpstr>
      <vt:lpstr>Calibri</vt:lpstr>
      <vt:lpstr>Century Schoolbook</vt:lpstr>
      <vt:lpstr>Franklin Gothic Medium Cond</vt:lpstr>
      <vt:lpstr>Office Theme</vt:lpstr>
      <vt:lpstr>3_Office Theme</vt:lpstr>
      <vt:lpstr>1_Office Theme</vt:lpstr>
      <vt:lpstr>2_Office Theme</vt:lpstr>
      <vt:lpstr>9_Office Theme</vt:lpstr>
      <vt:lpstr>10_Office Theme</vt:lpstr>
      <vt:lpstr>11_Office Theme</vt:lpstr>
      <vt:lpstr>7_Office Theme</vt:lpstr>
      <vt:lpstr>Furman Investment Club</vt:lpstr>
      <vt:lpstr>Agenda</vt:lpstr>
      <vt:lpstr>Furman Club Portfolio</vt:lpstr>
      <vt:lpstr>Components of a Research Report/Pitch</vt:lpstr>
      <vt:lpstr>Resources</vt:lpstr>
      <vt:lpstr>Current Market Events – Topics for Discussion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Kaylee Welgraven</dc:creator>
  <cp:lastModifiedBy>Kris Kapoor</cp:lastModifiedBy>
  <cp:revision>388</cp:revision>
  <cp:lastPrinted>2021-06-29T12:54:36Z</cp:lastPrinted>
  <dcterms:created xsi:type="dcterms:W3CDTF">2017-10-16T12:38:22Z</dcterms:created>
  <dcterms:modified xsi:type="dcterms:W3CDTF">2021-10-18T22:12:10Z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0x01010064D2884E5B56A24E8EB547943B5579B3</vt:lpwstr>
  </property>
</Properties>
</file>